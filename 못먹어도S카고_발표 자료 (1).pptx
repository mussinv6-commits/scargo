
<file path=[Content_Types].xml><?xml version="1.0" encoding="utf-8"?>
<Types xmlns="http://schemas.openxmlformats.org/package/2006/content-types">
  <Default Extension="jpg" ContentType="image/jp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61" r:id="rId5"/>
    <p:sldId id="259" r:id="rId6"/>
    <p:sldId id="260" r:id="rId7"/>
    <p:sldId id="263" r:id="rId8"/>
    <p:sldId id="264" r:id="rId9"/>
    <p:sldId id="265" r:id="rId10"/>
    <p:sldId id="267" r:id="rId11"/>
    <p:sldId id="268" r:id="rId12"/>
    <p:sldId id="269" r:id="rId13"/>
    <p:sldId id="270" r:id="rId14"/>
    <p:sldId id="288" r:id="rId15"/>
    <p:sldId id="285" r:id="rId16"/>
    <p:sldId id="271" r:id="rId17"/>
    <p:sldId id="272" r:id="rId18"/>
    <p:sldId id="273" r:id="rId19"/>
    <p:sldId id="274" r:id="rId20"/>
    <p:sldId id="275" r:id="rId21"/>
    <p:sldId id="276" r:id="rId22"/>
    <p:sldId id="277" r:id="rId23"/>
    <p:sldId id="278" r:id="rId24"/>
    <p:sldId id="284" r:id="rId25"/>
    <p:sldId id="279" r:id="rId26"/>
    <p:sldId id="280" r:id="rId27"/>
    <p:sldId id="282" r:id="rId28"/>
    <p:sldId id="283" r:id="rId29"/>
    <p:sldId id="287"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6B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47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clustered"/>
        <c:varyColors val="0"/>
        <c:ser>
          <c:idx val="0"/>
          <c:order val="0"/>
          <c:tx>
            <c:strRef>
              <c:f>Sheet1!$B$1</c:f>
              <c:strCache>
                <c:ptCount val="1"/>
                <c:pt idx="0">
                  <c:v>mAP50-95</c:v>
                </c:pt>
              </c:strCache>
            </c:strRef>
          </c:tx>
          <c:spPr>
            <a:solidFill>
              <a:srgbClr val="9DB4CC"/>
            </a:solidFill>
            <a:effectLst/>
          </c:spPr>
          <c:invertIfNegative val="0"/>
          <c:dPt>
            <c:idx val="0"/>
            <c:invertIfNegative val="0"/>
            <c:bubble3D val="0"/>
            <c:spPr>
              <a:solidFill>
                <a:srgbClr val="9DB4CC"/>
              </a:solidFill>
              <a:effectLst/>
            </c:spPr>
            <c:extLst>
              <c:ext xmlns:c16="http://schemas.microsoft.com/office/drawing/2014/chart" uri="{C3380CC4-5D6E-409C-BE32-E72D297353CC}">
                <c16:uniqueId val="{00000001-F853-4282-868D-28AC0DAE16DC}"/>
              </c:ext>
            </c:extLst>
          </c:dPt>
          <c:dPt>
            <c:idx val="1"/>
            <c:invertIfNegative val="0"/>
            <c:bubble3D val="0"/>
            <c:spPr>
              <a:solidFill>
                <a:srgbClr val="9DB4CC"/>
              </a:solidFill>
              <a:effectLst/>
            </c:spPr>
            <c:extLst>
              <c:ext xmlns:c16="http://schemas.microsoft.com/office/drawing/2014/chart" uri="{C3380CC4-5D6E-409C-BE32-E72D297353CC}">
                <c16:uniqueId val="{00000003-F853-4282-868D-28AC0DAE16DC}"/>
              </c:ext>
            </c:extLst>
          </c:dPt>
          <c:dPt>
            <c:idx val="2"/>
            <c:invertIfNegative val="0"/>
            <c:bubble3D val="0"/>
            <c:spPr>
              <a:solidFill>
                <a:srgbClr val="0A2540"/>
              </a:solidFill>
              <a:effectLst/>
            </c:spPr>
            <c:extLst>
              <c:ext xmlns:c16="http://schemas.microsoft.com/office/drawing/2014/chart" uri="{C3380CC4-5D6E-409C-BE32-E72D297353CC}">
                <c16:uniqueId val="{00000005-F853-4282-868D-28AC0DAE16DC}"/>
              </c:ext>
            </c:extLst>
          </c:dPt>
          <c:dPt>
            <c:idx val="3"/>
            <c:invertIfNegative val="0"/>
            <c:bubble3D val="0"/>
            <c:spPr>
              <a:solidFill>
                <a:srgbClr val="0A2540"/>
              </a:solidFill>
              <a:effectLst/>
            </c:spPr>
            <c:extLst>
              <c:ext xmlns:c16="http://schemas.microsoft.com/office/drawing/2014/chart" uri="{C3380CC4-5D6E-409C-BE32-E72D297353CC}">
                <c16:uniqueId val="{00000007-F853-4282-868D-28AC0DAE16DC}"/>
              </c:ext>
            </c:extLst>
          </c:dPt>
          <c:dPt>
            <c:idx val="4"/>
            <c:invertIfNegative val="0"/>
            <c:bubble3D val="0"/>
            <c:spPr>
              <a:solidFill>
                <a:srgbClr val="0A2540"/>
              </a:solidFill>
              <a:effectLst/>
            </c:spPr>
            <c:extLst>
              <c:ext xmlns:c16="http://schemas.microsoft.com/office/drawing/2014/chart" uri="{C3380CC4-5D6E-409C-BE32-E72D297353CC}">
                <c16:uniqueId val="{00000009-F853-4282-868D-28AC0DAE16DC}"/>
              </c:ext>
            </c:extLst>
          </c:dPt>
          <c:dPt>
            <c:idx val="5"/>
            <c:invertIfNegative val="0"/>
            <c:bubble3D val="0"/>
            <c:spPr>
              <a:solidFill>
                <a:srgbClr val="FF6B00"/>
              </a:solidFill>
              <a:effectLst/>
            </c:spPr>
            <c:extLst>
              <c:ext xmlns:c16="http://schemas.microsoft.com/office/drawing/2014/chart" uri="{C3380CC4-5D6E-409C-BE32-E72D297353CC}">
                <c16:uniqueId val="{0000000B-F853-4282-868D-28AC0DAE16DC}"/>
              </c:ext>
            </c:extLst>
          </c:dPt>
          <c:dPt>
            <c:idx val="6"/>
            <c:invertIfNegative val="0"/>
            <c:bubble3D val="0"/>
            <c:spPr>
              <a:solidFill>
                <a:srgbClr val="0A2540"/>
              </a:solidFill>
              <a:effectLst/>
            </c:spPr>
            <c:extLst>
              <c:ext xmlns:c16="http://schemas.microsoft.com/office/drawing/2014/chart" uri="{C3380CC4-5D6E-409C-BE32-E72D297353CC}">
                <c16:uniqueId val="{0000000D-F853-4282-868D-28AC0DAE16DC}"/>
              </c:ext>
            </c:extLst>
          </c:dPt>
          <c:dPt>
            <c:idx val="7"/>
            <c:invertIfNegative val="0"/>
            <c:bubble3D val="0"/>
            <c:spPr>
              <a:solidFill>
                <a:srgbClr val="FF6B00"/>
              </a:solidFill>
              <a:effectLst/>
            </c:spPr>
            <c:extLst>
              <c:ext xmlns:c16="http://schemas.microsoft.com/office/drawing/2014/chart" uri="{C3380CC4-5D6E-409C-BE32-E72D297353CC}">
                <c16:uniqueId val="{0000000F-F853-4282-868D-28AC0DAE16DC}"/>
              </c:ext>
            </c:extLst>
          </c:dPt>
          <c:dPt>
            <c:idx val="8"/>
            <c:invertIfNegative val="0"/>
            <c:bubble3D val="0"/>
            <c:spPr>
              <a:solidFill>
                <a:srgbClr val="0A2540"/>
              </a:solidFill>
              <a:effectLst/>
            </c:spPr>
            <c:extLst>
              <c:ext xmlns:c16="http://schemas.microsoft.com/office/drawing/2014/chart" uri="{C3380CC4-5D6E-409C-BE32-E72D297353CC}">
                <c16:uniqueId val="{00000011-F853-4282-868D-28AC0DAE16DC}"/>
              </c:ext>
            </c:extLst>
          </c:dPt>
          <c:dLbls>
            <c:numFmt formatCode="0.000" sourceLinked="0"/>
            <c:spPr>
              <a:noFill/>
              <a:ln>
                <a:noFill/>
              </a:ln>
              <a:effectLst/>
            </c:spPr>
            <c:txPr>
              <a:bodyPr/>
              <a:lstStyle/>
              <a:p>
                <a:pPr>
                  <a:defRPr sz="800" b="0" i="0" u="none" strike="noStrike">
                    <a:solidFill>
                      <a:srgbClr val="0A2540"/>
                    </a:solidFill>
                    <a:latin typeface="Arial"/>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v8s
548장</c:v>
                </c:pt>
                <c:pt idx="1">
                  <c:v>v8m
548장</c:v>
                </c:pt>
                <c:pt idx="2">
                  <c:v>11s
1,921장</c:v>
                </c:pt>
                <c:pt idx="3">
                  <c:v>11s cache</c:v>
                </c:pt>
                <c:pt idx="4">
                  <c:v>11s 1280</c:v>
                </c:pt>
                <c:pt idx="5">
                  <c:v>11m</c:v>
                </c:pt>
                <c:pt idx="6">
                  <c:v>11l</c:v>
                </c:pt>
                <c:pt idx="7">
                  <c:v>11m 저조도</c:v>
                </c:pt>
                <c:pt idx="8">
                  <c:v>11m 확장</c:v>
                </c:pt>
              </c:strCache>
            </c:strRef>
          </c:cat>
          <c:val>
            <c:numRef>
              <c:f>Sheet1!$B$2:$B$10</c:f>
              <c:numCache>
                <c:formatCode>General</c:formatCode>
                <c:ptCount val="9"/>
                <c:pt idx="0">
                  <c:v>0.7</c:v>
                </c:pt>
                <c:pt idx="1">
                  <c:v>0.71699999999999997</c:v>
                </c:pt>
                <c:pt idx="2">
                  <c:v>0.86399999999999999</c:v>
                </c:pt>
                <c:pt idx="3">
                  <c:v>0.87</c:v>
                </c:pt>
                <c:pt idx="4">
                  <c:v>0.873</c:v>
                </c:pt>
                <c:pt idx="5">
                  <c:v>0.874</c:v>
                </c:pt>
                <c:pt idx="6">
                  <c:v>0.86899999999999999</c:v>
                </c:pt>
                <c:pt idx="7">
                  <c:v>0.874</c:v>
                </c:pt>
                <c:pt idx="8">
                  <c:v>0.86799999999999999</c:v>
                </c:pt>
              </c:numCache>
            </c:numRef>
          </c:val>
          <c:extLst>
            <c:ext xmlns:c16="http://schemas.microsoft.com/office/drawing/2014/chart" uri="{C3380CC4-5D6E-409C-BE32-E72D297353CC}">
              <c16:uniqueId val="{00000012-F853-4282-868D-28AC0DAE16DC}"/>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000000"/>
                </a:solidFill>
                <a:latin typeface="Malgun Gothic"/>
              </a:defRPr>
            </a:pPr>
            <a:endParaRPr lang="ko-KR"/>
          </a:p>
        </c:txPr>
        <c:crossAx val="2094734552"/>
        <c:crosses val="autoZero"/>
        <c:auto val="1"/>
        <c:lblAlgn val="ctr"/>
        <c:lblOffset val="100"/>
        <c:noMultiLvlLbl val="1"/>
      </c:catAx>
      <c:valAx>
        <c:axId val="2094734552"/>
        <c:scaling>
          <c:orientation val="minMax"/>
          <c:max val="0.9"/>
          <c:min val="0.6"/>
        </c:scaling>
        <c:delete val="0"/>
        <c:axPos val="l"/>
        <c:majorGridlines>
          <c:spPr>
            <a:ln w="6350" cap="flat">
              <a:solidFill>
                <a:srgbClr val="E6EBF1"/>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ko-KR"/>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clustered"/>
        <c:varyColors val="0"/>
        <c:ser>
          <c:idx val="0"/>
          <c:order val="0"/>
          <c:tx>
            <c:strRef>
              <c:f>Sheet1!$B$1</c:f>
              <c:strCache>
                <c:ptCount val="1"/>
                <c:pt idx="0">
                  <c:v>전체 767장</c:v>
                </c:pt>
              </c:strCache>
            </c:strRef>
          </c:tx>
          <c:spPr>
            <a:solidFill>
              <a:srgbClr val="9DB4CC"/>
            </a:solidFill>
            <a:effectLst/>
          </c:spPr>
          <c:invertIfNegative val="0"/>
          <c:dLbls>
            <c:numFmt formatCode="0.0" sourceLinked="0"/>
            <c:spPr>
              <a:noFill/>
              <a:ln>
                <a:noFill/>
              </a:ln>
              <a:effectLst/>
            </c:spPr>
            <c:txPr>
              <a:bodyPr/>
              <a:lstStyle/>
              <a:p>
                <a:pPr>
                  <a:defRPr sz="900" b="0" i="0" u="none" strike="noStrike">
                    <a:solidFill>
                      <a:srgbClr val="000000"/>
                    </a:solidFill>
                    <a:latin typeface="Arial"/>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2줄 번호판</c:v>
                </c:pt>
                <c:pt idx="1">
                  <c:v>1줄 번호판</c:v>
                </c:pt>
              </c:strCache>
            </c:strRef>
          </c:cat>
          <c:val>
            <c:numRef>
              <c:f>Sheet1!$B$2:$B$3</c:f>
              <c:numCache>
                <c:formatCode>General</c:formatCode>
                <c:ptCount val="2"/>
                <c:pt idx="0">
                  <c:v>84.2</c:v>
                </c:pt>
                <c:pt idx="1">
                  <c:v>89.5</c:v>
                </c:pt>
              </c:numCache>
            </c:numRef>
          </c:val>
          <c:extLst>
            <c:ext xmlns:c16="http://schemas.microsoft.com/office/drawing/2014/chart" uri="{C3380CC4-5D6E-409C-BE32-E72D297353CC}">
              <c16:uniqueId val="{00000000-AB20-4F2A-A588-84688A3C28F9}"/>
            </c:ext>
          </c:extLst>
        </c:ser>
        <c:ser>
          <c:idx val="1"/>
          <c:order val="1"/>
          <c:tx>
            <c:strRef>
              <c:f>Sheet1!$C$1</c:f>
              <c:strCache>
                <c:ptCount val="1"/>
                <c:pt idx="0">
                  <c:v>고해상도 29장 제외</c:v>
                </c:pt>
              </c:strCache>
            </c:strRef>
          </c:tx>
          <c:spPr>
            <a:solidFill>
              <a:srgbClr val="FF6B00"/>
            </a:solidFill>
            <a:effectLst/>
          </c:spPr>
          <c:invertIfNegative val="0"/>
          <c:dLbls>
            <c:numFmt formatCode="0.0" sourceLinked="0"/>
            <c:spPr>
              <a:noFill/>
              <a:ln>
                <a:noFill/>
              </a:ln>
              <a:effectLst/>
            </c:spPr>
            <c:txPr>
              <a:bodyPr/>
              <a:lstStyle/>
              <a:p>
                <a:pPr>
                  <a:defRPr sz="900" b="0" i="0" u="none" strike="noStrike">
                    <a:solidFill>
                      <a:srgbClr val="000000"/>
                    </a:solidFill>
                    <a:latin typeface="Arial"/>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2줄 번호판</c:v>
                </c:pt>
                <c:pt idx="1">
                  <c:v>1줄 번호판</c:v>
                </c:pt>
              </c:strCache>
            </c:strRef>
          </c:cat>
          <c:val>
            <c:numRef>
              <c:f>Sheet1!$C$2:$C$3</c:f>
              <c:numCache>
                <c:formatCode>General</c:formatCode>
                <c:ptCount val="2"/>
                <c:pt idx="0">
                  <c:v>88.4</c:v>
                </c:pt>
                <c:pt idx="1">
                  <c:v>90.5</c:v>
                </c:pt>
              </c:numCache>
            </c:numRef>
          </c:val>
          <c:extLst>
            <c:ext xmlns:c16="http://schemas.microsoft.com/office/drawing/2014/chart" uri="{C3380CC4-5D6E-409C-BE32-E72D297353CC}">
              <c16:uniqueId val="{00000001-AB20-4F2A-A588-84688A3C28F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Malgun Gothic"/>
              </a:defRPr>
            </a:pPr>
            <a:endParaRPr lang="ko-KR"/>
          </a:p>
        </c:txPr>
        <c:crossAx val="2094734552"/>
        <c:crosses val="autoZero"/>
        <c:auto val="1"/>
        <c:lblAlgn val="ctr"/>
        <c:lblOffset val="100"/>
        <c:noMultiLvlLbl val="1"/>
      </c:catAx>
      <c:valAx>
        <c:axId val="2094734552"/>
        <c:scaling>
          <c:orientation val="minMax"/>
          <c:max val="100"/>
          <c:min val="70"/>
        </c:scaling>
        <c:delete val="0"/>
        <c:axPos val="l"/>
        <c:majorGridlines>
          <c:spPr>
            <a:ln w="6350" cap="flat">
              <a:solidFill>
                <a:srgbClr val="E6EBF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ko-KR"/>
          </a:p>
        </c:txPr>
        <c:crossAx val="2094734554"/>
        <c:crosses val="autoZero"/>
        <c:crossBetween val="between"/>
      </c:valAx>
      <c:spPr>
        <a:noFill/>
        <a:ln>
          <a:noFill/>
        </a:ln>
        <a:effectLst/>
      </c:spPr>
    </c:plotArea>
    <c:legend>
      <c:legendPos val="b"/>
      <c:overlay val="0"/>
      <c:txPr>
        <a:bodyPr/>
        <a:lstStyle/>
        <a:p>
          <a:pPr>
            <a:defRPr sz="900">
              <a:latin typeface="Malgun Gothic"/>
              <a:cs typeface="Malgun Gothic"/>
            </a:defRPr>
          </a:pPr>
          <a:endParaRPr lang="ko-KR"/>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1595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1조 못먹어도 S카고 발표를 맡은 ○○○입니다.
저희 프로젝트는 "인천항 화물차 게이트 관제 시스템"입니다. 번호판 인식과 과적 판정으로, 화물차가 게이트에 들어와서 나갈 때까지를 하나의 시스템으로 관리합니다. 서비스 이름은 S Cargo입니다.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순서입니다. 프로젝트 개요와 시스템 구성을 먼저 말씀드리고, 핵심 기능과 번호판 인식 AI를 설명드린 뒤, 트러블슈팅과 향후 계획, 마지막으로 시연을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프로젝트 개요입니다.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조원 소개입니다. 최길웅 팀장님이 프로젝트 총괄과 번호판 인식 데모 연동을, 김태수 님이 번호판 인식 모델과 DB 설계, 과적 판정 로직을, 이한솔 님이 Spring Boot API와 프론트-백엔드 연결을, 정예지 님이 관리자 대시보드와 게이트 화면을, 조은정 님이 자료 조사와 디자인을 맡았습니다.
GitHub 개인 브랜치로 작업하고, 회의록은 노션, 주간보고는 매주 진행했습니다.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항만 화물차 확인 업무는 아직 사람 손과 사후 적발에 많이 기대고 있습니다.
첫째, 과적은 차량이 도로에 나간 뒤에 단속되는 경우가 많아서, 항만 출차 시점에 걸러내는 장치가 부족합니다.
둘째, 게이트 출입 허가, 적재 컨테이너, 계근 결과가 각각 따로 관리돼 한눈에 보기 어렵습니다.
셋째, 세미트레일러는 트랙터와 트레일러 번호판이 달라서 번호판 하나로 차량과 화물을 묶기 어렵습니다.
넷째, 기사님은 어느 야드로 가야 하는지 전화로 확인하고, 운송사는 차량 상태를 알기 어렵습니다.
그래서 저희는 게이트를 지나는 순간 자동으로 확인하고, 관리자는 한 화면에서 판단하는 시스템을 목표로 했습니다.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목표는 네 가지입니다. 번호판 인식으로 사전 허가 차량만 들어오고 나가게 하고, 출차 전에 검사소에서 과적을 판정하고, 모든 기록을 DB 하나로 묶어 대시보드에서 보고, 역할별로 필요한 화면만 쓰도록 하는 것입니다.
대상은 물류 비중이 높은 인천항으로 정했고, 부산항은 항구가 여러 곳으로 나뉘어 있어 제외했습니다. 1차에서는 게이트 진입, 상하차, 과적 검사, 출차까지 항만 내부 흐름에 집중했고, 실제 센서와 카메라는 시뮬레이터와 폴더 감시로 대체했습니다.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시스템 구성입니다.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시스템 아키텍처입니다. 게이트 카메라 대신 수신 폴더에 사진이 들어오면, FastAPI로 만든 파이썬 인식 서버가 YOLO11로 번호판을 찾고 CRNN으로 글자를 읽습니다.
인식 결과는 Spring Boot API 서버를 통해 PostgreSQL의 게이트로그 테이블에 저장되고, Spring Boot가 차량 상태 워크플로우를 처리합니다.
Vue 3 웹 화면은 이 데이터를 조회해서 게이트 통과 상황을 3초마다 갱신합니다. 인식 서버를 분리해 둔 덕분에 모델을 바꿔도 웹은 결과만 받으면 됩니다.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기술 스택입니다. 프론트엔드는 Vue 3와 Vite, 백엔드는 Java 17과 Spring Boot 3.3, 데이터베이스는 PostgreSQL입니다.
AI는 파이썬으로 YOLO11과 직접 학습한 CRNN 모델을 사용했고, PyTorch와 CUDA로 GPU 학습을 했습니다. 인식 서버는 FastAPI로 만들었습니다. 지도는 OpenStreetMap, 날씨는 OpenWeather API를 사용했습니다.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권한은 네 가지입니다. 관리자는 전체 업체와 전체 이력을 보면서 승인, 진입 허가, 게이트 OCR, 계중대 계량을 담당합니다. 운송사는 자기 업체 데이터만 보면서 차량 등록과 기사 배정, 컨테이너 배차 매핑을 하고, 화물차 기사는 본인 차량의 적재 위치와 배차를 확인합니다.
알림은 웹 알림으로 구현했습니다. 배차 매핑이나 과적 판정 같은 이벤트가 생기면 기사에게, 기업회원 승인 요청이나 과적 위반은 관리자에게 알림이 갑니다.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핵심 기능입니다.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게이트 처리 흐름은 네 단계입니다.
첫째, 게이트 진입에서 번호판을 촬영해 OCR로 읽고, 진입 허가를 받은 차량이면 차단기가 열립니다. 인식이 안 되거나 미등록 차량이면 보류로 기록합니다.
둘째, 차량은 배차된 적재 위치로 이동해 컨테이너를 싣고 내립니다. 시연에서는 이 과정을 15초 시뮬레이션으로 처리합니다.
셋째, 검사소에서 축중과 VGM을 측정해 과적을 판정하고, 넷째 출차 게이트에서 번호판을 다시 읽어 상하차 완료와 과적 통과를 확인한 뒤에만 내보냅니다.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흐름을 실제로 처리하는 로직입니다.
처음에 차량은 외부, 적재기록은 대기 상태입니다. OCR이 실패하면 게이트로그에 실패로만 기록하고 워크플로우는 실행하지 않습니다.
OCR에 성공하면 첫 번째 OCR로 입차 처리가 되어 차량은 내부, 적재기록은 진행 중으로 바뀌고, 5초 뒤 야드 내 이동, 총 15초 뒤 상하차 완료로 바뀝니다.
그다음 가장 최근 과적검사의 재검사 횟수를 확인합니다. 3회 미만이면 최종 OCR을 기다리고, 3회 이상이면 작업을 취소로 바꾸고 자동 출차를 막아 관리자가 직접 출차시켜야 합니다.
최종 OCR에서는 과적검사 통과 여부를 확인해서, 통과면 외부로 바뀌며 정상 출차, 통과하지 못했으면 내부에 남아 재계량을 기다립니다.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시연입니다.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8574757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전에 간단하게 영상을 먼저 보여드리겠습니다.
(영상 재생 약 40초)</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화면입니다. 게이트 OCR 검사 화면에서 게이트인 버튼을 누르면 수신 폴더의 사진을 인식 서버가 판독합니다. 촬영 사진과 인식된 번호판, 등록 차량과 일치하는지가 표시되고, 일치하면 차단기가 올라가는 그림으로 통과를 보여줍니다.
아래쪽 실시간 검사 기록은 3초마다 갱신됩니다. 출차할 때는 구내 차량 목록에서 게이트아웃을 누르는데, 앞에서 말씀드린 대로 상하차가 끝나고 과적 검사를 통과한 차량만 나갈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과적 판정 방법입니다. 먼저 차량번호로 그 차량이 실은 컨테이너를 찾습니다. 운송사가 등록한 배차 매핑을 먼저 보고, 없으면 운행 계획, 그것도 없으면 가장 최근 적재기록 순서로 찾습니다. 이렇게 컨테이너 번호와 차량 번호를 대조해서, 컨테이너의 규격과 VGM을 가져옵니다.
판정 기준은 세 가지입니다. 축하중 10톤, 총중량 40톤, 그리고 컨테이너 무게가 차량 최대적재량의 110%를 넘는지입니다. 하나라도 넘으면 FAIL입니다.
FAIL이면 어느 축이 얼마나 넘었는지 사유를 기록하고 운송사에 알림을 보냅니다. 감량 후 재계량할 때마다 재검사 횟수가 늘고, 3회 이상이면 작업이 취소되어 관리자가 직접 출차를 처리해야 합니다.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검사소 계량 화면입니다. 게이트를 통과한 차량이 자동으로 왼쪽 대기열에 올라오고, 자동 계량을 켜면 순서대로 계측합니다. 축별 하중이 기준 대비 몇 퍼센트인지 막대로 보여주고, 방금 말씀드린 컨테이너 정보와 차량 자체중량, VGM 구성도 함께 표시합니다.
판정 후 저장을 누르면 과적 검사 기록이 만들어지고, 과적이면 업체에 알림이 갑니다. 실제 축중기는 연동하지 못해서 측정값은 계측 시뮬레이터나 직접 입력으로 넣고 있습니다.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관리자 화면입니다. 대시보드에서는 승인 대기, 운행 중, 야드 대기, 컨테이너, 오늘 검사, 과적 위반 여섯 가지 지표와 운행 현황을 보여주고, 날짜를 바꾸면 그날 기준으로 다시 집계됩니다.
차량 관리 화면에서는 운송사가 등록한 신규 차량의 진입을 허가하거나 불허합니다. 허가를 받지 못한 차량은 게이트를 통과할 수 없습니다.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운송사와 기사 화면입니다. 운송사는 소속 차량과 배정 가능한 컨테이너를 골라 매핑을 등록하고, 등록하면 담당 기사에게 바로 알림이 갑니다. 이 매핑이 앞에서 말씀드린 과적 판정의 컨테이너 대조 기준이 됩니다.
기사는 운송현황 화면에서 진행 단계와 적재 위치를 확인하고, 내비게이션 버튼으로 티맵, 카카오내비, 네이버 지도 중 하나를 골라 바로 길안내를 받을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번호판 인식 AI입니다.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번호판 인식은 두 단계 구조입니다. YOLO11이 이미지에서 번호판 위치를 찾고, OpenCV로 잘라낸 뒤, 화물차에 많은 2줄 번호판은 위아래 줄을 한 줄로 펼칩니다. 그다음 저희가 직접 학습한 CRNN 모델이 CTC 빔서치로 글자를 읽고, 번호판 형식을 검사한 뒤 게이트로그에 저장합니다.
일반 차량 1만 장으로 테스트했을 때 9,995장에서 번호판을 찾았습니다. 학습 데이터는 공개 데이터셋에 더해 저희가 직접 인천신항에 가서 화물차 번호판을 촬영했고, 548장에서 2,162장까지 늘렸습니다. 그중 237장은 팀원이 직접 검수했습니다.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성능 개선 과정입니다. 왼쪽 번호판 탐지 모델은 처음 548장으로 학습했을 때 mAP50-95가 0.70이었고, 모델을 키워도 거의 오르지 않았습니다. 데이터를 1,921장으로 늘리고 YOLO11로 바꾸자 0.86을 넘었고, 최종 0.874까지 올렸습니다. mAP50으로는 0.98입니다.
오른쪽은 767장 테스트 사진으로 측정한 전체 인식 정확도입니다. 2줄 번호판이 84.2%로 낮았는데, 고해상도 노란 영업용 번호판 29장을 빼면 88.4%로 올라가고, 전체 정확 일치는 89.3%입니다. 이 29장 이야기는 다음 트러블슈팅에서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시연입니다.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트러블슈팅과 향후 계획입니다.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번호판 인식에서 겪은 과정입니다.
1차에는 위치는 25장 중 24장을 찾았는데 글자는 하나도 못 읽었습니다. Roboflow에서 내보낼 때 512로 줄이면서 번호판이 25×12픽셀까지 작아진 게 원인이라, 원본 해상도로 다시 학습했습니다.
2차에는 범용 OCR이 다른 글자로 읽는 문제가 있어서, 번호판 전용 CRNN 모델을 직접 학습했습니다. 3차에는 데이터가 부족해 인천신항에서 직접 촬영하고 237장을 검수해 추가했습니다.
4차에는 2줄 번호판 정확도가 낮았는데, 조사해 보니 29장이 해상도 8배짜리 노란 영업용 번호판이었고 이 29장만 정확도가 20.7%였습니다. 알고리즘이 아니라 데이터 대표성 문제였습니다.
트레일러 번호판은 상태가 좋지 않아 화물차 뒷번호판 기준으로 매칭하기로 했습니다. 결국 모델보다 데이터 품질이 결과를 더 크게 좌우했습니다.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이번 1차에서 게이트 입출차를 번호판 OCR로 자동 처리하고, OCR 한 번으로 차량과 적재기록 상태가 자동으로 바뀌게 했습니다. 검사소 계량부터 과적 판정, 기록과 알림까지 한 화면으로 연결했고, 배차 매핑이나 과적 같은 알림이 기사에게 갑니다. AI 모델은 탐지 성능을 0.70에서 0.87로, 인식 정확도는 89.3%까지 올렸습니다.
한계도 있습니다. 실제 축중기와 카메라는 연동하지 못했고, 영업용 번호판 데이터가 부족해서 두 줄 번호판과 트레일러 번호판은 더 개선이 필요합니다. 정산은 건수만 보여주고, 기사 화면은 PC 웹 기준입니다.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2차 최종평가에서는 항만 내부에서 물류센터와 전국 단위로 확장할 계획입니다.
기사용 모바일 앱을 Capacitor로 만들어 화면이 꺼져도 위치를 보내고, HUB에 도착하면 지오펜스로 판정해 사진과 서명으로 인계합니다. 가상 물류센터를 도입하고 화물차 경로 엔진으로 턴바이턴 음성 안내를 하며, 경로 알고리즘은 다익스트라와 A*를 검토하고 있습니다.
적재 높이보다 낮은 터널이나 과적 검문소에 가까워지면 음성으로 경고하고, 검사소도 다섯 곳으로 늘립니다. 두 줄 번호판은 데이터를 보강해 재학습하고, 장비와 차량 점검 알림 같은 예지보전도 추가할 예정입니다. 이를 위한 전국 물류창고, 계량소, 검문소, 터널 높이 같은 공공 데이터는 이미 정리해 두었습니다.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이상으로 1조 못먹어도 S카고의 발표를 마치겠습니다. 게이트를 지나는 순간 자동으로 확인하고, 관리자가 한 화면에서 판단할 수 있도록 만들어 보았습니다.
들어주셔서 감사합니다. 질문 있으시면 편하게 해 주세요.</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1.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5.jpg"/></Relationships>
</file>

<file path=ppt/slides/_rels/slide2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2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65000"/>
          </a:blip>
          <a:srcRect/>
          <a:stretch/>
        </p:blipFill>
        <p:spPr>
          <a:xfrm>
            <a:off x="0" y="740125"/>
            <a:ext cx="12191695" cy="5377750"/>
          </a:xfrm>
          <a:prstGeom prst="rect">
            <a:avLst/>
          </a:prstGeom>
        </p:spPr>
      </p:pic>
      <p:pic>
        <p:nvPicPr>
          <p:cNvPr id="3" name="Image 1" descr="/home/claude/v3/img/logo_w.png"/>
          <p:cNvPicPr>
            <a:picLocks noChangeAspect="1"/>
          </p:cNvPicPr>
          <p:nvPr/>
        </p:nvPicPr>
        <p:blipFill>
          <a:blip r:embed="rId4"/>
          <a:stretch>
            <a:fillRect/>
          </a:stretch>
        </p:blipFill>
        <p:spPr>
          <a:xfrm>
            <a:off x="731520" y="829369"/>
            <a:ext cx="2377440" cy="816551"/>
          </a:xfrm>
          <a:prstGeom prst="rect">
            <a:avLst/>
          </a:prstGeom>
        </p:spPr>
      </p:pic>
      <p:sp>
        <p:nvSpPr>
          <p:cNvPr id="4" name="Text 0"/>
          <p:cNvSpPr txBox="1"/>
          <p:nvPr/>
        </p:nvSpPr>
        <p:spPr>
          <a:xfrm>
            <a:off x="731520" y="1828800"/>
            <a:ext cx="10058400" cy="365760"/>
          </a:xfrm>
          <a:prstGeom prst="rect">
            <a:avLst/>
          </a:prstGeom>
          <a:noFill/>
          <a:ln/>
        </p:spPr>
        <p:txBody>
          <a:bodyPr wrap="square" lIns="0" tIns="0" rIns="0" bIns="0" rtlCol="0" anchor="ctr"/>
          <a:lstStyle/>
          <a:p>
            <a:pPr marL="0" indent="0" algn="l">
              <a:buNone/>
            </a:pPr>
            <a:r>
              <a:rPr lang="en-US" sz="1500" b="1" dirty="0">
                <a:solidFill>
                  <a:srgbClr val="FFB27A"/>
                </a:solidFill>
                <a:latin typeface="Malgun Gothic" pitchFamily="34" charset="0"/>
                <a:ea typeface="Malgun Gothic" pitchFamily="34" charset="-122"/>
                <a:cs typeface="Malgun Gothic" pitchFamily="34" charset="-120"/>
              </a:rPr>
              <a:t>스마트 모빌리티 DX Academy</a:t>
            </a:r>
            <a:endParaRPr lang="en-US" sz="1500" dirty="0"/>
          </a:p>
        </p:txBody>
      </p:sp>
      <p:sp>
        <p:nvSpPr>
          <p:cNvPr id="5" name="Text 1"/>
          <p:cNvSpPr txBox="1"/>
          <p:nvPr/>
        </p:nvSpPr>
        <p:spPr>
          <a:xfrm>
            <a:off x="731520" y="2286000"/>
            <a:ext cx="10515600" cy="1645920"/>
          </a:xfrm>
          <a:prstGeom prst="rect">
            <a:avLst/>
          </a:prstGeom>
          <a:noFill/>
          <a:ln/>
        </p:spPr>
        <p:txBody>
          <a:bodyPr wrap="square" lIns="0" tIns="0" rIns="0" bIns="0" rtlCol="0" anchor="t"/>
          <a:lstStyle/>
          <a:p>
            <a:pPr marL="0" indent="0" algn="l">
              <a:lnSpc>
                <a:spcPct val="105000"/>
              </a:lnSpc>
              <a:buNone/>
            </a:pPr>
            <a:r>
              <a:rPr lang="en-US" sz="4400" b="1" dirty="0">
                <a:solidFill>
                  <a:srgbClr val="FFFFFF"/>
                </a:solidFill>
                <a:latin typeface="Malgun Gothic" pitchFamily="34" charset="0"/>
                <a:ea typeface="Malgun Gothic" pitchFamily="34" charset="-122"/>
                <a:cs typeface="Malgun Gothic" pitchFamily="34" charset="-120"/>
              </a:rPr>
              <a:t>인천항 화물차</a:t>
            </a:r>
            <a:endParaRPr lang="en-US" sz="4400" dirty="0"/>
          </a:p>
          <a:p>
            <a:pPr marL="0" indent="0" algn="l">
              <a:lnSpc>
                <a:spcPct val="105000"/>
              </a:lnSpc>
              <a:buNone/>
            </a:pPr>
            <a:r>
              <a:rPr lang="en-US" sz="4400" b="1" dirty="0">
                <a:solidFill>
                  <a:srgbClr val="FFFFFF"/>
                </a:solidFill>
                <a:latin typeface="Malgun Gothic" pitchFamily="34" charset="0"/>
                <a:ea typeface="Malgun Gothic" pitchFamily="34" charset="-122"/>
                <a:cs typeface="Malgun Gothic" pitchFamily="34" charset="-120"/>
              </a:rPr>
              <a:t>게이트 관제 시스템</a:t>
            </a:r>
            <a:endParaRPr lang="en-US" sz="4400" dirty="0"/>
          </a:p>
        </p:txBody>
      </p:sp>
      <p:sp>
        <p:nvSpPr>
          <p:cNvPr id="6" name="Text 2"/>
          <p:cNvSpPr txBox="1"/>
          <p:nvPr/>
        </p:nvSpPr>
        <p:spPr>
          <a:xfrm>
            <a:off x="731520" y="3977640"/>
            <a:ext cx="10058400" cy="411480"/>
          </a:xfrm>
          <a:prstGeom prst="rect">
            <a:avLst/>
          </a:prstGeom>
          <a:noFill/>
          <a:ln/>
        </p:spPr>
        <p:txBody>
          <a:bodyPr wrap="square" lIns="0" tIns="0" rIns="0" bIns="0" rtlCol="0" anchor="ctr"/>
          <a:lstStyle/>
          <a:p>
            <a:pPr marL="0" indent="0" algn="l">
              <a:buNone/>
            </a:pPr>
            <a:r>
              <a:rPr lang="en-US" sz="1700" dirty="0">
                <a:solidFill>
                  <a:srgbClr val="D6E0EA"/>
                </a:solidFill>
                <a:latin typeface="Malgun Gothic" pitchFamily="34" charset="0"/>
                <a:ea typeface="Malgun Gothic" pitchFamily="34" charset="-122"/>
                <a:cs typeface="Malgun Gothic" pitchFamily="34" charset="-120"/>
              </a:rPr>
              <a:t>번호판 인식과 과적 판정으로 게이트 진입부터 출차까지 관리</a:t>
            </a:r>
            <a:endParaRPr lang="en-US" sz="1700" dirty="0"/>
          </a:p>
        </p:txBody>
      </p:sp>
      <p:sp>
        <p:nvSpPr>
          <p:cNvPr id="7" name="Shape 3"/>
          <p:cNvSpPr/>
          <p:nvPr/>
        </p:nvSpPr>
        <p:spPr>
          <a:xfrm>
            <a:off x="731520" y="4754880"/>
            <a:ext cx="5029200" cy="0"/>
          </a:xfrm>
          <a:prstGeom prst="line">
            <a:avLst/>
          </a:prstGeom>
          <a:noFill/>
          <a:ln w="12700">
            <a:solidFill>
              <a:srgbClr val="3A5878"/>
            </a:solidFill>
            <a:prstDash val="solid"/>
          </a:ln>
        </p:spPr>
      </p:sp>
      <p:sp>
        <p:nvSpPr>
          <p:cNvPr id="8" name="Text 4"/>
          <p:cNvSpPr txBox="1"/>
          <p:nvPr/>
        </p:nvSpPr>
        <p:spPr>
          <a:xfrm>
            <a:off x="731520" y="4892040"/>
            <a:ext cx="7315200" cy="320040"/>
          </a:xfrm>
          <a:prstGeom prst="rect">
            <a:avLst/>
          </a:prstGeom>
          <a:noFill/>
          <a:ln/>
        </p:spPr>
        <p:txBody>
          <a:bodyPr wrap="square" lIns="0" tIns="0" rIns="0" bIns="0" rtlCol="0" anchor="ctr"/>
          <a:lstStyle/>
          <a:p>
            <a:pPr marL="0" indent="0" algn="l">
              <a:buNone/>
            </a:pPr>
            <a:r>
              <a:rPr lang="en-US" sz="1400" dirty="0">
                <a:solidFill>
                  <a:srgbClr val="D6E0EA"/>
                </a:solidFill>
                <a:latin typeface="Malgun Gothic" pitchFamily="34" charset="0"/>
                <a:ea typeface="Malgun Gothic" pitchFamily="34" charset="-122"/>
                <a:cs typeface="Malgun Gothic" pitchFamily="34" charset="-120"/>
              </a:rPr>
              <a:t>1조  못먹어도 S카고   |   최길웅 · 김태수 · 이한솔 · 조은정 · 정예지</a:t>
            </a:r>
            <a:endParaRPr lang="en-US" sz="1400" dirty="0"/>
          </a:p>
        </p:txBody>
      </p:sp>
      <p:sp>
        <p:nvSpPr>
          <p:cNvPr id="9" name="Text 5"/>
          <p:cNvSpPr txBox="1"/>
          <p:nvPr/>
        </p:nvSpPr>
        <p:spPr>
          <a:xfrm>
            <a:off x="731520" y="5257800"/>
            <a:ext cx="7315200" cy="320040"/>
          </a:xfrm>
          <a:prstGeom prst="rect">
            <a:avLst/>
          </a:prstGeom>
          <a:noFill/>
          <a:ln/>
        </p:spPr>
        <p:txBody>
          <a:bodyPr wrap="square" lIns="0" tIns="0" rIns="0" bIns="0" rtlCol="0" anchor="ctr"/>
          <a:lstStyle/>
          <a:p>
            <a:pPr marL="0" indent="0" algn="l">
              <a:buNone/>
            </a:pPr>
            <a:r>
              <a:rPr lang="en-US" sz="1200" dirty="0">
                <a:solidFill>
                  <a:srgbClr val="A9BACB"/>
                </a:solidFill>
                <a:latin typeface="Malgun Gothic" pitchFamily="34" charset="0"/>
                <a:ea typeface="Malgun Gothic" pitchFamily="34" charset="-122"/>
                <a:cs typeface="Malgun Gothic" pitchFamily="34" charset="-120"/>
              </a:rPr>
              <a:t>2026. 10. 07</a:t>
            </a:r>
            <a:endParaRPr lang="en-US" sz="1200" dirty="0"/>
          </a:p>
        </p:txBody>
      </p:sp>
      <p:pic>
        <p:nvPicPr>
          <p:cNvPr id="12" name="그림 11">
            <a:extLst>
              <a:ext uri="{FF2B5EF4-FFF2-40B4-BE49-F238E27FC236}">
                <a16:creationId xmlns:a16="http://schemas.microsoft.com/office/drawing/2014/main" id="{C5CD14A0-4FA2-58A3-4948-9ADEE0D06435}"/>
              </a:ext>
            </a:extLst>
          </p:cNvPr>
          <p:cNvPicPr>
            <a:picLocks noChangeAspect="1"/>
          </p:cNvPicPr>
          <p:nvPr/>
        </p:nvPicPr>
        <p:blipFill>
          <a:blip r:embed="rId5"/>
          <a:stretch>
            <a:fillRect/>
          </a:stretch>
        </p:blipFill>
        <p:spPr>
          <a:xfrm>
            <a:off x="7321120" y="6152378"/>
            <a:ext cx="1027893" cy="567113"/>
          </a:xfrm>
          <a:prstGeom prst="rect">
            <a:avLst/>
          </a:prstGeom>
        </p:spPr>
      </p:pic>
      <p:pic>
        <p:nvPicPr>
          <p:cNvPr id="14" name="그림 13">
            <a:extLst>
              <a:ext uri="{FF2B5EF4-FFF2-40B4-BE49-F238E27FC236}">
                <a16:creationId xmlns:a16="http://schemas.microsoft.com/office/drawing/2014/main" id="{91D14764-876A-54E2-41A8-F42B0C5B47BA}"/>
              </a:ext>
            </a:extLst>
          </p:cNvPr>
          <p:cNvPicPr>
            <a:picLocks noChangeAspect="1"/>
          </p:cNvPicPr>
          <p:nvPr/>
        </p:nvPicPr>
        <p:blipFill>
          <a:blip r:embed="rId6"/>
          <a:stretch>
            <a:fillRect/>
          </a:stretch>
        </p:blipFill>
        <p:spPr>
          <a:xfrm>
            <a:off x="8349013" y="6200093"/>
            <a:ext cx="1720706" cy="427505"/>
          </a:xfrm>
          <a:prstGeom prst="rect">
            <a:avLst/>
          </a:prstGeom>
        </p:spPr>
      </p:pic>
      <p:pic>
        <p:nvPicPr>
          <p:cNvPr id="16" name="그림 15">
            <a:extLst>
              <a:ext uri="{FF2B5EF4-FFF2-40B4-BE49-F238E27FC236}">
                <a16:creationId xmlns:a16="http://schemas.microsoft.com/office/drawing/2014/main" id="{FF8E99E4-DB49-3400-A787-A7482381E7BA}"/>
              </a:ext>
            </a:extLst>
          </p:cNvPr>
          <p:cNvPicPr>
            <a:picLocks noChangeAspect="1"/>
          </p:cNvPicPr>
          <p:nvPr/>
        </p:nvPicPr>
        <p:blipFill>
          <a:blip r:embed="rId7"/>
          <a:stretch>
            <a:fillRect/>
          </a:stretch>
        </p:blipFill>
        <p:spPr>
          <a:xfrm>
            <a:off x="10069719" y="6200093"/>
            <a:ext cx="2010102" cy="5212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822960"/>
            <a:ext cx="2743200" cy="548640"/>
          </a:xfrm>
          <a:prstGeom prst="rect">
            <a:avLst/>
          </a:prstGeom>
          <a:noFill/>
          <a:ln/>
        </p:spPr>
        <p:txBody>
          <a:bodyPr wrap="square" lIns="0" tIns="0" rIns="0" bIns="0" rtlCol="0" anchor="ctr"/>
          <a:lstStyle/>
          <a:p>
            <a:pPr marL="0" indent="0" algn="l">
              <a:buNone/>
            </a:pPr>
            <a:r>
              <a:rPr lang="en-US" sz="3000" b="1" dirty="0">
                <a:solidFill>
                  <a:srgbClr val="0A2540"/>
                </a:solidFill>
                <a:latin typeface="Malgun Gothic" pitchFamily="34" charset="0"/>
                <a:ea typeface="Malgun Gothic" pitchFamily="34" charset="-122"/>
                <a:cs typeface="Malgun Gothic" pitchFamily="34" charset="-120"/>
              </a:rPr>
              <a:t>목차</a:t>
            </a:r>
            <a:endParaRPr lang="en-US" sz="3000" dirty="0"/>
          </a:p>
        </p:txBody>
      </p:sp>
      <p:sp>
        <p:nvSpPr>
          <p:cNvPr id="3" name="Text 1"/>
          <p:cNvSpPr txBox="1"/>
          <p:nvPr/>
        </p:nvSpPr>
        <p:spPr>
          <a:xfrm>
            <a:off x="822960" y="1371600"/>
            <a:ext cx="2743200" cy="320040"/>
          </a:xfrm>
          <a:prstGeom prst="rect">
            <a:avLst/>
          </a:prstGeom>
          <a:noFill/>
          <a:ln/>
        </p:spPr>
        <p:txBody>
          <a:bodyPr wrap="square" lIns="0" tIns="0" rIns="0" bIns="0" rtlCol="0" anchor="ctr"/>
          <a:lstStyle/>
          <a:p>
            <a:pPr marL="0" indent="0" algn="l">
              <a:buNone/>
            </a:pPr>
            <a:r>
              <a:rPr lang="en-US" sz="1300" dirty="0">
                <a:solidFill>
                  <a:srgbClr val="5B6B7F"/>
                </a:solidFill>
                <a:latin typeface="Malgun Gothic" pitchFamily="34" charset="0"/>
                <a:ea typeface="Malgun Gothic" pitchFamily="34" charset="-122"/>
                <a:cs typeface="Malgun Gothic" pitchFamily="34" charset="-120"/>
              </a:rPr>
              <a:t>Contents</a:t>
            </a:r>
            <a:endParaRPr lang="en-US" sz="1300" dirty="0"/>
          </a:p>
        </p:txBody>
      </p:sp>
      <p:sp>
        <p:nvSpPr>
          <p:cNvPr id="4" name="Text 2"/>
          <p:cNvSpPr txBox="1"/>
          <p:nvPr/>
        </p:nvSpPr>
        <p:spPr>
          <a:xfrm>
            <a:off x="4572000" y="777240"/>
            <a:ext cx="822960" cy="457200"/>
          </a:xfrm>
          <a:prstGeom prst="rect">
            <a:avLst/>
          </a:prstGeom>
          <a:noFill/>
          <a:ln/>
        </p:spPr>
        <p:txBody>
          <a:bodyPr wrap="square" lIns="0" tIns="0" rIns="0" bIns="0" rtlCol="0" anchor="ctr"/>
          <a:lstStyle/>
          <a:p>
            <a:pPr marL="0" indent="0" algn="l">
              <a:buNone/>
            </a:pPr>
            <a:r>
              <a:rPr lang="en-US" sz="2200" b="1" dirty="0">
                <a:solidFill>
                  <a:srgbClr val="FF6B00"/>
                </a:solidFill>
                <a:latin typeface="Malgun Gothic" pitchFamily="34" charset="0"/>
                <a:ea typeface="Malgun Gothic" pitchFamily="34" charset="-122"/>
                <a:cs typeface="Malgun Gothic" pitchFamily="34" charset="-120"/>
              </a:rPr>
              <a:t>01</a:t>
            </a:r>
            <a:endParaRPr lang="en-US" sz="2200" dirty="0"/>
          </a:p>
        </p:txBody>
      </p:sp>
      <p:sp>
        <p:nvSpPr>
          <p:cNvPr id="5" name="Text 3"/>
          <p:cNvSpPr txBox="1"/>
          <p:nvPr/>
        </p:nvSpPr>
        <p:spPr>
          <a:xfrm>
            <a:off x="5394960" y="758952"/>
            <a:ext cx="5943600" cy="411480"/>
          </a:xfrm>
          <a:prstGeom prst="rect">
            <a:avLst/>
          </a:prstGeom>
          <a:noFill/>
          <a:ln/>
        </p:spPr>
        <p:txBody>
          <a:bodyPr wrap="square" lIns="0" tIns="0" rIns="0" bIns="0" rtlCol="0" anchor="ctr"/>
          <a:lstStyle/>
          <a:p>
            <a:pPr marL="0" indent="0" algn="l">
              <a:buNone/>
            </a:pPr>
            <a:r>
              <a:rPr lang="en-US" sz="1900" b="1" dirty="0">
                <a:solidFill>
                  <a:srgbClr val="0A2540"/>
                </a:solidFill>
                <a:latin typeface="Malgun Gothic" pitchFamily="34" charset="0"/>
                <a:ea typeface="Malgun Gothic" pitchFamily="34" charset="-122"/>
                <a:cs typeface="Malgun Gothic" pitchFamily="34" charset="-120"/>
              </a:rPr>
              <a:t>프로젝트 개요</a:t>
            </a:r>
            <a:endParaRPr lang="en-US" sz="1900" dirty="0"/>
          </a:p>
        </p:txBody>
      </p:sp>
      <p:sp>
        <p:nvSpPr>
          <p:cNvPr id="6" name="Text 4"/>
          <p:cNvSpPr txBox="1"/>
          <p:nvPr/>
        </p:nvSpPr>
        <p:spPr>
          <a:xfrm>
            <a:off x="5394960" y="1161288"/>
            <a:ext cx="5943600" cy="292608"/>
          </a:xfrm>
          <a:prstGeom prst="rect">
            <a:avLst/>
          </a:prstGeom>
          <a:noFill/>
          <a:ln/>
        </p:spPr>
        <p:txBody>
          <a:bodyPr wrap="square" lIns="0" tIns="0" rIns="0" bIns="0" rtlCol="0" anchor="ctr"/>
          <a:lstStyle/>
          <a:p>
            <a:pPr marL="0" indent="0" algn="l">
              <a:buNone/>
            </a:pPr>
            <a:r>
              <a:rPr lang="en-US" altLang="ko-KR" sz="1200" dirty="0" err="1">
                <a:solidFill>
                  <a:srgbClr val="5B6B7F"/>
                </a:solidFill>
                <a:latin typeface="Malgun Gothic" pitchFamily="34" charset="0"/>
                <a:ea typeface="Malgun Gothic" pitchFamily="34" charset="-122"/>
                <a:cs typeface="Malgun Gothic" pitchFamily="34" charset="-120"/>
              </a:rPr>
              <a:t>조원</a:t>
            </a:r>
            <a:r>
              <a:rPr lang="en-US" altLang="ko-KR" sz="1200" dirty="0">
                <a:solidFill>
                  <a:srgbClr val="5B6B7F"/>
                </a:solidFill>
                <a:latin typeface="Malgun Gothic" pitchFamily="34" charset="0"/>
                <a:ea typeface="Malgun Gothic" pitchFamily="34" charset="-122"/>
                <a:cs typeface="Malgun Gothic" pitchFamily="34" charset="-120"/>
              </a:rPr>
              <a:t> </a:t>
            </a:r>
            <a:r>
              <a:rPr lang="en-US" altLang="ko-KR" sz="1200" dirty="0" err="1">
                <a:solidFill>
                  <a:srgbClr val="5B6B7F"/>
                </a:solidFill>
                <a:latin typeface="Malgun Gothic" pitchFamily="34" charset="0"/>
                <a:ea typeface="Malgun Gothic" pitchFamily="34" charset="-122"/>
                <a:cs typeface="Malgun Gothic" pitchFamily="34" charset="-120"/>
              </a:rPr>
              <a:t>소개</a:t>
            </a:r>
            <a:r>
              <a:rPr lang="en-US" altLang="ko-KR" sz="1200" dirty="0">
                <a:solidFill>
                  <a:srgbClr val="5B6B7F"/>
                </a:solidFill>
                <a:latin typeface="Malgun Gothic" pitchFamily="34" charset="0"/>
                <a:ea typeface="Malgun Gothic" pitchFamily="34" charset="-122"/>
                <a:cs typeface="Malgun Gothic" pitchFamily="34" charset="-120"/>
              </a:rPr>
              <a:t> · </a:t>
            </a:r>
            <a:r>
              <a:rPr lang="en-US" sz="1200" dirty="0" err="1">
                <a:solidFill>
                  <a:srgbClr val="5B6B7F"/>
                </a:solidFill>
                <a:latin typeface="Malgun Gothic" pitchFamily="34" charset="0"/>
                <a:ea typeface="Malgun Gothic" pitchFamily="34" charset="-122"/>
                <a:cs typeface="Malgun Gothic" pitchFamily="34" charset="-120"/>
              </a:rPr>
              <a:t>문제</a:t>
            </a:r>
            <a:r>
              <a:rPr lang="en-US" sz="1200" dirty="0">
                <a:solidFill>
                  <a:srgbClr val="5B6B7F"/>
                </a:solidFill>
                <a:latin typeface="Malgun Gothic" pitchFamily="34" charset="0"/>
                <a:ea typeface="Malgun Gothic" pitchFamily="34" charset="-122"/>
                <a:cs typeface="Malgun Gothic" pitchFamily="34" charset="-120"/>
              </a:rPr>
              <a:t> 인식 · 목표와 범위 · </a:t>
            </a:r>
            <a:r>
              <a:rPr lang="en-US" sz="1200" dirty="0" err="1">
                <a:solidFill>
                  <a:srgbClr val="5B6B7F"/>
                </a:solidFill>
                <a:latin typeface="Malgun Gothic" pitchFamily="34" charset="0"/>
                <a:ea typeface="Malgun Gothic" pitchFamily="34" charset="-122"/>
                <a:cs typeface="Malgun Gothic" pitchFamily="34" charset="-120"/>
              </a:rPr>
              <a:t>일정</a:t>
            </a:r>
            <a:endParaRPr lang="en-US" sz="1200" dirty="0"/>
          </a:p>
        </p:txBody>
      </p:sp>
      <p:sp>
        <p:nvSpPr>
          <p:cNvPr id="7" name="Shape 5"/>
          <p:cNvSpPr/>
          <p:nvPr/>
        </p:nvSpPr>
        <p:spPr>
          <a:xfrm>
            <a:off x="4572000" y="1554480"/>
            <a:ext cx="7132320" cy="0"/>
          </a:xfrm>
          <a:prstGeom prst="line">
            <a:avLst/>
          </a:prstGeom>
          <a:noFill/>
          <a:ln w="9525">
            <a:solidFill>
              <a:srgbClr val="DCE3EA"/>
            </a:solidFill>
            <a:prstDash val="solid"/>
          </a:ln>
        </p:spPr>
      </p:sp>
      <p:sp>
        <p:nvSpPr>
          <p:cNvPr id="8" name="Text 6"/>
          <p:cNvSpPr txBox="1"/>
          <p:nvPr/>
        </p:nvSpPr>
        <p:spPr>
          <a:xfrm>
            <a:off x="4572000" y="1664208"/>
            <a:ext cx="822960" cy="457200"/>
          </a:xfrm>
          <a:prstGeom prst="rect">
            <a:avLst/>
          </a:prstGeom>
          <a:noFill/>
          <a:ln/>
        </p:spPr>
        <p:txBody>
          <a:bodyPr wrap="square" lIns="0" tIns="0" rIns="0" bIns="0" rtlCol="0" anchor="ctr"/>
          <a:lstStyle/>
          <a:p>
            <a:pPr marL="0" indent="0" algn="l">
              <a:buNone/>
            </a:pPr>
            <a:r>
              <a:rPr lang="en-US" sz="2200" b="1" dirty="0">
                <a:solidFill>
                  <a:srgbClr val="FF6B00"/>
                </a:solidFill>
                <a:latin typeface="Malgun Gothic" pitchFamily="34" charset="0"/>
                <a:ea typeface="Malgun Gothic" pitchFamily="34" charset="-122"/>
                <a:cs typeface="Malgun Gothic" pitchFamily="34" charset="-120"/>
              </a:rPr>
              <a:t>02</a:t>
            </a:r>
            <a:endParaRPr lang="en-US" sz="2200" dirty="0"/>
          </a:p>
        </p:txBody>
      </p:sp>
      <p:sp>
        <p:nvSpPr>
          <p:cNvPr id="9" name="Text 7"/>
          <p:cNvSpPr txBox="1"/>
          <p:nvPr/>
        </p:nvSpPr>
        <p:spPr>
          <a:xfrm>
            <a:off x="5394960" y="1645920"/>
            <a:ext cx="5943600" cy="411480"/>
          </a:xfrm>
          <a:prstGeom prst="rect">
            <a:avLst/>
          </a:prstGeom>
          <a:noFill/>
          <a:ln/>
        </p:spPr>
        <p:txBody>
          <a:bodyPr wrap="square" lIns="0" tIns="0" rIns="0" bIns="0" rtlCol="0" anchor="ctr"/>
          <a:lstStyle/>
          <a:p>
            <a:pPr marL="0" indent="0" algn="l">
              <a:buNone/>
            </a:pPr>
            <a:r>
              <a:rPr lang="en-US" sz="1900" b="1" dirty="0">
                <a:solidFill>
                  <a:srgbClr val="0A2540"/>
                </a:solidFill>
                <a:latin typeface="Malgun Gothic" pitchFamily="34" charset="0"/>
                <a:ea typeface="Malgun Gothic" pitchFamily="34" charset="-122"/>
                <a:cs typeface="Malgun Gothic" pitchFamily="34" charset="-120"/>
              </a:rPr>
              <a:t>시스템 구성</a:t>
            </a:r>
            <a:endParaRPr lang="en-US" sz="1900" dirty="0"/>
          </a:p>
        </p:txBody>
      </p:sp>
      <p:sp>
        <p:nvSpPr>
          <p:cNvPr id="10" name="Text 8"/>
          <p:cNvSpPr txBox="1"/>
          <p:nvPr/>
        </p:nvSpPr>
        <p:spPr>
          <a:xfrm>
            <a:off x="5394960" y="2048256"/>
            <a:ext cx="5943600" cy="292608"/>
          </a:xfrm>
          <a:prstGeom prst="rect">
            <a:avLst/>
          </a:prstGeom>
          <a:noFill/>
          <a:ln/>
        </p:spPr>
        <p:txBody>
          <a:bodyPr wrap="square" lIns="0" tIns="0" rIns="0" bIns="0" rtlCol="0" anchor="ctr"/>
          <a:lstStyle/>
          <a:p>
            <a:pPr marL="0" indent="0" algn="l">
              <a:buNone/>
            </a:pPr>
            <a:r>
              <a:rPr lang="en-US" sz="1200" dirty="0">
                <a:solidFill>
                  <a:srgbClr val="5B6B7F"/>
                </a:solidFill>
                <a:latin typeface="Malgun Gothic" pitchFamily="34" charset="0"/>
                <a:ea typeface="Malgun Gothic" pitchFamily="34" charset="-122"/>
                <a:cs typeface="Malgun Gothic" pitchFamily="34" charset="-120"/>
              </a:rPr>
              <a:t>아키텍처 · 기술 스택 · DB 설계 · 사용자 권한</a:t>
            </a:r>
            <a:endParaRPr lang="en-US" sz="1200" dirty="0"/>
          </a:p>
        </p:txBody>
      </p:sp>
      <p:sp>
        <p:nvSpPr>
          <p:cNvPr id="11" name="Shape 9"/>
          <p:cNvSpPr/>
          <p:nvPr/>
        </p:nvSpPr>
        <p:spPr>
          <a:xfrm>
            <a:off x="4572000" y="2441448"/>
            <a:ext cx="7132320" cy="0"/>
          </a:xfrm>
          <a:prstGeom prst="line">
            <a:avLst/>
          </a:prstGeom>
          <a:noFill/>
          <a:ln w="9525">
            <a:solidFill>
              <a:srgbClr val="DCE3EA"/>
            </a:solidFill>
            <a:prstDash val="solid"/>
          </a:ln>
        </p:spPr>
      </p:sp>
      <p:sp>
        <p:nvSpPr>
          <p:cNvPr id="12" name="Text 10"/>
          <p:cNvSpPr txBox="1"/>
          <p:nvPr/>
        </p:nvSpPr>
        <p:spPr>
          <a:xfrm>
            <a:off x="4572000" y="2551176"/>
            <a:ext cx="822960" cy="457200"/>
          </a:xfrm>
          <a:prstGeom prst="rect">
            <a:avLst/>
          </a:prstGeom>
          <a:noFill/>
          <a:ln/>
        </p:spPr>
        <p:txBody>
          <a:bodyPr wrap="square" lIns="0" tIns="0" rIns="0" bIns="0" rtlCol="0" anchor="ctr"/>
          <a:lstStyle/>
          <a:p>
            <a:pPr marL="0" indent="0" algn="l">
              <a:buNone/>
            </a:pPr>
            <a:r>
              <a:rPr lang="en-US" sz="2200" b="1" dirty="0">
                <a:solidFill>
                  <a:srgbClr val="FF6B00"/>
                </a:solidFill>
                <a:latin typeface="Malgun Gothic" pitchFamily="34" charset="0"/>
                <a:ea typeface="Malgun Gothic" pitchFamily="34" charset="-122"/>
                <a:cs typeface="Malgun Gothic" pitchFamily="34" charset="-120"/>
              </a:rPr>
              <a:t>03</a:t>
            </a:r>
            <a:endParaRPr lang="en-US" sz="2200" dirty="0"/>
          </a:p>
        </p:txBody>
      </p:sp>
      <p:sp>
        <p:nvSpPr>
          <p:cNvPr id="13" name="Text 11"/>
          <p:cNvSpPr txBox="1"/>
          <p:nvPr/>
        </p:nvSpPr>
        <p:spPr>
          <a:xfrm>
            <a:off x="5394960" y="2532888"/>
            <a:ext cx="5943600" cy="411480"/>
          </a:xfrm>
          <a:prstGeom prst="rect">
            <a:avLst/>
          </a:prstGeom>
          <a:noFill/>
          <a:ln/>
        </p:spPr>
        <p:txBody>
          <a:bodyPr wrap="square" lIns="0" tIns="0" rIns="0" bIns="0" rtlCol="0" anchor="ctr"/>
          <a:lstStyle/>
          <a:p>
            <a:pPr marL="0" indent="0" algn="l">
              <a:buNone/>
            </a:pPr>
            <a:r>
              <a:rPr lang="en-US" sz="1900" b="1" dirty="0">
                <a:solidFill>
                  <a:srgbClr val="0A2540"/>
                </a:solidFill>
                <a:latin typeface="Malgun Gothic" pitchFamily="34" charset="0"/>
                <a:ea typeface="Malgun Gothic" pitchFamily="34" charset="-122"/>
                <a:cs typeface="Malgun Gothic" pitchFamily="34" charset="-120"/>
              </a:rPr>
              <a:t>핵심 기능</a:t>
            </a:r>
            <a:endParaRPr lang="en-US" sz="1900" dirty="0"/>
          </a:p>
        </p:txBody>
      </p:sp>
      <p:sp>
        <p:nvSpPr>
          <p:cNvPr id="14" name="Text 12"/>
          <p:cNvSpPr txBox="1"/>
          <p:nvPr/>
        </p:nvSpPr>
        <p:spPr>
          <a:xfrm>
            <a:off x="5394960" y="2935224"/>
            <a:ext cx="5943600" cy="292608"/>
          </a:xfrm>
          <a:prstGeom prst="rect">
            <a:avLst/>
          </a:prstGeom>
          <a:noFill/>
          <a:ln/>
        </p:spPr>
        <p:txBody>
          <a:bodyPr wrap="square" lIns="0" tIns="0" rIns="0" bIns="0" rtlCol="0" anchor="ctr"/>
          <a:lstStyle/>
          <a:p>
            <a:pPr marL="0" indent="0" algn="l">
              <a:buNone/>
            </a:pPr>
            <a:r>
              <a:rPr lang="en-US" sz="1200" dirty="0">
                <a:solidFill>
                  <a:srgbClr val="5B6B7F"/>
                </a:solidFill>
                <a:latin typeface="Malgun Gothic" pitchFamily="34" charset="0"/>
                <a:ea typeface="Malgun Gothic" pitchFamily="34" charset="-122"/>
                <a:cs typeface="Malgun Gothic" pitchFamily="34" charset="-120"/>
              </a:rPr>
              <a:t>게이트 흐름 · 차량 상태 워크플로우 · 과적 판정 · 화면</a:t>
            </a:r>
            <a:endParaRPr lang="en-US" sz="1200" dirty="0"/>
          </a:p>
        </p:txBody>
      </p:sp>
      <p:sp>
        <p:nvSpPr>
          <p:cNvPr id="15" name="Shape 13"/>
          <p:cNvSpPr/>
          <p:nvPr/>
        </p:nvSpPr>
        <p:spPr>
          <a:xfrm>
            <a:off x="4572000" y="3328416"/>
            <a:ext cx="7132320" cy="0"/>
          </a:xfrm>
          <a:prstGeom prst="line">
            <a:avLst/>
          </a:prstGeom>
          <a:noFill/>
          <a:ln w="9525">
            <a:solidFill>
              <a:srgbClr val="DCE3EA"/>
            </a:solidFill>
            <a:prstDash val="solid"/>
          </a:ln>
        </p:spPr>
      </p:sp>
      <p:sp>
        <p:nvSpPr>
          <p:cNvPr id="16" name="Text 14"/>
          <p:cNvSpPr txBox="1"/>
          <p:nvPr/>
        </p:nvSpPr>
        <p:spPr>
          <a:xfrm>
            <a:off x="4572000" y="3438144"/>
            <a:ext cx="822960" cy="457200"/>
          </a:xfrm>
          <a:prstGeom prst="rect">
            <a:avLst/>
          </a:prstGeom>
          <a:noFill/>
          <a:ln/>
        </p:spPr>
        <p:txBody>
          <a:bodyPr wrap="square" lIns="0" tIns="0" rIns="0" bIns="0" rtlCol="0" anchor="ctr"/>
          <a:lstStyle/>
          <a:p>
            <a:pPr marL="0" indent="0" algn="l">
              <a:buNone/>
            </a:pPr>
            <a:r>
              <a:rPr lang="en-US" sz="2200" b="1" dirty="0">
                <a:solidFill>
                  <a:srgbClr val="FF6B00"/>
                </a:solidFill>
                <a:latin typeface="Malgun Gothic" pitchFamily="34" charset="0"/>
                <a:ea typeface="Malgun Gothic" pitchFamily="34" charset="-122"/>
                <a:cs typeface="Malgun Gothic" pitchFamily="34" charset="-120"/>
              </a:rPr>
              <a:t>04</a:t>
            </a:r>
            <a:endParaRPr lang="en-US" sz="2200" dirty="0"/>
          </a:p>
        </p:txBody>
      </p:sp>
      <p:sp>
        <p:nvSpPr>
          <p:cNvPr id="17" name="Text 15"/>
          <p:cNvSpPr txBox="1"/>
          <p:nvPr/>
        </p:nvSpPr>
        <p:spPr>
          <a:xfrm>
            <a:off x="5394960" y="3419856"/>
            <a:ext cx="5943600" cy="411480"/>
          </a:xfrm>
          <a:prstGeom prst="rect">
            <a:avLst/>
          </a:prstGeom>
          <a:noFill/>
          <a:ln/>
        </p:spPr>
        <p:txBody>
          <a:bodyPr wrap="square" lIns="0" tIns="0" rIns="0" bIns="0" rtlCol="0" anchor="ctr"/>
          <a:lstStyle/>
          <a:p>
            <a:pPr marL="0" indent="0" algn="l">
              <a:buNone/>
            </a:pPr>
            <a:r>
              <a:rPr lang="en-US" sz="1900" b="1" dirty="0">
                <a:solidFill>
                  <a:srgbClr val="0A2540"/>
                </a:solidFill>
                <a:latin typeface="Malgun Gothic" pitchFamily="34" charset="0"/>
                <a:ea typeface="Malgun Gothic" pitchFamily="34" charset="-122"/>
                <a:cs typeface="Malgun Gothic" pitchFamily="34" charset="-120"/>
              </a:rPr>
              <a:t>AI 번호판 인식</a:t>
            </a:r>
            <a:endParaRPr lang="en-US" sz="1900" dirty="0"/>
          </a:p>
        </p:txBody>
      </p:sp>
      <p:sp>
        <p:nvSpPr>
          <p:cNvPr id="18" name="Text 16"/>
          <p:cNvSpPr txBox="1"/>
          <p:nvPr/>
        </p:nvSpPr>
        <p:spPr>
          <a:xfrm>
            <a:off x="5394960" y="3822192"/>
            <a:ext cx="5943600" cy="292608"/>
          </a:xfrm>
          <a:prstGeom prst="rect">
            <a:avLst/>
          </a:prstGeom>
          <a:noFill/>
          <a:ln/>
        </p:spPr>
        <p:txBody>
          <a:bodyPr wrap="square" lIns="0" tIns="0" rIns="0" bIns="0" rtlCol="0" anchor="ctr"/>
          <a:lstStyle/>
          <a:p>
            <a:pPr marL="0" indent="0" algn="l">
              <a:buNone/>
            </a:pPr>
            <a:r>
              <a:rPr lang="en-US" sz="1200" dirty="0">
                <a:solidFill>
                  <a:srgbClr val="5B6B7F"/>
                </a:solidFill>
                <a:latin typeface="Malgun Gothic" pitchFamily="34" charset="0"/>
                <a:ea typeface="Malgun Gothic" pitchFamily="34" charset="-122"/>
                <a:cs typeface="Malgun Gothic" pitchFamily="34" charset="-120"/>
              </a:rPr>
              <a:t>인식 파이프라인 · 성능 개선</a:t>
            </a:r>
            <a:endParaRPr lang="en-US" sz="1200" dirty="0"/>
          </a:p>
        </p:txBody>
      </p:sp>
      <p:sp>
        <p:nvSpPr>
          <p:cNvPr id="19" name="Shape 17"/>
          <p:cNvSpPr/>
          <p:nvPr/>
        </p:nvSpPr>
        <p:spPr>
          <a:xfrm>
            <a:off x="4572000" y="4215384"/>
            <a:ext cx="7132320" cy="0"/>
          </a:xfrm>
          <a:prstGeom prst="line">
            <a:avLst/>
          </a:prstGeom>
          <a:noFill/>
          <a:ln w="9525">
            <a:solidFill>
              <a:srgbClr val="DCE3EA"/>
            </a:solidFill>
            <a:prstDash val="solid"/>
          </a:ln>
        </p:spPr>
      </p:sp>
      <p:sp>
        <p:nvSpPr>
          <p:cNvPr id="20" name="Text 18"/>
          <p:cNvSpPr txBox="1"/>
          <p:nvPr/>
        </p:nvSpPr>
        <p:spPr>
          <a:xfrm>
            <a:off x="4572000" y="4325112"/>
            <a:ext cx="822960" cy="457200"/>
          </a:xfrm>
          <a:prstGeom prst="rect">
            <a:avLst/>
          </a:prstGeom>
          <a:noFill/>
          <a:ln/>
        </p:spPr>
        <p:txBody>
          <a:bodyPr wrap="square" lIns="0" tIns="0" rIns="0" bIns="0" rtlCol="0" anchor="ctr"/>
          <a:lstStyle/>
          <a:p>
            <a:pPr marL="0" indent="0" algn="l">
              <a:buNone/>
            </a:pPr>
            <a:r>
              <a:rPr lang="en-US" sz="2200" b="1" dirty="0">
                <a:solidFill>
                  <a:srgbClr val="FF6B00"/>
                </a:solidFill>
                <a:latin typeface="Malgun Gothic" pitchFamily="34" charset="0"/>
                <a:ea typeface="Malgun Gothic" pitchFamily="34" charset="-122"/>
                <a:cs typeface="Malgun Gothic" pitchFamily="34" charset="-120"/>
              </a:rPr>
              <a:t>05</a:t>
            </a:r>
            <a:endParaRPr lang="en-US" sz="2200" dirty="0"/>
          </a:p>
        </p:txBody>
      </p:sp>
      <p:sp>
        <p:nvSpPr>
          <p:cNvPr id="21" name="Text 19"/>
          <p:cNvSpPr txBox="1"/>
          <p:nvPr/>
        </p:nvSpPr>
        <p:spPr>
          <a:xfrm>
            <a:off x="5394960" y="4306824"/>
            <a:ext cx="5943600" cy="411480"/>
          </a:xfrm>
          <a:prstGeom prst="rect">
            <a:avLst/>
          </a:prstGeom>
          <a:noFill/>
          <a:ln/>
        </p:spPr>
        <p:txBody>
          <a:bodyPr wrap="square" lIns="0" tIns="0" rIns="0" bIns="0" rtlCol="0" anchor="ctr"/>
          <a:lstStyle/>
          <a:p>
            <a:pPr marL="0" indent="0" algn="l">
              <a:buNone/>
            </a:pPr>
            <a:r>
              <a:rPr lang="ko-KR" altLang="en-US" sz="1900" b="1" dirty="0">
                <a:solidFill>
                  <a:srgbClr val="0A2540"/>
                </a:solidFill>
                <a:latin typeface="Malgun Gothic" pitchFamily="34" charset="0"/>
                <a:ea typeface="Malgun Gothic" pitchFamily="34" charset="-122"/>
                <a:cs typeface="Malgun Gothic" pitchFamily="34" charset="-120"/>
              </a:rPr>
              <a:t>시연</a:t>
            </a:r>
            <a:endParaRPr lang="en-US" sz="1900" dirty="0"/>
          </a:p>
        </p:txBody>
      </p:sp>
      <p:sp>
        <p:nvSpPr>
          <p:cNvPr id="22" name="Text 20"/>
          <p:cNvSpPr txBox="1"/>
          <p:nvPr/>
        </p:nvSpPr>
        <p:spPr>
          <a:xfrm>
            <a:off x="5394960" y="4709160"/>
            <a:ext cx="5943600" cy="292608"/>
          </a:xfrm>
          <a:prstGeom prst="rect">
            <a:avLst/>
          </a:prstGeom>
          <a:noFill/>
          <a:ln/>
        </p:spPr>
        <p:txBody>
          <a:bodyPr wrap="square" lIns="0" tIns="0" rIns="0" bIns="0" rtlCol="0" anchor="ctr"/>
          <a:lstStyle/>
          <a:p>
            <a:pPr marL="0" indent="0" algn="l">
              <a:buNone/>
            </a:pPr>
            <a:r>
              <a:rPr lang="ko-KR" altLang="en-US" sz="1200" dirty="0">
                <a:solidFill>
                  <a:srgbClr val="5B6B7F"/>
                </a:solidFill>
                <a:latin typeface="Malgun Gothic" pitchFamily="34" charset="0"/>
                <a:ea typeface="Malgun Gothic" pitchFamily="34" charset="-122"/>
                <a:cs typeface="Malgun Gothic" pitchFamily="34" charset="-120"/>
              </a:rPr>
              <a:t>소개 </a:t>
            </a:r>
            <a:r>
              <a:rPr lang="en-US" altLang="ko-KR" sz="1200" dirty="0" err="1">
                <a:solidFill>
                  <a:srgbClr val="5B6B7F"/>
                </a:solidFill>
                <a:latin typeface="Malgun Gothic" pitchFamily="34" charset="0"/>
                <a:ea typeface="Malgun Gothic" pitchFamily="34" charset="-122"/>
                <a:cs typeface="Malgun Gothic" pitchFamily="34" charset="-120"/>
              </a:rPr>
              <a:t>영상</a:t>
            </a:r>
            <a:r>
              <a:rPr lang="en-US" altLang="ko-KR" sz="1200" dirty="0">
                <a:solidFill>
                  <a:srgbClr val="5B6B7F"/>
                </a:solidFill>
                <a:latin typeface="Malgun Gothic" pitchFamily="34" charset="0"/>
                <a:ea typeface="Malgun Gothic" pitchFamily="34" charset="-122"/>
                <a:cs typeface="Malgun Gothic" pitchFamily="34" charset="-120"/>
              </a:rPr>
              <a:t> · </a:t>
            </a:r>
            <a:r>
              <a:rPr lang="en-US" altLang="ko-KR" sz="1200" dirty="0" err="1">
                <a:solidFill>
                  <a:srgbClr val="5B6B7F"/>
                </a:solidFill>
                <a:latin typeface="Malgun Gothic" pitchFamily="34" charset="0"/>
                <a:ea typeface="Malgun Gothic" pitchFamily="34" charset="-122"/>
                <a:cs typeface="Malgun Gothic" pitchFamily="34" charset="-120"/>
              </a:rPr>
              <a:t>라이브</a:t>
            </a:r>
            <a:r>
              <a:rPr lang="en-US" altLang="ko-KR" sz="1200" dirty="0">
                <a:solidFill>
                  <a:srgbClr val="5B6B7F"/>
                </a:solidFill>
                <a:latin typeface="Malgun Gothic" pitchFamily="34" charset="0"/>
                <a:ea typeface="Malgun Gothic" pitchFamily="34" charset="-122"/>
                <a:cs typeface="Malgun Gothic" pitchFamily="34" charset="-120"/>
              </a:rPr>
              <a:t> </a:t>
            </a:r>
            <a:r>
              <a:rPr lang="en-US" altLang="ko-KR" sz="1200" dirty="0" err="1">
                <a:solidFill>
                  <a:srgbClr val="5B6B7F"/>
                </a:solidFill>
                <a:latin typeface="Malgun Gothic" pitchFamily="34" charset="0"/>
                <a:ea typeface="Malgun Gothic" pitchFamily="34" charset="-122"/>
                <a:cs typeface="Malgun Gothic" pitchFamily="34" charset="-120"/>
              </a:rPr>
              <a:t>시연</a:t>
            </a:r>
            <a:endParaRPr lang="en-US" sz="1200" dirty="0"/>
          </a:p>
        </p:txBody>
      </p:sp>
      <p:sp>
        <p:nvSpPr>
          <p:cNvPr id="23" name="Shape 21"/>
          <p:cNvSpPr/>
          <p:nvPr/>
        </p:nvSpPr>
        <p:spPr>
          <a:xfrm>
            <a:off x="4572000" y="5102352"/>
            <a:ext cx="7132320" cy="0"/>
          </a:xfrm>
          <a:prstGeom prst="line">
            <a:avLst/>
          </a:prstGeom>
          <a:noFill/>
          <a:ln w="9525">
            <a:solidFill>
              <a:srgbClr val="DCE3EA"/>
            </a:solidFill>
            <a:prstDash val="solid"/>
          </a:ln>
        </p:spPr>
      </p:sp>
      <p:sp>
        <p:nvSpPr>
          <p:cNvPr id="24" name="Text 22"/>
          <p:cNvSpPr txBox="1"/>
          <p:nvPr/>
        </p:nvSpPr>
        <p:spPr>
          <a:xfrm>
            <a:off x="4572000" y="5212080"/>
            <a:ext cx="822960" cy="457200"/>
          </a:xfrm>
          <a:prstGeom prst="rect">
            <a:avLst/>
          </a:prstGeom>
          <a:noFill/>
          <a:ln/>
        </p:spPr>
        <p:txBody>
          <a:bodyPr wrap="square" lIns="0" tIns="0" rIns="0" bIns="0" rtlCol="0" anchor="ctr"/>
          <a:lstStyle/>
          <a:p>
            <a:pPr marL="0" indent="0" algn="l">
              <a:buNone/>
            </a:pPr>
            <a:r>
              <a:rPr lang="en-US" sz="2200" b="1" dirty="0">
                <a:solidFill>
                  <a:srgbClr val="FF6B00"/>
                </a:solidFill>
                <a:latin typeface="Malgun Gothic" pitchFamily="34" charset="0"/>
                <a:ea typeface="Malgun Gothic" pitchFamily="34" charset="-122"/>
                <a:cs typeface="Malgun Gothic" pitchFamily="34" charset="-120"/>
              </a:rPr>
              <a:t>06</a:t>
            </a:r>
            <a:endParaRPr lang="en-US" sz="2200" dirty="0"/>
          </a:p>
        </p:txBody>
      </p:sp>
      <p:sp>
        <p:nvSpPr>
          <p:cNvPr id="25" name="Text 23"/>
          <p:cNvSpPr txBox="1"/>
          <p:nvPr/>
        </p:nvSpPr>
        <p:spPr>
          <a:xfrm>
            <a:off x="5463540" y="5193792"/>
            <a:ext cx="5943600" cy="411480"/>
          </a:xfrm>
          <a:prstGeom prst="rect">
            <a:avLst/>
          </a:prstGeom>
          <a:noFill/>
          <a:ln/>
        </p:spPr>
        <p:txBody>
          <a:bodyPr wrap="square" lIns="0" tIns="0" rIns="0" bIns="0" rtlCol="0" anchor="ctr"/>
          <a:lstStyle/>
          <a:p>
            <a:pPr marL="0" indent="0" algn="l">
              <a:buNone/>
            </a:pPr>
            <a:r>
              <a:rPr lang="en-US" altLang="ko-KR" sz="1900" b="1" dirty="0" err="1">
                <a:solidFill>
                  <a:srgbClr val="0A2540"/>
                </a:solidFill>
                <a:latin typeface="Malgun Gothic" pitchFamily="34" charset="0"/>
                <a:ea typeface="Malgun Gothic" pitchFamily="34" charset="-122"/>
                <a:cs typeface="Malgun Gothic" pitchFamily="34" charset="-120"/>
              </a:rPr>
              <a:t>트러블슈팅</a:t>
            </a:r>
            <a:r>
              <a:rPr lang="en-US" altLang="ko-KR" sz="1900" b="1" dirty="0">
                <a:solidFill>
                  <a:srgbClr val="0A2540"/>
                </a:solidFill>
                <a:latin typeface="Malgun Gothic" pitchFamily="34" charset="0"/>
                <a:ea typeface="Malgun Gothic" pitchFamily="34" charset="-122"/>
                <a:cs typeface="Malgun Gothic" pitchFamily="34" charset="-120"/>
              </a:rPr>
              <a:t> 및 </a:t>
            </a:r>
            <a:r>
              <a:rPr lang="en-US" altLang="ko-KR" sz="1900" b="1" dirty="0" err="1">
                <a:solidFill>
                  <a:srgbClr val="0A2540"/>
                </a:solidFill>
                <a:latin typeface="Malgun Gothic" pitchFamily="34" charset="0"/>
                <a:ea typeface="Malgun Gothic" pitchFamily="34" charset="-122"/>
                <a:cs typeface="Malgun Gothic" pitchFamily="34" charset="-120"/>
              </a:rPr>
              <a:t>향후</a:t>
            </a:r>
            <a:r>
              <a:rPr lang="en-US" altLang="ko-KR" sz="1900" b="1" dirty="0">
                <a:solidFill>
                  <a:srgbClr val="0A2540"/>
                </a:solidFill>
                <a:latin typeface="Malgun Gothic" pitchFamily="34" charset="0"/>
                <a:ea typeface="Malgun Gothic" pitchFamily="34" charset="-122"/>
                <a:cs typeface="Malgun Gothic" pitchFamily="34" charset="-120"/>
              </a:rPr>
              <a:t> </a:t>
            </a:r>
            <a:r>
              <a:rPr lang="en-US" altLang="ko-KR" sz="1900" b="1" dirty="0" err="1">
                <a:solidFill>
                  <a:srgbClr val="0A2540"/>
                </a:solidFill>
                <a:latin typeface="Malgun Gothic" pitchFamily="34" charset="0"/>
                <a:ea typeface="Malgun Gothic" pitchFamily="34" charset="-122"/>
                <a:cs typeface="Malgun Gothic" pitchFamily="34" charset="-120"/>
              </a:rPr>
              <a:t>계획</a:t>
            </a:r>
            <a:endParaRPr lang="en-US" altLang="ko-KR" sz="1900" dirty="0"/>
          </a:p>
        </p:txBody>
      </p:sp>
      <p:sp>
        <p:nvSpPr>
          <p:cNvPr id="26" name="Text 24"/>
          <p:cNvSpPr txBox="1"/>
          <p:nvPr/>
        </p:nvSpPr>
        <p:spPr>
          <a:xfrm>
            <a:off x="5394960" y="5596128"/>
            <a:ext cx="5943600" cy="292608"/>
          </a:xfrm>
          <a:prstGeom prst="rect">
            <a:avLst/>
          </a:prstGeom>
          <a:noFill/>
          <a:ln/>
        </p:spPr>
        <p:txBody>
          <a:bodyPr wrap="square" lIns="0" tIns="0" rIns="0" bIns="0" rtlCol="0" anchor="ctr"/>
          <a:lstStyle/>
          <a:p>
            <a:r>
              <a:rPr lang="en-US" altLang="ko-KR" sz="1200" dirty="0" err="1">
                <a:solidFill>
                  <a:srgbClr val="5B6B7F"/>
                </a:solidFill>
                <a:latin typeface="Malgun Gothic" pitchFamily="34" charset="0"/>
                <a:ea typeface="Malgun Gothic" pitchFamily="34" charset="-122"/>
                <a:cs typeface="Malgun Gothic" pitchFamily="34" charset="-120"/>
              </a:rPr>
              <a:t>개선</a:t>
            </a:r>
            <a:r>
              <a:rPr lang="en-US" altLang="ko-KR" sz="1200" dirty="0">
                <a:solidFill>
                  <a:srgbClr val="5B6B7F"/>
                </a:solidFill>
                <a:latin typeface="Malgun Gothic" pitchFamily="34" charset="0"/>
                <a:ea typeface="Malgun Gothic" pitchFamily="34" charset="-122"/>
                <a:cs typeface="Malgun Gothic" pitchFamily="34" charset="-120"/>
              </a:rPr>
              <a:t> </a:t>
            </a:r>
            <a:r>
              <a:rPr lang="en-US" altLang="ko-KR" sz="1200" dirty="0" err="1">
                <a:solidFill>
                  <a:srgbClr val="5B6B7F"/>
                </a:solidFill>
                <a:latin typeface="Malgun Gothic" pitchFamily="34" charset="0"/>
                <a:ea typeface="Malgun Gothic" pitchFamily="34" charset="-122"/>
                <a:cs typeface="Malgun Gothic" pitchFamily="34" charset="-120"/>
              </a:rPr>
              <a:t>과정</a:t>
            </a:r>
            <a:r>
              <a:rPr lang="en-US" altLang="ko-KR" sz="1200" dirty="0">
                <a:solidFill>
                  <a:srgbClr val="5B6B7F"/>
                </a:solidFill>
                <a:latin typeface="Malgun Gothic" pitchFamily="34" charset="0"/>
                <a:ea typeface="Malgun Gothic" pitchFamily="34" charset="-122"/>
                <a:cs typeface="Malgun Gothic" pitchFamily="34" charset="-120"/>
              </a:rPr>
              <a:t> · </a:t>
            </a:r>
            <a:r>
              <a:rPr lang="en-US" altLang="ko-KR" sz="1200" dirty="0" err="1">
                <a:solidFill>
                  <a:srgbClr val="5B6B7F"/>
                </a:solidFill>
                <a:latin typeface="Malgun Gothic" pitchFamily="34" charset="0"/>
                <a:ea typeface="Malgun Gothic" pitchFamily="34" charset="-122"/>
                <a:cs typeface="Malgun Gothic" pitchFamily="34" charset="-120"/>
              </a:rPr>
              <a:t>성과와</a:t>
            </a:r>
            <a:r>
              <a:rPr lang="en-US" altLang="ko-KR" sz="1200" dirty="0">
                <a:solidFill>
                  <a:srgbClr val="5B6B7F"/>
                </a:solidFill>
                <a:latin typeface="Malgun Gothic" pitchFamily="34" charset="0"/>
                <a:ea typeface="Malgun Gothic" pitchFamily="34" charset="-122"/>
                <a:cs typeface="Malgun Gothic" pitchFamily="34" charset="-120"/>
              </a:rPr>
              <a:t> </a:t>
            </a:r>
            <a:r>
              <a:rPr lang="en-US" altLang="ko-KR" sz="1200" dirty="0" err="1">
                <a:solidFill>
                  <a:srgbClr val="5B6B7F"/>
                </a:solidFill>
                <a:latin typeface="Malgun Gothic" pitchFamily="34" charset="0"/>
                <a:ea typeface="Malgun Gothic" pitchFamily="34" charset="-122"/>
                <a:cs typeface="Malgun Gothic" pitchFamily="34" charset="-120"/>
              </a:rPr>
              <a:t>한계</a:t>
            </a:r>
            <a:r>
              <a:rPr lang="en-US" altLang="ko-KR" sz="1200" dirty="0">
                <a:solidFill>
                  <a:srgbClr val="5B6B7F"/>
                </a:solidFill>
                <a:latin typeface="Malgun Gothic" pitchFamily="34" charset="0"/>
                <a:ea typeface="Malgun Gothic" pitchFamily="34" charset="-122"/>
                <a:cs typeface="Malgun Gothic" pitchFamily="34" charset="-120"/>
              </a:rPr>
              <a:t> · 2차 </a:t>
            </a:r>
            <a:r>
              <a:rPr lang="en-US" altLang="ko-KR" sz="1200" dirty="0" err="1">
                <a:solidFill>
                  <a:srgbClr val="5B6B7F"/>
                </a:solidFill>
                <a:latin typeface="Malgun Gothic" pitchFamily="34" charset="0"/>
                <a:ea typeface="Malgun Gothic" pitchFamily="34" charset="-122"/>
                <a:cs typeface="Malgun Gothic" pitchFamily="34" charset="-120"/>
              </a:rPr>
              <a:t>확장</a:t>
            </a:r>
            <a:endParaRPr lang="en-US" altLang="ko-KR" sz="1200" dirty="0"/>
          </a:p>
        </p:txBody>
      </p:sp>
      <p:sp>
        <p:nvSpPr>
          <p:cNvPr id="27" name="Shape 25"/>
          <p:cNvSpPr/>
          <p:nvPr/>
        </p:nvSpPr>
        <p:spPr>
          <a:xfrm>
            <a:off x="4572000" y="5989320"/>
            <a:ext cx="7132320" cy="0"/>
          </a:xfrm>
          <a:prstGeom prst="line">
            <a:avLst/>
          </a:prstGeom>
          <a:noFill/>
          <a:ln w="9525">
            <a:solidFill>
              <a:srgbClr val="DCE3EA"/>
            </a:solidFill>
            <a:prstDash val="solid"/>
          </a:ln>
        </p:spPr>
      </p:sp>
      <p:sp>
        <p:nvSpPr>
          <p:cNvPr id="28" name="Text 26"/>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Malgun Gothic" pitchFamily="34" charset="0"/>
                <a:ea typeface="Malgun Gothic" pitchFamily="34" charset="-122"/>
                <a:cs typeface="Malgun Gothic" pitchFamily="34" charset="-120"/>
              </a:rPr>
              <a:t>S Cargo  ·  못먹어도 S카고</a:t>
            </a:r>
            <a:endParaRPr lang="en-US" sz="900" dirty="0"/>
          </a:p>
        </p:txBody>
      </p:sp>
      <p:sp>
        <p:nvSpPr>
          <p:cNvPr id="29" name="Text 27"/>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Malgun Gothic" pitchFamily="34" charset="0"/>
                <a:ea typeface="Malgun Gothic" pitchFamily="34" charset="-122"/>
                <a:cs typeface="Malgun Gothic"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2540"/>
        </a:solidFill>
        <a:effectLst/>
      </p:bgPr>
    </p:bg>
    <p:spTree>
      <p:nvGrpSpPr>
        <p:cNvPr id="1" name=""/>
        <p:cNvGrpSpPr/>
        <p:nvPr/>
      </p:nvGrpSpPr>
      <p:grpSpPr>
        <a:xfrm>
          <a:off x="0" y="0"/>
          <a:ext cx="0" cy="0"/>
          <a:chOff x="0" y="0"/>
          <a:chExt cx="0" cy="0"/>
        </a:xfrm>
      </p:grpSpPr>
      <p:pic>
        <p:nvPicPr>
          <p:cNvPr id="2" name="Image 0" descr="/home/claude/v3/img/end_bg.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822960" y="2377440"/>
            <a:ext cx="2743200" cy="822960"/>
          </a:xfrm>
          <a:prstGeom prst="rect">
            <a:avLst/>
          </a:prstGeom>
          <a:noFill/>
          <a:ln/>
        </p:spPr>
        <p:txBody>
          <a:bodyPr wrap="square" lIns="0" tIns="0" rIns="0" bIns="0" rtlCol="0" anchor="ctr"/>
          <a:lstStyle/>
          <a:p>
            <a:pPr marL="0" indent="0" algn="l">
              <a:buNone/>
            </a:pPr>
            <a:r>
              <a:rPr lang="en-US" sz="4800" b="1" dirty="0">
                <a:solidFill>
                  <a:srgbClr val="FF6B00"/>
                </a:solidFill>
                <a:latin typeface="Malgun Gothic" pitchFamily="34" charset="0"/>
                <a:ea typeface="Malgun Gothic" pitchFamily="34" charset="-122"/>
                <a:cs typeface="Malgun Gothic" pitchFamily="34" charset="-120"/>
              </a:rPr>
              <a:t>01</a:t>
            </a:r>
            <a:endParaRPr lang="en-US" sz="4800" dirty="0"/>
          </a:p>
        </p:txBody>
      </p:sp>
      <p:sp>
        <p:nvSpPr>
          <p:cNvPr id="4" name="Text 1"/>
          <p:cNvSpPr txBox="1"/>
          <p:nvPr/>
        </p:nvSpPr>
        <p:spPr>
          <a:xfrm>
            <a:off x="822960" y="3200400"/>
            <a:ext cx="10058400"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Malgun Gothic" pitchFamily="34" charset="0"/>
                <a:ea typeface="Malgun Gothic" pitchFamily="34" charset="-122"/>
                <a:cs typeface="Malgun Gothic" pitchFamily="34" charset="-120"/>
              </a:rPr>
              <a:t>프로젝트 개요</a:t>
            </a:r>
            <a:endParaRPr lang="en-US" sz="3600" dirty="0"/>
          </a:p>
        </p:txBody>
      </p:sp>
      <p:sp>
        <p:nvSpPr>
          <p:cNvPr id="5" name="Text 2"/>
          <p:cNvSpPr txBox="1"/>
          <p:nvPr/>
        </p:nvSpPr>
        <p:spPr>
          <a:xfrm>
            <a:off x="822960" y="3931920"/>
            <a:ext cx="10058400" cy="365760"/>
          </a:xfrm>
          <a:prstGeom prst="rect">
            <a:avLst/>
          </a:prstGeom>
          <a:noFill/>
          <a:ln/>
        </p:spPr>
        <p:txBody>
          <a:bodyPr wrap="square" lIns="0" tIns="0" rIns="0" bIns="0" rtlCol="0" anchor="ctr"/>
          <a:lstStyle/>
          <a:p>
            <a:pPr marL="0" indent="0" algn="l">
              <a:buNone/>
            </a:pPr>
            <a:r>
              <a:rPr lang="ko-KR" altLang="en-US" sz="1400" dirty="0">
                <a:solidFill>
                  <a:srgbClr val="C9D6E3"/>
                </a:solidFill>
                <a:latin typeface="Malgun Gothic" pitchFamily="34" charset="0"/>
                <a:ea typeface="Malgun Gothic" pitchFamily="34" charset="-122"/>
                <a:cs typeface="Malgun Gothic" pitchFamily="34" charset="-120"/>
              </a:rPr>
              <a:t>조원 소개 </a:t>
            </a:r>
            <a:r>
              <a:rPr lang="en-US" altLang="ko-KR" sz="1400" dirty="0">
                <a:solidFill>
                  <a:srgbClr val="C9D6E3"/>
                </a:solidFill>
                <a:latin typeface="Malgun Gothic" pitchFamily="34" charset="0"/>
                <a:ea typeface="Malgun Gothic" pitchFamily="34" charset="-122"/>
                <a:cs typeface="Malgun Gothic" pitchFamily="34" charset="-120"/>
              </a:rPr>
              <a:t>· </a:t>
            </a:r>
            <a:r>
              <a:rPr lang="en-US" sz="1400" dirty="0" err="1">
                <a:solidFill>
                  <a:srgbClr val="C9D6E3"/>
                </a:solidFill>
                <a:latin typeface="Malgun Gothic" pitchFamily="34" charset="0"/>
                <a:ea typeface="Malgun Gothic" pitchFamily="34" charset="-122"/>
                <a:cs typeface="Malgun Gothic" pitchFamily="34" charset="-120"/>
              </a:rPr>
              <a:t>문제</a:t>
            </a:r>
            <a:r>
              <a:rPr lang="en-US" sz="1400" dirty="0">
                <a:solidFill>
                  <a:srgbClr val="C9D6E3"/>
                </a:solidFill>
                <a:latin typeface="Malgun Gothic" pitchFamily="34" charset="0"/>
                <a:ea typeface="Malgun Gothic" pitchFamily="34" charset="-122"/>
                <a:cs typeface="Malgun Gothic" pitchFamily="34" charset="-120"/>
              </a:rPr>
              <a:t> </a:t>
            </a:r>
            <a:r>
              <a:rPr lang="ko-KR" altLang="en-US" sz="1400" dirty="0">
                <a:solidFill>
                  <a:srgbClr val="C9D6E3"/>
                </a:solidFill>
                <a:latin typeface="Malgun Gothic" pitchFamily="34" charset="0"/>
                <a:ea typeface="Malgun Gothic" pitchFamily="34" charset="-122"/>
                <a:cs typeface="Malgun Gothic" pitchFamily="34" charset="-120"/>
              </a:rPr>
              <a:t>인식</a:t>
            </a:r>
            <a:r>
              <a:rPr lang="en-US" sz="1400" dirty="0">
                <a:solidFill>
                  <a:srgbClr val="C9D6E3"/>
                </a:solidFill>
                <a:latin typeface="Malgun Gothic" pitchFamily="34" charset="0"/>
                <a:ea typeface="Malgun Gothic" pitchFamily="34" charset="-122"/>
                <a:cs typeface="Malgun Gothic" pitchFamily="34" charset="-120"/>
              </a:rPr>
              <a:t> · 목표와 </a:t>
            </a:r>
            <a:r>
              <a:rPr lang="en-US" sz="1400" dirty="0" err="1">
                <a:solidFill>
                  <a:srgbClr val="C9D6E3"/>
                </a:solidFill>
                <a:latin typeface="Malgun Gothic" pitchFamily="34" charset="0"/>
                <a:ea typeface="Malgun Gothic" pitchFamily="34" charset="-122"/>
                <a:cs typeface="Malgun Gothic" pitchFamily="34" charset="-120"/>
              </a:rPr>
              <a:t>범위</a:t>
            </a:r>
            <a:r>
              <a:rPr lang="en-US" sz="1400" dirty="0">
                <a:solidFill>
                  <a:srgbClr val="C9D6E3"/>
                </a:solidFill>
                <a:latin typeface="Malgun Gothic" pitchFamily="34" charset="0"/>
                <a:ea typeface="Malgun Gothic" pitchFamily="34" charset="-122"/>
                <a:cs typeface="Malgun Gothic" pitchFamily="34" charset="-120"/>
              </a:rPr>
              <a:t> · 일정</a:t>
            </a:r>
            <a:endParaRPr lang="en-US" sz="1400" dirty="0"/>
          </a:p>
        </p:txBody>
      </p:sp>
      <p:sp>
        <p:nvSpPr>
          <p:cNvPr id="6" name="Shape 3"/>
          <p:cNvSpPr/>
          <p:nvPr/>
        </p:nvSpPr>
        <p:spPr>
          <a:xfrm>
            <a:off x="822960" y="4526280"/>
            <a:ext cx="2011680" cy="0"/>
          </a:xfrm>
          <a:prstGeom prst="line">
            <a:avLst/>
          </a:prstGeom>
          <a:noFill/>
          <a:ln w="38100">
            <a:solidFill>
              <a:srgbClr val="FF6B00"/>
            </a:solidFill>
            <a:prstDash val="solid"/>
          </a:ln>
        </p:spPr>
      </p:sp>
      <p:sp>
        <p:nvSpPr>
          <p:cNvPr id="7" name="Text 4"/>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8FA3BA"/>
                </a:solidFill>
                <a:latin typeface="Malgun Gothic" pitchFamily="34" charset="0"/>
                <a:ea typeface="Malgun Gothic" pitchFamily="34" charset="-122"/>
                <a:cs typeface="Malgun Gothic" pitchFamily="34" charset="-120"/>
              </a:rPr>
              <a:t>S Cargo  ·  못먹어도 S카고</a:t>
            </a:r>
            <a:endParaRPr lang="en-US" sz="900" dirty="0"/>
          </a:p>
        </p:txBody>
      </p:sp>
      <p:sp>
        <p:nvSpPr>
          <p:cNvPr id="8" name="Text 5"/>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8FA3BA"/>
                </a:solidFill>
                <a:latin typeface="Malgun Gothic" pitchFamily="34" charset="0"/>
                <a:ea typeface="Malgun Gothic" pitchFamily="34" charset="-122"/>
                <a:cs typeface="Malgun Gothic"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Malgun Gothic" pitchFamily="34" charset="0"/>
                <a:ea typeface="Malgun Gothic" pitchFamily="34" charset="-122"/>
                <a:cs typeface="Malgun Gothic" pitchFamily="34" charset="-120"/>
              </a:rPr>
              <a:t>01  프로젝트 개요</a:t>
            </a:r>
            <a:endParaRPr lang="en-US" sz="1100" dirty="0"/>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Malgun Gothic" pitchFamily="34" charset="0"/>
                <a:ea typeface="Malgun Gothic" pitchFamily="34" charset="-122"/>
                <a:cs typeface="Malgun Gothic" pitchFamily="34" charset="-120"/>
              </a:rPr>
              <a:t>조원 소개</a:t>
            </a:r>
            <a:endParaRPr lang="en-US" sz="2600" dirty="0"/>
          </a:p>
        </p:txBody>
      </p:sp>
      <p:sp>
        <p:nvSpPr>
          <p:cNvPr id="4" name="Text 2"/>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Malgun Gothic" pitchFamily="34" charset="0"/>
                <a:ea typeface="Malgun Gothic" pitchFamily="34" charset="-122"/>
                <a:cs typeface="Malgun Gothic" pitchFamily="34" charset="-120"/>
              </a:rPr>
              <a:t>S Cargo  ·  못먹어도 S카고</a:t>
            </a:r>
            <a:endParaRPr lang="en-US" sz="900" dirty="0"/>
          </a:p>
        </p:txBody>
      </p:sp>
      <p:sp>
        <p:nvSpPr>
          <p:cNvPr id="5" name="Text 3"/>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ko-KR" altLang="en-US" sz="900" dirty="0">
                <a:solidFill>
                  <a:srgbClr val="9AA8B8"/>
                </a:solidFill>
                <a:latin typeface="Malgun Gothic" pitchFamily="34" charset="0"/>
                <a:ea typeface="Malgun Gothic" pitchFamily="34" charset="-122"/>
              </a:rPr>
              <a:t>４</a:t>
            </a:r>
            <a:endParaRPr lang="en-US" sz="900" dirty="0"/>
          </a:p>
        </p:txBody>
      </p:sp>
      <p:sp>
        <p:nvSpPr>
          <p:cNvPr id="6" name="Shape 4"/>
          <p:cNvSpPr/>
          <p:nvPr/>
        </p:nvSpPr>
        <p:spPr>
          <a:xfrm>
            <a:off x="502920" y="1508760"/>
            <a:ext cx="2103120" cy="4023360"/>
          </a:xfrm>
          <a:prstGeom prst="roundRect">
            <a:avLst>
              <a:gd name="adj" fmla="val 2609"/>
            </a:avLst>
          </a:prstGeom>
          <a:solidFill>
            <a:srgbClr val="F4F6F8"/>
          </a:solidFill>
          <a:ln w="12700">
            <a:solidFill>
              <a:srgbClr val="DCE3EA"/>
            </a:solidFill>
            <a:prstDash val="solid"/>
          </a:ln>
        </p:spPr>
      </p:sp>
      <p:sp>
        <p:nvSpPr>
          <p:cNvPr id="9" name="Text 7"/>
          <p:cNvSpPr txBox="1"/>
          <p:nvPr/>
        </p:nvSpPr>
        <p:spPr>
          <a:xfrm>
            <a:off x="502920" y="1932091"/>
            <a:ext cx="2103120" cy="365760"/>
          </a:xfrm>
          <a:prstGeom prst="rect">
            <a:avLst/>
          </a:prstGeom>
          <a:noFill/>
          <a:ln/>
        </p:spPr>
        <p:txBody>
          <a:bodyPr wrap="square" lIns="0" tIns="0" rIns="0" bIns="0" rtlCol="0" anchor="ctr"/>
          <a:lstStyle/>
          <a:p>
            <a:pPr marL="0" indent="0" algn="ctr">
              <a:buNone/>
            </a:pPr>
            <a:r>
              <a:rPr lang="en-US" sz="1800" b="1" dirty="0">
                <a:solidFill>
                  <a:srgbClr val="0A2540"/>
                </a:solidFill>
                <a:latin typeface="Malgun Gothic" pitchFamily="34" charset="0"/>
                <a:ea typeface="Malgun Gothic" pitchFamily="34" charset="-122"/>
                <a:cs typeface="Malgun Gothic" pitchFamily="34" charset="-120"/>
              </a:rPr>
              <a:t>최길웅</a:t>
            </a:r>
            <a:endParaRPr lang="en-US" sz="1800" dirty="0"/>
          </a:p>
        </p:txBody>
      </p:sp>
      <p:grpSp>
        <p:nvGrpSpPr>
          <p:cNvPr id="42" name="그룹 41">
            <a:extLst>
              <a:ext uri="{FF2B5EF4-FFF2-40B4-BE49-F238E27FC236}">
                <a16:creationId xmlns:a16="http://schemas.microsoft.com/office/drawing/2014/main" id="{0ACBDDAD-D0F1-58B0-A656-2381CA2D346E}"/>
              </a:ext>
            </a:extLst>
          </p:cNvPr>
          <p:cNvGrpSpPr/>
          <p:nvPr/>
        </p:nvGrpSpPr>
        <p:grpSpPr>
          <a:xfrm>
            <a:off x="960120" y="2557272"/>
            <a:ext cx="1188720" cy="329184"/>
            <a:chOff x="960120" y="3090672"/>
            <a:chExt cx="1188720" cy="329184"/>
          </a:xfrm>
        </p:grpSpPr>
        <p:sp>
          <p:nvSpPr>
            <p:cNvPr id="10" name="Shape 8"/>
            <p:cNvSpPr/>
            <p:nvPr/>
          </p:nvSpPr>
          <p:spPr>
            <a:xfrm>
              <a:off x="960120" y="3090672"/>
              <a:ext cx="1188720" cy="329184"/>
            </a:xfrm>
            <a:prstGeom prst="roundRect">
              <a:avLst>
                <a:gd name="adj" fmla="val 22222"/>
              </a:avLst>
            </a:prstGeom>
            <a:solidFill>
              <a:srgbClr val="FF6B00"/>
            </a:solidFill>
            <a:ln w="12700">
              <a:solidFill>
                <a:srgbClr val="FF6B00"/>
              </a:solidFill>
              <a:prstDash val="solid"/>
            </a:ln>
          </p:spPr>
        </p:sp>
        <p:sp>
          <p:nvSpPr>
            <p:cNvPr id="11" name="Text 9"/>
            <p:cNvSpPr txBox="1"/>
            <p:nvPr/>
          </p:nvSpPr>
          <p:spPr>
            <a:xfrm>
              <a:off x="1137922" y="3090672"/>
              <a:ext cx="834813"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Malgun Gothic" pitchFamily="34" charset="0"/>
                  <a:ea typeface="Malgun Gothic" pitchFamily="34" charset="-122"/>
                  <a:cs typeface="Malgun Gothic" pitchFamily="34" charset="-120"/>
                </a:rPr>
                <a:t>팀장</a:t>
              </a:r>
              <a:endParaRPr lang="en-US" sz="1100" dirty="0"/>
            </a:p>
          </p:txBody>
        </p:sp>
      </p:grpSp>
      <p:sp>
        <p:nvSpPr>
          <p:cNvPr id="12" name="Text 10"/>
          <p:cNvSpPr txBox="1"/>
          <p:nvPr/>
        </p:nvSpPr>
        <p:spPr>
          <a:xfrm>
            <a:off x="685800" y="3611880"/>
            <a:ext cx="1737360" cy="1140293"/>
          </a:xfrm>
          <a:prstGeom prst="rect">
            <a:avLst/>
          </a:prstGeom>
          <a:noFill/>
          <a:ln/>
        </p:spPr>
        <p:txBody>
          <a:bodyPr wrap="square" lIns="0" tIns="0" rIns="0" bIns="0" rtlCol="0" anchor="t"/>
          <a:lstStyle/>
          <a:p>
            <a:pPr marL="171450" indent="-171450">
              <a:lnSpc>
                <a:spcPct val="120000"/>
              </a:lnSpc>
              <a:buFont typeface="Arial" panose="020B0604020202020204" pitchFamily="34" charset="0"/>
              <a:buChar char="•"/>
            </a:pPr>
            <a:r>
              <a:rPr lang="en-US" sz="1200" dirty="0">
                <a:solidFill>
                  <a:srgbClr val="0A2540"/>
                </a:solidFill>
                <a:latin typeface="Malgun Gothic" pitchFamily="34" charset="0"/>
                <a:ea typeface="Malgun Gothic" pitchFamily="34" charset="-122"/>
                <a:cs typeface="Malgun Gothic" pitchFamily="34" charset="-120"/>
              </a:rPr>
              <a:t>프로젝트 총괄</a:t>
            </a:r>
            <a:endParaRPr lang="en-US" sz="1200" dirty="0"/>
          </a:p>
          <a:p>
            <a:pPr marL="171450" indent="-171450">
              <a:lnSpc>
                <a:spcPct val="120000"/>
              </a:lnSpc>
              <a:buFont typeface="Arial" panose="020B0604020202020204" pitchFamily="34" charset="0"/>
              <a:buChar char="•"/>
            </a:pPr>
            <a:r>
              <a:rPr lang="en-US" sz="1200" dirty="0">
                <a:solidFill>
                  <a:srgbClr val="0A2540"/>
                </a:solidFill>
                <a:latin typeface="Malgun Gothic" pitchFamily="34" charset="0"/>
                <a:ea typeface="Malgun Gothic" pitchFamily="34" charset="-122"/>
                <a:cs typeface="Malgun Gothic" pitchFamily="34" charset="-120"/>
              </a:rPr>
              <a:t>일정 · 의사결정 관리</a:t>
            </a:r>
            <a:endParaRPr lang="en-US" sz="1200" dirty="0"/>
          </a:p>
          <a:p>
            <a:pPr marL="171450" indent="-171450">
              <a:lnSpc>
                <a:spcPct val="120000"/>
              </a:lnSpc>
              <a:buFont typeface="Arial" panose="020B0604020202020204" pitchFamily="34" charset="0"/>
              <a:buChar char="•"/>
            </a:pPr>
            <a:r>
              <a:rPr lang="en-US" sz="1200" dirty="0" err="1">
                <a:solidFill>
                  <a:srgbClr val="0A2540"/>
                </a:solidFill>
                <a:latin typeface="Malgun Gothic" pitchFamily="34" charset="0"/>
                <a:ea typeface="Malgun Gothic" pitchFamily="34" charset="-122"/>
                <a:cs typeface="Malgun Gothic" pitchFamily="34" charset="-120"/>
              </a:rPr>
              <a:t>번호판</a:t>
            </a:r>
            <a:r>
              <a:rPr lang="en-US" sz="1200" dirty="0">
                <a:solidFill>
                  <a:srgbClr val="0A2540"/>
                </a:solidFill>
                <a:latin typeface="Malgun Gothic" pitchFamily="34" charset="0"/>
                <a:ea typeface="Malgun Gothic" pitchFamily="34" charset="-122"/>
                <a:cs typeface="Malgun Gothic" pitchFamily="34" charset="-120"/>
              </a:rPr>
              <a:t> </a:t>
            </a:r>
            <a:r>
              <a:rPr lang="en-US" sz="1200" dirty="0" err="1">
                <a:solidFill>
                  <a:srgbClr val="0A2540"/>
                </a:solidFill>
                <a:latin typeface="Malgun Gothic" pitchFamily="34" charset="0"/>
                <a:ea typeface="Malgun Gothic" pitchFamily="34" charset="-122"/>
                <a:cs typeface="Malgun Gothic" pitchFamily="34" charset="-120"/>
              </a:rPr>
              <a:t>인식</a:t>
            </a:r>
            <a:endParaRPr lang="en-US" sz="1200" dirty="0">
              <a:solidFill>
                <a:srgbClr val="0A2540"/>
              </a:solidFill>
              <a:latin typeface="Malgun Gothic" pitchFamily="34" charset="0"/>
              <a:ea typeface="Malgun Gothic" pitchFamily="34" charset="-122"/>
              <a:cs typeface="Malgun Gothic" pitchFamily="34" charset="-120"/>
            </a:endParaRPr>
          </a:p>
          <a:p>
            <a:pPr marL="171450" indent="-171450">
              <a:lnSpc>
                <a:spcPct val="120000"/>
              </a:lnSpc>
              <a:buFont typeface="Arial" panose="020B0604020202020204" pitchFamily="34" charset="0"/>
              <a:buChar char="•"/>
            </a:pPr>
            <a:r>
              <a:rPr lang="en-US" sz="1200" dirty="0">
                <a:solidFill>
                  <a:srgbClr val="0A2540"/>
                </a:solidFill>
                <a:latin typeface="Malgun Gothic" pitchFamily="34" charset="0"/>
                <a:ea typeface="Malgun Gothic" pitchFamily="34" charset="-122"/>
                <a:cs typeface="Malgun Gothic" pitchFamily="34" charset="-120"/>
              </a:rPr>
              <a:t>Fast API </a:t>
            </a:r>
            <a:r>
              <a:rPr lang="ko-KR" altLang="en-US" sz="1200" dirty="0">
                <a:solidFill>
                  <a:srgbClr val="0A2540"/>
                </a:solidFill>
                <a:latin typeface="Malgun Gothic" pitchFamily="34" charset="0"/>
                <a:ea typeface="Malgun Gothic" pitchFamily="34" charset="-122"/>
                <a:cs typeface="Malgun Gothic" pitchFamily="34" charset="-120"/>
              </a:rPr>
              <a:t>연동</a:t>
            </a:r>
            <a:endParaRPr lang="en-US" altLang="ko-KR" sz="1200" dirty="0">
              <a:solidFill>
                <a:srgbClr val="0A2540"/>
              </a:solidFill>
              <a:latin typeface="Malgun Gothic" pitchFamily="34" charset="0"/>
              <a:ea typeface="Malgun Gothic" pitchFamily="34" charset="-122"/>
              <a:cs typeface="Malgun Gothic" pitchFamily="34" charset="-120"/>
            </a:endParaRPr>
          </a:p>
          <a:p>
            <a:pPr marL="171450" indent="-171450">
              <a:lnSpc>
                <a:spcPct val="120000"/>
              </a:lnSpc>
              <a:buFont typeface="Arial" panose="020B0604020202020204" pitchFamily="34" charset="0"/>
              <a:buChar char="•"/>
            </a:pPr>
            <a:r>
              <a:rPr lang="en-US" altLang="ko-KR" sz="1200" dirty="0" err="1">
                <a:solidFill>
                  <a:srgbClr val="0A2540"/>
                </a:solidFill>
                <a:latin typeface="Malgun Gothic" pitchFamily="34" charset="0"/>
                <a:ea typeface="Malgun Gothic" pitchFamily="34" charset="-122"/>
                <a:cs typeface="Malgun Gothic" pitchFamily="34" charset="-120"/>
              </a:rPr>
              <a:t>게이트</a:t>
            </a:r>
            <a:r>
              <a:rPr lang="en-US" altLang="ko-KR" sz="1200" dirty="0">
                <a:solidFill>
                  <a:srgbClr val="0A2540"/>
                </a:solidFill>
                <a:latin typeface="Malgun Gothic" pitchFamily="34" charset="0"/>
                <a:ea typeface="Malgun Gothic" pitchFamily="34" charset="-122"/>
                <a:cs typeface="Malgun Gothic" pitchFamily="34" charset="-120"/>
              </a:rPr>
              <a:t> </a:t>
            </a:r>
            <a:r>
              <a:rPr lang="en-US" altLang="ko-KR" sz="1200" dirty="0" err="1">
                <a:solidFill>
                  <a:srgbClr val="0A2540"/>
                </a:solidFill>
                <a:latin typeface="Malgun Gothic" pitchFamily="34" charset="0"/>
                <a:ea typeface="Malgun Gothic" pitchFamily="34" charset="-122"/>
                <a:cs typeface="Malgun Gothic" pitchFamily="34" charset="-120"/>
              </a:rPr>
              <a:t>화면</a:t>
            </a:r>
            <a:r>
              <a:rPr lang="en-US" altLang="ko-KR" sz="1200" dirty="0">
                <a:solidFill>
                  <a:srgbClr val="0A2540"/>
                </a:solidFill>
                <a:latin typeface="Malgun Gothic" pitchFamily="34" charset="0"/>
                <a:ea typeface="Malgun Gothic" pitchFamily="34" charset="-122"/>
                <a:cs typeface="Malgun Gothic" pitchFamily="34" charset="-120"/>
              </a:rPr>
              <a:t> </a:t>
            </a:r>
            <a:r>
              <a:rPr lang="en-US" altLang="ko-KR" sz="1200" dirty="0" err="1">
                <a:solidFill>
                  <a:srgbClr val="0A2540"/>
                </a:solidFill>
                <a:latin typeface="Malgun Gothic" pitchFamily="34" charset="0"/>
                <a:ea typeface="Malgun Gothic" pitchFamily="34" charset="-122"/>
                <a:cs typeface="Malgun Gothic" pitchFamily="34" charset="-120"/>
              </a:rPr>
              <a:t>구성</a:t>
            </a:r>
            <a:endParaRPr lang="en-US" sz="1200" dirty="0"/>
          </a:p>
        </p:txBody>
      </p:sp>
      <p:sp>
        <p:nvSpPr>
          <p:cNvPr id="13" name="Shape 11"/>
          <p:cNvSpPr/>
          <p:nvPr/>
        </p:nvSpPr>
        <p:spPr>
          <a:xfrm>
            <a:off x="2770632" y="1508760"/>
            <a:ext cx="2103120" cy="4023360"/>
          </a:xfrm>
          <a:prstGeom prst="roundRect">
            <a:avLst>
              <a:gd name="adj" fmla="val 2609"/>
            </a:avLst>
          </a:prstGeom>
          <a:solidFill>
            <a:srgbClr val="FFFFFF"/>
          </a:solidFill>
          <a:ln w="12700">
            <a:solidFill>
              <a:srgbClr val="DCE3EA"/>
            </a:solidFill>
            <a:prstDash val="solid"/>
          </a:ln>
        </p:spPr>
      </p:sp>
      <p:sp>
        <p:nvSpPr>
          <p:cNvPr id="16" name="Text 14"/>
          <p:cNvSpPr txBox="1"/>
          <p:nvPr/>
        </p:nvSpPr>
        <p:spPr>
          <a:xfrm>
            <a:off x="2770632" y="1932091"/>
            <a:ext cx="2103120" cy="365760"/>
          </a:xfrm>
          <a:prstGeom prst="rect">
            <a:avLst/>
          </a:prstGeom>
          <a:noFill/>
          <a:ln/>
        </p:spPr>
        <p:txBody>
          <a:bodyPr wrap="square" lIns="0" tIns="0" rIns="0" bIns="0" rtlCol="0" anchor="ctr"/>
          <a:lstStyle/>
          <a:p>
            <a:pPr marL="0" indent="0" algn="ctr">
              <a:buNone/>
            </a:pPr>
            <a:r>
              <a:rPr lang="en-US" sz="1800" b="1" dirty="0">
                <a:solidFill>
                  <a:srgbClr val="0A2540"/>
                </a:solidFill>
                <a:latin typeface="Malgun Gothic" pitchFamily="34" charset="0"/>
                <a:ea typeface="Malgun Gothic" pitchFamily="34" charset="-122"/>
                <a:cs typeface="Malgun Gothic" pitchFamily="34" charset="-120"/>
              </a:rPr>
              <a:t>김태수</a:t>
            </a:r>
            <a:endParaRPr lang="en-US" sz="1800" dirty="0"/>
          </a:p>
        </p:txBody>
      </p:sp>
      <p:grpSp>
        <p:nvGrpSpPr>
          <p:cNvPr id="43" name="그룹 42">
            <a:extLst>
              <a:ext uri="{FF2B5EF4-FFF2-40B4-BE49-F238E27FC236}">
                <a16:creationId xmlns:a16="http://schemas.microsoft.com/office/drawing/2014/main" id="{B77FE218-20F5-E6CC-91E8-FC09D346B675}"/>
              </a:ext>
            </a:extLst>
          </p:cNvPr>
          <p:cNvGrpSpPr/>
          <p:nvPr/>
        </p:nvGrpSpPr>
        <p:grpSpPr>
          <a:xfrm>
            <a:off x="3227832" y="2557272"/>
            <a:ext cx="1188720" cy="329184"/>
            <a:chOff x="3227832" y="3090672"/>
            <a:chExt cx="1188720" cy="329184"/>
          </a:xfrm>
        </p:grpSpPr>
        <p:sp>
          <p:nvSpPr>
            <p:cNvPr id="17" name="Shape 15"/>
            <p:cNvSpPr/>
            <p:nvPr/>
          </p:nvSpPr>
          <p:spPr>
            <a:xfrm>
              <a:off x="3227832" y="3090672"/>
              <a:ext cx="1188720" cy="329184"/>
            </a:xfrm>
            <a:prstGeom prst="roundRect">
              <a:avLst>
                <a:gd name="adj" fmla="val 22222"/>
              </a:avLst>
            </a:prstGeom>
            <a:solidFill>
              <a:srgbClr val="0A2540"/>
            </a:solidFill>
            <a:ln w="12700">
              <a:solidFill>
                <a:srgbClr val="0A2540"/>
              </a:solidFill>
              <a:prstDash val="solid"/>
            </a:ln>
          </p:spPr>
        </p:sp>
        <p:sp>
          <p:nvSpPr>
            <p:cNvPr id="18" name="Text 16"/>
            <p:cNvSpPr txBox="1"/>
            <p:nvPr/>
          </p:nvSpPr>
          <p:spPr>
            <a:xfrm>
              <a:off x="3388699" y="3090672"/>
              <a:ext cx="861568" cy="329184"/>
            </a:xfrm>
            <a:prstGeom prst="rect">
              <a:avLst/>
            </a:prstGeom>
            <a:noFill/>
            <a:ln/>
          </p:spPr>
          <p:txBody>
            <a:bodyPr wrap="square" lIns="0" tIns="0" rIns="0" bIns="0" rtlCol="0" anchor="ctr"/>
            <a:lstStyle/>
            <a:p>
              <a:pPr marL="0" indent="0" algn="ctr">
                <a:buNone/>
              </a:pPr>
              <a:r>
                <a:rPr lang="ko-KR" altLang="en-US" sz="1100" b="1" dirty="0" err="1">
                  <a:solidFill>
                    <a:srgbClr val="FFFFFF"/>
                  </a:solidFill>
                  <a:latin typeface="Malgun Gothic" pitchFamily="34" charset="0"/>
                  <a:ea typeface="Malgun Gothic" pitchFamily="34" charset="-122"/>
                  <a:cs typeface="Malgun Gothic" pitchFamily="34" charset="-120"/>
                </a:rPr>
                <a:t>백엔드</a:t>
              </a:r>
              <a:r>
                <a:rPr lang="en-US" sz="1100" b="1" dirty="0">
                  <a:solidFill>
                    <a:srgbClr val="FFFFFF"/>
                  </a:solidFill>
                  <a:latin typeface="Malgun Gothic" pitchFamily="34" charset="0"/>
                  <a:ea typeface="Malgun Gothic" pitchFamily="34" charset="-122"/>
                  <a:cs typeface="Malgun Gothic" pitchFamily="34" charset="-120"/>
                </a:rPr>
                <a:t> · DB</a:t>
              </a:r>
              <a:endParaRPr lang="en-US" sz="1100" dirty="0"/>
            </a:p>
          </p:txBody>
        </p:sp>
      </p:grpSp>
      <p:sp>
        <p:nvSpPr>
          <p:cNvPr id="19" name="Text 17"/>
          <p:cNvSpPr txBox="1"/>
          <p:nvPr/>
        </p:nvSpPr>
        <p:spPr>
          <a:xfrm>
            <a:off x="2953512" y="3611880"/>
            <a:ext cx="1737360" cy="1036320"/>
          </a:xfrm>
          <a:prstGeom prst="rect">
            <a:avLst/>
          </a:prstGeom>
          <a:noFill/>
          <a:ln/>
        </p:spPr>
        <p:txBody>
          <a:bodyPr wrap="square" lIns="0" tIns="0" rIns="0" bIns="0" rtlCol="0" anchor="t"/>
          <a:lstStyle/>
          <a:p>
            <a:pPr marL="171450" indent="-171450">
              <a:lnSpc>
                <a:spcPct val="120000"/>
              </a:lnSpc>
              <a:buFont typeface="Arial" panose="020B0604020202020204" pitchFamily="34" charset="0"/>
              <a:buChar char="•"/>
            </a:pPr>
            <a:r>
              <a:rPr lang="en-US" altLang="ko-KR" sz="1200" dirty="0">
                <a:solidFill>
                  <a:srgbClr val="0A2540"/>
                </a:solidFill>
                <a:latin typeface="Malgun Gothic" pitchFamily="34" charset="0"/>
                <a:ea typeface="Malgun Gothic" pitchFamily="34" charset="-122"/>
                <a:cs typeface="Malgun Gothic" pitchFamily="34" charset="-120"/>
              </a:rPr>
              <a:t>DB </a:t>
            </a:r>
            <a:r>
              <a:rPr lang="en-US" altLang="ko-KR" sz="1200" dirty="0" err="1">
                <a:solidFill>
                  <a:srgbClr val="0A2540"/>
                </a:solidFill>
                <a:latin typeface="Malgun Gothic" pitchFamily="34" charset="0"/>
                <a:ea typeface="Malgun Gothic" pitchFamily="34" charset="-122"/>
                <a:cs typeface="Malgun Gothic" pitchFamily="34" charset="-120"/>
              </a:rPr>
              <a:t>연동</a:t>
            </a:r>
            <a:endParaRPr lang="en-US" altLang="ko-KR" sz="1200" dirty="0">
              <a:solidFill>
                <a:srgbClr val="0A2540"/>
              </a:solidFill>
              <a:latin typeface="Malgun Gothic" pitchFamily="34" charset="0"/>
              <a:ea typeface="Malgun Gothic" pitchFamily="34" charset="-122"/>
              <a:cs typeface="Malgun Gothic" pitchFamily="34" charset="-120"/>
            </a:endParaRPr>
          </a:p>
          <a:p>
            <a:pPr marL="171450" indent="-171450">
              <a:lnSpc>
                <a:spcPct val="120000"/>
              </a:lnSpc>
              <a:buFont typeface="Arial" panose="020B0604020202020204" pitchFamily="34" charset="0"/>
              <a:buChar char="•"/>
            </a:pPr>
            <a:r>
              <a:rPr lang="en-US" altLang="ko-KR" sz="1200" dirty="0">
                <a:solidFill>
                  <a:srgbClr val="0A2540"/>
                </a:solidFill>
                <a:latin typeface="Malgun Gothic" pitchFamily="34" charset="0"/>
                <a:ea typeface="Malgun Gothic" pitchFamily="34" charset="-122"/>
                <a:cs typeface="Malgun Gothic" pitchFamily="34" charset="-120"/>
              </a:rPr>
              <a:t>Spring Boot API</a:t>
            </a:r>
          </a:p>
          <a:p>
            <a:pPr marL="171450" indent="-171450">
              <a:lnSpc>
                <a:spcPct val="120000"/>
              </a:lnSpc>
              <a:buFont typeface="Arial" panose="020B0604020202020204" pitchFamily="34" charset="0"/>
              <a:buChar char="•"/>
            </a:pPr>
            <a:r>
              <a:rPr lang="en-US" sz="1200" dirty="0">
                <a:solidFill>
                  <a:srgbClr val="0A2540"/>
                </a:solidFill>
                <a:latin typeface="Malgun Gothic" pitchFamily="34" charset="0"/>
                <a:ea typeface="Malgun Gothic" pitchFamily="34" charset="-122"/>
                <a:cs typeface="Malgun Gothic" pitchFamily="34" charset="-120"/>
              </a:rPr>
              <a:t>PostgreSQL 설계</a:t>
            </a:r>
            <a:endParaRPr lang="en-US" sz="1200" dirty="0"/>
          </a:p>
          <a:p>
            <a:pPr marL="171450" indent="-171450">
              <a:lnSpc>
                <a:spcPct val="120000"/>
              </a:lnSpc>
              <a:buFont typeface="Arial" panose="020B0604020202020204" pitchFamily="34" charset="0"/>
              <a:buChar char="•"/>
            </a:pPr>
            <a:r>
              <a:rPr lang="en-US" sz="1200" dirty="0">
                <a:solidFill>
                  <a:srgbClr val="0A2540"/>
                </a:solidFill>
                <a:latin typeface="Malgun Gothic" pitchFamily="34" charset="0"/>
                <a:ea typeface="Malgun Gothic" pitchFamily="34" charset="-122"/>
                <a:cs typeface="Malgun Gothic" pitchFamily="34" charset="-120"/>
              </a:rPr>
              <a:t>과적 판정 로직</a:t>
            </a:r>
            <a:endParaRPr lang="en-US" sz="1200" dirty="0"/>
          </a:p>
        </p:txBody>
      </p:sp>
      <p:sp>
        <p:nvSpPr>
          <p:cNvPr id="20" name="Shape 18"/>
          <p:cNvSpPr/>
          <p:nvPr/>
        </p:nvSpPr>
        <p:spPr>
          <a:xfrm>
            <a:off x="5038344" y="1508760"/>
            <a:ext cx="2103120" cy="4023360"/>
          </a:xfrm>
          <a:prstGeom prst="roundRect">
            <a:avLst>
              <a:gd name="adj" fmla="val 2609"/>
            </a:avLst>
          </a:prstGeom>
          <a:solidFill>
            <a:srgbClr val="FFFFFF"/>
          </a:solidFill>
          <a:ln w="12700">
            <a:solidFill>
              <a:srgbClr val="DCE3EA"/>
            </a:solidFill>
            <a:prstDash val="solid"/>
          </a:ln>
        </p:spPr>
      </p:sp>
      <p:sp>
        <p:nvSpPr>
          <p:cNvPr id="23" name="Text 21"/>
          <p:cNvSpPr txBox="1"/>
          <p:nvPr/>
        </p:nvSpPr>
        <p:spPr>
          <a:xfrm>
            <a:off x="5038344" y="1932091"/>
            <a:ext cx="2103120" cy="365760"/>
          </a:xfrm>
          <a:prstGeom prst="rect">
            <a:avLst/>
          </a:prstGeom>
          <a:noFill/>
          <a:ln/>
        </p:spPr>
        <p:txBody>
          <a:bodyPr wrap="square" lIns="0" tIns="0" rIns="0" bIns="0" rtlCol="0" anchor="ctr"/>
          <a:lstStyle/>
          <a:p>
            <a:pPr marL="0" indent="0" algn="ctr">
              <a:buNone/>
            </a:pPr>
            <a:r>
              <a:rPr lang="en-US" sz="1800" b="1" dirty="0">
                <a:solidFill>
                  <a:srgbClr val="0A2540"/>
                </a:solidFill>
                <a:latin typeface="Malgun Gothic" pitchFamily="34" charset="0"/>
                <a:ea typeface="Malgun Gothic" pitchFamily="34" charset="-122"/>
                <a:cs typeface="Malgun Gothic" pitchFamily="34" charset="-120"/>
              </a:rPr>
              <a:t>이한솔</a:t>
            </a:r>
            <a:endParaRPr lang="en-US" sz="1800" dirty="0"/>
          </a:p>
        </p:txBody>
      </p:sp>
      <p:grpSp>
        <p:nvGrpSpPr>
          <p:cNvPr id="44" name="그룹 43">
            <a:extLst>
              <a:ext uri="{FF2B5EF4-FFF2-40B4-BE49-F238E27FC236}">
                <a16:creationId xmlns:a16="http://schemas.microsoft.com/office/drawing/2014/main" id="{07BC133C-D3B7-2BE1-CA0C-D6FDEB40BBEF}"/>
              </a:ext>
            </a:extLst>
          </p:cNvPr>
          <p:cNvGrpSpPr/>
          <p:nvPr/>
        </p:nvGrpSpPr>
        <p:grpSpPr>
          <a:xfrm>
            <a:off x="5495544" y="2557272"/>
            <a:ext cx="1188720" cy="329184"/>
            <a:chOff x="5495544" y="3090672"/>
            <a:chExt cx="1188720" cy="329184"/>
          </a:xfrm>
        </p:grpSpPr>
        <p:sp>
          <p:nvSpPr>
            <p:cNvPr id="24" name="Shape 22"/>
            <p:cNvSpPr/>
            <p:nvPr/>
          </p:nvSpPr>
          <p:spPr>
            <a:xfrm>
              <a:off x="5495544" y="3090672"/>
              <a:ext cx="1188720" cy="329184"/>
            </a:xfrm>
            <a:prstGeom prst="roundRect">
              <a:avLst>
                <a:gd name="adj" fmla="val 22222"/>
              </a:avLst>
            </a:prstGeom>
            <a:solidFill>
              <a:srgbClr val="0A2540"/>
            </a:solidFill>
            <a:ln w="12700">
              <a:solidFill>
                <a:srgbClr val="0A2540"/>
              </a:solidFill>
              <a:prstDash val="solid"/>
            </a:ln>
          </p:spPr>
        </p:sp>
        <p:sp>
          <p:nvSpPr>
            <p:cNvPr id="25" name="Text 23"/>
            <p:cNvSpPr txBox="1"/>
            <p:nvPr/>
          </p:nvSpPr>
          <p:spPr>
            <a:xfrm>
              <a:off x="5681811" y="3090672"/>
              <a:ext cx="845989"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Malgun Gothic" pitchFamily="34" charset="0"/>
                  <a:ea typeface="Malgun Gothic" pitchFamily="34" charset="-122"/>
                </a:rPr>
                <a:t>AI</a:t>
              </a:r>
              <a:endParaRPr lang="en-US" sz="1100" dirty="0"/>
            </a:p>
          </p:txBody>
        </p:sp>
      </p:grpSp>
      <p:sp>
        <p:nvSpPr>
          <p:cNvPr id="26" name="Text 24"/>
          <p:cNvSpPr txBox="1"/>
          <p:nvPr/>
        </p:nvSpPr>
        <p:spPr>
          <a:xfrm>
            <a:off x="5221224" y="3611880"/>
            <a:ext cx="1737360" cy="833120"/>
          </a:xfrm>
          <a:prstGeom prst="rect">
            <a:avLst/>
          </a:prstGeom>
          <a:noFill/>
          <a:ln/>
        </p:spPr>
        <p:txBody>
          <a:bodyPr wrap="square" lIns="0" tIns="0" rIns="0" bIns="0" rtlCol="0" anchor="t"/>
          <a:lstStyle/>
          <a:p>
            <a:pPr marL="171450" indent="-171450">
              <a:lnSpc>
                <a:spcPct val="120000"/>
              </a:lnSpc>
              <a:buFont typeface="Arial" panose="020B0604020202020204" pitchFamily="34" charset="0"/>
              <a:buChar char="•"/>
            </a:pPr>
            <a:r>
              <a:rPr lang="en-US" altLang="ko-KR" sz="1200" dirty="0" err="1">
                <a:solidFill>
                  <a:srgbClr val="0A2540"/>
                </a:solidFill>
                <a:latin typeface="Malgun Gothic" pitchFamily="34" charset="0"/>
                <a:ea typeface="Malgun Gothic" pitchFamily="34" charset="-122"/>
                <a:cs typeface="Malgun Gothic" pitchFamily="34" charset="-120"/>
              </a:rPr>
              <a:t>번호판</a:t>
            </a:r>
            <a:r>
              <a:rPr lang="en-US" altLang="ko-KR" sz="1200" dirty="0">
                <a:solidFill>
                  <a:srgbClr val="0A2540"/>
                </a:solidFill>
                <a:latin typeface="Malgun Gothic" pitchFamily="34" charset="0"/>
                <a:ea typeface="Malgun Gothic" pitchFamily="34" charset="-122"/>
                <a:cs typeface="Malgun Gothic" pitchFamily="34" charset="-120"/>
              </a:rPr>
              <a:t> </a:t>
            </a:r>
            <a:r>
              <a:rPr lang="en-US" altLang="ko-KR" sz="1200" dirty="0" err="1">
                <a:solidFill>
                  <a:srgbClr val="0A2540"/>
                </a:solidFill>
                <a:latin typeface="Malgun Gothic" pitchFamily="34" charset="0"/>
                <a:ea typeface="Malgun Gothic" pitchFamily="34" charset="-122"/>
                <a:cs typeface="Malgun Gothic" pitchFamily="34" charset="-120"/>
              </a:rPr>
              <a:t>인식</a:t>
            </a:r>
            <a:r>
              <a:rPr lang="en-US" altLang="ko-KR" sz="1200" dirty="0">
                <a:solidFill>
                  <a:srgbClr val="0A2540"/>
                </a:solidFill>
                <a:latin typeface="Malgun Gothic" pitchFamily="34" charset="0"/>
                <a:ea typeface="Malgun Gothic" pitchFamily="34" charset="-122"/>
                <a:cs typeface="Malgun Gothic" pitchFamily="34" charset="-120"/>
              </a:rPr>
              <a:t> </a:t>
            </a:r>
            <a:r>
              <a:rPr lang="en-US" altLang="ko-KR" sz="1200" dirty="0" err="1">
                <a:solidFill>
                  <a:srgbClr val="0A2540"/>
                </a:solidFill>
                <a:latin typeface="Malgun Gothic" pitchFamily="34" charset="0"/>
                <a:ea typeface="Malgun Gothic" pitchFamily="34" charset="-122"/>
                <a:cs typeface="Malgun Gothic" pitchFamily="34" charset="-120"/>
              </a:rPr>
              <a:t>모델</a:t>
            </a:r>
            <a:r>
              <a:rPr lang="en-US" altLang="ko-KR" sz="1200" dirty="0">
                <a:solidFill>
                  <a:srgbClr val="0A2540"/>
                </a:solidFill>
                <a:latin typeface="Malgun Gothic" pitchFamily="34" charset="0"/>
                <a:ea typeface="Malgun Gothic" pitchFamily="34" charset="-122"/>
                <a:cs typeface="Malgun Gothic" pitchFamily="34" charset="-120"/>
              </a:rPr>
              <a:t> </a:t>
            </a:r>
            <a:r>
              <a:rPr lang="en-US" altLang="ko-KR" sz="1200" dirty="0" err="1">
                <a:solidFill>
                  <a:srgbClr val="0A2540"/>
                </a:solidFill>
                <a:latin typeface="Malgun Gothic" pitchFamily="34" charset="0"/>
                <a:ea typeface="Malgun Gothic" pitchFamily="34" charset="-122"/>
                <a:cs typeface="Malgun Gothic" pitchFamily="34" charset="-120"/>
              </a:rPr>
              <a:t>개발</a:t>
            </a:r>
            <a:endParaRPr lang="en-US" sz="1200" dirty="0"/>
          </a:p>
          <a:p>
            <a:pPr marL="171450" indent="-171450">
              <a:lnSpc>
                <a:spcPct val="120000"/>
              </a:lnSpc>
              <a:buFont typeface="Arial" panose="020B0604020202020204" pitchFamily="34" charset="0"/>
              <a:buChar char="•"/>
            </a:pPr>
            <a:r>
              <a:rPr lang="en-US" sz="1200" dirty="0" err="1">
                <a:solidFill>
                  <a:srgbClr val="0A2540"/>
                </a:solidFill>
                <a:latin typeface="Malgun Gothic" pitchFamily="34" charset="0"/>
                <a:ea typeface="Malgun Gothic" pitchFamily="34" charset="-122"/>
                <a:cs typeface="Malgun Gothic" pitchFamily="34" charset="-120"/>
              </a:rPr>
              <a:t>프론트-백엔드</a:t>
            </a:r>
            <a:r>
              <a:rPr lang="en-US" sz="1200" dirty="0">
                <a:solidFill>
                  <a:srgbClr val="0A2540"/>
                </a:solidFill>
                <a:latin typeface="Malgun Gothic" pitchFamily="34" charset="0"/>
                <a:ea typeface="Malgun Gothic" pitchFamily="34" charset="-122"/>
                <a:cs typeface="Malgun Gothic" pitchFamily="34" charset="-120"/>
              </a:rPr>
              <a:t> </a:t>
            </a:r>
            <a:r>
              <a:rPr lang="en-US" sz="1200" dirty="0" err="1">
                <a:solidFill>
                  <a:srgbClr val="0A2540"/>
                </a:solidFill>
                <a:latin typeface="Malgun Gothic" pitchFamily="34" charset="0"/>
                <a:ea typeface="Malgun Gothic" pitchFamily="34" charset="-122"/>
                <a:cs typeface="Malgun Gothic" pitchFamily="34" charset="-120"/>
              </a:rPr>
              <a:t>연결</a:t>
            </a:r>
            <a:endParaRPr lang="en-US" sz="1200" dirty="0">
              <a:solidFill>
                <a:srgbClr val="0A2540"/>
              </a:solidFill>
              <a:latin typeface="Malgun Gothic" pitchFamily="34" charset="0"/>
              <a:ea typeface="Malgun Gothic" pitchFamily="34" charset="-122"/>
              <a:cs typeface="Malgun Gothic" pitchFamily="34" charset="-120"/>
            </a:endParaRPr>
          </a:p>
          <a:p>
            <a:pPr marL="171450" indent="-171450">
              <a:lnSpc>
                <a:spcPct val="120000"/>
              </a:lnSpc>
              <a:buFont typeface="Arial" panose="020B0604020202020204" pitchFamily="34" charset="0"/>
              <a:buChar char="•"/>
            </a:pPr>
            <a:r>
              <a:rPr lang="ko-KR" altLang="en-US" sz="1200" dirty="0">
                <a:solidFill>
                  <a:srgbClr val="0A2540"/>
                </a:solidFill>
                <a:latin typeface="Malgun Gothic" pitchFamily="34" charset="0"/>
                <a:ea typeface="Malgun Gothic" pitchFamily="34" charset="-122"/>
              </a:rPr>
              <a:t>프론트　서포트</a:t>
            </a:r>
            <a:endParaRPr lang="en-US" altLang="ko-KR" sz="1200" dirty="0">
              <a:solidFill>
                <a:srgbClr val="0A2540"/>
              </a:solidFill>
              <a:latin typeface="Malgun Gothic" pitchFamily="34" charset="0"/>
              <a:ea typeface="Malgun Gothic" pitchFamily="34" charset="-122"/>
            </a:endParaRPr>
          </a:p>
        </p:txBody>
      </p:sp>
      <p:sp>
        <p:nvSpPr>
          <p:cNvPr id="27" name="Shape 25"/>
          <p:cNvSpPr/>
          <p:nvPr/>
        </p:nvSpPr>
        <p:spPr>
          <a:xfrm>
            <a:off x="7306056" y="1508760"/>
            <a:ext cx="2103120" cy="4023360"/>
          </a:xfrm>
          <a:prstGeom prst="roundRect">
            <a:avLst>
              <a:gd name="adj" fmla="val 2609"/>
            </a:avLst>
          </a:prstGeom>
          <a:solidFill>
            <a:srgbClr val="FFFFFF"/>
          </a:solidFill>
          <a:ln w="12700">
            <a:solidFill>
              <a:srgbClr val="DCE3EA"/>
            </a:solidFill>
            <a:prstDash val="solid"/>
          </a:ln>
        </p:spPr>
      </p:sp>
      <p:sp>
        <p:nvSpPr>
          <p:cNvPr id="30" name="Text 28"/>
          <p:cNvSpPr txBox="1"/>
          <p:nvPr/>
        </p:nvSpPr>
        <p:spPr>
          <a:xfrm>
            <a:off x="7306056" y="1932091"/>
            <a:ext cx="2103120" cy="365760"/>
          </a:xfrm>
          <a:prstGeom prst="rect">
            <a:avLst/>
          </a:prstGeom>
          <a:noFill/>
          <a:ln/>
        </p:spPr>
        <p:txBody>
          <a:bodyPr wrap="square" lIns="0" tIns="0" rIns="0" bIns="0" rtlCol="0" anchor="ctr"/>
          <a:lstStyle/>
          <a:p>
            <a:pPr marL="0" indent="0" algn="ctr">
              <a:buNone/>
            </a:pPr>
            <a:r>
              <a:rPr lang="en-US" sz="1800" b="1" dirty="0">
                <a:solidFill>
                  <a:srgbClr val="0A2540"/>
                </a:solidFill>
                <a:latin typeface="Malgun Gothic" pitchFamily="34" charset="0"/>
                <a:ea typeface="Malgun Gothic" pitchFamily="34" charset="-122"/>
                <a:cs typeface="Malgun Gothic" pitchFamily="34" charset="-120"/>
              </a:rPr>
              <a:t>정예지</a:t>
            </a:r>
            <a:endParaRPr lang="en-US" sz="1800" dirty="0"/>
          </a:p>
        </p:txBody>
      </p:sp>
      <p:grpSp>
        <p:nvGrpSpPr>
          <p:cNvPr id="45" name="그룹 44">
            <a:extLst>
              <a:ext uri="{FF2B5EF4-FFF2-40B4-BE49-F238E27FC236}">
                <a16:creationId xmlns:a16="http://schemas.microsoft.com/office/drawing/2014/main" id="{F3CAB022-C907-997D-EF98-55ED2FE2B369}"/>
              </a:ext>
            </a:extLst>
          </p:cNvPr>
          <p:cNvGrpSpPr/>
          <p:nvPr/>
        </p:nvGrpSpPr>
        <p:grpSpPr>
          <a:xfrm>
            <a:off x="7763256" y="2557272"/>
            <a:ext cx="1188720" cy="329184"/>
            <a:chOff x="7763256" y="3090672"/>
            <a:chExt cx="1188720" cy="329184"/>
          </a:xfrm>
        </p:grpSpPr>
        <p:sp>
          <p:nvSpPr>
            <p:cNvPr id="31" name="Shape 29"/>
            <p:cNvSpPr/>
            <p:nvPr/>
          </p:nvSpPr>
          <p:spPr>
            <a:xfrm>
              <a:off x="7763256" y="3090672"/>
              <a:ext cx="1188720" cy="329184"/>
            </a:xfrm>
            <a:prstGeom prst="roundRect">
              <a:avLst>
                <a:gd name="adj" fmla="val 22222"/>
              </a:avLst>
            </a:prstGeom>
            <a:solidFill>
              <a:srgbClr val="0A2540"/>
            </a:solidFill>
            <a:ln w="12700">
              <a:solidFill>
                <a:srgbClr val="0A2540"/>
              </a:solidFill>
              <a:prstDash val="solid"/>
            </a:ln>
          </p:spPr>
        </p:sp>
        <p:sp>
          <p:nvSpPr>
            <p:cNvPr id="32" name="Text 30"/>
            <p:cNvSpPr txBox="1"/>
            <p:nvPr/>
          </p:nvSpPr>
          <p:spPr>
            <a:xfrm>
              <a:off x="7890259" y="3090672"/>
              <a:ext cx="94894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Malgun Gothic" pitchFamily="34" charset="0"/>
                  <a:ea typeface="Malgun Gothic" pitchFamily="34" charset="-122"/>
                  <a:cs typeface="Malgun Gothic" pitchFamily="34" charset="-120"/>
                </a:rPr>
                <a:t>프론트엔드</a:t>
              </a:r>
              <a:endParaRPr lang="en-US" sz="1100" dirty="0"/>
            </a:p>
          </p:txBody>
        </p:sp>
      </p:grpSp>
      <p:sp>
        <p:nvSpPr>
          <p:cNvPr id="33" name="Text 31"/>
          <p:cNvSpPr txBox="1"/>
          <p:nvPr/>
        </p:nvSpPr>
        <p:spPr>
          <a:xfrm>
            <a:off x="7488935" y="3611880"/>
            <a:ext cx="1841331" cy="1036320"/>
          </a:xfrm>
          <a:prstGeom prst="rect">
            <a:avLst/>
          </a:prstGeom>
          <a:noFill/>
          <a:ln/>
        </p:spPr>
        <p:txBody>
          <a:bodyPr wrap="square" lIns="0" tIns="0" rIns="0" bIns="0" rtlCol="0" anchor="t"/>
          <a:lstStyle/>
          <a:p>
            <a:pPr marL="171450" indent="-171450">
              <a:lnSpc>
                <a:spcPct val="120000"/>
              </a:lnSpc>
              <a:buFont typeface="Arial" panose="020B0604020202020204" pitchFamily="34" charset="0"/>
              <a:buChar char="•"/>
            </a:pPr>
            <a:r>
              <a:rPr lang="en-US" altLang="ko-KR" sz="1200" dirty="0" err="1">
                <a:solidFill>
                  <a:srgbClr val="0A2540"/>
                </a:solidFill>
                <a:latin typeface="Malgun Gothic" pitchFamily="34" charset="0"/>
                <a:ea typeface="Malgun Gothic" pitchFamily="34" charset="-122"/>
                <a:cs typeface="Malgun Gothic" pitchFamily="34" charset="-120"/>
              </a:rPr>
              <a:t>번호판</a:t>
            </a:r>
            <a:r>
              <a:rPr lang="en-US" altLang="ko-KR" sz="1200" dirty="0">
                <a:solidFill>
                  <a:srgbClr val="0A2540"/>
                </a:solidFill>
                <a:latin typeface="Malgun Gothic" pitchFamily="34" charset="0"/>
                <a:ea typeface="Malgun Gothic" pitchFamily="34" charset="-122"/>
                <a:cs typeface="Malgun Gothic" pitchFamily="34" charset="-120"/>
              </a:rPr>
              <a:t> · </a:t>
            </a:r>
            <a:r>
              <a:rPr lang="en-US" altLang="ko-KR" sz="1200" dirty="0" err="1">
                <a:solidFill>
                  <a:srgbClr val="0A2540"/>
                </a:solidFill>
                <a:latin typeface="Malgun Gothic" pitchFamily="34" charset="0"/>
                <a:ea typeface="Malgun Gothic" pitchFamily="34" charset="-122"/>
                <a:cs typeface="Malgun Gothic" pitchFamily="34" charset="-120"/>
              </a:rPr>
              <a:t>과적</a:t>
            </a:r>
            <a:r>
              <a:rPr lang="en-US" altLang="ko-KR" sz="1200" dirty="0">
                <a:solidFill>
                  <a:srgbClr val="0A2540"/>
                </a:solidFill>
                <a:latin typeface="Malgun Gothic" pitchFamily="34" charset="0"/>
                <a:ea typeface="Malgun Gothic" pitchFamily="34" charset="-122"/>
                <a:cs typeface="Malgun Gothic" pitchFamily="34" charset="-120"/>
              </a:rPr>
              <a:t> </a:t>
            </a:r>
            <a:r>
              <a:rPr lang="en-US" altLang="ko-KR" sz="1200" dirty="0" err="1">
                <a:solidFill>
                  <a:srgbClr val="0A2540"/>
                </a:solidFill>
                <a:latin typeface="Malgun Gothic" pitchFamily="34" charset="0"/>
                <a:ea typeface="Malgun Gothic" pitchFamily="34" charset="-122"/>
                <a:cs typeface="Malgun Gothic" pitchFamily="34" charset="-120"/>
              </a:rPr>
              <a:t>자료</a:t>
            </a:r>
            <a:r>
              <a:rPr lang="en-US" altLang="ko-KR" sz="1200" dirty="0">
                <a:solidFill>
                  <a:srgbClr val="0A2540"/>
                </a:solidFill>
                <a:latin typeface="Malgun Gothic" pitchFamily="34" charset="0"/>
                <a:ea typeface="Malgun Gothic" pitchFamily="34" charset="-122"/>
                <a:cs typeface="Malgun Gothic" pitchFamily="34" charset="-120"/>
              </a:rPr>
              <a:t> </a:t>
            </a:r>
            <a:r>
              <a:rPr lang="en-US" altLang="ko-KR" sz="1200" dirty="0" err="1">
                <a:solidFill>
                  <a:srgbClr val="0A2540"/>
                </a:solidFill>
                <a:latin typeface="Malgun Gothic" pitchFamily="34" charset="0"/>
                <a:ea typeface="Malgun Gothic" pitchFamily="34" charset="-122"/>
                <a:cs typeface="Malgun Gothic" pitchFamily="34" charset="-120"/>
              </a:rPr>
              <a:t>조사</a:t>
            </a:r>
            <a:endParaRPr lang="en-US" altLang="ko-KR" sz="1200" dirty="0">
              <a:solidFill>
                <a:srgbClr val="0A2540"/>
              </a:solidFill>
              <a:latin typeface="Malgun Gothic" pitchFamily="34" charset="0"/>
              <a:ea typeface="Malgun Gothic" pitchFamily="34" charset="-122"/>
              <a:cs typeface="Malgun Gothic" pitchFamily="34" charset="-120"/>
            </a:endParaRPr>
          </a:p>
          <a:p>
            <a:pPr marL="171450" indent="-171450">
              <a:lnSpc>
                <a:spcPct val="120000"/>
              </a:lnSpc>
              <a:buFont typeface="Arial" panose="020B0604020202020204" pitchFamily="34" charset="0"/>
              <a:buChar char="•"/>
            </a:pPr>
            <a:r>
              <a:rPr lang="ko-KR" altLang="en-US" sz="1200" dirty="0">
                <a:solidFill>
                  <a:srgbClr val="0A2540"/>
                </a:solidFill>
                <a:latin typeface="Malgun Gothic" pitchFamily="34" charset="0"/>
                <a:ea typeface="Malgun Gothic" pitchFamily="34" charset="-122"/>
                <a:cs typeface="Malgun Gothic" pitchFamily="34" charset="-120"/>
              </a:rPr>
              <a:t>프론트　총괄</a:t>
            </a:r>
            <a:endParaRPr lang="en-US" altLang="ko-KR" sz="1200" dirty="0">
              <a:solidFill>
                <a:srgbClr val="0A2540"/>
              </a:solidFill>
              <a:latin typeface="Malgun Gothic" pitchFamily="34" charset="0"/>
              <a:ea typeface="Malgun Gothic" pitchFamily="34" charset="-122"/>
              <a:cs typeface="Malgun Gothic" pitchFamily="34" charset="-120"/>
            </a:endParaRPr>
          </a:p>
          <a:p>
            <a:pPr marL="171450" indent="-171450">
              <a:lnSpc>
                <a:spcPct val="120000"/>
              </a:lnSpc>
              <a:buFont typeface="Arial" panose="020B0604020202020204" pitchFamily="34" charset="0"/>
              <a:buChar char="•"/>
            </a:pPr>
            <a:r>
              <a:rPr lang="en-US" sz="1200" dirty="0" err="1">
                <a:solidFill>
                  <a:srgbClr val="0A2540"/>
                </a:solidFill>
                <a:latin typeface="Malgun Gothic" pitchFamily="34" charset="0"/>
                <a:ea typeface="Malgun Gothic" pitchFamily="34" charset="-122"/>
                <a:cs typeface="Malgun Gothic" pitchFamily="34" charset="-120"/>
              </a:rPr>
              <a:t>관리자</a:t>
            </a:r>
            <a:r>
              <a:rPr lang="en-US" sz="1200" dirty="0">
                <a:solidFill>
                  <a:srgbClr val="0A2540"/>
                </a:solidFill>
                <a:latin typeface="Malgun Gothic" pitchFamily="34" charset="0"/>
                <a:ea typeface="Malgun Gothic" pitchFamily="34" charset="-122"/>
                <a:cs typeface="Malgun Gothic" pitchFamily="34" charset="-120"/>
              </a:rPr>
              <a:t> </a:t>
            </a:r>
            <a:r>
              <a:rPr lang="en-US" sz="1200" dirty="0" err="1">
                <a:solidFill>
                  <a:srgbClr val="0A2540"/>
                </a:solidFill>
                <a:latin typeface="Malgun Gothic" pitchFamily="34" charset="0"/>
                <a:ea typeface="Malgun Gothic" pitchFamily="34" charset="-122"/>
                <a:cs typeface="Malgun Gothic" pitchFamily="34" charset="-120"/>
              </a:rPr>
              <a:t>대시보드</a:t>
            </a:r>
            <a:r>
              <a:rPr lang="en-US" sz="1200" dirty="0">
                <a:solidFill>
                  <a:srgbClr val="0A2540"/>
                </a:solidFill>
                <a:latin typeface="Malgun Gothic" pitchFamily="34" charset="0"/>
                <a:ea typeface="Malgun Gothic" pitchFamily="34" charset="-122"/>
                <a:cs typeface="Malgun Gothic" pitchFamily="34" charset="-120"/>
              </a:rPr>
              <a:t> </a:t>
            </a:r>
            <a:r>
              <a:rPr lang="en-US" sz="1200" dirty="0" err="1">
                <a:solidFill>
                  <a:srgbClr val="0A2540"/>
                </a:solidFill>
                <a:latin typeface="Malgun Gothic" pitchFamily="34" charset="0"/>
                <a:ea typeface="Malgun Gothic" pitchFamily="34" charset="-122"/>
                <a:cs typeface="Malgun Gothic" pitchFamily="34" charset="-120"/>
              </a:rPr>
              <a:t>화면</a:t>
            </a:r>
            <a:endParaRPr lang="en-US" sz="1200" dirty="0">
              <a:solidFill>
                <a:srgbClr val="0A2540"/>
              </a:solidFill>
              <a:latin typeface="Malgun Gothic" pitchFamily="34" charset="0"/>
              <a:ea typeface="Malgun Gothic" pitchFamily="34" charset="-122"/>
              <a:cs typeface="Malgun Gothic" pitchFamily="34" charset="-120"/>
            </a:endParaRPr>
          </a:p>
          <a:p>
            <a:pPr marL="171450" indent="-171450">
              <a:lnSpc>
                <a:spcPct val="120000"/>
              </a:lnSpc>
              <a:buFont typeface="Arial" panose="020B0604020202020204" pitchFamily="34" charset="0"/>
              <a:buChar char="•"/>
            </a:pPr>
            <a:r>
              <a:rPr lang="en-US" altLang="ko-KR" sz="1200" dirty="0">
                <a:solidFill>
                  <a:srgbClr val="0A2540"/>
                </a:solidFill>
                <a:latin typeface="Malgun Gothic" pitchFamily="34" charset="0"/>
                <a:ea typeface="Malgun Gothic" pitchFamily="34" charset="-122"/>
                <a:cs typeface="Malgun Gothic" pitchFamily="34" charset="-120"/>
              </a:rPr>
              <a:t>CSS </a:t>
            </a:r>
            <a:r>
              <a:rPr lang="en-US" altLang="ko-KR" sz="1200" dirty="0" err="1">
                <a:solidFill>
                  <a:srgbClr val="0A2540"/>
                </a:solidFill>
                <a:latin typeface="Malgun Gothic" pitchFamily="34" charset="0"/>
                <a:ea typeface="Malgun Gothic" pitchFamily="34" charset="-122"/>
                <a:cs typeface="Malgun Gothic" pitchFamily="34" charset="-120"/>
              </a:rPr>
              <a:t>디자인</a:t>
            </a:r>
            <a:endParaRPr lang="en-US" sz="1200" dirty="0"/>
          </a:p>
        </p:txBody>
      </p:sp>
      <p:sp>
        <p:nvSpPr>
          <p:cNvPr id="34" name="Shape 32"/>
          <p:cNvSpPr/>
          <p:nvPr/>
        </p:nvSpPr>
        <p:spPr>
          <a:xfrm>
            <a:off x="9573768" y="1508760"/>
            <a:ext cx="2103120" cy="4023360"/>
          </a:xfrm>
          <a:prstGeom prst="roundRect">
            <a:avLst>
              <a:gd name="adj" fmla="val 2609"/>
            </a:avLst>
          </a:prstGeom>
          <a:solidFill>
            <a:srgbClr val="FFFFFF"/>
          </a:solidFill>
          <a:ln w="12700">
            <a:solidFill>
              <a:srgbClr val="DCE3EA"/>
            </a:solidFill>
            <a:prstDash val="solid"/>
          </a:ln>
        </p:spPr>
      </p:sp>
      <p:sp>
        <p:nvSpPr>
          <p:cNvPr id="37" name="Text 35"/>
          <p:cNvSpPr txBox="1"/>
          <p:nvPr/>
        </p:nvSpPr>
        <p:spPr>
          <a:xfrm>
            <a:off x="9573768" y="1932091"/>
            <a:ext cx="2103120" cy="365760"/>
          </a:xfrm>
          <a:prstGeom prst="rect">
            <a:avLst/>
          </a:prstGeom>
          <a:noFill/>
          <a:ln/>
        </p:spPr>
        <p:txBody>
          <a:bodyPr wrap="square" lIns="0" tIns="0" rIns="0" bIns="0" rtlCol="0" anchor="ctr"/>
          <a:lstStyle/>
          <a:p>
            <a:pPr marL="0" indent="0" algn="ctr">
              <a:buNone/>
            </a:pPr>
            <a:r>
              <a:rPr lang="en-US" sz="1800" b="1" dirty="0">
                <a:solidFill>
                  <a:srgbClr val="0A2540"/>
                </a:solidFill>
                <a:latin typeface="Malgun Gothic" pitchFamily="34" charset="0"/>
                <a:ea typeface="Malgun Gothic" pitchFamily="34" charset="-122"/>
                <a:cs typeface="Malgun Gothic" pitchFamily="34" charset="-120"/>
              </a:rPr>
              <a:t>조은정</a:t>
            </a:r>
            <a:endParaRPr lang="en-US" sz="1800" dirty="0"/>
          </a:p>
        </p:txBody>
      </p:sp>
      <p:grpSp>
        <p:nvGrpSpPr>
          <p:cNvPr id="46" name="그룹 45">
            <a:extLst>
              <a:ext uri="{FF2B5EF4-FFF2-40B4-BE49-F238E27FC236}">
                <a16:creationId xmlns:a16="http://schemas.microsoft.com/office/drawing/2014/main" id="{43134142-0D0E-C62D-FF1A-961A5DE8BE14}"/>
              </a:ext>
            </a:extLst>
          </p:cNvPr>
          <p:cNvGrpSpPr/>
          <p:nvPr/>
        </p:nvGrpSpPr>
        <p:grpSpPr>
          <a:xfrm>
            <a:off x="10030968" y="2557272"/>
            <a:ext cx="1188720" cy="329184"/>
            <a:chOff x="10030968" y="3090672"/>
            <a:chExt cx="1188720" cy="329184"/>
          </a:xfrm>
        </p:grpSpPr>
        <p:sp>
          <p:nvSpPr>
            <p:cNvPr id="38" name="Shape 36"/>
            <p:cNvSpPr/>
            <p:nvPr/>
          </p:nvSpPr>
          <p:spPr>
            <a:xfrm>
              <a:off x="10030968" y="3090672"/>
              <a:ext cx="1188720" cy="329184"/>
            </a:xfrm>
            <a:prstGeom prst="roundRect">
              <a:avLst>
                <a:gd name="adj" fmla="val 22222"/>
              </a:avLst>
            </a:prstGeom>
            <a:solidFill>
              <a:srgbClr val="0A2540"/>
            </a:solidFill>
            <a:ln w="12700">
              <a:solidFill>
                <a:srgbClr val="0A2540"/>
              </a:solidFill>
              <a:prstDash val="solid"/>
            </a:ln>
          </p:spPr>
        </p:sp>
        <p:sp>
          <p:nvSpPr>
            <p:cNvPr id="39" name="Text 37"/>
            <p:cNvSpPr txBox="1"/>
            <p:nvPr/>
          </p:nvSpPr>
          <p:spPr>
            <a:xfrm>
              <a:off x="10261600" y="3090672"/>
              <a:ext cx="763352" cy="329184"/>
            </a:xfrm>
            <a:prstGeom prst="rect">
              <a:avLst/>
            </a:prstGeom>
            <a:noFill/>
            <a:ln/>
          </p:spPr>
          <p:txBody>
            <a:bodyPr wrap="square" lIns="0" tIns="0" rIns="0" bIns="0" rtlCol="0" anchor="ctr"/>
            <a:lstStyle/>
            <a:p>
              <a:pPr marL="0" indent="0" algn="ctr">
                <a:buNone/>
              </a:pPr>
              <a:r>
                <a:rPr lang="en-US" sz="1100" b="1" dirty="0" err="1">
                  <a:solidFill>
                    <a:srgbClr val="FFFFFF"/>
                  </a:solidFill>
                  <a:latin typeface="Malgun Gothic" pitchFamily="34" charset="0"/>
                  <a:ea typeface="Malgun Gothic" pitchFamily="34" charset="-122"/>
                  <a:cs typeface="Malgun Gothic" pitchFamily="34" charset="-120"/>
                </a:rPr>
                <a:t>데이터</a:t>
              </a:r>
              <a:r>
                <a:rPr lang="en-US" sz="1100" b="1" dirty="0">
                  <a:solidFill>
                    <a:srgbClr val="FFFFFF"/>
                  </a:solidFill>
                  <a:latin typeface="Malgun Gothic" pitchFamily="34" charset="0"/>
                  <a:ea typeface="Malgun Gothic" pitchFamily="34" charset="-122"/>
                  <a:cs typeface="Malgun Gothic" pitchFamily="34" charset="-120"/>
                </a:rPr>
                <a:t> </a:t>
              </a:r>
              <a:endParaRPr lang="en-US" sz="1100" dirty="0"/>
            </a:p>
          </p:txBody>
        </p:sp>
      </p:grpSp>
      <p:sp>
        <p:nvSpPr>
          <p:cNvPr id="40" name="Text 38"/>
          <p:cNvSpPr txBox="1"/>
          <p:nvPr/>
        </p:nvSpPr>
        <p:spPr>
          <a:xfrm>
            <a:off x="9756648" y="3611880"/>
            <a:ext cx="1737360" cy="1036320"/>
          </a:xfrm>
          <a:prstGeom prst="rect">
            <a:avLst/>
          </a:prstGeom>
          <a:noFill/>
          <a:ln/>
        </p:spPr>
        <p:txBody>
          <a:bodyPr wrap="square" lIns="0" tIns="0" rIns="0" bIns="0" rtlCol="0" anchor="t"/>
          <a:lstStyle/>
          <a:p>
            <a:pPr marL="171450" indent="-171450">
              <a:lnSpc>
                <a:spcPct val="120000"/>
              </a:lnSpc>
              <a:buFont typeface="Arial" panose="020B0604020202020204" pitchFamily="34" charset="0"/>
              <a:buChar char="•"/>
            </a:pPr>
            <a:r>
              <a:rPr lang="en-US" sz="1200" dirty="0" err="1">
                <a:solidFill>
                  <a:srgbClr val="0A2540"/>
                </a:solidFill>
                <a:latin typeface="Malgun Gothic" pitchFamily="34" charset="0"/>
                <a:ea typeface="Malgun Gothic" pitchFamily="34" charset="-122"/>
                <a:cs typeface="Malgun Gothic" pitchFamily="34" charset="-120"/>
              </a:rPr>
              <a:t>번호판</a:t>
            </a:r>
            <a:r>
              <a:rPr lang="en-US" sz="1200" dirty="0">
                <a:solidFill>
                  <a:srgbClr val="0A2540"/>
                </a:solidFill>
                <a:latin typeface="Malgun Gothic" pitchFamily="34" charset="0"/>
                <a:ea typeface="Malgun Gothic" pitchFamily="34" charset="-122"/>
                <a:cs typeface="Malgun Gothic" pitchFamily="34" charset="-120"/>
              </a:rPr>
              <a:t> </a:t>
            </a:r>
            <a:r>
              <a:rPr lang="en-US" sz="1200" dirty="0" err="1">
                <a:solidFill>
                  <a:srgbClr val="0A2540"/>
                </a:solidFill>
                <a:latin typeface="Malgun Gothic" pitchFamily="34" charset="0"/>
                <a:ea typeface="Malgun Gothic" pitchFamily="34" charset="-122"/>
                <a:cs typeface="Malgun Gothic" pitchFamily="34" charset="-120"/>
              </a:rPr>
              <a:t>자료</a:t>
            </a:r>
            <a:r>
              <a:rPr lang="en-US" sz="1200" dirty="0">
                <a:solidFill>
                  <a:srgbClr val="0A2540"/>
                </a:solidFill>
                <a:latin typeface="Malgun Gothic" pitchFamily="34" charset="0"/>
                <a:ea typeface="Malgun Gothic" pitchFamily="34" charset="-122"/>
                <a:cs typeface="Malgun Gothic" pitchFamily="34" charset="-120"/>
              </a:rPr>
              <a:t> </a:t>
            </a:r>
            <a:r>
              <a:rPr lang="en-US" sz="1200" dirty="0" err="1">
                <a:solidFill>
                  <a:srgbClr val="0A2540"/>
                </a:solidFill>
                <a:latin typeface="Malgun Gothic" pitchFamily="34" charset="0"/>
                <a:ea typeface="Malgun Gothic" pitchFamily="34" charset="-122"/>
                <a:cs typeface="Malgun Gothic" pitchFamily="34" charset="-120"/>
              </a:rPr>
              <a:t>조사</a:t>
            </a:r>
            <a:endParaRPr lang="en-US" sz="1200" dirty="0">
              <a:solidFill>
                <a:srgbClr val="0A2540"/>
              </a:solidFill>
              <a:latin typeface="Malgun Gothic" pitchFamily="34" charset="0"/>
              <a:ea typeface="Malgun Gothic" pitchFamily="34" charset="-122"/>
              <a:cs typeface="Malgun Gothic" pitchFamily="34" charset="-120"/>
            </a:endParaRPr>
          </a:p>
          <a:p>
            <a:pPr marL="171450" indent="-171450">
              <a:lnSpc>
                <a:spcPct val="120000"/>
              </a:lnSpc>
              <a:buFont typeface="Arial" panose="020B0604020202020204" pitchFamily="34" charset="0"/>
              <a:buChar char="•"/>
            </a:pPr>
            <a:r>
              <a:rPr lang="en-US" altLang="ko-KR" sz="1200" dirty="0">
                <a:solidFill>
                  <a:srgbClr val="0A2540"/>
                </a:solidFill>
                <a:latin typeface="Malgun Gothic" pitchFamily="34" charset="0"/>
                <a:ea typeface="Malgun Gothic" pitchFamily="34" charset="-122"/>
                <a:cs typeface="Malgun Gothic" pitchFamily="34" charset="-120"/>
              </a:rPr>
              <a:t>CSS </a:t>
            </a:r>
            <a:r>
              <a:rPr lang="en-US" altLang="ko-KR" sz="1200" dirty="0" err="1">
                <a:solidFill>
                  <a:srgbClr val="0A2540"/>
                </a:solidFill>
                <a:latin typeface="Malgun Gothic" pitchFamily="34" charset="0"/>
                <a:ea typeface="Malgun Gothic" pitchFamily="34" charset="-122"/>
                <a:cs typeface="Malgun Gothic" pitchFamily="34" charset="-120"/>
              </a:rPr>
              <a:t>디자인</a:t>
            </a:r>
            <a:endParaRPr lang="en-US" altLang="ko-KR" sz="1200" dirty="0">
              <a:solidFill>
                <a:srgbClr val="0A2540"/>
              </a:solidFill>
              <a:latin typeface="Malgun Gothic" pitchFamily="34" charset="0"/>
              <a:ea typeface="Malgun Gothic" pitchFamily="34" charset="-122"/>
              <a:cs typeface="Malgun Gothic" pitchFamily="34" charset="-120"/>
            </a:endParaRPr>
          </a:p>
          <a:p>
            <a:pPr marL="171450" indent="-171450">
              <a:lnSpc>
                <a:spcPct val="120000"/>
              </a:lnSpc>
              <a:buFont typeface="Arial" panose="020B0604020202020204" pitchFamily="34" charset="0"/>
              <a:buChar char="•"/>
            </a:pPr>
            <a:r>
              <a:rPr lang="ko-KR" altLang="en-US" sz="1200" dirty="0">
                <a:solidFill>
                  <a:srgbClr val="0A2540"/>
                </a:solidFill>
                <a:latin typeface="Malgun Gothic" pitchFamily="34" charset="0"/>
                <a:ea typeface="Malgun Gothic" pitchFamily="34" charset="-122"/>
              </a:rPr>
              <a:t>공지사항 화면 개발</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Malgun Gothic" pitchFamily="34" charset="0"/>
                <a:ea typeface="Malgun Gothic" pitchFamily="34" charset="-122"/>
                <a:cs typeface="Malgun Gothic" pitchFamily="34" charset="-120"/>
              </a:rPr>
              <a:t>01  프로젝트 개요</a:t>
            </a:r>
            <a:endParaRPr lang="en-US" sz="1100" dirty="0"/>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Malgun Gothic" pitchFamily="34" charset="0"/>
                <a:ea typeface="Malgun Gothic" pitchFamily="34" charset="-122"/>
                <a:cs typeface="Malgun Gothic" pitchFamily="34" charset="-120"/>
              </a:rPr>
              <a:t>문제 인식</a:t>
            </a:r>
            <a:endParaRPr lang="en-US" sz="2600" dirty="0"/>
          </a:p>
        </p:txBody>
      </p:sp>
      <p:sp>
        <p:nvSpPr>
          <p:cNvPr id="4" name="Text 2"/>
          <p:cNvSpPr txBox="1"/>
          <p:nvPr/>
        </p:nvSpPr>
        <p:spPr>
          <a:xfrm>
            <a:off x="548640" y="1143000"/>
            <a:ext cx="10972800" cy="320040"/>
          </a:xfrm>
          <a:prstGeom prst="rect">
            <a:avLst/>
          </a:prstGeom>
          <a:noFill/>
          <a:ln/>
        </p:spPr>
        <p:txBody>
          <a:bodyPr wrap="square" lIns="0" tIns="0" rIns="0" bIns="0" rtlCol="0" anchor="ctr"/>
          <a:lstStyle/>
          <a:p>
            <a:pPr marL="0" indent="0" algn="l">
              <a:buNone/>
            </a:pPr>
            <a:r>
              <a:rPr lang="en-US" sz="1300" dirty="0">
                <a:solidFill>
                  <a:srgbClr val="5B6B7F"/>
                </a:solidFill>
                <a:latin typeface="Malgun Gothic" pitchFamily="34" charset="0"/>
                <a:ea typeface="Malgun Gothic" pitchFamily="34" charset="-122"/>
                <a:cs typeface="Malgun Gothic" pitchFamily="34" charset="-120"/>
              </a:rPr>
              <a:t>항만 화물차 확인 업무는 아직 사람 손과 사후 적발에 기대고 있습니다</a:t>
            </a:r>
            <a:endParaRPr lang="en-US" sz="1300" dirty="0"/>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Malgun Gothic" pitchFamily="34" charset="0"/>
                <a:ea typeface="Malgun Gothic" pitchFamily="34" charset="-122"/>
                <a:cs typeface="Malgun Gothic" pitchFamily="34" charset="-120"/>
              </a:rPr>
              <a:t>S Cargo  ·  못먹어도 S카고</a:t>
            </a:r>
            <a:endParaRPr lang="en-US" sz="900" dirty="0"/>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ko-KR" altLang="en-US" sz="900" dirty="0">
                <a:solidFill>
                  <a:srgbClr val="9AA8B8"/>
                </a:solidFill>
                <a:latin typeface="Malgun Gothic" pitchFamily="34" charset="0"/>
                <a:ea typeface="Malgun Gothic" pitchFamily="34" charset="-122"/>
              </a:rPr>
              <a:t>５</a:t>
            </a:r>
            <a:endParaRPr lang="en-US" sz="900" dirty="0"/>
          </a:p>
        </p:txBody>
      </p:sp>
      <p:sp>
        <p:nvSpPr>
          <p:cNvPr id="7" name="Shape 5"/>
          <p:cNvSpPr/>
          <p:nvPr/>
        </p:nvSpPr>
        <p:spPr>
          <a:xfrm>
            <a:off x="548640" y="1783080"/>
            <a:ext cx="2633472" cy="3337560"/>
          </a:xfrm>
          <a:prstGeom prst="roundRect">
            <a:avLst>
              <a:gd name="adj" fmla="val 2083"/>
            </a:avLst>
          </a:prstGeom>
          <a:solidFill>
            <a:srgbClr val="F4F6F8"/>
          </a:solidFill>
          <a:ln w="12700">
            <a:solidFill>
              <a:srgbClr val="F4F6F8"/>
            </a:solidFill>
            <a:prstDash val="solid"/>
          </a:ln>
        </p:spPr>
      </p:sp>
      <p:sp>
        <p:nvSpPr>
          <p:cNvPr id="8" name="Shape 6"/>
          <p:cNvSpPr/>
          <p:nvPr/>
        </p:nvSpPr>
        <p:spPr>
          <a:xfrm>
            <a:off x="839894" y="2103120"/>
            <a:ext cx="731520" cy="731520"/>
          </a:xfrm>
          <a:prstGeom prst="ellipse">
            <a:avLst/>
          </a:prstGeom>
          <a:solidFill>
            <a:srgbClr val="FF6B00"/>
          </a:solidFill>
          <a:ln w="12700">
            <a:solidFill>
              <a:srgbClr val="FF6B00"/>
            </a:solidFill>
            <a:prstDash val="solid"/>
          </a:ln>
        </p:spPr>
      </p:sp>
      <p:pic>
        <p:nvPicPr>
          <p:cNvPr id="9" name="Image 0" descr="preencoded.png"/>
          <p:cNvPicPr>
            <a:picLocks noChangeAspect="1"/>
          </p:cNvPicPr>
          <p:nvPr/>
        </p:nvPicPr>
        <p:blipFill>
          <a:blip r:embed="rId3"/>
          <a:stretch>
            <a:fillRect/>
          </a:stretch>
        </p:blipFill>
        <p:spPr>
          <a:xfrm>
            <a:off x="1014307" y="2286000"/>
            <a:ext cx="365760" cy="365760"/>
          </a:xfrm>
          <a:prstGeom prst="rect">
            <a:avLst/>
          </a:prstGeom>
        </p:spPr>
      </p:pic>
      <p:sp>
        <p:nvSpPr>
          <p:cNvPr id="10" name="Text 7"/>
          <p:cNvSpPr txBox="1"/>
          <p:nvPr/>
        </p:nvSpPr>
        <p:spPr>
          <a:xfrm>
            <a:off x="822960" y="3017520"/>
            <a:ext cx="2240280" cy="640080"/>
          </a:xfrm>
          <a:prstGeom prst="rect">
            <a:avLst/>
          </a:prstGeom>
          <a:noFill/>
          <a:ln/>
        </p:spPr>
        <p:txBody>
          <a:bodyPr wrap="square" lIns="0" tIns="0" rIns="0" bIns="0" rtlCol="0" anchor="t"/>
          <a:lstStyle/>
          <a:p>
            <a:pPr marL="0" indent="0" algn="l">
              <a:buNone/>
            </a:pPr>
            <a:r>
              <a:rPr lang="en-US" sz="1550" b="1" dirty="0">
                <a:solidFill>
                  <a:srgbClr val="0A2540"/>
                </a:solidFill>
                <a:latin typeface="Malgun Gothic" pitchFamily="34" charset="0"/>
                <a:ea typeface="Malgun Gothic" pitchFamily="34" charset="-122"/>
                <a:cs typeface="Malgun Gothic" pitchFamily="34" charset="-120"/>
              </a:rPr>
              <a:t>과적은 사후 적발 위주</a:t>
            </a:r>
            <a:endParaRPr lang="en-US" sz="1550" dirty="0"/>
          </a:p>
        </p:txBody>
      </p:sp>
      <p:sp>
        <p:nvSpPr>
          <p:cNvPr id="11" name="Text 8"/>
          <p:cNvSpPr txBox="1"/>
          <p:nvPr/>
        </p:nvSpPr>
        <p:spPr>
          <a:xfrm>
            <a:off x="822960" y="3703320"/>
            <a:ext cx="2148840" cy="1280160"/>
          </a:xfrm>
          <a:prstGeom prst="rect">
            <a:avLst/>
          </a:prstGeom>
          <a:noFill/>
          <a:ln/>
        </p:spPr>
        <p:txBody>
          <a:bodyPr wrap="square" lIns="0" tIns="0" rIns="0" bIns="0" rtlCol="0" anchor="t"/>
          <a:lstStyle/>
          <a:p>
            <a:pPr marL="0" indent="0" algn="l">
              <a:lnSpc>
                <a:spcPct val="115000"/>
              </a:lnSpc>
              <a:buNone/>
            </a:pPr>
            <a:r>
              <a:rPr lang="en-US" sz="1200" dirty="0">
                <a:solidFill>
                  <a:srgbClr val="5B6B7F"/>
                </a:solidFill>
                <a:latin typeface="Malgun Gothic" pitchFamily="34" charset="0"/>
                <a:ea typeface="Malgun Gothic" pitchFamily="34" charset="-122"/>
                <a:cs typeface="Malgun Gothic" pitchFamily="34" charset="-120"/>
              </a:rPr>
              <a:t>과적 차량이 도로에 나간 뒤 단속되는 구조. 항만 출차 시점에 걸러내는 장치가 부족함</a:t>
            </a:r>
            <a:endParaRPr lang="en-US" sz="1200" dirty="0"/>
          </a:p>
        </p:txBody>
      </p:sp>
      <p:sp>
        <p:nvSpPr>
          <p:cNvPr id="12" name="Shape 9"/>
          <p:cNvSpPr/>
          <p:nvPr/>
        </p:nvSpPr>
        <p:spPr>
          <a:xfrm>
            <a:off x="3364992" y="1783080"/>
            <a:ext cx="2633472" cy="3337560"/>
          </a:xfrm>
          <a:prstGeom prst="roundRect">
            <a:avLst>
              <a:gd name="adj" fmla="val 2083"/>
            </a:avLst>
          </a:prstGeom>
          <a:solidFill>
            <a:srgbClr val="F4F6F8"/>
          </a:solidFill>
          <a:ln w="12700">
            <a:solidFill>
              <a:srgbClr val="F4F6F8"/>
            </a:solidFill>
            <a:prstDash val="solid"/>
          </a:ln>
        </p:spPr>
      </p:sp>
      <p:sp>
        <p:nvSpPr>
          <p:cNvPr id="13" name="Shape 10"/>
          <p:cNvSpPr/>
          <p:nvPr/>
        </p:nvSpPr>
        <p:spPr>
          <a:xfrm>
            <a:off x="3639312" y="2103120"/>
            <a:ext cx="731520" cy="731520"/>
          </a:xfrm>
          <a:prstGeom prst="ellipse">
            <a:avLst/>
          </a:prstGeom>
          <a:solidFill>
            <a:srgbClr val="0A2540"/>
          </a:solidFill>
          <a:ln w="12700">
            <a:solidFill>
              <a:srgbClr val="0A2540"/>
            </a:solidFill>
            <a:prstDash val="solid"/>
          </a:ln>
        </p:spPr>
      </p:sp>
      <p:pic>
        <p:nvPicPr>
          <p:cNvPr id="14" name="Image 1" descr="preencoded.png"/>
          <p:cNvPicPr>
            <a:picLocks noChangeAspect="1"/>
          </p:cNvPicPr>
          <p:nvPr/>
        </p:nvPicPr>
        <p:blipFill>
          <a:blip r:embed="rId4"/>
          <a:stretch>
            <a:fillRect/>
          </a:stretch>
        </p:blipFill>
        <p:spPr>
          <a:xfrm>
            <a:off x="3822192" y="2286000"/>
            <a:ext cx="365760" cy="365760"/>
          </a:xfrm>
          <a:prstGeom prst="rect">
            <a:avLst/>
          </a:prstGeom>
        </p:spPr>
      </p:pic>
      <p:sp>
        <p:nvSpPr>
          <p:cNvPr id="15" name="Text 11"/>
          <p:cNvSpPr txBox="1"/>
          <p:nvPr/>
        </p:nvSpPr>
        <p:spPr>
          <a:xfrm>
            <a:off x="3639312" y="3017520"/>
            <a:ext cx="2240280" cy="640080"/>
          </a:xfrm>
          <a:prstGeom prst="rect">
            <a:avLst/>
          </a:prstGeom>
          <a:noFill/>
          <a:ln/>
        </p:spPr>
        <p:txBody>
          <a:bodyPr wrap="square" lIns="0" tIns="0" rIns="0" bIns="0" rtlCol="0" anchor="t"/>
          <a:lstStyle/>
          <a:p>
            <a:pPr marL="0" indent="0" algn="l">
              <a:buNone/>
            </a:pPr>
            <a:r>
              <a:rPr lang="en-US" sz="1550" b="1" dirty="0">
                <a:solidFill>
                  <a:srgbClr val="0A2540"/>
                </a:solidFill>
                <a:latin typeface="Malgun Gothic" pitchFamily="34" charset="0"/>
                <a:ea typeface="Malgun Gothic" pitchFamily="34" charset="-122"/>
                <a:cs typeface="Malgun Gothic" pitchFamily="34" charset="-120"/>
              </a:rPr>
              <a:t>확인은 수작업, 기록은 분산</a:t>
            </a:r>
            <a:endParaRPr lang="en-US" sz="1550" dirty="0"/>
          </a:p>
        </p:txBody>
      </p:sp>
      <p:sp>
        <p:nvSpPr>
          <p:cNvPr id="16" name="Text 12"/>
          <p:cNvSpPr txBox="1"/>
          <p:nvPr/>
        </p:nvSpPr>
        <p:spPr>
          <a:xfrm>
            <a:off x="3639312" y="3703320"/>
            <a:ext cx="2148840" cy="1280160"/>
          </a:xfrm>
          <a:prstGeom prst="rect">
            <a:avLst/>
          </a:prstGeom>
          <a:noFill/>
          <a:ln/>
        </p:spPr>
        <p:txBody>
          <a:bodyPr wrap="square" lIns="0" tIns="0" rIns="0" bIns="0" rtlCol="0" anchor="t"/>
          <a:lstStyle/>
          <a:p>
            <a:pPr marL="0" indent="0" algn="l">
              <a:lnSpc>
                <a:spcPct val="115000"/>
              </a:lnSpc>
              <a:buNone/>
            </a:pPr>
            <a:r>
              <a:rPr lang="en-US" sz="1200" dirty="0">
                <a:solidFill>
                  <a:srgbClr val="5B6B7F"/>
                </a:solidFill>
                <a:latin typeface="Malgun Gothic" pitchFamily="34" charset="0"/>
                <a:ea typeface="Malgun Gothic" pitchFamily="34" charset="-122"/>
                <a:cs typeface="Malgun Gothic" pitchFamily="34" charset="-120"/>
              </a:rPr>
              <a:t>게이트 출입 허가 · 적재 컨테이너 · </a:t>
            </a:r>
            <a:r>
              <a:rPr lang="ko-KR" altLang="en-US" sz="1200" dirty="0" err="1">
                <a:solidFill>
                  <a:srgbClr val="5B6B7F"/>
                </a:solidFill>
                <a:latin typeface="Malgun Gothic" pitchFamily="34" charset="0"/>
                <a:ea typeface="Malgun Gothic" pitchFamily="34" charset="-122"/>
                <a:cs typeface="Malgun Gothic" pitchFamily="34" charset="-120"/>
              </a:rPr>
              <a:t>축중</a:t>
            </a:r>
            <a:r>
              <a:rPr lang="en-US" sz="1200" dirty="0">
                <a:solidFill>
                  <a:srgbClr val="5B6B7F"/>
                </a:solidFill>
                <a:latin typeface="Malgun Gothic" pitchFamily="34" charset="0"/>
                <a:ea typeface="Malgun Gothic" pitchFamily="34" charset="-122"/>
                <a:cs typeface="Malgun Gothic" pitchFamily="34" charset="-120"/>
              </a:rPr>
              <a:t> 결과가 따로 관리되어 한눈에 보기 어려움</a:t>
            </a:r>
            <a:endParaRPr lang="en-US" sz="1200" dirty="0"/>
          </a:p>
        </p:txBody>
      </p:sp>
      <p:sp>
        <p:nvSpPr>
          <p:cNvPr id="17" name="Shape 13"/>
          <p:cNvSpPr/>
          <p:nvPr/>
        </p:nvSpPr>
        <p:spPr>
          <a:xfrm>
            <a:off x="6181344" y="1783080"/>
            <a:ext cx="2633472" cy="3337560"/>
          </a:xfrm>
          <a:prstGeom prst="roundRect">
            <a:avLst>
              <a:gd name="adj" fmla="val 2083"/>
            </a:avLst>
          </a:prstGeom>
          <a:solidFill>
            <a:srgbClr val="F4F6F8"/>
          </a:solidFill>
          <a:ln w="12700">
            <a:solidFill>
              <a:srgbClr val="F4F6F8"/>
            </a:solidFill>
            <a:prstDash val="solid"/>
          </a:ln>
        </p:spPr>
      </p:sp>
      <p:sp>
        <p:nvSpPr>
          <p:cNvPr id="18" name="Shape 14"/>
          <p:cNvSpPr/>
          <p:nvPr/>
        </p:nvSpPr>
        <p:spPr>
          <a:xfrm>
            <a:off x="6455664" y="2103120"/>
            <a:ext cx="731520" cy="731520"/>
          </a:xfrm>
          <a:prstGeom prst="ellipse">
            <a:avLst/>
          </a:prstGeom>
          <a:solidFill>
            <a:srgbClr val="0A2540"/>
          </a:solidFill>
          <a:ln w="12700">
            <a:solidFill>
              <a:srgbClr val="0A2540"/>
            </a:solidFill>
            <a:prstDash val="solid"/>
          </a:ln>
        </p:spPr>
      </p:sp>
      <p:pic>
        <p:nvPicPr>
          <p:cNvPr id="19" name="Image 2" descr="preencoded.png"/>
          <p:cNvPicPr>
            <a:picLocks noChangeAspect="1"/>
          </p:cNvPicPr>
          <p:nvPr/>
        </p:nvPicPr>
        <p:blipFill>
          <a:blip r:embed="rId5"/>
          <a:stretch>
            <a:fillRect/>
          </a:stretch>
        </p:blipFill>
        <p:spPr>
          <a:xfrm>
            <a:off x="6638544" y="2286000"/>
            <a:ext cx="365760" cy="365760"/>
          </a:xfrm>
          <a:prstGeom prst="rect">
            <a:avLst/>
          </a:prstGeom>
        </p:spPr>
      </p:pic>
      <p:sp>
        <p:nvSpPr>
          <p:cNvPr id="20" name="Text 15"/>
          <p:cNvSpPr txBox="1"/>
          <p:nvPr/>
        </p:nvSpPr>
        <p:spPr>
          <a:xfrm>
            <a:off x="6455664" y="3017520"/>
            <a:ext cx="2240280" cy="640080"/>
          </a:xfrm>
          <a:prstGeom prst="rect">
            <a:avLst/>
          </a:prstGeom>
          <a:noFill/>
          <a:ln/>
        </p:spPr>
        <p:txBody>
          <a:bodyPr wrap="square" lIns="0" tIns="0" rIns="0" bIns="0" rtlCol="0" anchor="t"/>
          <a:lstStyle/>
          <a:p>
            <a:pPr marL="0" indent="0" algn="l">
              <a:buNone/>
            </a:pPr>
            <a:r>
              <a:rPr lang="en-US" sz="1550" b="1" dirty="0">
                <a:solidFill>
                  <a:srgbClr val="0A2540"/>
                </a:solidFill>
                <a:latin typeface="Malgun Gothic" pitchFamily="34" charset="0"/>
                <a:ea typeface="Malgun Gothic" pitchFamily="34" charset="-122"/>
                <a:cs typeface="Malgun Gothic" pitchFamily="34" charset="-120"/>
              </a:rPr>
              <a:t>세미트레일러 번호판 매칭</a:t>
            </a:r>
            <a:endParaRPr lang="en-US" sz="1550" dirty="0"/>
          </a:p>
        </p:txBody>
      </p:sp>
      <p:sp>
        <p:nvSpPr>
          <p:cNvPr id="21" name="Text 16"/>
          <p:cNvSpPr txBox="1"/>
          <p:nvPr/>
        </p:nvSpPr>
        <p:spPr>
          <a:xfrm>
            <a:off x="6455664" y="3703320"/>
            <a:ext cx="2148840" cy="1280160"/>
          </a:xfrm>
          <a:prstGeom prst="rect">
            <a:avLst/>
          </a:prstGeom>
          <a:noFill/>
          <a:ln/>
        </p:spPr>
        <p:txBody>
          <a:bodyPr wrap="square" lIns="0" tIns="0" rIns="0" bIns="0" rtlCol="0" anchor="t"/>
          <a:lstStyle/>
          <a:p>
            <a:pPr marL="0" indent="0" algn="l">
              <a:lnSpc>
                <a:spcPct val="115000"/>
              </a:lnSpc>
              <a:buNone/>
            </a:pPr>
            <a:r>
              <a:rPr lang="en-US" sz="1200" dirty="0">
                <a:solidFill>
                  <a:srgbClr val="5B6B7F"/>
                </a:solidFill>
                <a:latin typeface="Malgun Gothic" pitchFamily="34" charset="0"/>
                <a:ea typeface="Malgun Gothic" pitchFamily="34" charset="-122"/>
                <a:cs typeface="Malgun Gothic" pitchFamily="34" charset="-120"/>
              </a:rPr>
              <a:t>트랙터와 트레일러 번호판이 달라 번호판 하나만으로 차량 · 화물을 묶기 어려움</a:t>
            </a:r>
            <a:endParaRPr lang="en-US" sz="1200" dirty="0"/>
          </a:p>
        </p:txBody>
      </p:sp>
      <p:sp>
        <p:nvSpPr>
          <p:cNvPr id="22" name="Shape 17"/>
          <p:cNvSpPr/>
          <p:nvPr/>
        </p:nvSpPr>
        <p:spPr>
          <a:xfrm>
            <a:off x="8997696" y="1783080"/>
            <a:ext cx="2633472" cy="3337560"/>
          </a:xfrm>
          <a:prstGeom prst="roundRect">
            <a:avLst>
              <a:gd name="adj" fmla="val 2083"/>
            </a:avLst>
          </a:prstGeom>
          <a:solidFill>
            <a:srgbClr val="F4F6F8"/>
          </a:solidFill>
          <a:ln w="12700">
            <a:solidFill>
              <a:srgbClr val="F4F6F8"/>
            </a:solidFill>
            <a:prstDash val="solid"/>
          </a:ln>
        </p:spPr>
      </p:sp>
      <p:sp>
        <p:nvSpPr>
          <p:cNvPr id="23" name="Shape 18"/>
          <p:cNvSpPr/>
          <p:nvPr/>
        </p:nvSpPr>
        <p:spPr>
          <a:xfrm>
            <a:off x="9272016" y="2103120"/>
            <a:ext cx="731520" cy="731520"/>
          </a:xfrm>
          <a:prstGeom prst="ellipse">
            <a:avLst/>
          </a:prstGeom>
          <a:solidFill>
            <a:srgbClr val="0A2540"/>
          </a:solidFill>
          <a:ln w="12700">
            <a:solidFill>
              <a:srgbClr val="0A2540"/>
            </a:solidFill>
            <a:prstDash val="solid"/>
          </a:ln>
        </p:spPr>
      </p:sp>
      <p:pic>
        <p:nvPicPr>
          <p:cNvPr id="24" name="Image 3" descr="preencoded.png"/>
          <p:cNvPicPr>
            <a:picLocks noChangeAspect="1"/>
          </p:cNvPicPr>
          <p:nvPr/>
        </p:nvPicPr>
        <p:blipFill>
          <a:blip r:embed="rId6"/>
          <a:stretch>
            <a:fillRect/>
          </a:stretch>
        </p:blipFill>
        <p:spPr>
          <a:xfrm>
            <a:off x="9454896" y="2286000"/>
            <a:ext cx="365760" cy="365760"/>
          </a:xfrm>
          <a:prstGeom prst="rect">
            <a:avLst/>
          </a:prstGeom>
        </p:spPr>
      </p:pic>
      <p:sp>
        <p:nvSpPr>
          <p:cNvPr id="25" name="Text 19"/>
          <p:cNvSpPr txBox="1"/>
          <p:nvPr/>
        </p:nvSpPr>
        <p:spPr>
          <a:xfrm>
            <a:off x="9272016" y="3017520"/>
            <a:ext cx="2240280" cy="640080"/>
          </a:xfrm>
          <a:prstGeom prst="rect">
            <a:avLst/>
          </a:prstGeom>
          <a:noFill/>
          <a:ln/>
        </p:spPr>
        <p:txBody>
          <a:bodyPr wrap="square" lIns="0" tIns="0" rIns="0" bIns="0" rtlCol="0" anchor="t"/>
          <a:lstStyle/>
          <a:p>
            <a:pPr marL="0" indent="0" algn="l">
              <a:buNone/>
            </a:pPr>
            <a:r>
              <a:rPr lang="en-US" sz="1550" b="1" dirty="0">
                <a:solidFill>
                  <a:srgbClr val="0A2540"/>
                </a:solidFill>
                <a:latin typeface="Malgun Gothic" pitchFamily="34" charset="0"/>
                <a:ea typeface="Malgun Gothic" pitchFamily="34" charset="-122"/>
                <a:cs typeface="Malgun Gothic" pitchFamily="34" charset="-120"/>
              </a:rPr>
              <a:t>배차 · 위치 정보는 전화로</a:t>
            </a:r>
            <a:endParaRPr lang="en-US" sz="1550" dirty="0"/>
          </a:p>
        </p:txBody>
      </p:sp>
      <p:sp>
        <p:nvSpPr>
          <p:cNvPr id="26" name="Text 20"/>
          <p:cNvSpPr txBox="1"/>
          <p:nvPr/>
        </p:nvSpPr>
        <p:spPr>
          <a:xfrm>
            <a:off x="9272016" y="3703320"/>
            <a:ext cx="2148840" cy="1280160"/>
          </a:xfrm>
          <a:prstGeom prst="rect">
            <a:avLst/>
          </a:prstGeom>
          <a:noFill/>
          <a:ln/>
        </p:spPr>
        <p:txBody>
          <a:bodyPr wrap="square" lIns="0" tIns="0" rIns="0" bIns="0" rtlCol="0" anchor="t"/>
          <a:lstStyle/>
          <a:p>
            <a:pPr marL="0" indent="0" algn="l">
              <a:lnSpc>
                <a:spcPct val="115000"/>
              </a:lnSpc>
              <a:buNone/>
            </a:pPr>
            <a:r>
              <a:rPr lang="en-US" sz="1200" dirty="0">
                <a:solidFill>
                  <a:srgbClr val="5B6B7F"/>
                </a:solidFill>
                <a:latin typeface="Malgun Gothic" pitchFamily="34" charset="0"/>
                <a:ea typeface="Malgun Gothic" pitchFamily="34" charset="-122"/>
                <a:cs typeface="Malgun Gothic" pitchFamily="34" charset="-120"/>
              </a:rPr>
              <a:t>기사는 어느 야드 · 섹터로 가야 하는지 매번 문의, 운송사는 차량 상태를 알기 어려움</a:t>
            </a:r>
            <a:endParaRPr lang="en-US" sz="1200" dirty="0"/>
          </a:p>
        </p:txBody>
      </p:sp>
      <p:sp>
        <p:nvSpPr>
          <p:cNvPr id="27" name="Shape 21"/>
          <p:cNvSpPr/>
          <p:nvPr/>
        </p:nvSpPr>
        <p:spPr>
          <a:xfrm>
            <a:off x="548640" y="5440680"/>
            <a:ext cx="11091672" cy="685800"/>
          </a:xfrm>
          <a:prstGeom prst="roundRect">
            <a:avLst>
              <a:gd name="adj" fmla="val 8000"/>
            </a:avLst>
          </a:prstGeom>
          <a:solidFill>
            <a:srgbClr val="FFF0E5"/>
          </a:solidFill>
          <a:ln w="12700">
            <a:solidFill>
              <a:srgbClr val="FFF0E5"/>
            </a:solidFill>
            <a:prstDash val="solid"/>
          </a:ln>
        </p:spPr>
      </p:sp>
      <p:sp>
        <p:nvSpPr>
          <p:cNvPr id="28" name="Text 22"/>
          <p:cNvSpPr txBox="1"/>
          <p:nvPr/>
        </p:nvSpPr>
        <p:spPr>
          <a:xfrm>
            <a:off x="777240" y="5440680"/>
            <a:ext cx="10698480" cy="685800"/>
          </a:xfrm>
          <a:prstGeom prst="rect">
            <a:avLst/>
          </a:prstGeom>
          <a:noFill/>
          <a:ln/>
        </p:spPr>
        <p:txBody>
          <a:bodyPr wrap="square" lIns="0" tIns="0" rIns="0" bIns="0" rtlCol="0" anchor="ctr"/>
          <a:lstStyle/>
          <a:p>
            <a:pPr marL="0" indent="0" algn="l">
              <a:buNone/>
            </a:pPr>
            <a:r>
              <a:rPr lang="en-US" sz="1500" b="1" dirty="0">
                <a:solidFill>
                  <a:srgbClr val="9A3F00"/>
                </a:solidFill>
                <a:latin typeface="Malgun Gothic" pitchFamily="34" charset="0"/>
                <a:ea typeface="Malgun Gothic" pitchFamily="34" charset="-122"/>
                <a:cs typeface="Malgun Gothic" pitchFamily="34" charset="-120"/>
              </a:rPr>
              <a:t>→  게이트를 지나는 순간 자동으로 확인하고, 관리자는 한 화면에서 판단하도록</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Malgun Gothic" pitchFamily="34" charset="0"/>
                <a:ea typeface="Malgun Gothic" pitchFamily="34" charset="-122"/>
                <a:cs typeface="Malgun Gothic" pitchFamily="34" charset="-120"/>
              </a:rPr>
              <a:t>01  프로젝트 개요</a:t>
            </a:r>
            <a:endParaRPr lang="en-US" sz="1100" dirty="0"/>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Malgun Gothic" pitchFamily="34" charset="0"/>
                <a:ea typeface="Malgun Gothic" pitchFamily="34" charset="-122"/>
                <a:cs typeface="Malgun Gothic" pitchFamily="34" charset="-120"/>
              </a:rPr>
              <a:t>목표와 개발 범위</a:t>
            </a:r>
            <a:endParaRPr lang="en-US" sz="2600" dirty="0"/>
          </a:p>
        </p:txBody>
      </p:sp>
      <p:sp>
        <p:nvSpPr>
          <p:cNvPr id="4" name="Text 2"/>
          <p:cNvSpPr txBox="1"/>
          <p:nvPr/>
        </p:nvSpPr>
        <p:spPr>
          <a:xfrm>
            <a:off x="548640" y="1143000"/>
            <a:ext cx="10972800" cy="320040"/>
          </a:xfrm>
          <a:prstGeom prst="rect">
            <a:avLst/>
          </a:prstGeom>
          <a:noFill/>
          <a:ln/>
        </p:spPr>
        <p:txBody>
          <a:bodyPr wrap="square" lIns="0" tIns="0" rIns="0" bIns="0" rtlCol="0" anchor="ctr"/>
          <a:lstStyle/>
          <a:p>
            <a:pPr marL="0" indent="0" algn="l">
              <a:buNone/>
            </a:pPr>
            <a:r>
              <a:rPr lang="en-US" sz="1300" dirty="0">
                <a:solidFill>
                  <a:srgbClr val="5B6B7F"/>
                </a:solidFill>
                <a:latin typeface="Malgun Gothic" pitchFamily="34" charset="0"/>
                <a:ea typeface="Malgun Gothic" pitchFamily="34" charset="-122"/>
                <a:cs typeface="Malgun Gothic" pitchFamily="34" charset="-120"/>
              </a:rPr>
              <a:t>1차는 인천항 내부, 검사소 1곳 기준으로 범위를 좁혔습니다</a:t>
            </a:r>
            <a:endParaRPr lang="en-US" sz="1300" dirty="0"/>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Malgun Gothic" pitchFamily="34" charset="0"/>
                <a:ea typeface="Malgun Gothic" pitchFamily="34" charset="-122"/>
                <a:cs typeface="Malgun Gothic" pitchFamily="34" charset="-120"/>
              </a:rPr>
              <a:t>S Cargo  ·  못먹어도 S카고</a:t>
            </a:r>
            <a:endParaRPr lang="en-US" sz="900" dirty="0"/>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ko-KR" altLang="en-US" sz="900" dirty="0">
                <a:solidFill>
                  <a:srgbClr val="9AA8B8"/>
                </a:solidFill>
                <a:latin typeface="Malgun Gothic" pitchFamily="34" charset="0"/>
                <a:ea typeface="Malgun Gothic" pitchFamily="34" charset="-122"/>
              </a:rPr>
              <a:t>６</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332735737"/>
              </p:ext>
            </p:extLst>
          </p:nvPr>
        </p:nvGraphicFramePr>
        <p:xfrm>
          <a:off x="502920" y="1600200"/>
          <a:ext cx="7223760" cy="2834640"/>
        </p:xfrm>
        <a:graphic>
          <a:graphicData uri="http://schemas.openxmlformats.org/drawingml/2006/table">
            <a:tbl>
              <a:tblPr/>
              <a:tblGrid>
                <a:gridCol w="210312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tblGrid>
              <a:tr h="566928">
                <a:tc>
                  <a:txBody>
                    <a:bodyPr/>
                    <a:lstStyle/>
                    <a:p>
                      <a:pPr marL="0" indent="0" algn="ctr">
                        <a:buNone/>
                      </a:pPr>
                      <a:r>
                        <a:rPr lang="en-US" sz="1250" dirty="0">
                          <a:solidFill>
                            <a:srgbClr val="FFFFFF"/>
                          </a:solidFill>
                          <a:latin typeface="Malgun Gothic" pitchFamily="34" charset="0"/>
                          <a:ea typeface="Malgun Gothic" pitchFamily="34" charset="-122"/>
                          <a:cs typeface="Malgun Gothic" pitchFamily="34" charset="-120"/>
                        </a:rPr>
                        <a:t>목표</a:t>
                      </a:r>
                      <a:endParaRPr lang="en-US" sz="125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0A2540"/>
                    </a:solidFill>
                  </a:tcPr>
                </a:tc>
                <a:tc>
                  <a:txBody>
                    <a:bodyPr/>
                    <a:lstStyle/>
                    <a:p>
                      <a:pPr marL="0" indent="0" algn="ctr">
                        <a:buNone/>
                      </a:pPr>
                      <a:r>
                        <a:rPr lang="en-US" sz="1250" dirty="0">
                          <a:solidFill>
                            <a:srgbClr val="FFFFFF"/>
                          </a:solidFill>
                          <a:latin typeface="Malgun Gothic" pitchFamily="34" charset="0"/>
                          <a:ea typeface="Malgun Gothic" pitchFamily="34" charset="-122"/>
                          <a:cs typeface="Malgun Gothic" pitchFamily="34" charset="-120"/>
                        </a:rPr>
                        <a:t>내용</a:t>
                      </a:r>
                      <a:endParaRPr lang="en-US" sz="125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0A2540"/>
                    </a:solidFill>
                  </a:tcPr>
                </a:tc>
                <a:extLst>
                  <a:ext uri="{0D108BD9-81ED-4DB2-BD59-A6C34878D82A}">
                    <a16:rowId xmlns:a16="http://schemas.microsoft.com/office/drawing/2014/main" val="10000"/>
                  </a:ext>
                </a:extLst>
              </a:tr>
              <a:tr h="566928">
                <a:tc>
                  <a:txBody>
                    <a:bodyPr/>
                    <a:lstStyle/>
                    <a:p>
                      <a:pPr marL="0" indent="0" algn="ctr">
                        <a:buNone/>
                      </a:pPr>
                      <a:r>
                        <a:rPr lang="en-US" sz="1250" dirty="0">
                          <a:solidFill>
                            <a:srgbClr val="0A2540"/>
                          </a:solidFill>
                          <a:latin typeface="Malgun Gothic" pitchFamily="34" charset="0"/>
                          <a:ea typeface="Malgun Gothic" pitchFamily="34" charset="-122"/>
                          <a:cs typeface="Malgun Gothic" pitchFamily="34" charset="-120"/>
                        </a:rPr>
                        <a:t>게이트 자동 확인</a:t>
                      </a:r>
                      <a:endParaRPr lang="en-US" sz="125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marL="0" indent="0" algn="l">
                        <a:buNone/>
                      </a:pPr>
                      <a:r>
                        <a:rPr lang="en-US" sz="1250" dirty="0">
                          <a:solidFill>
                            <a:srgbClr val="0A2540"/>
                          </a:solidFill>
                          <a:latin typeface="Malgun Gothic" pitchFamily="34" charset="0"/>
                          <a:ea typeface="Malgun Gothic" pitchFamily="34" charset="-122"/>
                          <a:cs typeface="Malgun Gothic" pitchFamily="34" charset="-120"/>
                        </a:rPr>
                        <a:t>번호판 인식(OCR)으로 사전 허가 차량만 진입 · 출차</a:t>
                      </a:r>
                      <a:endParaRPr lang="en-US" sz="125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ctr">
                        <a:buNone/>
                      </a:pPr>
                      <a:r>
                        <a:rPr lang="en-US" sz="1250" dirty="0">
                          <a:solidFill>
                            <a:srgbClr val="0A2540"/>
                          </a:solidFill>
                          <a:latin typeface="Malgun Gothic" pitchFamily="34" charset="0"/>
                          <a:ea typeface="Malgun Gothic" pitchFamily="34" charset="-122"/>
                          <a:cs typeface="Malgun Gothic" pitchFamily="34" charset="-120"/>
                        </a:rPr>
                        <a:t>출차 전 과적 판정</a:t>
                      </a:r>
                      <a:endParaRPr lang="en-US" sz="125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marL="0" indent="0" algn="l">
                        <a:buNone/>
                      </a:pPr>
                      <a:r>
                        <a:rPr lang="en-US" sz="1250" dirty="0">
                          <a:solidFill>
                            <a:srgbClr val="0A2540"/>
                          </a:solidFill>
                          <a:latin typeface="Malgun Gothic" pitchFamily="34" charset="0"/>
                          <a:ea typeface="Malgun Gothic" pitchFamily="34" charset="-122"/>
                          <a:cs typeface="Malgun Gothic" pitchFamily="34" charset="-120"/>
                        </a:rPr>
                        <a:t>검사소에서 축중 · </a:t>
                      </a:r>
                      <a:r>
                        <a:rPr lang="en-US" sz="1250" dirty="0" err="1">
                          <a:solidFill>
                            <a:srgbClr val="0A2540"/>
                          </a:solidFill>
                          <a:latin typeface="Malgun Gothic" pitchFamily="34" charset="0"/>
                          <a:ea typeface="Malgun Gothic" pitchFamily="34" charset="-122"/>
                          <a:cs typeface="Malgun Gothic" pitchFamily="34" charset="-120"/>
                        </a:rPr>
                        <a:t>컨테이너</a:t>
                      </a:r>
                      <a:r>
                        <a:rPr lang="en-US" sz="1250" dirty="0">
                          <a:solidFill>
                            <a:srgbClr val="0A2540"/>
                          </a:solidFill>
                          <a:latin typeface="Malgun Gothic" pitchFamily="34" charset="0"/>
                          <a:ea typeface="Malgun Gothic" pitchFamily="34" charset="-122"/>
                          <a:cs typeface="Malgun Gothic" pitchFamily="34" charset="-120"/>
                        </a:rPr>
                        <a:t> VGM(</a:t>
                      </a:r>
                      <a:r>
                        <a:rPr lang="ko-KR" altLang="en-US" sz="1250" dirty="0">
                          <a:solidFill>
                            <a:srgbClr val="0A2540"/>
                          </a:solidFill>
                          <a:latin typeface="Malgun Gothic" pitchFamily="34" charset="0"/>
                          <a:ea typeface="Malgun Gothic" pitchFamily="34" charset="-122"/>
                          <a:cs typeface="Malgun Gothic" pitchFamily="34" charset="-120"/>
                        </a:rPr>
                        <a:t>과적</a:t>
                      </a:r>
                      <a:r>
                        <a:rPr lang="en-US" altLang="ko-KR" sz="1250" dirty="0">
                          <a:solidFill>
                            <a:srgbClr val="0A2540"/>
                          </a:solidFill>
                          <a:latin typeface="Malgun Gothic" pitchFamily="34" charset="0"/>
                          <a:ea typeface="Malgun Gothic" pitchFamily="34" charset="-122"/>
                          <a:cs typeface="Malgun Gothic" pitchFamily="34" charset="-120"/>
                        </a:rPr>
                        <a:t>)</a:t>
                      </a:r>
                      <a:r>
                        <a:rPr lang="en-US" sz="1250" dirty="0">
                          <a:solidFill>
                            <a:srgbClr val="0A2540"/>
                          </a:solidFill>
                          <a:latin typeface="Malgun Gothic" pitchFamily="34" charset="0"/>
                          <a:ea typeface="Malgun Gothic" pitchFamily="34" charset="-122"/>
                          <a:cs typeface="Malgun Gothic" pitchFamily="34" charset="-120"/>
                        </a:rPr>
                        <a:t> 대조 후 PASS / FAIL, 초과 시 재계량</a:t>
                      </a:r>
                      <a:endParaRPr lang="en-US" sz="125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lgn="ctr">
                        <a:buNone/>
                      </a:pPr>
                      <a:r>
                        <a:rPr lang="en-US" sz="1250" dirty="0">
                          <a:solidFill>
                            <a:srgbClr val="0A2540"/>
                          </a:solidFill>
                          <a:latin typeface="Malgun Gothic" pitchFamily="34" charset="0"/>
                          <a:ea typeface="Malgun Gothic" pitchFamily="34" charset="-122"/>
                          <a:cs typeface="Malgun Gothic" pitchFamily="34" charset="-120"/>
                        </a:rPr>
                        <a:t>이력 통합 관리</a:t>
                      </a:r>
                      <a:endParaRPr lang="en-US" sz="125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marL="0" indent="0" algn="l">
                        <a:buNone/>
                      </a:pPr>
                      <a:r>
                        <a:rPr lang="en-US" sz="1250" dirty="0">
                          <a:solidFill>
                            <a:srgbClr val="0A2540"/>
                          </a:solidFill>
                          <a:latin typeface="Malgun Gothic" pitchFamily="34" charset="0"/>
                          <a:ea typeface="Malgun Gothic" pitchFamily="34" charset="-122"/>
                          <a:cs typeface="Malgun Gothic" pitchFamily="34" charset="-120"/>
                        </a:rPr>
                        <a:t>진입 · 적재 · 검사 · 출차 기록을 DB 하나로 묶어 대시보드에서 조회</a:t>
                      </a:r>
                      <a:endParaRPr lang="en-US" sz="125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ctr">
                        <a:buNone/>
                      </a:pPr>
                      <a:r>
                        <a:rPr lang="en-US" sz="1250" dirty="0">
                          <a:solidFill>
                            <a:srgbClr val="0A2540"/>
                          </a:solidFill>
                          <a:latin typeface="Malgun Gothic" pitchFamily="34" charset="0"/>
                          <a:ea typeface="Malgun Gothic" pitchFamily="34" charset="-122"/>
                          <a:cs typeface="Malgun Gothic" pitchFamily="34" charset="-120"/>
                        </a:rPr>
                        <a:t>역할별 화면</a:t>
                      </a:r>
                      <a:endParaRPr lang="en-US" sz="125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marL="0" indent="0" algn="l">
                        <a:buNone/>
                      </a:pPr>
                      <a:r>
                        <a:rPr lang="en-US" sz="1250" dirty="0">
                          <a:solidFill>
                            <a:srgbClr val="0A2540"/>
                          </a:solidFill>
                          <a:latin typeface="Malgun Gothic" pitchFamily="34" charset="0"/>
                          <a:ea typeface="Malgun Gothic" pitchFamily="34" charset="-122"/>
                          <a:cs typeface="Malgun Gothic" pitchFamily="34" charset="-120"/>
                        </a:rPr>
                        <a:t>관리자 · 운송사 · 기사가 필요한 화면만 사용, 이벤트는 웹 알림</a:t>
                      </a:r>
                      <a:endParaRPr lang="en-US" sz="125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Shape 5"/>
          <p:cNvSpPr/>
          <p:nvPr/>
        </p:nvSpPr>
        <p:spPr>
          <a:xfrm>
            <a:off x="8092440" y="1600200"/>
            <a:ext cx="3611880" cy="1600200"/>
          </a:xfrm>
          <a:prstGeom prst="roundRect">
            <a:avLst>
              <a:gd name="adj" fmla="val 3429"/>
            </a:avLst>
          </a:prstGeom>
          <a:solidFill>
            <a:srgbClr val="F4F6F8"/>
          </a:solidFill>
          <a:ln w="12700">
            <a:solidFill>
              <a:srgbClr val="F4F6F8"/>
            </a:solidFill>
            <a:prstDash val="solid"/>
          </a:ln>
        </p:spPr>
      </p:sp>
      <p:sp>
        <p:nvSpPr>
          <p:cNvPr id="9" name="Text 6"/>
          <p:cNvSpPr txBox="1"/>
          <p:nvPr/>
        </p:nvSpPr>
        <p:spPr>
          <a:xfrm>
            <a:off x="8321040" y="1691640"/>
            <a:ext cx="3200400" cy="274320"/>
          </a:xfrm>
          <a:prstGeom prst="rect">
            <a:avLst/>
          </a:prstGeom>
          <a:noFill/>
          <a:ln/>
        </p:spPr>
        <p:txBody>
          <a:bodyPr wrap="square" lIns="0" tIns="0" rIns="0" bIns="0" rtlCol="0" anchor="ctr"/>
          <a:lstStyle/>
          <a:p>
            <a:pPr marL="0" indent="0" algn="l">
              <a:buNone/>
            </a:pPr>
            <a:r>
              <a:rPr lang="en-US" sz="1100" b="1" dirty="0">
                <a:solidFill>
                  <a:srgbClr val="FF6B00"/>
                </a:solidFill>
                <a:latin typeface="Malgun Gothic" pitchFamily="34" charset="0"/>
                <a:ea typeface="Malgun Gothic" pitchFamily="34" charset="-122"/>
                <a:cs typeface="Malgun Gothic" pitchFamily="34" charset="-120"/>
              </a:rPr>
              <a:t>대상 지역</a:t>
            </a:r>
            <a:endParaRPr lang="en-US" sz="1100" dirty="0"/>
          </a:p>
        </p:txBody>
      </p:sp>
      <p:sp>
        <p:nvSpPr>
          <p:cNvPr id="10" name="Text 7"/>
          <p:cNvSpPr txBox="1"/>
          <p:nvPr/>
        </p:nvSpPr>
        <p:spPr>
          <a:xfrm>
            <a:off x="8321040" y="1965960"/>
            <a:ext cx="3200400" cy="411480"/>
          </a:xfrm>
          <a:prstGeom prst="rect">
            <a:avLst/>
          </a:prstGeom>
          <a:noFill/>
          <a:ln/>
        </p:spPr>
        <p:txBody>
          <a:bodyPr wrap="square" lIns="0" tIns="0" rIns="0" bIns="0" rtlCol="0" anchor="ctr"/>
          <a:lstStyle/>
          <a:p>
            <a:pPr marL="0" indent="0" algn="l">
              <a:buNone/>
            </a:pPr>
            <a:r>
              <a:rPr lang="en-US" sz="2200" b="1" dirty="0">
                <a:solidFill>
                  <a:srgbClr val="0A2540"/>
                </a:solidFill>
                <a:latin typeface="Malgun Gothic" pitchFamily="34" charset="0"/>
                <a:ea typeface="Malgun Gothic" pitchFamily="34" charset="-122"/>
                <a:cs typeface="Malgun Gothic" pitchFamily="34" charset="-120"/>
              </a:rPr>
              <a:t>인천항</a:t>
            </a:r>
            <a:endParaRPr lang="en-US" sz="2200" dirty="0"/>
          </a:p>
        </p:txBody>
      </p:sp>
      <p:sp>
        <p:nvSpPr>
          <p:cNvPr id="11" name="Text 8"/>
          <p:cNvSpPr txBox="1"/>
          <p:nvPr/>
        </p:nvSpPr>
        <p:spPr>
          <a:xfrm>
            <a:off x="8321040" y="2395728"/>
            <a:ext cx="3246120" cy="731520"/>
          </a:xfrm>
          <a:prstGeom prst="rect">
            <a:avLst/>
          </a:prstGeom>
          <a:noFill/>
          <a:ln/>
        </p:spPr>
        <p:txBody>
          <a:bodyPr wrap="square" lIns="0" tIns="0" rIns="0" bIns="0" rtlCol="0" anchor="t"/>
          <a:lstStyle/>
          <a:p>
            <a:pPr marL="0" indent="0" algn="l">
              <a:buNone/>
            </a:pPr>
            <a:r>
              <a:rPr lang="en-US" sz="1150" dirty="0">
                <a:solidFill>
                  <a:srgbClr val="5B6B7F"/>
                </a:solidFill>
                <a:latin typeface="Malgun Gothic" pitchFamily="34" charset="0"/>
                <a:ea typeface="Malgun Gothic" pitchFamily="34" charset="-122"/>
                <a:cs typeface="Malgun Gothic" pitchFamily="34" charset="-120"/>
              </a:rPr>
              <a:t>여객보다 물류 비중이 높은 항만.</a:t>
            </a:r>
            <a:endParaRPr lang="en-US" sz="1150" dirty="0"/>
          </a:p>
          <a:p>
            <a:pPr marL="0" indent="0" algn="l">
              <a:buNone/>
            </a:pPr>
            <a:r>
              <a:rPr lang="en-US" sz="1150" dirty="0">
                <a:solidFill>
                  <a:srgbClr val="5B6B7F"/>
                </a:solidFill>
                <a:latin typeface="Malgun Gothic" pitchFamily="34" charset="0"/>
                <a:ea typeface="Malgun Gothic" pitchFamily="34" charset="-122"/>
                <a:cs typeface="Malgun Gothic" pitchFamily="34" charset="-120"/>
              </a:rPr>
              <a:t>부산항은 항구가 여러 곳으로 나뉘어 제외</a:t>
            </a:r>
            <a:endParaRPr lang="en-US" sz="1150" dirty="0"/>
          </a:p>
        </p:txBody>
      </p:sp>
      <p:sp>
        <p:nvSpPr>
          <p:cNvPr id="12" name="Shape 9"/>
          <p:cNvSpPr/>
          <p:nvPr/>
        </p:nvSpPr>
        <p:spPr>
          <a:xfrm>
            <a:off x="8092440" y="3337560"/>
            <a:ext cx="3611880" cy="1371600"/>
          </a:xfrm>
          <a:prstGeom prst="roundRect">
            <a:avLst>
              <a:gd name="adj" fmla="val 4000"/>
            </a:avLst>
          </a:prstGeom>
          <a:solidFill>
            <a:srgbClr val="FFFFFF"/>
          </a:solidFill>
          <a:ln w="12700">
            <a:solidFill>
              <a:srgbClr val="DCE3EA"/>
            </a:solidFill>
            <a:prstDash val="solid"/>
          </a:ln>
        </p:spPr>
      </p:sp>
      <p:sp>
        <p:nvSpPr>
          <p:cNvPr id="13" name="Text 10"/>
          <p:cNvSpPr txBox="1"/>
          <p:nvPr/>
        </p:nvSpPr>
        <p:spPr>
          <a:xfrm>
            <a:off x="8321040" y="3429000"/>
            <a:ext cx="3200400" cy="274320"/>
          </a:xfrm>
          <a:prstGeom prst="rect">
            <a:avLst/>
          </a:prstGeom>
          <a:noFill/>
          <a:ln/>
        </p:spPr>
        <p:txBody>
          <a:bodyPr wrap="square" lIns="0" tIns="0" rIns="0" bIns="0" rtlCol="0" anchor="ctr"/>
          <a:lstStyle/>
          <a:p>
            <a:pPr marL="0" indent="0" algn="l">
              <a:buNone/>
            </a:pPr>
            <a:r>
              <a:rPr lang="en-US" sz="1100" b="1" dirty="0">
                <a:solidFill>
                  <a:srgbClr val="5B6B7F"/>
                </a:solidFill>
                <a:latin typeface="Malgun Gothic" pitchFamily="34" charset="0"/>
                <a:ea typeface="Malgun Gothic" pitchFamily="34" charset="-122"/>
                <a:cs typeface="Malgun Gothic" pitchFamily="34" charset="-120"/>
              </a:rPr>
              <a:t>1차 범위 밖 (2차 이후)</a:t>
            </a:r>
            <a:endParaRPr lang="en-US" sz="1100" dirty="0"/>
          </a:p>
        </p:txBody>
      </p:sp>
      <p:sp>
        <p:nvSpPr>
          <p:cNvPr id="14" name="Text 11"/>
          <p:cNvSpPr txBox="1"/>
          <p:nvPr/>
        </p:nvSpPr>
        <p:spPr>
          <a:xfrm>
            <a:off x="8321040" y="3730752"/>
            <a:ext cx="3246120" cy="914400"/>
          </a:xfrm>
          <a:prstGeom prst="rect">
            <a:avLst/>
          </a:prstGeom>
          <a:noFill/>
          <a:ln/>
        </p:spPr>
        <p:txBody>
          <a:bodyPr wrap="square" lIns="0" tIns="0" rIns="0" bIns="0" rtlCol="0" anchor="t"/>
          <a:lstStyle/>
          <a:p>
            <a:pPr marL="0" indent="0" algn="l">
              <a:buNone/>
            </a:pPr>
            <a:r>
              <a:rPr lang="en-US" sz="1150" dirty="0">
                <a:solidFill>
                  <a:srgbClr val="0A2540"/>
                </a:solidFill>
                <a:latin typeface="Malgun Gothic" pitchFamily="34" charset="0"/>
                <a:ea typeface="Malgun Gothic" pitchFamily="34" charset="-122"/>
                <a:cs typeface="Malgun Gothic" pitchFamily="34" charset="-120"/>
              </a:rPr>
              <a:t>· 항만 출차 이후 전국 도로 구간</a:t>
            </a:r>
            <a:endParaRPr lang="en-US" sz="1150" dirty="0"/>
          </a:p>
          <a:p>
            <a:pPr marL="0" indent="0" algn="l">
              <a:buNone/>
            </a:pPr>
            <a:r>
              <a:rPr lang="en-US" sz="1150" dirty="0">
                <a:solidFill>
                  <a:srgbClr val="0A2540"/>
                </a:solidFill>
                <a:latin typeface="Malgun Gothic" pitchFamily="34" charset="0"/>
                <a:ea typeface="Malgun Gothic" pitchFamily="34" charset="-122"/>
                <a:cs typeface="Malgun Gothic" pitchFamily="34" charset="-120"/>
              </a:rPr>
              <a:t>· </a:t>
            </a:r>
            <a:r>
              <a:rPr lang="en-US" sz="1150" dirty="0" err="1">
                <a:solidFill>
                  <a:srgbClr val="0A2540"/>
                </a:solidFill>
                <a:latin typeface="Malgun Gothic" pitchFamily="34" charset="0"/>
                <a:ea typeface="Malgun Gothic" pitchFamily="34" charset="-122"/>
                <a:cs typeface="Malgun Gothic" pitchFamily="34" charset="-120"/>
              </a:rPr>
              <a:t>실제</a:t>
            </a:r>
            <a:r>
              <a:rPr lang="en-US" sz="1150" dirty="0">
                <a:solidFill>
                  <a:srgbClr val="0A2540"/>
                </a:solidFill>
                <a:latin typeface="Malgun Gothic" pitchFamily="34" charset="0"/>
                <a:ea typeface="Malgun Gothic" pitchFamily="34" charset="-122"/>
                <a:cs typeface="Malgun Gothic" pitchFamily="34" charset="-120"/>
              </a:rPr>
              <a:t> </a:t>
            </a:r>
            <a:r>
              <a:rPr lang="ko-KR" altLang="en-US" sz="1150" dirty="0" err="1">
                <a:solidFill>
                  <a:srgbClr val="0A2540"/>
                </a:solidFill>
                <a:latin typeface="Malgun Gothic" pitchFamily="34" charset="0"/>
                <a:ea typeface="Malgun Gothic" pitchFamily="34" charset="-122"/>
                <a:cs typeface="Malgun Gothic" pitchFamily="34" charset="-120"/>
              </a:rPr>
              <a:t>축중</a:t>
            </a:r>
            <a:r>
              <a:rPr lang="en-US" sz="1150" dirty="0">
                <a:solidFill>
                  <a:srgbClr val="0A2540"/>
                </a:solidFill>
                <a:latin typeface="Malgun Gothic" pitchFamily="34" charset="0"/>
                <a:ea typeface="Malgun Gothic" pitchFamily="34" charset="-122"/>
                <a:cs typeface="Malgun Gothic" pitchFamily="34" charset="-120"/>
              </a:rPr>
              <a:t> 센서 · 카메라 연동</a:t>
            </a:r>
            <a:endParaRPr lang="en-US" sz="1150" dirty="0"/>
          </a:p>
          <a:p>
            <a:pPr marL="0" indent="0" algn="l">
              <a:buNone/>
            </a:pPr>
            <a:r>
              <a:rPr lang="en-US" sz="1150" dirty="0">
                <a:solidFill>
                  <a:srgbClr val="0A2540"/>
                </a:solidFill>
                <a:latin typeface="Malgun Gothic" pitchFamily="34" charset="0"/>
                <a:ea typeface="Malgun Gothic" pitchFamily="34" charset="-122"/>
                <a:cs typeface="Malgun Gothic" pitchFamily="34" charset="-120"/>
              </a:rPr>
              <a:t>  (시뮬레이터 · 폴더 감시로 대체)</a:t>
            </a:r>
            <a:endParaRPr lang="en-US" sz="1150" dirty="0"/>
          </a:p>
        </p:txBody>
      </p:sp>
      <p:sp>
        <p:nvSpPr>
          <p:cNvPr id="15" name="Shape 12"/>
          <p:cNvSpPr/>
          <p:nvPr/>
        </p:nvSpPr>
        <p:spPr>
          <a:xfrm>
            <a:off x="502920" y="5074920"/>
            <a:ext cx="2377440" cy="566928"/>
          </a:xfrm>
          <a:prstGeom prst="roundRect">
            <a:avLst>
              <a:gd name="adj" fmla="val 9677"/>
            </a:avLst>
          </a:prstGeom>
          <a:solidFill>
            <a:srgbClr val="0A2540"/>
          </a:solidFill>
          <a:ln w="12700">
            <a:solidFill>
              <a:srgbClr val="0A2540"/>
            </a:solidFill>
            <a:prstDash val="solid"/>
          </a:ln>
        </p:spPr>
      </p:sp>
      <p:sp>
        <p:nvSpPr>
          <p:cNvPr id="16" name="Text 13"/>
          <p:cNvSpPr txBox="1"/>
          <p:nvPr/>
        </p:nvSpPr>
        <p:spPr>
          <a:xfrm>
            <a:off x="502920" y="5074920"/>
            <a:ext cx="2377440" cy="566928"/>
          </a:xfrm>
          <a:prstGeom prst="rect">
            <a:avLst/>
          </a:prstGeom>
          <a:noFill/>
          <a:ln/>
        </p:spPr>
        <p:txBody>
          <a:bodyPr wrap="square" lIns="508" tIns="508" rIns="508" bIns="508"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GATE IN</a:t>
            </a:r>
            <a:endParaRPr lang="en-US" sz="1500" dirty="0"/>
          </a:p>
        </p:txBody>
      </p:sp>
      <p:sp>
        <p:nvSpPr>
          <p:cNvPr id="17" name="Shape 14"/>
          <p:cNvSpPr/>
          <p:nvPr/>
        </p:nvSpPr>
        <p:spPr>
          <a:xfrm>
            <a:off x="2926080" y="5358384"/>
            <a:ext cx="365760" cy="0"/>
          </a:xfrm>
          <a:prstGeom prst="line">
            <a:avLst/>
          </a:prstGeom>
          <a:noFill/>
          <a:ln w="25400">
            <a:solidFill>
              <a:srgbClr val="0A2540"/>
            </a:solidFill>
            <a:prstDash val="solid"/>
            <a:tailEnd type="triangle"/>
          </a:ln>
        </p:spPr>
      </p:sp>
      <p:sp>
        <p:nvSpPr>
          <p:cNvPr id="18" name="Shape 15"/>
          <p:cNvSpPr/>
          <p:nvPr/>
        </p:nvSpPr>
        <p:spPr>
          <a:xfrm>
            <a:off x="3337560" y="5074920"/>
            <a:ext cx="2377440" cy="566928"/>
          </a:xfrm>
          <a:prstGeom prst="roundRect">
            <a:avLst>
              <a:gd name="adj" fmla="val 9677"/>
            </a:avLst>
          </a:prstGeom>
          <a:solidFill>
            <a:srgbClr val="0A2540"/>
          </a:solidFill>
          <a:ln w="12700">
            <a:solidFill>
              <a:srgbClr val="0A2540"/>
            </a:solidFill>
            <a:prstDash val="solid"/>
          </a:ln>
        </p:spPr>
      </p:sp>
      <p:sp>
        <p:nvSpPr>
          <p:cNvPr id="19" name="Text 16"/>
          <p:cNvSpPr txBox="1"/>
          <p:nvPr/>
        </p:nvSpPr>
        <p:spPr>
          <a:xfrm>
            <a:off x="3337560" y="5074920"/>
            <a:ext cx="2377440" cy="566928"/>
          </a:xfrm>
          <a:prstGeom prst="rect">
            <a:avLst/>
          </a:prstGeom>
          <a:noFill/>
          <a:ln/>
        </p:spPr>
        <p:txBody>
          <a:bodyPr wrap="square" lIns="508" tIns="508" rIns="508" bIns="508"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적재소</a:t>
            </a:r>
            <a:endParaRPr lang="en-US" sz="1500" dirty="0"/>
          </a:p>
        </p:txBody>
      </p:sp>
      <p:sp>
        <p:nvSpPr>
          <p:cNvPr id="20" name="Shape 17"/>
          <p:cNvSpPr/>
          <p:nvPr/>
        </p:nvSpPr>
        <p:spPr>
          <a:xfrm>
            <a:off x="5760720" y="5358384"/>
            <a:ext cx="365760" cy="0"/>
          </a:xfrm>
          <a:prstGeom prst="line">
            <a:avLst/>
          </a:prstGeom>
          <a:noFill/>
          <a:ln w="25400">
            <a:solidFill>
              <a:srgbClr val="0A2540"/>
            </a:solidFill>
            <a:prstDash val="solid"/>
            <a:tailEnd type="triangle"/>
          </a:ln>
        </p:spPr>
      </p:sp>
      <p:sp>
        <p:nvSpPr>
          <p:cNvPr id="21" name="Shape 18"/>
          <p:cNvSpPr/>
          <p:nvPr/>
        </p:nvSpPr>
        <p:spPr>
          <a:xfrm>
            <a:off x="6172200" y="5074920"/>
            <a:ext cx="2377440" cy="566928"/>
          </a:xfrm>
          <a:prstGeom prst="roundRect">
            <a:avLst>
              <a:gd name="adj" fmla="val 9677"/>
            </a:avLst>
          </a:prstGeom>
          <a:solidFill>
            <a:srgbClr val="FF6B00"/>
          </a:solidFill>
          <a:ln w="12700">
            <a:solidFill>
              <a:srgbClr val="FF6B00"/>
            </a:solidFill>
            <a:prstDash val="solid"/>
          </a:ln>
        </p:spPr>
      </p:sp>
      <p:sp>
        <p:nvSpPr>
          <p:cNvPr id="22" name="Text 19"/>
          <p:cNvSpPr txBox="1"/>
          <p:nvPr/>
        </p:nvSpPr>
        <p:spPr>
          <a:xfrm>
            <a:off x="6172200" y="5074920"/>
            <a:ext cx="2377440" cy="566928"/>
          </a:xfrm>
          <a:prstGeom prst="rect">
            <a:avLst/>
          </a:prstGeom>
          <a:noFill/>
          <a:ln/>
        </p:spPr>
        <p:txBody>
          <a:bodyPr wrap="square" lIns="508" tIns="508" rIns="508" bIns="508"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검사소</a:t>
            </a:r>
            <a:endParaRPr lang="en-US" sz="1500" dirty="0"/>
          </a:p>
        </p:txBody>
      </p:sp>
      <p:sp>
        <p:nvSpPr>
          <p:cNvPr id="23" name="Shape 20"/>
          <p:cNvSpPr/>
          <p:nvPr/>
        </p:nvSpPr>
        <p:spPr>
          <a:xfrm>
            <a:off x="8595360" y="5358384"/>
            <a:ext cx="365760" cy="0"/>
          </a:xfrm>
          <a:prstGeom prst="line">
            <a:avLst/>
          </a:prstGeom>
          <a:noFill/>
          <a:ln w="25400">
            <a:solidFill>
              <a:srgbClr val="0A2540"/>
            </a:solidFill>
            <a:prstDash val="solid"/>
            <a:tailEnd type="triangle"/>
          </a:ln>
        </p:spPr>
      </p:sp>
      <p:sp>
        <p:nvSpPr>
          <p:cNvPr id="24" name="Shape 21"/>
          <p:cNvSpPr/>
          <p:nvPr/>
        </p:nvSpPr>
        <p:spPr>
          <a:xfrm>
            <a:off x="9006840" y="5074920"/>
            <a:ext cx="2377440" cy="566928"/>
          </a:xfrm>
          <a:prstGeom prst="roundRect">
            <a:avLst>
              <a:gd name="adj" fmla="val 9677"/>
            </a:avLst>
          </a:prstGeom>
          <a:solidFill>
            <a:srgbClr val="0A2540"/>
          </a:solidFill>
          <a:ln w="12700">
            <a:solidFill>
              <a:srgbClr val="0A2540"/>
            </a:solidFill>
            <a:prstDash val="solid"/>
          </a:ln>
        </p:spPr>
      </p:sp>
      <p:sp>
        <p:nvSpPr>
          <p:cNvPr id="25" name="Text 22"/>
          <p:cNvSpPr txBox="1"/>
          <p:nvPr/>
        </p:nvSpPr>
        <p:spPr>
          <a:xfrm>
            <a:off x="9006840" y="5074920"/>
            <a:ext cx="2377440" cy="566928"/>
          </a:xfrm>
          <a:prstGeom prst="rect">
            <a:avLst/>
          </a:prstGeom>
          <a:noFill/>
          <a:ln/>
        </p:spPr>
        <p:txBody>
          <a:bodyPr wrap="square" lIns="508" tIns="508" rIns="508" bIns="508"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GATE OUT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A2540"/>
        </a:solidFill>
        <a:effectLst/>
      </p:bgPr>
    </p:bg>
    <p:spTree>
      <p:nvGrpSpPr>
        <p:cNvPr id="1" name=""/>
        <p:cNvGrpSpPr/>
        <p:nvPr/>
      </p:nvGrpSpPr>
      <p:grpSpPr>
        <a:xfrm>
          <a:off x="0" y="0"/>
          <a:ext cx="0" cy="0"/>
          <a:chOff x="0" y="0"/>
          <a:chExt cx="0" cy="0"/>
        </a:xfrm>
      </p:grpSpPr>
      <p:pic>
        <p:nvPicPr>
          <p:cNvPr id="2" name="Image 0" descr="/home/claude/v3/img/end_bg.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822960" y="2377440"/>
            <a:ext cx="2743200" cy="822960"/>
          </a:xfrm>
          <a:prstGeom prst="rect">
            <a:avLst/>
          </a:prstGeom>
          <a:noFill/>
          <a:ln/>
        </p:spPr>
        <p:txBody>
          <a:bodyPr wrap="square" lIns="0" tIns="0" rIns="0" bIns="0" rtlCol="0" anchor="ctr"/>
          <a:lstStyle/>
          <a:p>
            <a:pPr marL="0" indent="0" algn="l">
              <a:buNone/>
            </a:pPr>
            <a:r>
              <a:rPr lang="en-US" sz="4800" b="1" dirty="0">
                <a:solidFill>
                  <a:srgbClr val="FF6B00"/>
                </a:solidFill>
                <a:latin typeface="Malgun Gothic" pitchFamily="34" charset="0"/>
                <a:ea typeface="Malgun Gothic" pitchFamily="34" charset="-122"/>
                <a:cs typeface="Malgun Gothic" pitchFamily="34" charset="-120"/>
              </a:rPr>
              <a:t>02</a:t>
            </a:r>
            <a:endParaRPr lang="en-US" sz="4800" dirty="0"/>
          </a:p>
        </p:txBody>
      </p:sp>
      <p:sp>
        <p:nvSpPr>
          <p:cNvPr id="4" name="Text 1"/>
          <p:cNvSpPr txBox="1"/>
          <p:nvPr/>
        </p:nvSpPr>
        <p:spPr>
          <a:xfrm>
            <a:off x="822960" y="3200400"/>
            <a:ext cx="10058400"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Malgun Gothic" pitchFamily="34" charset="0"/>
                <a:ea typeface="Malgun Gothic" pitchFamily="34" charset="-122"/>
                <a:cs typeface="Malgun Gothic" pitchFamily="34" charset="-120"/>
              </a:rPr>
              <a:t>시스템 구성</a:t>
            </a:r>
            <a:endParaRPr lang="en-US" sz="3600" dirty="0"/>
          </a:p>
        </p:txBody>
      </p:sp>
      <p:sp>
        <p:nvSpPr>
          <p:cNvPr id="5" name="Text 2"/>
          <p:cNvSpPr txBox="1"/>
          <p:nvPr/>
        </p:nvSpPr>
        <p:spPr>
          <a:xfrm>
            <a:off x="822960" y="3931920"/>
            <a:ext cx="10058400" cy="365760"/>
          </a:xfrm>
          <a:prstGeom prst="rect">
            <a:avLst/>
          </a:prstGeom>
          <a:noFill/>
          <a:ln/>
        </p:spPr>
        <p:txBody>
          <a:bodyPr wrap="square" lIns="0" tIns="0" rIns="0" bIns="0" rtlCol="0" anchor="ctr"/>
          <a:lstStyle/>
          <a:p>
            <a:pPr marL="0" indent="0" algn="l">
              <a:buNone/>
            </a:pPr>
            <a:r>
              <a:rPr lang="en-US" sz="1400" dirty="0">
                <a:solidFill>
                  <a:srgbClr val="C9D6E3"/>
                </a:solidFill>
                <a:latin typeface="Malgun Gothic" pitchFamily="34" charset="0"/>
                <a:ea typeface="Malgun Gothic" pitchFamily="34" charset="-122"/>
                <a:cs typeface="Malgun Gothic" pitchFamily="34" charset="-120"/>
              </a:rPr>
              <a:t>아키텍처 · 기술 </a:t>
            </a:r>
            <a:r>
              <a:rPr lang="en-US" sz="1400" dirty="0" err="1">
                <a:solidFill>
                  <a:srgbClr val="C9D6E3"/>
                </a:solidFill>
                <a:latin typeface="Malgun Gothic" pitchFamily="34" charset="0"/>
                <a:ea typeface="Malgun Gothic" pitchFamily="34" charset="-122"/>
                <a:cs typeface="Malgun Gothic" pitchFamily="34" charset="-120"/>
              </a:rPr>
              <a:t>스택</a:t>
            </a:r>
            <a:r>
              <a:rPr lang="en-US" sz="1400" dirty="0">
                <a:solidFill>
                  <a:srgbClr val="C9D6E3"/>
                </a:solidFill>
                <a:latin typeface="Malgun Gothic" pitchFamily="34" charset="0"/>
                <a:ea typeface="Malgun Gothic" pitchFamily="34" charset="-122"/>
                <a:cs typeface="Malgun Gothic" pitchFamily="34" charset="-120"/>
              </a:rPr>
              <a:t> · 사용자 권한</a:t>
            </a:r>
            <a:endParaRPr lang="en-US" sz="1400" dirty="0"/>
          </a:p>
        </p:txBody>
      </p:sp>
      <p:sp>
        <p:nvSpPr>
          <p:cNvPr id="6" name="Shape 3"/>
          <p:cNvSpPr/>
          <p:nvPr/>
        </p:nvSpPr>
        <p:spPr>
          <a:xfrm>
            <a:off x="822960" y="4526280"/>
            <a:ext cx="2011680" cy="0"/>
          </a:xfrm>
          <a:prstGeom prst="line">
            <a:avLst/>
          </a:prstGeom>
          <a:noFill/>
          <a:ln w="38100">
            <a:solidFill>
              <a:srgbClr val="FF6B00"/>
            </a:solidFill>
            <a:prstDash val="solid"/>
          </a:ln>
        </p:spPr>
      </p:sp>
      <p:sp>
        <p:nvSpPr>
          <p:cNvPr id="7" name="Text 4"/>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8FA3BA"/>
                </a:solidFill>
                <a:latin typeface="Malgun Gothic" pitchFamily="34" charset="0"/>
                <a:ea typeface="Malgun Gothic" pitchFamily="34" charset="-122"/>
                <a:cs typeface="Malgun Gothic" pitchFamily="34" charset="-120"/>
              </a:rPr>
              <a:t>S Cargo  ·  못먹어도 S카고</a:t>
            </a:r>
            <a:endParaRPr lang="en-US" sz="900" dirty="0"/>
          </a:p>
        </p:txBody>
      </p:sp>
      <p:sp>
        <p:nvSpPr>
          <p:cNvPr id="8" name="Text 5"/>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ko-KR" altLang="en-US" sz="900" dirty="0">
                <a:solidFill>
                  <a:srgbClr val="8FA3BA"/>
                </a:solidFill>
                <a:latin typeface="Malgun Gothic" pitchFamily="34" charset="0"/>
                <a:ea typeface="Malgun Gothic" pitchFamily="34" charset="-122"/>
              </a:rPr>
              <a:t>７</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Malgun Gothic" pitchFamily="34" charset="0"/>
                <a:ea typeface="Malgun Gothic" pitchFamily="34" charset="-122"/>
                <a:cs typeface="Malgun Gothic" pitchFamily="34" charset="-120"/>
              </a:rPr>
              <a:t>02  시스템 구성</a:t>
            </a:r>
            <a:endParaRPr lang="en-US" sz="1100" dirty="0"/>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Malgun Gothic" pitchFamily="34" charset="0"/>
                <a:ea typeface="Malgun Gothic" pitchFamily="34" charset="-122"/>
                <a:cs typeface="Malgun Gothic" pitchFamily="34" charset="-120"/>
              </a:rPr>
              <a:t>시스템 아키텍처</a:t>
            </a:r>
            <a:endParaRPr lang="en-US" sz="2600" dirty="0"/>
          </a:p>
        </p:txBody>
      </p:sp>
      <p:sp>
        <p:nvSpPr>
          <p:cNvPr id="4" name="Text 2"/>
          <p:cNvSpPr txBox="1"/>
          <p:nvPr/>
        </p:nvSpPr>
        <p:spPr>
          <a:xfrm>
            <a:off x="548640" y="1143000"/>
            <a:ext cx="10972800" cy="320040"/>
          </a:xfrm>
          <a:prstGeom prst="rect">
            <a:avLst/>
          </a:prstGeom>
          <a:noFill/>
          <a:ln/>
        </p:spPr>
        <p:txBody>
          <a:bodyPr wrap="square" lIns="0" tIns="0" rIns="0" bIns="0" rtlCol="0" anchor="ctr"/>
          <a:lstStyle/>
          <a:p>
            <a:pPr marL="0" indent="0" algn="l">
              <a:buNone/>
            </a:pPr>
            <a:r>
              <a:rPr lang="en-US" sz="1300" dirty="0">
                <a:solidFill>
                  <a:srgbClr val="5B6B7F"/>
                </a:solidFill>
                <a:latin typeface="Malgun Gothic" pitchFamily="34" charset="0"/>
                <a:ea typeface="Malgun Gothic" pitchFamily="34" charset="-122"/>
                <a:cs typeface="Malgun Gothic" pitchFamily="34" charset="-120"/>
              </a:rPr>
              <a:t>인식은 Python 서버, 업무 로직과 데이터는 Spring Boot가 담당합니다</a:t>
            </a:r>
            <a:endParaRPr lang="en-US" sz="1300" dirty="0"/>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Malgun Gothic" pitchFamily="34" charset="0"/>
                <a:ea typeface="Malgun Gothic" pitchFamily="34" charset="-122"/>
                <a:cs typeface="Malgun Gothic" pitchFamily="34" charset="-120"/>
              </a:rPr>
              <a:t>S Cargo  ·  못먹어도 S카고</a:t>
            </a:r>
            <a:endParaRPr lang="en-US" sz="900" dirty="0"/>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ko-KR" altLang="en-US" sz="900" dirty="0">
                <a:solidFill>
                  <a:srgbClr val="9AA8B8"/>
                </a:solidFill>
                <a:latin typeface="Malgun Gothic" pitchFamily="34" charset="0"/>
                <a:ea typeface="Malgun Gothic" pitchFamily="34" charset="-122"/>
              </a:rPr>
              <a:t>８</a:t>
            </a:r>
            <a:endParaRPr lang="en-US" sz="900" dirty="0"/>
          </a:p>
        </p:txBody>
      </p:sp>
      <p:sp>
        <p:nvSpPr>
          <p:cNvPr id="7" name="Shape 5"/>
          <p:cNvSpPr/>
          <p:nvPr/>
        </p:nvSpPr>
        <p:spPr>
          <a:xfrm>
            <a:off x="502920" y="1645920"/>
            <a:ext cx="2286000" cy="1508760"/>
          </a:xfrm>
          <a:prstGeom prst="roundRect">
            <a:avLst>
              <a:gd name="adj" fmla="val 3636"/>
            </a:avLst>
          </a:prstGeom>
          <a:solidFill>
            <a:srgbClr val="FFFFFF"/>
          </a:solidFill>
          <a:ln w="15875">
            <a:solidFill>
              <a:srgbClr val="DCE3EA"/>
            </a:solidFill>
            <a:prstDash val="solid"/>
          </a:ln>
        </p:spPr>
      </p:sp>
      <p:sp>
        <p:nvSpPr>
          <p:cNvPr id="8" name="Text 6"/>
          <p:cNvSpPr txBox="1"/>
          <p:nvPr/>
        </p:nvSpPr>
        <p:spPr>
          <a:xfrm>
            <a:off x="640080" y="1737360"/>
            <a:ext cx="2011680" cy="347472"/>
          </a:xfrm>
          <a:prstGeom prst="rect">
            <a:avLst/>
          </a:prstGeom>
          <a:noFill/>
          <a:ln/>
        </p:spPr>
        <p:txBody>
          <a:bodyPr wrap="square" lIns="0" tIns="0" rIns="0" bIns="0" rtlCol="0" anchor="ctr"/>
          <a:lstStyle/>
          <a:p>
            <a:pPr marL="0" indent="0" algn="l">
              <a:buNone/>
            </a:pPr>
            <a:r>
              <a:rPr lang="en-US" sz="1500" b="1" dirty="0">
                <a:solidFill>
                  <a:srgbClr val="0A2540"/>
                </a:solidFill>
                <a:latin typeface="Malgun Gothic" pitchFamily="34" charset="0"/>
                <a:ea typeface="Malgun Gothic" pitchFamily="34" charset="-122"/>
                <a:cs typeface="Malgun Gothic" pitchFamily="34" charset="-120"/>
              </a:rPr>
              <a:t>카메라 이미지</a:t>
            </a:r>
            <a:endParaRPr lang="en-US" sz="1500" dirty="0"/>
          </a:p>
        </p:txBody>
      </p:sp>
      <p:sp>
        <p:nvSpPr>
          <p:cNvPr id="9" name="Text 7"/>
          <p:cNvSpPr txBox="1"/>
          <p:nvPr/>
        </p:nvSpPr>
        <p:spPr>
          <a:xfrm>
            <a:off x="640080" y="2103120"/>
            <a:ext cx="2011680" cy="1005840"/>
          </a:xfrm>
          <a:prstGeom prst="rect">
            <a:avLst/>
          </a:prstGeom>
          <a:noFill/>
          <a:ln/>
        </p:spPr>
        <p:txBody>
          <a:bodyPr wrap="square" lIns="0" tIns="0" rIns="0" bIns="0" rtlCol="0" anchor="t"/>
          <a:lstStyle/>
          <a:p>
            <a:pPr marL="0" indent="0" algn="l">
              <a:lnSpc>
                <a:spcPct val="115000"/>
              </a:lnSpc>
              <a:buNone/>
            </a:pPr>
            <a:r>
              <a:rPr lang="en-US" sz="1150" dirty="0">
                <a:solidFill>
                  <a:srgbClr val="5B6B7F"/>
                </a:solidFill>
                <a:latin typeface="Malgun Gothic" pitchFamily="34" charset="0"/>
                <a:ea typeface="Malgun Gothic" pitchFamily="34" charset="-122"/>
                <a:cs typeface="Malgun Gothic" pitchFamily="34" charset="-120"/>
              </a:rPr>
              <a:t>게이트 · 검사소</a:t>
            </a:r>
            <a:endParaRPr lang="en-US" sz="1150" dirty="0"/>
          </a:p>
          <a:p>
            <a:pPr marL="0" indent="0" algn="l">
              <a:lnSpc>
                <a:spcPct val="115000"/>
              </a:lnSpc>
              <a:buNone/>
            </a:pPr>
            <a:r>
              <a:rPr lang="en-US" sz="1150" dirty="0" err="1">
                <a:solidFill>
                  <a:srgbClr val="5B6B7F"/>
                </a:solidFill>
                <a:latin typeface="Malgun Gothic" pitchFamily="34" charset="0"/>
                <a:ea typeface="Malgun Gothic" pitchFamily="34" charset="-122"/>
                <a:cs typeface="Malgun Gothic" pitchFamily="34" charset="-120"/>
              </a:rPr>
              <a:t>번호판</a:t>
            </a:r>
            <a:r>
              <a:rPr lang="en-US" sz="1150" dirty="0">
                <a:solidFill>
                  <a:srgbClr val="5B6B7F"/>
                </a:solidFill>
                <a:latin typeface="Malgun Gothic" pitchFamily="34" charset="0"/>
                <a:ea typeface="Malgun Gothic" pitchFamily="34" charset="-122"/>
                <a:cs typeface="Malgun Gothic" pitchFamily="34" charset="-120"/>
              </a:rPr>
              <a:t> 촬</a:t>
            </a:r>
            <a:r>
              <a:rPr lang="ko-KR" altLang="en-US" sz="1150" dirty="0">
                <a:solidFill>
                  <a:srgbClr val="5B6B7F"/>
                </a:solidFill>
                <a:latin typeface="Malgun Gothic" pitchFamily="34" charset="0"/>
                <a:ea typeface="Malgun Gothic" pitchFamily="34" charset="-122"/>
                <a:cs typeface="Malgun Gothic" pitchFamily="34" charset="-120"/>
              </a:rPr>
              <a:t>영</a:t>
            </a:r>
            <a:endParaRPr lang="en-US" sz="1150" dirty="0"/>
          </a:p>
        </p:txBody>
      </p:sp>
      <p:sp>
        <p:nvSpPr>
          <p:cNvPr id="10" name="Shape 8"/>
          <p:cNvSpPr/>
          <p:nvPr/>
        </p:nvSpPr>
        <p:spPr>
          <a:xfrm>
            <a:off x="3246120" y="1645920"/>
            <a:ext cx="2651760" cy="1508760"/>
          </a:xfrm>
          <a:prstGeom prst="roundRect">
            <a:avLst>
              <a:gd name="adj" fmla="val 3636"/>
            </a:avLst>
          </a:prstGeom>
          <a:solidFill>
            <a:srgbClr val="FFFFFF"/>
          </a:solidFill>
          <a:ln w="15875">
            <a:solidFill>
              <a:srgbClr val="DCE3EA"/>
            </a:solidFill>
            <a:prstDash val="solid"/>
          </a:ln>
        </p:spPr>
      </p:sp>
      <p:sp>
        <p:nvSpPr>
          <p:cNvPr id="11" name="Text 9"/>
          <p:cNvSpPr txBox="1"/>
          <p:nvPr/>
        </p:nvSpPr>
        <p:spPr>
          <a:xfrm>
            <a:off x="3383280" y="1737360"/>
            <a:ext cx="2377440" cy="347472"/>
          </a:xfrm>
          <a:prstGeom prst="rect">
            <a:avLst/>
          </a:prstGeom>
          <a:noFill/>
          <a:ln/>
        </p:spPr>
        <p:txBody>
          <a:bodyPr wrap="square" lIns="0" tIns="0" rIns="0" bIns="0" rtlCol="0" anchor="ctr"/>
          <a:lstStyle/>
          <a:p>
            <a:pPr marL="0" indent="0" algn="l">
              <a:buNone/>
            </a:pPr>
            <a:r>
              <a:rPr lang="en-US" sz="1500" b="1" dirty="0">
                <a:solidFill>
                  <a:srgbClr val="0A2540"/>
                </a:solidFill>
                <a:latin typeface="Malgun Gothic" pitchFamily="34" charset="0"/>
                <a:ea typeface="Malgun Gothic" pitchFamily="34" charset="-122"/>
                <a:cs typeface="Malgun Gothic" pitchFamily="34" charset="-120"/>
              </a:rPr>
              <a:t>인식 서버</a:t>
            </a:r>
            <a:endParaRPr lang="en-US" sz="1500" dirty="0"/>
          </a:p>
        </p:txBody>
      </p:sp>
      <p:sp>
        <p:nvSpPr>
          <p:cNvPr id="12" name="Text 10"/>
          <p:cNvSpPr txBox="1"/>
          <p:nvPr/>
        </p:nvSpPr>
        <p:spPr>
          <a:xfrm>
            <a:off x="3383280" y="2103120"/>
            <a:ext cx="2377440" cy="1005840"/>
          </a:xfrm>
          <a:prstGeom prst="rect">
            <a:avLst/>
          </a:prstGeom>
          <a:noFill/>
          <a:ln/>
        </p:spPr>
        <p:txBody>
          <a:bodyPr wrap="square" lIns="0" tIns="0" rIns="0" bIns="0" rtlCol="0" anchor="t"/>
          <a:lstStyle/>
          <a:p>
            <a:pPr marL="0" indent="0" algn="l">
              <a:lnSpc>
                <a:spcPct val="115000"/>
              </a:lnSpc>
              <a:buNone/>
            </a:pPr>
            <a:r>
              <a:rPr lang="en-US" sz="1150" dirty="0">
                <a:solidFill>
                  <a:srgbClr val="5B6B7F"/>
                </a:solidFill>
                <a:latin typeface="Malgun Gothic" pitchFamily="34" charset="0"/>
                <a:ea typeface="Malgun Gothic" pitchFamily="34" charset="-122"/>
                <a:cs typeface="Malgun Gothic" pitchFamily="34" charset="-120"/>
              </a:rPr>
              <a:t>Python · FastAPI</a:t>
            </a:r>
            <a:endParaRPr lang="en-US" sz="1150" dirty="0"/>
          </a:p>
          <a:p>
            <a:pPr marL="0" indent="0" algn="l">
              <a:lnSpc>
                <a:spcPct val="115000"/>
              </a:lnSpc>
              <a:buNone/>
            </a:pPr>
            <a:r>
              <a:rPr lang="en-US" sz="1150" dirty="0">
                <a:solidFill>
                  <a:srgbClr val="5B6B7F"/>
                </a:solidFill>
                <a:latin typeface="Malgun Gothic" pitchFamily="34" charset="0"/>
                <a:ea typeface="Malgun Gothic" pitchFamily="34" charset="-122"/>
                <a:cs typeface="Malgun Gothic" pitchFamily="34" charset="-120"/>
              </a:rPr>
              <a:t>YOLO11 탐지 + CRNN </a:t>
            </a:r>
            <a:r>
              <a:rPr lang="en-US" sz="1150" dirty="0" err="1">
                <a:solidFill>
                  <a:srgbClr val="5B6B7F"/>
                </a:solidFill>
                <a:latin typeface="Malgun Gothic" pitchFamily="34" charset="0"/>
                <a:ea typeface="Malgun Gothic" pitchFamily="34" charset="-122"/>
                <a:cs typeface="Malgun Gothic" pitchFamily="34" charset="-120"/>
              </a:rPr>
              <a:t>인식</a:t>
            </a:r>
            <a:r>
              <a:rPr lang="en-US" sz="1150" dirty="0">
                <a:solidFill>
                  <a:srgbClr val="5B6B7F"/>
                </a:solidFill>
                <a:latin typeface="Malgun Gothic" pitchFamily="34" charset="0"/>
                <a:ea typeface="Malgun Gothic" pitchFamily="34" charset="-122"/>
                <a:cs typeface="Malgun Gothic" pitchFamily="34" charset="-120"/>
              </a:rPr>
              <a:t> </a:t>
            </a:r>
            <a:br>
              <a:rPr lang="en-US" sz="1150" dirty="0">
                <a:solidFill>
                  <a:srgbClr val="5B6B7F"/>
                </a:solidFill>
                <a:latin typeface="Malgun Gothic" pitchFamily="34" charset="0"/>
                <a:ea typeface="Malgun Gothic" pitchFamily="34" charset="-122"/>
                <a:cs typeface="Malgun Gothic" pitchFamily="34" charset="-120"/>
              </a:rPr>
            </a:br>
            <a:r>
              <a:rPr lang="en-US" sz="1150" dirty="0">
                <a:solidFill>
                  <a:srgbClr val="5B6B7F"/>
                </a:solidFill>
                <a:latin typeface="Malgun Gothic" pitchFamily="34" charset="0"/>
                <a:ea typeface="Malgun Gothic" pitchFamily="34" charset="-122"/>
                <a:cs typeface="Malgun Gothic" pitchFamily="34" charset="-120"/>
              </a:rPr>
              <a:t>Easy</a:t>
            </a:r>
            <a:r>
              <a:rPr lang="ko-KR" altLang="en-US" sz="1150" dirty="0">
                <a:solidFill>
                  <a:srgbClr val="5B6B7F"/>
                </a:solidFill>
                <a:latin typeface="Malgun Gothic" pitchFamily="34" charset="0"/>
                <a:ea typeface="Malgun Gothic" pitchFamily="34" charset="-122"/>
                <a:cs typeface="Malgun Gothic" pitchFamily="34" charset="-120"/>
              </a:rPr>
              <a:t> </a:t>
            </a:r>
            <a:r>
              <a:rPr lang="en-US" altLang="ko-KR" sz="1150" dirty="0">
                <a:solidFill>
                  <a:srgbClr val="5B6B7F"/>
                </a:solidFill>
                <a:latin typeface="Malgun Gothic" pitchFamily="34" charset="0"/>
                <a:ea typeface="Malgun Gothic" pitchFamily="34" charset="-122"/>
                <a:cs typeface="Malgun Gothic" pitchFamily="34" charset="-120"/>
              </a:rPr>
              <a:t>OCR</a:t>
            </a:r>
            <a:endParaRPr lang="en-US" sz="1150" dirty="0"/>
          </a:p>
          <a:p>
            <a:pPr marL="0" indent="0" algn="l">
              <a:lnSpc>
                <a:spcPct val="115000"/>
              </a:lnSpc>
              <a:buNone/>
            </a:pPr>
            <a:r>
              <a:rPr lang="ko-KR" altLang="en-US" sz="1150" dirty="0">
                <a:solidFill>
                  <a:srgbClr val="5B6B7F"/>
                </a:solidFill>
                <a:latin typeface="Malgun Gothic" pitchFamily="34" charset="0"/>
                <a:ea typeface="Malgun Gothic" pitchFamily="34" charset="-122"/>
                <a:cs typeface="Malgun Gothic" pitchFamily="34" charset="-120"/>
              </a:rPr>
              <a:t>사진 기반 차량번호 인식</a:t>
            </a:r>
            <a:endParaRPr lang="en-US" sz="1150" dirty="0"/>
          </a:p>
        </p:txBody>
      </p:sp>
      <p:sp>
        <p:nvSpPr>
          <p:cNvPr id="13" name="Shape 11"/>
          <p:cNvSpPr/>
          <p:nvPr/>
        </p:nvSpPr>
        <p:spPr>
          <a:xfrm>
            <a:off x="6446520" y="1645920"/>
            <a:ext cx="2651760" cy="1508760"/>
          </a:xfrm>
          <a:prstGeom prst="roundRect">
            <a:avLst>
              <a:gd name="adj" fmla="val 3636"/>
            </a:avLst>
          </a:prstGeom>
          <a:solidFill>
            <a:srgbClr val="0A2540"/>
          </a:solidFill>
          <a:ln w="15875">
            <a:solidFill>
              <a:srgbClr val="0A2540"/>
            </a:solidFill>
            <a:prstDash val="solid"/>
          </a:ln>
        </p:spPr>
      </p:sp>
      <p:sp>
        <p:nvSpPr>
          <p:cNvPr id="14" name="Text 12"/>
          <p:cNvSpPr txBox="1"/>
          <p:nvPr/>
        </p:nvSpPr>
        <p:spPr>
          <a:xfrm>
            <a:off x="6583680" y="1737360"/>
            <a:ext cx="2377440" cy="347472"/>
          </a:xfrm>
          <a:prstGeom prst="rect">
            <a:avLst/>
          </a:prstGeom>
          <a:noFill/>
          <a:ln/>
        </p:spPr>
        <p:txBody>
          <a:bodyPr wrap="square" lIns="0" tIns="0" rIns="0" bIns="0" rtlCol="0" anchor="ctr"/>
          <a:lstStyle/>
          <a:p>
            <a:pPr marL="0" indent="0" algn="l">
              <a:buNone/>
            </a:pPr>
            <a:r>
              <a:rPr lang="en-US" sz="1500" b="1" dirty="0">
                <a:solidFill>
                  <a:srgbClr val="FFFFFF"/>
                </a:solidFill>
                <a:latin typeface="Malgun Gothic" pitchFamily="34" charset="0"/>
                <a:ea typeface="Malgun Gothic" pitchFamily="34" charset="-122"/>
                <a:cs typeface="Malgun Gothic" pitchFamily="34" charset="-120"/>
              </a:rPr>
              <a:t>API 서버</a:t>
            </a:r>
            <a:endParaRPr lang="en-US" sz="1500" dirty="0"/>
          </a:p>
        </p:txBody>
      </p:sp>
      <p:sp>
        <p:nvSpPr>
          <p:cNvPr id="15" name="Text 13"/>
          <p:cNvSpPr txBox="1"/>
          <p:nvPr/>
        </p:nvSpPr>
        <p:spPr>
          <a:xfrm>
            <a:off x="6583680" y="2103120"/>
            <a:ext cx="2377440" cy="1005840"/>
          </a:xfrm>
          <a:prstGeom prst="rect">
            <a:avLst/>
          </a:prstGeom>
          <a:noFill/>
          <a:ln/>
        </p:spPr>
        <p:txBody>
          <a:bodyPr wrap="square" lIns="0" tIns="0" rIns="0" bIns="0" rtlCol="0" anchor="t"/>
          <a:lstStyle/>
          <a:p>
            <a:pPr marL="0" indent="0" algn="l">
              <a:lnSpc>
                <a:spcPct val="115000"/>
              </a:lnSpc>
              <a:buNone/>
            </a:pPr>
            <a:r>
              <a:rPr lang="en-US" sz="1150" dirty="0">
                <a:solidFill>
                  <a:srgbClr val="C9D4E0"/>
                </a:solidFill>
                <a:latin typeface="Malgun Gothic" pitchFamily="34" charset="0"/>
                <a:ea typeface="Malgun Gothic" pitchFamily="34" charset="-122"/>
                <a:cs typeface="Malgun Gothic" pitchFamily="34" charset="-120"/>
              </a:rPr>
              <a:t>Spring Boot 3.3</a:t>
            </a:r>
            <a:endParaRPr lang="en-US" sz="1150" dirty="0"/>
          </a:p>
          <a:p>
            <a:pPr marL="0" indent="0" algn="l">
              <a:lnSpc>
                <a:spcPct val="115000"/>
              </a:lnSpc>
              <a:buNone/>
            </a:pPr>
            <a:r>
              <a:rPr lang="en-US" sz="1150" dirty="0">
                <a:solidFill>
                  <a:srgbClr val="C9D4E0"/>
                </a:solidFill>
                <a:latin typeface="Malgun Gothic" pitchFamily="34" charset="0"/>
                <a:ea typeface="Malgun Gothic" pitchFamily="34" charset="-122"/>
                <a:cs typeface="Malgun Gothic" pitchFamily="34" charset="-120"/>
              </a:rPr>
              <a:t>Security · JPA · QueryDSL</a:t>
            </a:r>
            <a:endParaRPr lang="en-US" sz="1150" dirty="0"/>
          </a:p>
          <a:p>
            <a:pPr marL="0" indent="0" algn="l">
              <a:lnSpc>
                <a:spcPct val="115000"/>
              </a:lnSpc>
              <a:buNone/>
            </a:pPr>
            <a:r>
              <a:rPr lang="en-US" sz="1150" dirty="0">
                <a:solidFill>
                  <a:srgbClr val="C9D4E0"/>
                </a:solidFill>
                <a:latin typeface="Malgun Gothic" pitchFamily="34" charset="0"/>
                <a:ea typeface="Malgun Gothic" pitchFamily="34" charset="-122"/>
                <a:cs typeface="Malgun Gothic" pitchFamily="34" charset="-120"/>
              </a:rPr>
              <a:t>차량 상태 워크플로우</a:t>
            </a:r>
            <a:endParaRPr lang="en-US" sz="1150" dirty="0"/>
          </a:p>
        </p:txBody>
      </p:sp>
      <p:sp>
        <p:nvSpPr>
          <p:cNvPr id="16" name="Shape 14"/>
          <p:cNvSpPr/>
          <p:nvPr/>
        </p:nvSpPr>
        <p:spPr>
          <a:xfrm>
            <a:off x="9555480" y="1645920"/>
            <a:ext cx="2148840" cy="1508760"/>
          </a:xfrm>
          <a:prstGeom prst="roundRect">
            <a:avLst>
              <a:gd name="adj" fmla="val 3636"/>
            </a:avLst>
          </a:prstGeom>
          <a:solidFill>
            <a:srgbClr val="FFFFFF"/>
          </a:solidFill>
          <a:ln w="15875">
            <a:solidFill>
              <a:srgbClr val="DCE3EA"/>
            </a:solidFill>
            <a:prstDash val="solid"/>
          </a:ln>
        </p:spPr>
      </p:sp>
      <p:sp>
        <p:nvSpPr>
          <p:cNvPr id="17" name="Text 15"/>
          <p:cNvSpPr txBox="1"/>
          <p:nvPr/>
        </p:nvSpPr>
        <p:spPr>
          <a:xfrm>
            <a:off x="9692640" y="1737360"/>
            <a:ext cx="1874520" cy="347472"/>
          </a:xfrm>
          <a:prstGeom prst="rect">
            <a:avLst/>
          </a:prstGeom>
          <a:noFill/>
          <a:ln/>
        </p:spPr>
        <p:txBody>
          <a:bodyPr wrap="square" lIns="0" tIns="0" rIns="0" bIns="0" rtlCol="0" anchor="ctr"/>
          <a:lstStyle/>
          <a:p>
            <a:pPr marL="0" indent="0" algn="l">
              <a:buNone/>
            </a:pPr>
            <a:r>
              <a:rPr lang="en-US" sz="1500" b="1" dirty="0">
                <a:solidFill>
                  <a:srgbClr val="0A2540"/>
                </a:solidFill>
                <a:latin typeface="Malgun Gothic" pitchFamily="34" charset="0"/>
                <a:ea typeface="Malgun Gothic" pitchFamily="34" charset="-122"/>
                <a:cs typeface="Malgun Gothic" pitchFamily="34" charset="-120"/>
              </a:rPr>
              <a:t>DB</a:t>
            </a:r>
            <a:endParaRPr lang="en-US" sz="1500" dirty="0"/>
          </a:p>
        </p:txBody>
      </p:sp>
      <p:sp>
        <p:nvSpPr>
          <p:cNvPr id="18" name="Text 16"/>
          <p:cNvSpPr txBox="1"/>
          <p:nvPr/>
        </p:nvSpPr>
        <p:spPr>
          <a:xfrm>
            <a:off x="9692640" y="2103120"/>
            <a:ext cx="1874520" cy="1005840"/>
          </a:xfrm>
          <a:prstGeom prst="rect">
            <a:avLst/>
          </a:prstGeom>
          <a:noFill/>
          <a:ln/>
        </p:spPr>
        <p:txBody>
          <a:bodyPr wrap="square" lIns="0" tIns="0" rIns="0" bIns="0" rtlCol="0" anchor="t"/>
          <a:lstStyle/>
          <a:p>
            <a:pPr marL="0" indent="0" algn="l">
              <a:lnSpc>
                <a:spcPct val="115000"/>
              </a:lnSpc>
              <a:buNone/>
            </a:pPr>
            <a:r>
              <a:rPr lang="en-US" sz="1150" dirty="0">
                <a:solidFill>
                  <a:srgbClr val="5B6B7F"/>
                </a:solidFill>
                <a:latin typeface="Malgun Gothic" pitchFamily="34" charset="0"/>
                <a:ea typeface="Malgun Gothic" pitchFamily="34" charset="-122"/>
                <a:cs typeface="Malgun Gothic" pitchFamily="34" charset="-120"/>
              </a:rPr>
              <a:t>PostgreSQL</a:t>
            </a:r>
            <a:endParaRPr lang="en-US" sz="1150" dirty="0"/>
          </a:p>
          <a:p>
            <a:pPr marL="0" indent="0" algn="l">
              <a:lnSpc>
                <a:spcPct val="115000"/>
              </a:lnSpc>
              <a:buNone/>
            </a:pPr>
            <a:r>
              <a:rPr lang="en-US" sz="1150" dirty="0">
                <a:solidFill>
                  <a:srgbClr val="5B6B7F"/>
                </a:solidFill>
                <a:latin typeface="Malgun Gothic" pitchFamily="34" charset="0"/>
                <a:ea typeface="Malgun Gothic" pitchFamily="34" charset="-122"/>
                <a:cs typeface="Malgun Gothic" pitchFamily="34" charset="-120"/>
              </a:rPr>
              <a:t>게이트로그 · 적재기록</a:t>
            </a:r>
            <a:endParaRPr lang="en-US" sz="1150" dirty="0"/>
          </a:p>
          <a:p>
            <a:pPr marL="0" indent="0" algn="l">
              <a:lnSpc>
                <a:spcPct val="115000"/>
              </a:lnSpc>
              <a:buNone/>
            </a:pPr>
            <a:r>
              <a:rPr lang="en-US" sz="1150" dirty="0">
                <a:solidFill>
                  <a:srgbClr val="5B6B7F"/>
                </a:solidFill>
                <a:latin typeface="Malgun Gothic" pitchFamily="34" charset="0"/>
                <a:ea typeface="Malgun Gothic" pitchFamily="34" charset="-122"/>
                <a:cs typeface="Malgun Gothic" pitchFamily="34" charset="-120"/>
              </a:rPr>
              <a:t>과적검사 · 알림</a:t>
            </a:r>
            <a:endParaRPr lang="en-US" sz="1150" dirty="0"/>
          </a:p>
        </p:txBody>
      </p:sp>
      <p:sp>
        <p:nvSpPr>
          <p:cNvPr id="19" name="Shape 17"/>
          <p:cNvSpPr/>
          <p:nvPr/>
        </p:nvSpPr>
        <p:spPr>
          <a:xfrm>
            <a:off x="2834640" y="2395728"/>
            <a:ext cx="365760" cy="0"/>
          </a:xfrm>
          <a:prstGeom prst="line">
            <a:avLst/>
          </a:prstGeom>
          <a:noFill/>
          <a:ln w="25400">
            <a:solidFill>
              <a:srgbClr val="0A2540"/>
            </a:solidFill>
            <a:prstDash val="solid"/>
            <a:tailEnd type="triangle"/>
          </a:ln>
        </p:spPr>
      </p:sp>
      <p:sp>
        <p:nvSpPr>
          <p:cNvPr id="20" name="Shape 18"/>
          <p:cNvSpPr/>
          <p:nvPr/>
        </p:nvSpPr>
        <p:spPr>
          <a:xfrm>
            <a:off x="5943600" y="2395728"/>
            <a:ext cx="457200" cy="0"/>
          </a:xfrm>
          <a:prstGeom prst="line">
            <a:avLst/>
          </a:prstGeom>
          <a:noFill/>
          <a:ln w="25400">
            <a:solidFill>
              <a:srgbClr val="FF6B00"/>
            </a:solidFill>
            <a:prstDash val="solid"/>
            <a:tailEnd type="triangle"/>
          </a:ln>
        </p:spPr>
      </p:sp>
      <p:sp>
        <p:nvSpPr>
          <p:cNvPr id="21" name="Text 19"/>
          <p:cNvSpPr txBox="1"/>
          <p:nvPr/>
        </p:nvSpPr>
        <p:spPr>
          <a:xfrm>
            <a:off x="5806440" y="2011680"/>
            <a:ext cx="731520" cy="274320"/>
          </a:xfrm>
          <a:prstGeom prst="rect">
            <a:avLst/>
          </a:prstGeom>
          <a:noFill/>
          <a:ln/>
        </p:spPr>
        <p:txBody>
          <a:bodyPr wrap="square" lIns="508" tIns="508" rIns="508" bIns="508" rtlCol="0" anchor="ctr"/>
          <a:lstStyle/>
          <a:p>
            <a:pPr marL="0" indent="0" algn="ctr">
              <a:buNone/>
            </a:pPr>
            <a:r>
              <a:rPr lang="en-US" sz="1000" b="1" dirty="0">
                <a:solidFill>
                  <a:srgbClr val="FF6B00"/>
                </a:solidFill>
                <a:latin typeface="Malgun Gothic" pitchFamily="34" charset="0"/>
                <a:ea typeface="Malgun Gothic" pitchFamily="34" charset="-122"/>
                <a:cs typeface="Malgun Gothic" pitchFamily="34" charset="-120"/>
              </a:rPr>
              <a:t>REST</a:t>
            </a:r>
            <a:endParaRPr lang="en-US" sz="1000" dirty="0"/>
          </a:p>
        </p:txBody>
      </p:sp>
      <p:sp>
        <p:nvSpPr>
          <p:cNvPr id="22" name="Shape 20"/>
          <p:cNvSpPr/>
          <p:nvPr/>
        </p:nvSpPr>
        <p:spPr>
          <a:xfrm>
            <a:off x="9144000" y="2395728"/>
            <a:ext cx="365760" cy="0"/>
          </a:xfrm>
          <a:prstGeom prst="line">
            <a:avLst/>
          </a:prstGeom>
          <a:noFill/>
          <a:ln w="25400">
            <a:solidFill>
              <a:srgbClr val="0A2540"/>
            </a:solidFill>
            <a:prstDash val="solid"/>
            <a:tailEnd type="triangle"/>
          </a:ln>
        </p:spPr>
      </p:sp>
      <p:sp>
        <p:nvSpPr>
          <p:cNvPr id="23" name="Shape 21"/>
          <p:cNvSpPr/>
          <p:nvPr/>
        </p:nvSpPr>
        <p:spPr>
          <a:xfrm>
            <a:off x="6446520" y="3886200"/>
            <a:ext cx="2651760" cy="1371600"/>
          </a:xfrm>
          <a:prstGeom prst="roundRect">
            <a:avLst>
              <a:gd name="adj" fmla="val 4000"/>
            </a:avLst>
          </a:prstGeom>
          <a:solidFill>
            <a:srgbClr val="FFFFFF"/>
          </a:solidFill>
          <a:ln w="15875">
            <a:solidFill>
              <a:srgbClr val="DCE3EA"/>
            </a:solidFill>
            <a:prstDash val="solid"/>
          </a:ln>
        </p:spPr>
      </p:sp>
      <p:sp>
        <p:nvSpPr>
          <p:cNvPr id="24" name="Text 22"/>
          <p:cNvSpPr txBox="1"/>
          <p:nvPr/>
        </p:nvSpPr>
        <p:spPr>
          <a:xfrm>
            <a:off x="6583680" y="3977640"/>
            <a:ext cx="2377440" cy="347472"/>
          </a:xfrm>
          <a:prstGeom prst="rect">
            <a:avLst/>
          </a:prstGeom>
          <a:noFill/>
          <a:ln/>
        </p:spPr>
        <p:txBody>
          <a:bodyPr wrap="square" lIns="0" tIns="0" rIns="0" bIns="0" rtlCol="0" anchor="ctr"/>
          <a:lstStyle/>
          <a:p>
            <a:pPr marL="0" indent="0" algn="l">
              <a:buNone/>
            </a:pPr>
            <a:r>
              <a:rPr lang="en-US" sz="1500" b="1" dirty="0">
                <a:solidFill>
                  <a:srgbClr val="0A2540"/>
                </a:solidFill>
                <a:latin typeface="Malgun Gothic" pitchFamily="34" charset="0"/>
                <a:ea typeface="Malgun Gothic" pitchFamily="34" charset="-122"/>
                <a:cs typeface="Malgun Gothic" pitchFamily="34" charset="-120"/>
              </a:rPr>
              <a:t>웹 화면</a:t>
            </a:r>
            <a:endParaRPr lang="en-US" sz="1500" dirty="0"/>
          </a:p>
        </p:txBody>
      </p:sp>
      <p:sp>
        <p:nvSpPr>
          <p:cNvPr id="25" name="Text 23"/>
          <p:cNvSpPr txBox="1"/>
          <p:nvPr/>
        </p:nvSpPr>
        <p:spPr>
          <a:xfrm>
            <a:off x="6583680" y="4343400"/>
            <a:ext cx="2377440" cy="868680"/>
          </a:xfrm>
          <a:prstGeom prst="rect">
            <a:avLst/>
          </a:prstGeom>
          <a:noFill/>
          <a:ln/>
        </p:spPr>
        <p:txBody>
          <a:bodyPr wrap="square" lIns="0" tIns="0" rIns="0" bIns="0" rtlCol="0" anchor="t"/>
          <a:lstStyle/>
          <a:p>
            <a:pPr marL="0" indent="0" algn="l">
              <a:lnSpc>
                <a:spcPct val="115000"/>
              </a:lnSpc>
              <a:buNone/>
            </a:pPr>
            <a:r>
              <a:rPr lang="en-US" sz="1150" dirty="0">
                <a:solidFill>
                  <a:srgbClr val="5B6B7F"/>
                </a:solidFill>
                <a:latin typeface="Malgun Gothic" pitchFamily="34" charset="0"/>
                <a:ea typeface="Malgun Gothic" pitchFamily="34" charset="-122"/>
                <a:cs typeface="Malgun Gothic" pitchFamily="34" charset="-120"/>
              </a:rPr>
              <a:t>Vue 3 + Vite</a:t>
            </a:r>
            <a:endParaRPr lang="en-US" sz="1150" dirty="0"/>
          </a:p>
          <a:p>
            <a:pPr marL="0" indent="0" algn="l">
              <a:lnSpc>
                <a:spcPct val="115000"/>
              </a:lnSpc>
              <a:buNone/>
            </a:pPr>
            <a:r>
              <a:rPr lang="en-US" sz="1150" dirty="0">
                <a:solidFill>
                  <a:srgbClr val="5B6B7F"/>
                </a:solidFill>
                <a:latin typeface="Malgun Gothic" pitchFamily="34" charset="0"/>
                <a:ea typeface="Malgun Gothic" pitchFamily="34" charset="-122"/>
                <a:cs typeface="Malgun Gothic" pitchFamily="34" charset="-120"/>
              </a:rPr>
              <a:t>관리자 · 운송사 · 기사</a:t>
            </a:r>
            <a:endParaRPr lang="en-US" sz="1150" dirty="0"/>
          </a:p>
        </p:txBody>
      </p:sp>
      <p:sp>
        <p:nvSpPr>
          <p:cNvPr id="26" name="Shape 24"/>
          <p:cNvSpPr/>
          <p:nvPr/>
        </p:nvSpPr>
        <p:spPr>
          <a:xfrm>
            <a:off x="9555480" y="3886200"/>
            <a:ext cx="2148840" cy="1371600"/>
          </a:xfrm>
          <a:prstGeom prst="roundRect">
            <a:avLst>
              <a:gd name="adj" fmla="val 4000"/>
            </a:avLst>
          </a:prstGeom>
          <a:solidFill>
            <a:srgbClr val="FFFFFF"/>
          </a:solidFill>
          <a:ln w="15875">
            <a:solidFill>
              <a:srgbClr val="DCE3EA"/>
            </a:solidFill>
            <a:prstDash val="solid"/>
          </a:ln>
        </p:spPr>
      </p:sp>
      <p:sp>
        <p:nvSpPr>
          <p:cNvPr id="27" name="Text 25"/>
          <p:cNvSpPr txBox="1"/>
          <p:nvPr/>
        </p:nvSpPr>
        <p:spPr>
          <a:xfrm>
            <a:off x="9692640" y="3977640"/>
            <a:ext cx="1874520" cy="347472"/>
          </a:xfrm>
          <a:prstGeom prst="rect">
            <a:avLst/>
          </a:prstGeom>
          <a:noFill/>
          <a:ln/>
        </p:spPr>
        <p:txBody>
          <a:bodyPr wrap="square" lIns="0" tIns="0" rIns="0" bIns="0" rtlCol="0" anchor="ctr"/>
          <a:lstStyle/>
          <a:p>
            <a:pPr marL="0" indent="0" algn="l">
              <a:buNone/>
            </a:pPr>
            <a:r>
              <a:rPr lang="en-US" sz="1500" b="1" dirty="0">
                <a:solidFill>
                  <a:srgbClr val="0A2540"/>
                </a:solidFill>
                <a:latin typeface="Malgun Gothic" pitchFamily="34" charset="0"/>
                <a:ea typeface="Malgun Gothic" pitchFamily="34" charset="-122"/>
                <a:cs typeface="Malgun Gothic" pitchFamily="34" charset="-120"/>
              </a:rPr>
              <a:t>외부 API</a:t>
            </a:r>
            <a:endParaRPr lang="en-US" sz="1500" dirty="0"/>
          </a:p>
        </p:txBody>
      </p:sp>
      <p:sp>
        <p:nvSpPr>
          <p:cNvPr id="28" name="Text 26"/>
          <p:cNvSpPr txBox="1"/>
          <p:nvPr/>
        </p:nvSpPr>
        <p:spPr>
          <a:xfrm>
            <a:off x="9692640" y="4343400"/>
            <a:ext cx="1874520" cy="868680"/>
          </a:xfrm>
          <a:prstGeom prst="rect">
            <a:avLst/>
          </a:prstGeom>
          <a:noFill/>
          <a:ln/>
        </p:spPr>
        <p:txBody>
          <a:bodyPr wrap="square" lIns="0" tIns="0" rIns="0" bIns="0" rtlCol="0" anchor="t"/>
          <a:lstStyle/>
          <a:p>
            <a:pPr marL="0" indent="0" algn="l">
              <a:lnSpc>
                <a:spcPct val="115000"/>
              </a:lnSpc>
              <a:buNone/>
            </a:pPr>
            <a:r>
              <a:rPr lang="en-US" sz="1150" dirty="0">
                <a:solidFill>
                  <a:srgbClr val="5B6B7F"/>
                </a:solidFill>
                <a:latin typeface="Malgun Gothic" pitchFamily="34" charset="0"/>
                <a:ea typeface="Malgun Gothic" pitchFamily="34" charset="-122"/>
                <a:cs typeface="Malgun Gothic" pitchFamily="34" charset="-120"/>
              </a:rPr>
              <a:t>Leaflet · OpenStreetMap</a:t>
            </a:r>
            <a:endParaRPr lang="en-US" sz="1150" dirty="0"/>
          </a:p>
          <a:p>
            <a:pPr marL="0" indent="0" algn="l">
              <a:lnSpc>
                <a:spcPct val="115000"/>
              </a:lnSpc>
              <a:buNone/>
            </a:pPr>
            <a:r>
              <a:rPr lang="en-US" sz="1150" dirty="0" err="1">
                <a:solidFill>
                  <a:srgbClr val="5B6B7F"/>
                </a:solidFill>
                <a:latin typeface="Malgun Gothic" pitchFamily="34" charset="0"/>
                <a:ea typeface="Malgun Gothic" pitchFamily="34" charset="-122"/>
                <a:cs typeface="Malgun Gothic" pitchFamily="34" charset="-120"/>
              </a:rPr>
              <a:t>OpenWeather</a:t>
            </a:r>
            <a:endParaRPr lang="en-US" sz="1150" dirty="0"/>
          </a:p>
        </p:txBody>
      </p:sp>
      <p:sp>
        <p:nvSpPr>
          <p:cNvPr id="29" name="Shape 27"/>
          <p:cNvSpPr/>
          <p:nvPr/>
        </p:nvSpPr>
        <p:spPr>
          <a:xfrm>
            <a:off x="7772400" y="3200400"/>
            <a:ext cx="0" cy="640080"/>
          </a:xfrm>
          <a:prstGeom prst="line">
            <a:avLst/>
          </a:prstGeom>
          <a:noFill/>
          <a:ln w="25400">
            <a:solidFill>
              <a:srgbClr val="FF6B00"/>
            </a:solidFill>
            <a:prstDash val="solid"/>
            <a:tailEnd type="triangle"/>
          </a:ln>
        </p:spPr>
      </p:sp>
      <p:sp>
        <p:nvSpPr>
          <p:cNvPr id="30" name="Text 28"/>
          <p:cNvSpPr txBox="1"/>
          <p:nvPr/>
        </p:nvSpPr>
        <p:spPr>
          <a:xfrm>
            <a:off x="7863840" y="3337560"/>
            <a:ext cx="1097280" cy="274320"/>
          </a:xfrm>
          <a:prstGeom prst="rect">
            <a:avLst/>
          </a:prstGeom>
          <a:noFill/>
          <a:ln/>
        </p:spPr>
        <p:txBody>
          <a:bodyPr wrap="square" lIns="508" tIns="508" rIns="508" bIns="508" rtlCol="0" anchor="ctr"/>
          <a:lstStyle/>
          <a:p>
            <a:pPr marL="0" indent="0" algn="l">
              <a:buNone/>
            </a:pPr>
            <a:r>
              <a:rPr lang="en-US" sz="1000" b="1" dirty="0">
                <a:solidFill>
                  <a:srgbClr val="FF6B00"/>
                </a:solidFill>
                <a:latin typeface="Malgun Gothic" pitchFamily="34" charset="0"/>
                <a:ea typeface="Malgun Gothic" pitchFamily="34" charset="-122"/>
                <a:cs typeface="Malgun Gothic" pitchFamily="34" charset="-120"/>
              </a:rPr>
              <a:t>REST</a:t>
            </a:r>
            <a:endParaRPr lang="en-US" sz="1000" dirty="0"/>
          </a:p>
        </p:txBody>
      </p:sp>
      <p:sp>
        <p:nvSpPr>
          <p:cNvPr id="31" name="Shape 29"/>
          <p:cNvSpPr/>
          <p:nvPr/>
        </p:nvSpPr>
        <p:spPr>
          <a:xfrm>
            <a:off x="9144000" y="4572000"/>
            <a:ext cx="365760" cy="0"/>
          </a:xfrm>
          <a:prstGeom prst="line">
            <a:avLst/>
          </a:prstGeom>
          <a:noFill/>
          <a:ln w="19050">
            <a:solidFill>
              <a:srgbClr val="0A2540"/>
            </a:solidFill>
            <a:prstDash val="solid"/>
            <a:tailEnd type="triangle"/>
          </a:ln>
        </p:spPr>
      </p:sp>
      <p:sp>
        <p:nvSpPr>
          <p:cNvPr id="32" name="Text 30"/>
          <p:cNvSpPr txBox="1"/>
          <p:nvPr/>
        </p:nvSpPr>
        <p:spPr>
          <a:xfrm>
            <a:off x="502920" y="3931920"/>
            <a:ext cx="5669280" cy="1463040"/>
          </a:xfrm>
          <a:prstGeom prst="rect">
            <a:avLst/>
          </a:prstGeom>
          <a:noFill/>
          <a:ln/>
        </p:spPr>
        <p:txBody>
          <a:bodyPr wrap="square" lIns="0" tIns="0" rIns="0" bIns="0" rtlCol="0" anchor="t"/>
          <a:lstStyle/>
          <a:p>
            <a:pPr marL="0" indent="0" algn="l">
              <a:lnSpc>
                <a:spcPct val="140000"/>
              </a:lnSpc>
              <a:buNone/>
            </a:pPr>
            <a:r>
              <a:rPr lang="en-US" sz="1300" dirty="0">
                <a:solidFill>
                  <a:srgbClr val="0A2540"/>
                </a:solidFill>
                <a:latin typeface="Malgun Gothic" pitchFamily="34" charset="0"/>
                <a:ea typeface="Malgun Gothic" pitchFamily="34" charset="-122"/>
                <a:cs typeface="Malgun Gothic" pitchFamily="34" charset="-120"/>
              </a:rPr>
              <a:t>· 인식 결과를 화면용 목업이 아니라 실제 DB 테이블(게이트로그)에 저장</a:t>
            </a:r>
            <a:endParaRPr lang="en-US" sz="1300" dirty="0"/>
          </a:p>
          <a:p>
            <a:pPr marL="0" indent="0" algn="l">
              <a:lnSpc>
                <a:spcPct val="140000"/>
              </a:lnSpc>
              <a:buNone/>
            </a:pPr>
            <a:r>
              <a:rPr lang="en-US" sz="1300" dirty="0">
                <a:solidFill>
                  <a:srgbClr val="0A2540"/>
                </a:solidFill>
                <a:latin typeface="Malgun Gothic" pitchFamily="34" charset="0"/>
                <a:ea typeface="Malgun Gothic" pitchFamily="34" charset="-122"/>
                <a:cs typeface="Malgun Gothic" pitchFamily="34" charset="-120"/>
              </a:rPr>
              <a:t>· 웹은 DB를 조회해 게이트 통과 상황을 3초마다 갱신</a:t>
            </a:r>
            <a:endParaRPr lang="en-US" sz="1300" dirty="0"/>
          </a:p>
          <a:p>
            <a:pPr marL="0" indent="0" algn="l">
              <a:lnSpc>
                <a:spcPct val="140000"/>
              </a:lnSpc>
              <a:buNone/>
            </a:pPr>
            <a:r>
              <a:rPr lang="en-US" sz="1300" dirty="0">
                <a:solidFill>
                  <a:srgbClr val="0A2540"/>
                </a:solidFill>
                <a:latin typeface="Malgun Gothic" pitchFamily="34" charset="0"/>
                <a:ea typeface="Malgun Gothic" pitchFamily="34" charset="-122"/>
                <a:cs typeface="Malgun Gothic" pitchFamily="34" charset="-120"/>
              </a:rPr>
              <a:t>· 인식 서버를 분리해 모델을 바꿔도 웹은 결과만 받으면 됨</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Malgun Gothic" pitchFamily="34" charset="0"/>
                <a:ea typeface="Malgun Gothic" pitchFamily="34" charset="-122"/>
                <a:cs typeface="Malgun Gothic" pitchFamily="34" charset="-120"/>
              </a:rPr>
              <a:t>02  시스템 구성</a:t>
            </a:r>
            <a:endParaRPr lang="en-US" sz="1100" dirty="0"/>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Malgun Gothic" pitchFamily="34" charset="0"/>
                <a:ea typeface="Malgun Gothic" pitchFamily="34" charset="-122"/>
                <a:cs typeface="Malgun Gothic" pitchFamily="34" charset="-120"/>
              </a:rPr>
              <a:t>기술 스택</a:t>
            </a:r>
            <a:endParaRPr lang="en-US" sz="2600" dirty="0"/>
          </a:p>
        </p:txBody>
      </p:sp>
      <p:sp>
        <p:nvSpPr>
          <p:cNvPr id="4" name="Text 2"/>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Malgun Gothic" pitchFamily="34" charset="0"/>
                <a:ea typeface="Malgun Gothic" pitchFamily="34" charset="-122"/>
                <a:cs typeface="Malgun Gothic" pitchFamily="34" charset="-120"/>
              </a:rPr>
              <a:t>S Cargo  ·  못먹어도 S카고</a:t>
            </a:r>
            <a:endParaRPr lang="en-US" sz="900" dirty="0"/>
          </a:p>
        </p:txBody>
      </p:sp>
      <p:sp>
        <p:nvSpPr>
          <p:cNvPr id="5" name="Text 3"/>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ko-KR" altLang="en-US" sz="900" dirty="0">
                <a:solidFill>
                  <a:srgbClr val="9AA8B8"/>
                </a:solidFill>
                <a:latin typeface="Malgun Gothic" pitchFamily="34" charset="0"/>
                <a:ea typeface="Malgun Gothic" pitchFamily="34" charset="-122"/>
              </a:rPr>
              <a:t>９</a:t>
            </a:r>
            <a:endParaRPr lang="en-US" sz="900" dirty="0"/>
          </a:p>
        </p:txBody>
      </p:sp>
      <p:sp>
        <p:nvSpPr>
          <p:cNvPr id="6" name="Text 4"/>
          <p:cNvSpPr txBox="1"/>
          <p:nvPr/>
        </p:nvSpPr>
        <p:spPr>
          <a:xfrm>
            <a:off x="502920" y="1463040"/>
            <a:ext cx="2011680" cy="566928"/>
          </a:xfrm>
          <a:prstGeom prst="rect">
            <a:avLst/>
          </a:prstGeom>
          <a:noFill/>
          <a:ln/>
        </p:spPr>
        <p:txBody>
          <a:bodyPr wrap="square" lIns="0" tIns="0" rIns="0" bIns="0" rtlCol="0" anchor="ctr"/>
          <a:lstStyle/>
          <a:p>
            <a:pPr marL="0" indent="0" algn="l">
              <a:buNone/>
            </a:pPr>
            <a:r>
              <a:rPr lang="en-US" sz="1500" b="1" dirty="0">
                <a:solidFill>
                  <a:srgbClr val="0A2540"/>
                </a:solidFill>
                <a:latin typeface="Malgun Gothic" pitchFamily="34" charset="0"/>
                <a:ea typeface="Malgun Gothic" pitchFamily="34" charset="-122"/>
                <a:cs typeface="Malgun Gothic" pitchFamily="34" charset="-120"/>
              </a:rPr>
              <a:t>Frontend</a:t>
            </a:r>
            <a:endParaRPr lang="en-US" sz="1500" dirty="0"/>
          </a:p>
        </p:txBody>
      </p:sp>
      <p:sp>
        <p:nvSpPr>
          <p:cNvPr id="7" name="Shape 5"/>
          <p:cNvSpPr/>
          <p:nvPr/>
        </p:nvSpPr>
        <p:spPr>
          <a:xfrm>
            <a:off x="2560320" y="1554480"/>
            <a:ext cx="737006" cy="384048"/>
          </a:xfrm>
          <a:prstGeom prst="roundRect">
            <a:avLst>
              <a:gd name="adj" fmla="val 14286"/>
            </a:avLst>
          </a:prstGeom>
          <a:solidFill>
            <a:srgbClr val="F4F6F8"/>
          </a:solidFill>
          <a:ln w="12700">
            <a:solidFill>
              <a:srgbClr val="F4F6F8"/>
            </a:solidFill>
            <a:prstDash val="solid"/>
          </a:ln>
        </p:spPr>
      </p:sp>
      <p:sp>
        <p:nvSpPr>
          <p:cNvPr id="8" name="Text 6"/>
          <p:cNvSpPr txBox="1"/>
          <p:nvPr/>
        </p:nvSpPr>
        <p:spPr>
          <a:xfrm>
            <a:off x="2560320" y="1554480"/>
            <a:ext cx="737006" cy="384048"/>
          </a:xfrm>
          <a:prstGeom prst="rect">
            <a:avLst/>
          </a:prstGeom>
          <a:noFill/>
          <a:ln/>
        </p:spPr>
        <p:txBody>
          <a:bodyPr wrap="square" lIns="0" tIns="0" rIns="0" bIns="0" rtlCol="0" anchor="ctr"/>
          <a:lstStyle/>
          <a:p>
            <a:pPr marL="0" indent="0" algn="ctr">
              <a:buNone/>
            </a:pPr>
            <a:r>
              <a:rPr lang="en-US" sz="1150" dirty="0">
                <a:solidFill>
                  <a:srgbClr val="0A2540"/>
                </a:solidFill>
                <a:latin typeface="Malgun Gothic" pitchFamily="34" charset="0"/>
                <a:ea typeface="Malgun Gothic" pitchFamily="34" charset="-122"/>
                <a:cs typeface="Malgun Gothic" pitchFamily="34" charset="-120"/>
              </a:rPr>
              <a:t>Vue 3</a:t>
            </a:r>
            <a:endParaRPr lang="en-US" sz="1150" dirty="0"/>
          </a:p>
        </p:txBody>
      </p:sp>
      <p:sp>
        <p:nvSpPr>
          <p:cNvPr id="9" name="Shape 7"/>
          <p:cNvSpPr/>
          <p:nvPr/>
        </p:nvSpPr>
        <p:spPr>
          <a:xfrm>
            <a:off x="3425342" y="1554480"/>
            <a:ext cx="662757" cy="384048"/>
          </a:xfrm>
          <a:prstGeom prst="rect">
            <a:avLst/>
          </a:prstGeom>
          <a:solidFill>
            <a:srgbClr val="F4F6F8"/>
          </a:solidFill>
          <a:ln w="12700">
            <a:solidFill>
              <a:srgbClr val="F4F6F8"/>
            </a:solidFill>
            <a:prstDash val="solid"/>
          </a:ln>
        </p:spPr>
      </p:sp>
      <p:sp>
        <p:nvSpPr>
          <p:cNvPr id="10" name="Text 8"/>
          <p:cNvSpPr txBox="1"/>
          <p:nvPr/>
        </p:nvSpPr>
        <p:spPr>
          <a:xfrm>
            <a:off x="3425342" y="1554480"/>
            <a:ext cx="662757" cy="384048"/>
          </a:xfrm>
          <a:prstGeom prst="rect">
            <a:avLst/>
          </a:prstGeom>
          <a:noFill/>
          <a:ln/>
        </p:spPr>
        <p:txBody>
          <a:bodyPr wrap="square" lIns="0" tIns="0" rIns="0" bIns="0" rtlCol="0" anchor="ctr"/>
          <a:lstStyle/>
          <a:p>
            <a:pPr marL="0" indent="0" algn="ctr">
              <a:buNone/>
            </a:pPr>
            <a:r>
              <a:rPr lang="en-US" sz="1150" dirty="0">
                <a:solidFill>
                  <a:srgbClr val="0A2540"/>
                </a:solidFill>
                <a:latin typeface="Malgun Gothic" pitchFamily="34" charset="0"/>
                <a:ea typeface="Malgun Gothic" pitchFamily="34" charset="-122"/>
                <a:cs typeface="Malgun Gothic" pitchFamily="34" charset="-120"/>
              </a:rPr>
              <a:t>Vite</a:t>
            </a:r>
            <a:endParaRPr lang="en-US" sz="1150" dirty="0"/>
          </a:p>
        </p:txBody>
      </p:sp>
      <p:sp>
        <p:nvSpPr>
          <p:cNvPr id="11" name="Shape 9"/>
          <p:cNvSpPr/>
          <p:nvPr/>
        </p:nvSpPr>
        <p:spPr>
          <a:xfrm>
            <a:off x="4216116" y="1554480"/>
            <a:ext cx="1108253" cy="384048"/>
          </a:xfrm>
          <a:prstGeom prst="roundRect">
            <a:avLst>
              <a:gd name="adj" fmla="val 14286"/>
            </a:avLst>
          </a:prstGeom>
          <a:solidFill>
            <a:srgbClr val="F4F6F8"/>
          </a:solidFill>
          <a:ln w="12700">
            <a:solidFill>
              <a:srgbClr val="F4F6F8"/>
            </a:solidFill>
            <a:prstDash val="solid"/>
          </a:ln>
        </p:spPr>
      </p:sp>
      <p:sp>
        <p:nvSpPr>
          <p:cNvPr id="12" name="Text 10"/>
          <p:cNvSpPr txBox="1"/>
          <p:nvPr/>
        </p:nvSpPr>
        <p:spPr>
          <a:xfrm>
            <a:off x="4216116" y="1554480"/>
            <a:ext cx="1108253" cy="384048"/>
          </a:xfrm>
          <a:prstGeom prst="rect">
            <a:avLst/>
          </a:prstGeom>
          <a:noFill/>
          <a:ln/>
        </p:spPr>
        <p:txBody>
          <a:bodyPr wrap="square" lIns="0" tIns="0" rIns="0" bIns="0" rtlCol="0" anchor="ctr"/>
          <a:lstStyle/>
          <a:p>
            <a:pPr marL="0" indent="0" algn="ctr">
              <a:buNone/>
            </a:pPr>
            <a:r>
              <a:rPr lang="en-US" sz="1150" dirty="0">
                <a:solidFill>
                  <a:srgbClr val="0A2540"/>
                </a:solidFill>
                <a:latin typeface="Malgun Gothic" pitchFamily="34" charset="0"/>
                <a:ea typeface="Malgun Gothic" pitchFamily="34" charset="-122"/>
                <a:cs typeface="Malgun Gothic" pitchFamily="34" charset="-120"/>
              </a:rPr>
              <a:t>Vue Router</a:t>
            </a:r>
            <a:endParaRPr lang="en-US" sz="1150" dirty="0"/>
          </a:p>
        </p:txBody>
      </p:sp>
      <p:sp>
        <p:nvSpPr>
          <p:cNvPr id="13" name="Shape 11"/>
          <p:cNvSpPr/>
          <p:nvPr/>
        </p:nvSpPr>
        <p:spPr>
          <a:xfrm>
            <a:off x="5452384" y="1554480"/>
            <a:ext cx="737006" cy="384048"/>
          </a:xfrm>
          <a:prstGeom prst="roundRect">
            <a:avLst>
              <a:gd name="adj" fmla="val 14286"/>
            </a:avLst>
          </a:prstGeom>
          <a:solidFill>
            <a:srgbClr val="F4F6F8"/>
          </a:solidFill>
          <a:ln w="12700">
            <a:solidFill>
              <a:srgbClr val="F4F6F8"/>
            </a:solidFill>
            <a:prstDash val="solid"/>
          </a:ln>
        </p:spPr>
      </p:sp>
      <p:sp>
        <p:nvSpPr>
          <p:cNvPr id="14" name="Text 12"/>
          <p:cNvSpPr txBox="1"/>
          <p:nvPr/>
        </p:nvSpPr>
        <p:spPr>
          <a:xfrm>
            <a:off x="5452384" y="1554480"/>
            <a:ext cx="737006" cy="384048"/>
          </a:xfrm>
          <a:prstGeom prst="rect">
            <a:avLst/>
          </a:prstGeom>
          <a:noFill/>
          <a:ln/>
        </p:spPr>
        <p:txBody>
          <a:bodyPr wrap="square" lIns="0" tIns="0" rIns="0" bIns="0" rtlCol="0" anchor="ctr"/>
          <a:lstStyle/>
          <a:p>
            <a:pPr marL="0" indent="0" algn="ctr">
              <a:buNone/>
            </a:pPr>
            <a:r>
              <a:rPr lang="en-US" sz="1150" dirty="0">
                <a:solidFill>
                  <a:srgbClr val="0A2540"/>
                </a:solidFill>
                <a:latin typeface="Malgun Gothic" pitchFamily="34" charset="0"/>
                <a:ea typeface="Malgun Gothic" pitchFamily="34" charset="-122"/>
                <a:cs typeface="Malgun Gothic" pitchFamily="34" charset="-120"/>
              </a:rPr>
              <a:t>axios</a:t>
            </a:r>
            <a:endParaRPr lang="en-US" sz="1150" dirty="0"/>
          </a:p>
        </p:txBody>
      </p:sp>
      <p:sp>
        <p:nvSpPr>
          <p:cNvPr id="15" name="Shape 13"/>
          <p:cNvSpPr/>
          <p:nvPr/>
        </p:nvSpPr>
        <p:spPr>
          <a:xfrm>
            <a:off x="6317407" y="1554480"/>
            <a:ext cx="1034004" cy="384048"/>
          </a:xfrm>
          <a:prstGeom prst="roundRect">
            <a:avLst>
              <a:gd name="adj" fmla="val 14286"/>
            </a:avLst>
          </a:prstGeom>
          <a:solidFill>
            <a:srgbClr val="F4F6F8"/>
          </a:solidFill>
          <a:ln w="12700">
            <a:solidFill>
              <a:srgbClr val="F4F6F8"/>
            </a:solidFill>
            <a:prstDash val="solid"/>
          </a:ln>
        </p:spPr>
      </p:sp>
      <p:sp>
        <p:nvSpPr>
          <p:cNvPr id="16" name="Text 14"/>
          <p:cNvSpPr txBox="1"/>
          <p:nvPr/>
        </p:nvSpPr>
        <p:spPr>
          <a:xfrm>
            <a:off x="6317407" y="1554480"/>
            <a:ext cx="1034004" cy="384048"/>
          </a:xfrm>
          <a:prstGeom prst="rect">
            <a:avLst/>
          </a:prstGeom>
          <a:noFill/>
          <a:ln/>
        </p:spPr>
        <p:txBody>
          <a:bodyPr wrap="square" lIns="0" tIns="0" rIns="0" bIns="0" rtlCol="0" anchor="ctr"/>
          <a:lstStyle/>
          <a:p>
            <a:pPr marL="0" indent="0" algn="ctr">
              <a:buNone/>
            </a:pPr>
            <a:r>
              <a:rPr lang="en-US" sz="1150" dirty="0">
                <a:solidFill>
                  <a:srgbClr val="0A2540"/>
                </a:solidFill>
                <a:latin typeface="Malgun Gothic" pitchFamily="34" charset="0"/>
                <a:ea typeface="Malgun Gothic" pitchFamily="34" charset="-122"/>
                <a:cs typeface="Malgun Gothic" pitchFamily="34" charset="-120"/>
              </a:rPr>
              <a:t>Bootstrap</a:t>
            </a:r>
            <a:endParaRPr lang="en-US" sz="1150" dirty="0"/>
          </a:p>
        </p:txBody>
      </p:sp>
      <p:sp>
        <p:nvSpPr>
          <p:cNvPr id="17" name="Shape 15"/>
          <p:cNvSpPr/>
          <p:nvPr/>
        </p:nvSpPr>
        <p:spPr>
          <a:xfrm>
            <a:off x="7479426" y="1554480"/>
            <a:ext cx="885505" cy="384048"/>
          </a:xfrm>
          <a:prstGeom prst="roundRect">
            <a:avLst>
              <a:gd name="adj" fmla="val 14286"/>
            </a:avLst>
          </a:prstGeom>
          <a:solidFill>
            <a:srgbClr val="F4F6F8"/>
          </a:solidFill>
          <a:ln w="12700">
            <a:solidFill>
              <a:srgbClr val="F4F6F8"/>
            </a:solidFill>
            <a:prstDash val="solid"/>
          </a:ln>
        </p:spPr>
      </p:sp>
      <p:sp>
        <p:nvSpPr>
          <p:cNvPr id="18" name="Text 16"/>
          <p:cNvSpPr txBox="1"/>
          <p:nvPr/>
        </p:nvSpPr>
        <p:spPr>
          <a:xfrm>
            <a:off x="7479426" y="1554480"/>
            <a:ext cx="885505" cy="384048"/>
          </a:xfrm>
          <a:prstGeom prst="rect">
            <a:avLst/>
          </a:prstGeom>
          <a:noFill/>
          <a:ln/>
        </p:spPr>
        <p:txBody>
          <a:bodyPr wrap="square" lIns="0" tIns="0" rIns="0" bIns="0" rtlCol="0" anchor="ctr"/>
          <a:lstStyle/>
          <a:p>
            <a:pPr marL="0" indent="0" algn="ctr">
              <a:buNone/>
            </a:pPr>
            <a:r>
              <a:rPr lang="en-US" sz="1150" dirty="0">
                <a:solidFill>
                  <a:srgbClr val="0A2540"/>
                </a:solidFill>
                <a:latin typeface="Malgun Gothic" pitchFamily="34" charset="0"/>
                <a:ea typeface="Malgun Gothic" pitchFamily="34" charset="-122"/>
                <a:cs typeface="Malgun Gothic" pitchFamily="34" charset="-120"/>
              </a:rPr>
              <a:t>Leaflet</a:t>
            </a:r>
            <a:endParaRPr lang="en-US" sz="1150" dirty="0"/>
          </a:p>
        </p:txBody>
      </p:sp>
      <p:sp>
        <p:nvSpPr>
          <p:cNvPr id="19" name="Shape 17"/>
          <p:cNvSpPr/>
          <p:nvPr/>
        </p:nvSpPr>
        <p:spPr>
          <a:xfrm>
            <a:off x="502920" y="2121408"/>
            <a:ext cx="11201400" cy="0"/>
          </a:xfrm>
          <a:prstGeom prst="line">
            <a:avLst/>
          </a:prstGeom>
          <a:noFill/>
          <a:ln w="6350">
            <a:solidFill>
              <a:srgbClr val="DCE3EA"/>
            </a:solidFill>
            <a:prstDash val="solid"/>
          </a:ln>
        </p:spPr>
      </p:sp>
      <p:sp>
        <p:nvSpPr>
          <p:cNvPr id="20" name="Text 18"/>
          <p:cNvSpPr txBox="1"/>
          <p:nvPr/>
        </p:nvSpPr>
        <p:spPr>
          <a:xfrm>
            <a:off x="502920" y="2240280"/>
            <a:ext cx="2011680" cy="566928"/>
          </a:xfrm>
          <a:prstGeom prst="rect">
            <a:avLst/>
          </a:prstGeom>
          <a:noFill/>
          <a:ln/>
        </p:spPr>
        <p:txBody>
          <a:bodyPr wrap="square" lIns="0" tIns="0" rIns="0" bIns="0" rtlCol="0" anchor="ctr"/>
          <a:lstStyle/>
          <a:p>
            <a:pPr marL="0" indent="0" algn="l">
              <a:buNone/>
            </a:pPr>
            <a:r>
              <a:rPr lang="en-US" sz="1500" b="1" dirty="0">
                <a:solidFill>
                  <a:srgbClr val="0A2540"/>
                </a:solidFill>
                <a:latin typeface="Malgun Gothic" pitchFamily="34" charset="0"/>
                <a:ea typeface="Malgun Gothic" pitchFamily="34" charset="-122"/>
                <a:cs typeface="Malgun Gothic" pitchFamily="34" charset="-120"/>
              </a:rPr>
              <a:t>Backend</a:t>
            </a:r>
            <a:endParaRPr lang="en-US" sz="1500" dirty="0"/>
          </a:p>
        </p:txBody>
      </p:sp>
      <p:sp>
        <p:nvSpPr>
          <p:cNvPr id="21" name="Shape 19"/>
          <p:cNvSpPr/>
          <p:nvPr/>
        </p:nvSpPr>
        <p:spPr>
          <a:xfrm>
            <a:off x="2560320" y="2331720"/>
            <a:ext cx="885505" cy="384048"/>
          </a:xfrm>
          <a:prstGeom prst="roundRect">
            <a:avLst>
              <a:gd name="adj" fmla="val 14286"/>
            </a:avLst>
          </a:prstGeom>
          <a:solidFill>
            <a:srgbClr val="F4F6F8"/>
          </a:solidFill>
          <a:ln w="12700">
            <a:solidFill>
              <a:srgbClr val="F4F6F8"/>
            </a:solidFill>
            <a:prstDash val="solid"/>
          </a:ln>
        </p:spPr>
      </p:sp>
      <p:sp>
        <p:nvSpPr>
          <p:cNvPr id="22" name="Text 20"/>
          <p:cNvSpPr txBox="1"/>
          <p:nvPr/>
        </p:nvSpPr>
        <p:spPr>
          <a:xfrm>
            <a:off x="2560320" y="2331720"/>
            <a:ext cx="885505" cy="384048"/>
          </a:xfrm>
          <a:prstGeom prst="rect">
            <a:avLst/>
          </a:prstGeom>
          <a:noFill/>
          <a:ln/>
        </p:spPr>
        <p:txBody>
          <a:bodyPr wrap="square" lIns="0" tIns="0" rIns="0" bIns="0" rtlCol="0" anchor="ctr"/>
          <a:lstStyle/>
          <a:p>
            <a:pPr marL="0" indent="0" algn="ctr">
              <a:buNone/>
            </a:pPr>
            <a:r>
              <a:rPr lang="en-US" sz="1150" dirty="0">
                <a:solidFill>
                  <a:srgbClr val="0A2540"/>
                </a:solidFill>
                <a:latin typeface="Malgun Gothic" pitchFamily="34" charset="0"/>
                <a:ea typeface="Malgun Gothic" pitchFamily="34" charset="-122"/>
                <a:cs typeface="Malgun Gothic" pitchFamily="34" charset="-120"/>
              </a:rPr>
              <a:t>Java 17</a:t>
            </a:r>
            <a:endParaRPr lang="en-US" sz="1150" dirty="0"/>
          </a:p>
        </p:txBody>
      </p:sp>
      <p:sp>
        <p:nvSpPr>
          <p:cNvPr id="23" name="Shape 21"/>
          <p:cNvSpPr/>
          <p:nvPr/>
        </p:nvSpPr>
        <p:spPr>
          <a:xfrm>
            <a:off x="3573841" y="2331720"/>
            <a:ext cx="1479499" cy="384048"/>
          </a:xfrm>
          <a:prstGeom prst="roundRect">
            <a:avLst>
              <a:gd name="adj" fmla="val 14286"/>
            </a:avLst>
          </a:prstGeom>
          <a:solidFill>
            <a:srgbClr val="F4F6F8"/>
          </a:solidFill>
          <a:ln w="12700">
            <a:solidFill>
              <a:srgbClr val="F4F6F8"/>
            </a:solidFill>
            <a:prstDash val="solid"/>
          </a:ln>
        </p:spPr>
      </p:sp>
      <p:sp>
        <p:nvSpPr>
          <p:cNvPr id="24" name="Text 22"/>
          <p:cNvSpPr txBox="1"/>
          <p:nvPr/>
        </p:nvSpPr>
        <p:spPr>
          <a:xfrm>
            <a:off x="3573841" y="2331720"/>
            <a:ext cx="1479499" cy="384048"/>
          </a:xfrm>
          <a:prstGeom prst="rect">
            <a:avLst/>
          </a:prstGeom>
          <a:noFill/>
          <a:ln/>
        </p:spPr>
        <p:txBody>
          <a:bodyPr wrap="square" lIns="0" tIns="0" rIns="0" bIns="0" rtlCol="0" anchor="ctr"/>
          <a:lstStyle/>
          <a:p>
            <a:pPr marL="0" indent="0" algn="ctr">
              <a:buNone/>
            </a:pPr>
            <a:r>
              <a:rPr lang="en-US" sz="1150" dirty="0">
                <a:solidFill>
                  <a:srgbClr val="0A2540"/>
                </a:solidFill>
                <a:latin typeface="Malgun Gothic" pitchFamily="34" charset="0"/>
                <a:ea typeface="Malgun Gothic" pitchFamily="34" charset="-122"/>
                <a:cs typeface="Malgun Gothic" pitchFamily="34" charset="-120"/>
              </a:rPr>
              <a:t>Spring Boot 3.3</a:t>
            </a:r>
            <a:endParaRPr lang="en-US" sz="1150" dirty="0"/>
          </a:p>
        </p:txBody>
      </p:sp>
      <p:sp>
        <p:nvSpPr>
          <p:cNvPr id="25" name="Shape 23"/>
          <p:cNvSpPr/>
          <p:nvPr/>
        </p:nvSpPr>
        <p:spPr>
          <a:xfrm>
            <a:off x="5181356" y="2331720"/>
            <a:ext cx="1479499" cy="384048"/>
          </a:xfrm>
          <a:prstGeom prst="roundRect">
            <a:avLst>
              <a:gd name="adj" fmla="val 14286"/>
            </a:avLst>
          </a:prstGeom>
          <a:solidFill>
            <a:srgbClr val="F4F6F8"/>
          </a:solidFill>
          <a:ln w="12700">
            <a:solidFill>
              <a:srgbClr val="F4F6F8"/>
            </a:solidFill>
            <a:prstDash val="solid"/>
          </a:ln>
        </p:spPr>
      </p:sp>
      <p:sp>
        <p:nvSpPr>
          <p:cNvPr id="26" name="Text 24"/>
          <p:cNvSpPr txBox="1"/>
          <p:nvPr/>
        </p:nvSpPr>
        <p:spPr>
          <a:xfrm>
            <a:off x="5181356" y="2331720"/>
            <a:ext cx="1479499" cy="384048"/>
          </a:xfrm>
          <a:prstGeom prst="rect">
            <a:avLst/>
          </a:prstGeom>
          <a:noFill/>
          <a:ln/>
        </p:spPr>
        <p:txBody>
          <a:bodyPr wrap="square" lIns="0" tIns="0" rIns="0" bIns="0" rtlCol="0" anchor="ctr"/>
          <a:lstStyle/>
          <a:p>
            <a:pPr marL="0" indent="0" algn="ctr">
              <a:buNone/>
            </a:pPr>
            <a:r>
              <a:rPr lang="en-US" sz="1150" dirty="0">
                <a:solidFill>
                  <a:srgbClr val="0A2540"/>
                </a:solidFill>
                <a:latin typeface="Malgun Gothic" pitchFamily="34" charset="0"/>
                <a:ea typeface="Malgun Gothic" pitchFamily="34" charset="-122"/>
                <a:cs typeface="Malgun Gothic" pitchFamily="34" charset="-120"/>
              </a:rPr>
              <a:t>Spring Security</a:t>
            </a:r>
            <a:endParaRPr lang="en-US" sz="1150" dirty="0"/>
          </a:p>
        </p:txBody>
      </p:sp>
      <p:sp>
        <p:nvSpPr>
          <p:cNvPr id="27" name="Shape 25"/>
          <p:cNvSpPr/>
          <p:nvPr/>
        </p:nvSpPr>
        <p:spPr>
          <a:xfrm>
            <a:off x="6788871" y="2331720"/>
            <a:ext cx="1479499" cy="384048"/>
          </a:xfrm>
          <a:prstGeom prst="roundRect">
            <a:avLst>
              <a:gd name="adj" fmla="val 14286"/>
            </a:avLst>
          </a:prstGeom>
          <a:solidFill>
            <a:srgbClr val="F4F6F8"/>
          </a:solidFill>
          <a:ln w="12700">
            <a:solidFill>
              <a:srgbClr val="F4F6F8"/>
            </a:solidFill>
            <a:prstDash val="solid"/>
          </a:ln>
        </p:spPr>
      </p:sp>
      <p:sp>
        <p:nvSpPr>
          <p:cNvPr id="28" name="Text 26"/>
          <p:cNvSpPr txBox="1"/>
          <p:nvPr/>
        </p:nvSpPr>
        <p:spPr>
          <a:xfrm>
            <a:off x="6788871" y="2331720"/>
            <a:ext cx="1479499" cy="384048"/>
          </a:xfrm>
          <a:prstGeom prst="rect">
            <a:avLst/>
          </a:prstGeom>
          <a:noFill/>
          <a:ln/>
        </p:spPr>
        <p:txBody>
          <a:bodyPr wrap="square" lIns="0" tIns="0" rIns="0" bIns="0" rtlCol="0" anchor="ctr"/>
          <a:lstStyle/>
          <a:p>
            <a:pPr marL="0" indent="0" algn="ctr">
              <a:buNone/>
            </a:pPr>
            <a:r>
              <a:rPr lang="en-US" sz="1150" dirty="0">
                <a:solidFill>
                  <a:srgbClr val="0A2540"/>
                </a:solidFill>
                <a:latin typeface="Malgun Gothic" pitchFamily="34" charset="0"/>
                <a:ea typeface="Malgun Gothic" pitchFamily="34" charset="-122"/>
                <a:cs typeface="Malgun Gothic" pitchFamily="34" charset="-120"/>
              </a:rPr>
              <a:t>Spring Data JPA</a:t>
            </a:r>
            <a:endParaRPr lang="en-US" sz="1150" dirty="0"/>
          </a:p>
        </p:txBody>
      </p:sp>
      <p:sp>
        <p:nvSpPr>
          <p:cNvPr id="29" name="Shape 27"/>
          <p:cNvSpPr/>
          <p:nvPr/>
        </p:nvSpPr>
        <p:spPr>
          <a:xfrm>
            <a:off x="8396387" y="2331720"/>
            <a:ext cx="959754" cy="384048"/>
          </a:xfrm>
          <a:prstGeom prst="roundRect">
            <a:avLst>
              <a:gd name="adj" fmla="val 14286"/>
            </a:avLst>
          </a:prstGeom>
          <a:solidFill>
            <a:srgbClr val="F4F6F8"/>
          </a:solidFill>
          <a:ln w="12700">
            <a:solidFill>
              <a:srgbClr val="F4F6F8"/>
            </a:solidFill>
            <a:prstDash val="solid"/>
          </a:ln>
        </p:spPr>
      </p:sp>
      <p:sp>
        <p:nvSpPr>
          <p:cNvPr id="30" name="Text 28"/>
          <p:cNvSpPr txBox="1"/>
          <p:nvPr/>
        </p:nvSpPr>
        <p:spPr>
          <a:xfrm>
            <a:off x="8396387" y="2331720"/>
            <a:ext cx="959754" cy="384048"/>
          </a:xfrm>
          <a:prstGeom prst="rect">
            <a:avLst/>
          </a:prstGeom>
          <a:noFill/>
          <a:ln/>
        </p:spPr>
        <p:txBody>
          <a:bodyPr wrap="square" lIns="0" tIns="0" rIns="0" bIns="0" rtlCol="0" anchor="ctr"/>
          <a:lstStyle/>
          <a:p>
            <a:pPr marL="0" indent="0" algn="ctr">
              <a:buNone/>
            </a:pPr>
            <a:r>
              <a:rPr lang="en-US" sz="1150" dirty="0">
                <a:solidFill>
                  <a:srgbClr val="0A2540"/>
                </a:solidFill>
                <a:latin typeface="Malgun Gothic" pitchFamily="34" charset="0"/>
                <a:ea typeface="Malgun Gothic" pitchFamily="34" charset="-122"/>
                <a:cs typeface="Malgun Gothic" pitchFamily="34" charset="-120"/>
              </a:rPr>
              <a:t>QueryDSL</a:t>
            </a:r>
            <a:endParaRPr lang="en-US" sz="1150" dirty="0"/>
          </a:p>
        </p:txBody>
      </p:sp>
      <p:sp>
        <p:nvSpPr>
          <p:cNvPr id="31" name="Shape 29"/>
          <p:cNvSpPr/>
          <p:nvPr/>
        </p:nvSpPr>
        <p:spPr>
          <a:xfrm>
            <a:off x="9484157" y="2331720"/>
            <a:ext cx="811256" cy="384048"/>
          </a:xfrm>
          <a:prstGeom prst="roundRect">
            <a:avLst>
              <a:gd name="adj" fmla="val 14286"/>
            </a:avLst>
          </a:prstGeom>
          <a:solidFill>
            <a:srgbClr val="F4F6F8"/>
          </a:solidFill>
          <a:ln w="12700">
            <a:solidFill>
              <a:srgbClr val="F4F6F8"/>
            </a:solidFill>
            <a:prstDash val="solid"/>
          </a:ln>
        </p:spPr>
      </p:sp>
      <p:sp>
        <p:nvSpPr>
          <p:cNvPr id="32" name="Text 30"/>
          <p:cNvSpPr txBox="1"/>
          <p:nvPr/>
        </p:nvSpPr>
        <p:spPr>
          <a:xfrm>
            <a:off x="9484157" y="2331720"/>
            <a:ext cx="811256" cy="384048"/>
          </a:xfrm>
          <a:prstGeom prst="rect">
            <a:avLst/>
          </a:prstGeom>
          <a:noFill/>
          <a:ln/>
        </p:spPr>
        <p:txBody>
          <a:bodyPr wrap="square" lIns="0" tIns="0" rIns="0" bIns="0" rtlCol="0" anchor="ctr"/>
          <a:lstStyle/>
          <a:p>
            <a:pPr marL="0" indent="0" algn="ctr">
              <a:buNone/>
            </a:pPr>
            <a:r>
              <a:rPr lang="en-US" sz="1150" dirty="0">
                <a:solidFill>
                  <a:srgbClr val="0A2540"/>
                </a:solidFill>
                <a:latin typeface="Malgun Gothic" pitchFamily="34" charset="0"/>
                <a:ea typeface="Malgun Gothic" pitchFamily="34" charset="-122"/>
                <a:cs typeface="Malgun Gothic" pitchFamily="34" charset="-120"/>
              </a:rPr>
              <a:t>Gradle</a:t>
            </a:r>
            <a:endParaRPr lang="en-US" sz="1150" dirty="0"/>
          </a:p>
        </p:txBody>
      </p:sp>
      <p:sp>
        <p:nvSpPr>
          <p:cNvPr id="33" name="Shape 31"/>
          <p:cNvSpPr/>
          <p:nvPr/>
        </p:nvSpPr>
        <p:spPr>
          <a:xfrm>
            <a:off x="502920" y="2898648"/>
            <a:ext cx="11201400" cy="0"/>
          </a:xfrm>
          <a:prstGeom prst="line">
            <a:avLst/>
          </a:prstGeom>
          <a:noFill/>
          <a:ln w="6350">
            <a:solidFill>
              <a:srgbClr val="DCE3EA"/>
            </a:solidFill>
            <a:prstDash val="solid"/>
          </a:ln>
        </p:spPr>
      </p:sp>
      <p:sp>
        <p:nvSpPr>
          <p:cNvPr id="34" name="Text 32"/>
          <p:cNvSpPr txBox="1"/>
          <p:nvPr/>
        </p:nvSpPr>
        <p:spPr>
          <a:xfrm>
            <a:off x="502920" y="3017520"/>
            <a:ext cx="2011680" cy="566928"/>
          </a:xfrm>
          <a:prstGeom prst="rect">
            <a:avLst/>
          </a:prstGeom>
          <a:noFill/>
          <a:ln/>
        </p:spPr>
        <p:txBody>
          <a:bodyPr wrap="square" lIns="0" tIns="0" rIns="0" bIns="0" rtlCol="0" anchor="ctr"/>
          <a:lstStyle/>
          <a:p>
            <a:pPr marL="0" indent="0" algn="l">
              <a:buNone/>
            </a:pPr>
            <a:r>
              <a:rPr lang="en-US" sz="1500" b="1" dirty="0">
                <a:solidFill>
                  <a:srgbClr val="0A2540"/>
                </a:solidFill>
                <a:latin typeface="Malgun Gothic" pitchFamily="34" charset="0"/>
                <a:ea typeface="Malgun Gothic" pitchFamily="34" charset="-122"/>
                <a:cs typeface="Malgun Gothic" pitchFamily="34" charset="-120"/>
              </a:rPr>
              <a:t>Database</a:t>
            </a:r>
            <a:endParaRPr lang="en-US" sz="1500" dirty="0"/>
          </a:p>
        </p:txBody>
      </p:sp>
      <p:sp>
        <p:nvSpPr>
          <p:cNvPr id="35" name="Shape 33"/>
          <p:cNvSpPr/>
          <p:nvPr/>
        </p:nvSpPr>
        <p:spPr>
          <a:xfrm>
            <a:off x="2560320" y="3108960"/>
            <a:ext cx="1108253" cy="384048"/>
          </a:xfrm>
          <a:prstGeom prst="roundRect">
            <a:avLst>
              <a:gd name="adj" fmla="val 14286"/>
            </a:avLst>
          </a:prstGeom>
          <a:solidFill>
            <a:srgbClr val="F4F6F8"/>
          </a:solidFill>
          <a:ln w="12700">
            <a:solidFill>
              <a:srgbClr val="F4F6F8"/>
            </a:solidFill>
            <a:prstDash val="solid"/>
          </a:ln>
        </p:spPr>
      </p:sp>
      <p:sp>
        <p:nvSpPr>
          <p:cNvPr id="36" name="Text 34"/>
          <p:cNvSpPr txBox="1"/>
          <p:nvPr/>
        </p:nvSpPr>
        <p:spPr>
          <a:xfrm>
            <a:off x="2560320" y="3108960"/>
            <a:ext cx="1108253" cy="384048"/>
          </a:xfrm>
          <a:prstGeom prst="rect">
            <a:avLst/>
          </a:prstGeom>
          <a:noFill/>
          <a:ln/>
        </p:spPr>
        <p:txBody>
          <a:bodyPr wrap="square" lIns="0" tIns="0" rIns="0" bIns="0" rtlCol="0" anchor="ctr"/>
          <a:lstStyle/>
          <a:p>
            <a:pPr marL="0" indent="0" algn="ctr">
              <a:buNone/>
            </a:pPr>
            <a:r>
              <a:rPr lang="en-US" sz="1150" dirty="0">
                <a:solidFill>
                  <a:srgbClr val="0A2540"/>
                </a:solidFill>
                <a:latin typeface="Malgun Gothic" pitchFamily="34" charset="0"/>
                <a:ea typeface="Malgun Gothic" pitchFamily="34" charset="-122"/>
                <a:cs typeface="Malgun Gothic" pitchFamily="34" charset="-120"/>
              </a:rPr>
              <a:t>PostgreSQL</a:t>
            </a:r>
            <a:endParaRPr lang="en-US" sz="1150" dirty="0"/>
          </a:p>
        </p:txBody>
      </p:sp>
      <p:sp>
        <p:nvSpPr>
          <p:cNvPr id="37" name="Shape 35"/>
          <p:cNvSpPr/>
          <p:nvPr/>
        </p:nvSpPr>
        <p:spPr>
          <a:xfrm>
            <a:off x="3796589" y="3108960"/>
            <a:ext cx="811256" cy="384048"/>
          </a:xfrm>
          <a:prstGeom prst="roundRect">
            <a:avLst>
              <a:gd name="adj" fmla="val 14286"/>
            </a:avLst>
          </a:prstGeom>
          <a:solidFill>
            <a:srgbClr val="F4F6F8"/>
          </a:solidFill>
          <a:ln w="12700">
            <a:solidFill>
              <a:srgbClr val="F4F6F8"/>
            </a:solidFill>
            <a:prstDash val="solid"/>
          </a:ln>
        </p:spPr>
      </p:sp>
      <p:sp>
        <p:nvSpPr>
          <p:cNvPr id="38" name="Text 36"/>
          <p:cNvSpPr txBox="1"/>
          <p:nvPr/>
        </p:nvSpPr>
        <p:spPr>
          <a:xfrm>
            <a:off x="3796589" y="3108960"/>
            <a:ext cx="811256" cy="384048"/>
          </a:xfrm>
          <a:prstGeom prst="rect">
            <a:avLst/>
          </a:prstGeom>
          <a:noFill/>
          <a:ln/>
        </p:spPr>
        <p:txBody>
          <a:bodyPr wrap="square" lIns="0" tIns="0" rIns="0" bIns="0" rtlCol="0" anchor="ctr"/>
          <a:lstStyle/>
          <a:p>
            <a:pPr marL="0" indent="0" algn="ctr">
              <a:buNone/>
            </a:pPr>
            <a:r>
              <a:rPr lang="en-US" sz="1150" dirty="0">
                <a:solidFill>
                  <a:srgbClr val="0A2540"/>
                </a:solidFill>
                <a:latin typeface="Malgun Gothic" pitchFamily="34" charset="0"/>
                <a:ea typeface="Malgun Gothic" pitchFamily="34" charset="-122"/>
                <a:cs typeface="Malgun Gothic" pitchFamily="34" charset="-120"/>
              </a:rPr>
              <a:t>pg8000</a:t>
            </a:r>
            <a:endParaRPr lang="en-US" sz="1150" dirty="0"/>
          </a:p>
        </p:txBody>
      </p:sp>
      <p:sp>
        <p:nvSpPr>
          <p:cNvPr id="39" name="Shape 37"/>
          <p:cNvSpPr/>
          <p:nvPr/>
        </p:nvSpPr>
        <p:spPr>
          <a:xfrm>
            <a:off x="502920" y="3675888"/>
            <a:ext cx="11201400" cy="0"/>
          </a:xfrm>
          <a:prstGeom prst="line">
            <a:avLst/>
          </a:prstGeom>
          <a:noFill/>
          <a:ln w="6350">
            <a:solidFill>
              <a:srgbClr val="DCE3EA"/>
            </a:solidFill>
            <a:prstDash val="solid"/>
          </a:ln>
        </p:spPr>
      </p:sp>
      <p:sp>
        <p:nvSpPr>
          <p:cNvPr id="40" name="Text 38"/>
          <p:cNvSpPr txBox="1"/>
          <p:nvPr/>
        </p:nvSpPr>
        <p:spPr>
          <a:xfrm>
            <a:off x="502920" y="3794760"/>
            <a:ext cx="2011680" cy="566928"/>
          </a:xfrm>
          <a:prstGeom prst="rect">
            <a:avLst/>
          </a:prstGeom>
          <a:noFill/>
          <a:ln/>
        </p:spPr>
        <p:txBody>
          <a:bodyPr wrap="square" lIns="0" tIns="0" rIns="0" bIns="0" rtlCol="0" anchor="ctr"/>
          <a:lstStyle/>
          <a:p>
            <a:pPr marL="0" indent="0" algn="l">
              <a:buNone/>
            </a:pPr>
            <a:r>
              <a:rPr lang="en-US" sz="1500" b="1" dirty="0">
                <a:solidFill>
                  <a:srgbClr val="0A2540"/>
                </a:solidFill>
                <a:latin typeface="Malgun Gothic" pitchFamily="34" charset="0"/>
                <a:ea typeface="Malgun Gothic" pitchFamily="34" charset="-122"/>
                <a:cs typeface="Malgun Gothic" pitchFamily="34" charset="-120"/>
              </a:rPr>
              <a:t>AI</a:t>
            </a:r>
            <a:endParaRPr lang="en-US" sz="1500" dirty="0"/>
          </a:p>
        </p:txBody>
      </p:sp>
      <p:sp>
        <p:nvSpPr>
          <p:cNvPr id="41" name="Shape 39"/>
          <p:cNvSpPr/>
          <p:nvPr/>
        </p:nvSpPr>
        <p:spPr>
          <a:xfrm>
            <a:off x="2560320" y="3886200"/>
            <a:ext cx="811256" cy="384048"/>
          </a:xfrm>
          <a:prstGeom prst="roundRect">
            <a:avLst>
              <a:gd name="adj" fmla="val 14286"/>
            </a:avLst>
          </a:prstGeom>
          <a:solidFill>
            <a:srgbClr val="F4F6F8"/>
          </a:solidFill>
          <a:ln w="12700">
            <a:solidFill>
              <a:srgbClr val="F4F6F8"/>
            </a:solidFill>
            <a:prstDash val="solid"/>
          </a:ln>
        </p:spPr>
      </p:sp>
      <p:sp>
        <p:nvSpPr>
          <p:cNvPr id="42" name="Text 40"/>
          <p:cNvSpPr txBox="1"/>
          <p:nvPr/>
        </p:nvSpPr>
        <p:spPr>
          <a:xfrm>
            <a:off x="2560320" y="3886200"/>
            <a:ext cx="811256" cy="384048"/>
          </a:xfrm>
          <a:prstGeom prst="rect">
            <a:avLst/>
          </a:prstGeom>
          <a:noFill/>
          <a:ln/>
        </p:spPr>
        <p:txBody>
          <a:bodyPr wrap="square" lIns="0" tIns="0" rIns="0" bIns="0" rtlCol="0" anchor="ctr"/>
          <a:lstStyle/>
          <a:p>
            <a:pPr marL="0" indent="0" algn="ctr">
              <a:buNone/>
            </a:pPr>
            <a:r>
              <a:rPr lang="en-US" sz="1150" dirty="0">
                <a:solidFill>
                  <a:srgbClr val="0A2540"/>
                </a:solidFill>
                <a:latin typeface="Malgun Gothic" pitchFamily="34" charset="0"/>
                <a:ea typeface="Malgun Gothic" pitchFamily="34" charset="-122"/>
                <a:cs typeface="Malgun Gothic" pitchFamily="34" charset="-120"/>
              </a:rPr>
              <a:t>Python</a:t>
            </a:r>
            <a:endParaRPr lang="en-US" sz="1150" dirty="0"/>
          </a:p>
        </p:txBody>
      </p:sp>
      <p:sp>
        <p:nvSpPr>
          <p:cNvPr id="43" name="Shape 41"/>
          <p:cNvSpPr/>
          <p:nvPr/>
        </p:nvSpPr>
        <p:spPr>
          <a:xfrm>
            <a:off x="3499592" y="3886200"/>
            <a:ext cx="811256" cy="384048"/>
          </a:xfrm>
          <a:prstGeom prst="roundRect">
            <a:avLst>
              <a:gd name="adj" fmla="val 14286"/>
            </a:avLst>
          </a:prstGeom>
          <a:solidFill>
            <a:srgbClr val="F4F6F8"/>
          </a:solidFill>
          <a:ln w="12700">
            <a:solidFill>
              <a:srgbClr val="F4F6F8"/>
            </a:solidFill>
            <a:prstDash val="solid"/>
          </a:ln>
        </p:spPr>
      </p:sp>
      <p:sp>
        <p:nvSpPr>
          <p:cNvPr id="44" name="Text 42"/>
          <p:cNvSpPr txBox="1"/>
          <p:nvPr/>
        </p:nvSpPr>
        <p:spPr>
          <a:xfrm>
            <a:off x="3499592" y="3886200"/>
            <a:ext cx="811256" cy="384048"/>
          </a:xfrm>
          <a:prstGeom prst="rect">
            <a:avLst/>
          </a:prstGeom>
          <a:noFill/>
          <a:ln/>
        </p:spPr>
        <p:txBody>
          <a:bodyPr wrap="square" lIns="0" tIns="0" rIns="0" bIns="0" rtlCol="0" anchor="ctr"/>
          <a:lstStyle/>
          <a:p>
            <a:pPr marL="0" indent="0" algn="ctr">
              <a:buNone/>
            </a:pPr>
            <a:r>
              <a:rPr lang="en-US" sz="1150" dirty="0">
                <a:solidFill>
                  <a:srgbClr val="0A2540"/>
                </a:solidFill>
                <a:latin typeface="Malgun Gothic" pitchFamily="34" charset="0"/>
                <a:ea typeface="Malgun Gothic" pitchFamily="34" charset="-122"/>
                <a:cs typeface="Malgun Gothic" pitchFamily="34" charset="-120"/>
              </a:rPr>
              <a:t>YOLO11</a:t>
            </a:r>
            <a:endParaRPr lang="en-US" sz="1150" dirty="0"/>
          </a:p>
        </p:txBody>
      </p:sp>
      <p:sp>
        <p:nvSpPr>
          <p:cNvPr id="45" name="Shape 43"/>
          <p:cNvSpPr/>
          <p:nvPr/>
        </p:nvSpPr>
        <p:spPr>
          <a:xfrm>
            <a:off x="4438863" y="3886200"/>
            <a:ext cx="1108253" cy="384048"/>
          </a:xfrm>
          <a:prstGeom prst="roundRect">
            <a:avLst>
              <a:gd name="adj" fmla="val 14286"/>
            </a:avLst>
          </a:prstGeom>
          <a:solidFill>
            <a:srgbClr val="F4F6F8"/>
          </a:solidFill>
          <a:ln w="12700">
            <a:solidFill>
              <a:srgbClr val="F4F6F8"/>
            </a:solidFill>
            <a:prstDash val="solid"/>
          </a:ln>
        </p:spPr>
      </p:sp>
      <p:sp>
        <p:nvSpPr>
          <p:cNvPr id="46" name="Text 44"/>
          <p:cNvSpPr txBox="1"/>
          <p:nvPr/>
        </p:nvSpPr>
        <p:spPr>
          <a:xfrm>
            <a:off x="4438863" y="3886200"/>
            <a:ext cx="1108253" cy="384048"/>
          </a:xfrm>
          <a:prstGeom prst="rect">
            <a:avLst/>
          </a:prstGeom>
          <a:noFill/>
          <a:ln/>
        </p:spPr>
        <p:txBody>
          <a:bodyPr wrap="square" lIns="0" tIns="0" rIns="0" bIns="0" rtlCol="0" anchor="ctr"/>
          <a:lstStyle/>
          <a:p>
            <a:pPr marL="0" indent="0" algn="ctr">
              <a:buNone/>
            </a:pPr>
            <a:r>
              <a:rPr lang="en-US" sz="1150" dirty="0">
                <a:solidFill>
                  <a:srgbClr val="0A2540"/>
                </a:solidFill>
                <a:latin typeface="Malgun Gothic" pitchFamily="34" charset="0"/>
                <a:ea typeface="Malgun Gothic" pitchFamily="34" charset="-122"/>
                <a:cs typeface="Malgun Gothic" pitchFamily="34" charset="-120"/>
              </a:rPr>
              <a:t>CRNN + CTC</a:t>
            </a:r>
            <a:endParaRPr lang="en-US" sz="1150" dirty="0"/>
          </a:p>
        </p:txBody>
      </p:sp>
      <p:sp>
        <p:nvSpPr>
          <p:cNvPr id="47" name="Shape 45"/>
          <p:cNvSpPr/>
          <p:nvPr/>
        </p:nvSpPr>
        <p:spPr>
          <a:xfrm>
            <a:off x="5675132" y="3886200"/>
            <a:ext cx="1405250" cy="384048"/>
          </a:xfrm>
          <a:prstGeom prst="roundRect">
            <a:avLst>
              <a:gd name="adj" fmla="val 14286"/>
            </a:avLst>
          </a:prstGeom>
          <a:solidFill>
            <a:srgbClr val="F4F6F8"/>
          </a:solidFill>
          <a:ln w="12700">
            <a:solidFill>
              <a:srgbClr val="F4F6F8"/>
            </a:solidFill>
            <a:prstDash val="solid"/>
          </a:ln>
        </p:spPr>
      </p:sp>
      <p:sp>
        <p:nvSpPr>
          <p:cNvPr id="48" name="Text 46"/>
          <p:cNvSpPr txBox="1"/>
          <p:nvPr/>
        </p:nvSpPr>
        <p:spPr>
          <a:xfrm>
            <a:off x="5675132" y="3886200"/>
            <a:ext cx="1405250" cy="384048"/>
          </a:xfrm>
          <a:prstGeom prst="rect">
            <a:avLst/>
          </a:prstGeom>
          <a:noFill/>
          <a:ln/>
        </p:spPr>
        <p:txBody>
          <a:bodyPr wrap="square" lIns="0" tIns="0" rIns="0" bIns="0" rtlCol="0" anchor="ctr"/>
          <a:lstStyle/>
          <a:p>
            <a:pPr marL="0" indent="0" algn="ctr">
              <a:buNone/>
            </a:pPr>
            <a:r>
              <a:rPr lang="en-US" sz="1150" dirty="0">
                <a:solidFill>
                  <a:srgbClr val="0A2540"/>
                </a:solidFill>
                <a:latin typeface="Malgun Gothic" pitchFamily="34" charset="0"/>
                <a:ea typeface="Malgun Gothic" pitchFamily="34" charset="-122"/>
                <a:cs typeface="Malgun Gothic" pitchFamily="34" charset="-120"/>
              </a:rPr>
              <a:t>PyTorch · CUDA</a:t>
            </a:r>
            <a:endParaRPr lang="en-US" sz="1150" dirty="0"/>
          </a:p>
        </p:txBody>
      </p:sp>
      <p:sp>
        <p:nvSpPr>
          <p:cNvPr id="49" name="Shape 47"/>
          <p:cNvSpPr/>
          <p:nvPr/>
        </p:nvSpPr>
        <p:spPr>
          <a:xfrm>
            <a:off x="7208398" y="3886200"/>
            <a:ext cx="811256" cy="384048"/>
          </a:xfrm>
          <a:prstGeom prst="roundRect">
            <a:avLst>
              <a:gd name="adj" fmla="val 14286"/>
            </a:avLst>
          </a:prstGeom>
          <a:solidFill>
            <a:srgbClr val="F4F6F8"/>
          </a:solidFill>
          <a:ln w="12700">
            <a:solidFill>
              <a:srgbClr val="F4F6F8"/>
            </a:solidFill>
            <a:prstDash val="solid"/>
          </a:ln>
        </p:spPr>
      </p:sp>
      <p:sp>
        <p:nvSpPr>
          <p:cNvPr id="50" name="Text 48"/>
          <p:cNvSpPr txBox="1"/>
          <p:nvPr/>
        </p:nvSpPr>
        <p:spPr>
          <a:xfrm>
            <a:off x="7208398" y="3886200"/>
            <a:ext cx="811256" cy="384048"/>
          </a:xfrm>
          <a:prstGeom prst="rect">
            <a:avLst/>
          </a:prstGeom>
          <a:noFill/>
          <a:ln/>
        </p:spPr>
        <p:txBody>
          <a:bodyPr wrap="square" lIns="0" tIns="0" rIns="0" bIns="0" rtlCol="0" anchor="ctr"/>
          <a:lstStyle/>
          <a:p>
            <a:pPr marL="0" indent="0" algn="ctr">
              <a:buNone/>
            </a:pPr>
            <a:r>
              <a:rPr lang="en-US" sz="1150" dirty="0">
                <a:solidFill>
                  <a:srgbClr val="0A2540"/>
                </a:solidFill>
                <a:latin typeface="Malgun Gothic" pitchFamily="34" charset="0"/>
                <a:ea typeface="Malgun Gothic" pitchFamily="34" charset="-122"/>
                <a:cs typeface="Malgun Gothic" pitchFamily="34" charset="-120"/>
              </a:rPr>
              <a:t>OpenCV</a:t>
            </a:r>
            <a:endParaRPr lang="en-US" sz="1150" dirty="0"/>
          </a:p>
        </p:txBody>
      </p:sp>
      <p:sp>
        <p:nvSpPr>
          <p:cNvPr id="51" name="Shape 49"/>
          <p:cNvSpPr/>
          <p:nvPr/>
        </p:nvSpPr>
        <p:spPr>
          <a:xfrm>
            <a:off x="8147670" y="3886200"/>
            <a:ext cx="885505" cy="384048"/>
          </a:xfrm>
          <a:prstGeom prst="roundRect">
            <a:avLst>
              <a:gd name="adj" fmla="val 14286"/>
            </a:avLst>
          </a:prstGeom>
          <a:solidFill>
            <a:srgbClr val="F4F6F8"/>
          </a:solidFill>
          <a:ln w="12700">
            <a:solidFill>
              <a:srgbClr val="F4F6F8"/>
            </a:solidFill>
            <a:prstDash val="solid"/>
          </a:ln>
        </p:spPr>
      </p:sp>
      <p:sp>
        <p:nvSpPr>
          <p:cNvPr id="52" name="Text 50"/>
          <p:cNvSpPr txBox="1"/>
          <p:nvPr/>
        </p:nvSpPr>
        <p:spPr>
          <a:xfrm>
            <a:off x="8147670" y="3886200"/>
            <a:ext cx="885505" cy="384048"/>
          </a:xfrm>
          <a:prstGeom prst="rect">
            <a:avLst/>
          </a:prstGeom>
          <a:noFill/>
          <a:ln/>
        </p:spPr>
        <p:txBody>
          <a:bodyPr wrap="square" lIns="0" tIns="0" rIns="0" bIns="0" rtlCol="0" anchor="ctr"/>
          <a:lstStyle/>
          <a:p>
            <a:pPr marL="0" indent="0" algn="ctr">
              <a:buNone/>
            </a:pPr>
            <a:r>
              <a:rPr lang="en-US" sz="1150" dirty="0">
                <a:solidFill>
                  <a:srgbClr val="0A2540"/>
                </a:solidFill>
                <a:latin typeface="Malgun Gothic" pitchFamily="34" charset="0"/>
                <a:ea typeface="Malgun Gothic" pitchFamily="34" charset="-122"/>
                <a:cs typeface="Malgun Gothic" pitchFamily="34" charset="-120"/>
              </a:rPr>
              <a:t>FastAPI</a:t>
            </a:r>
            <a:endParaRPr lang="en-US" sz="1150" dirty="0"/>
          </a:p>
        </p:txBody>
      </p:sp>
      <p:sp>
        <p:nvSpPr>
          <p:cNvPr id="53" name="Shape 51"/>
          <p:cNvSpPr/>
          <p:nvPr/>
        </p:nvSpPr>
        <p:spPr>
          <a:xfrm>
            <a:off x="9161191" y="3886200"/>
            <a:ext cx="959754" cy="384048"/>
          </a:xfrm>
          <a:prstGeom prst="roundRect">
            <a:avLst>
              <a:gd name="adj" fmla="val 14286"/>
            </a:avLst>
          </a:prstGeom>
          <a:solidFill>
            <a:srgbClr val="F4F6F8"/>
          </a:solidFill>
          <a:ln w="12700">
            <a:solidFill>
              <a:srgbClr val="F4F6F8"/>
            </a:solidFill>
            <a:prstDash val="solid"/>
          </a:ln>
        </p:spPr>
      </p:sp>
      <p:sp>
        <p:nvSpPr>
          <p:cNvPr id="54" name="Text 52"/>
          <p:cNvSpPr txBox="1"/>
          <p:nvPr/>
        </p:nvSpPr>
        <p:spPr>
          <a:xfrm>
            <a:off x="9161191" y="3886200"/>
            <a:ext cx="959754" cy="384048"/>
          </a:xfrm>
          <a:prstGeom prst="rect">
            <a:avLst/>
          </a:prstGeom>
          <a:noFill/>
          <a:ln/>
        </p:spPr>
        <p:txBody>
          <a:bodyPr wrap="square" lIns="0" tIns="0" rIns="0" bIns="0" rtlCol="0" anchor="ctr"/>
          <a:lstStyle/>
          <a:p>
            <a:pPr marL="0" indent="0" algn="ctr">
              <a:buNone/>
            </a:pPr>
            <a:r>
              <a:rPr lang="en-US" sz="1150" dirty="0">
                <a:solidFill>
                  <a:srgbClr val="0A2540"/>
                </a:solidFill>
                <a:latin typeface="Malgun Gothic" pitchFamily="34" charset="0"/>
                <a:ea typeface="Malgun Gothic" pitchFamily="34" charset="-122"/>
                <a:cs typeface="Malgun Gothic" pitchFamily="34" charset="-120"/>
              </a:rPr>
              <a:t>Roboflow</a:t>
            </a:r>
            <a:endParaRPr lang="en-US" sz="1150" dirty="0"/>
          </a:p>
        </p:txBody>
      </p:sp>
      <p:sp>
        <p:nvSpPr>
          <p:cNvPr id="55" name="Shape 53"/>
          <p:cNvSpPr/>
          <p:nvPr/>
        </p:nvSpPr>
        <p:spPr>
          <a:xfrm>
            <a:off x="502920" y="4453128"/>
            <a:ext cx="11201400" cy="0"/>
          </a:xfrm>
          <a:prstGeom prst="line">
            <a:avLst/>
          </a:prstGeom>
          <a:noFill/>
          <a:ln w="6350">
            <a:solidFill>
              <a:srgbClr val="DCE3EA"/>
            </a:solidFill>
            <a:prstDash val="solid"/>
          </a:ln>
        </p:spPr>
      </p:sp>
      <p:sp>
        <p:nvSpPr>
          <p:cNvPr id="56" name="Text 54"/>
          <p:cNvSpPr txBox="1"/>
          <p:nvPr/>
        </p:nvSpPr>
        <p:spPr>
          <a:xfrm>
            <a:off x="502920" y="4572000"/>
            <a:ext cx="2011680" cy="566928"/>
          </a:xfrm>
          <a:prstGeom prst="rect">
            <a:avLst/>
          </a:prstGeom>
          <a:noFill/>
          <a:ln/>
        </p:spPr>
        <p:txBody>
          <a:bodyPr wrap="square" lIns="0" tIns="0" rIns="0" bIns="0" rtlCol="0" anchor="ctr"/>
          <a:lstStyle/>
          <a:p>
            <a:pPr marL="0" indent="0" algn="l">
              <a:buNone/>
            </a:pPr>
            <a:r>
              <a:rPr lang="en-US" sz="1500" b="1" dirty="0">
                <a:solidFill>
                  <a:srgbClr val="0A2540"/>
                </a:solidFill>
                <a:latin typeface="Malgun Gothic" pitchFamily="34" charset="0"/>
                <a:ea typeface="Malgun Gothic" pitchFamily="34" charset="-122"/>
                <a:cs typeface="Malgun Gothic" pitchFamily="34" charset="-120"/>
              </a:rPr>
              <a:t>External</a:t>
            </a:r>
            <a:endParaRPr lang="en-US" sz="1500" dirty="0"/>
          </a:p>
        </p:txBody>
      </p:sp>
      <p:sp>
        <p:nvSpPr>
          <p:cNvPr id="57" name="Shape 55"/>
          <p:cNvSpPr/>
          <p:nvPr/>
        </p:nvSpPr>
        <p:spPr>
          <a:xfrm>
            <a:off x="2560320" y="4663440"/>
            <a:ext cx="1331001" cy="384048"/>
          </a:xfrm>
          <a:prstGeom prst="roundRect">
            <a:avLst>
              <a:gd name="adj" fmla="val 14286"/>
            </a:avLst>
          </a:prstGeom>
          <a:solidFill>
            <a:srgbClr val="F4F6F8"/>
          </a:solidFill>
          <a:ln w="12700">
            <a:solidFill>
              <a:srgbClr val="F4F6F8"/>
            </a:solidFill>
            <a:prstDash val="solid"/>
          </a:ln>
        </p:spPr>
      </p:sp>
      <p:sp>
        <p:nvSpPr>
          <p:cNvPr id="58" name="Text 56"/>
          <p:cNvSpPr txBox="1"/>
          <p:nvPr/>
        </p:nvSpPr>
        <p:spPr>
          <a:xfrm>
            <a:off x="2560320" y="4663440"/>
            <a:ext cx="1331001" cy="384048"/>
          </a:xfrm>
          <a:prstGeom prst="rect">
            <a:avLst/>
          </a:prstGeom>
          <a:noFill/>
          <a:ln/>
        </p:spPr>
        <p:txBody>
          <a:bodyPr wrap="square" lIns="0" tIns="0" rIns="0" bIns="0" rtlCol="0" anchor="ctr"/>
          <a:lstStyle/>
          <a:p>
            <a:pPr marL="0" indent="0" algn="ctr">
              <a:buNone/>
            </a:pPr>
            <a:r>
              <a:rPr lang="en-US" sz="1150" dirty="0">
                <a:solidFill>
                  <a:srgbClr val="0A2540"/>
                </a:solidFill>
                <a:latin typeface="Malgun Gothic" pitchFamily="34" charset="0"/>
                <a:ea typeface="Malgun Gothic" pitchFamily="34" charset="-122"/>
                <a:cs typeface="Malgun Gothic" pitchFamily="34" charset="-120"/>
              </a:rPr>
              <a:t>OpenStreetMap</a:t>
            </a:r>
            <a:endParaRPr lang="en-US" sz="1150" dirty="0"/>
          </a:p>
        </p:txBody>
      </p:sp>
      <p:sp>
        <p:nvSpPr>
          <p:cNvPr id="59" name="Shape 57"/>
          <p:cNvSpPr/>
          <p:nvPr/>
        </p:nvSpPr>
        <p:spPr>
          <a:xfrm>
            <a:off x="4019337" y="4663440"/>
            <a:ext cx="1479499" cy="384048"/>
          </a:xfrm>
          <a:prstGeom prst="roundRect">
            <a:avLst>
              <a:gd name="adj" fmla="val 14286"/>
            </a:avLst>
          </a:prstGeom>
          <a:solidFill>
            <a:srgbClr val="F4F6F8"/>
          </a:solidFill>
          <a:ln w="12700">
            <a:solidFill>
              <a:srgbClr val="F4F6F8"/>
            </a:solidFill>
            <a:prstDash val="solid"/>
          </a:ln>
        </p:spPr>
      </p:sp>
      <p:sp>
        <p:nvSpPr>
          <p:cNvPr id="60" name="Text 58"/>
          <p:cNvSpPr txBox="1"/>
          <p:nvPr/>
        </p:nvSpPr>
        <p:spPr>
          <a:xfrm>
            <a:off x="4019337" y="4663440"/>
            <a:ext cx="1479499" cy="384048"/>
          </a:xfrm>
          <a:prstGeom prst="rect">
            <a:avLst/>
          </a:prstGeom>
          <a:noFill/>
          <a:ln/>
        </p:spPr>
        <p:txBody>
          <a:bodyPr wrap="square" lIns="0" tIns="0" rIns="0" bIns="0" rtlCol="0" anchor="ctr"/>
          <a:lstStyle/>
          <a:p>
            <a:pPr marL="0" indent="0" algn="ctr">
              <a:buNone/>
            </a:pPr>
            <a:r>
              <a:rPr lang="en-US" sz="1150" dirty="0">
                <a:solidFill>
                  <a:srgbClr val="0A2540"/>
                </a:solidFill>
                <a:latin typeface="Malgun Gothic" pitchFamily="34" charset="0"/>
                <a:ea typeface="Malgun Gothic" pitchFamily="34" charset="-122"/>
                <a:cs typeface="Malgun Gothic" pitchFamily="34" charset="-120"/>
              </a:rPr>
              <a:t>OpenWeather API</a:t>
            </a:r>
            <a:endParaRPr lang="en-US" sz="1150" dirty="0"/>
          </a:p>
        </p:txBody>
      </p:sp>
      <p:sp>
        <p:nvSpPr>
          <p:cNvPr id="63" name="Shape 61"/>
          <p:cNvSpPr/>
          <p:nvPr/>
        </p:nvSpPr>
        <p:spPr>
          <a:xfrm>
            <a:off x="502920" y="5230368"/>
            <a:ext cx="11201400" cy="0"/>
          </a:xfrm>
          <a:prstGeom prst="line">
            <a:avLst/>
          </a:prstGeom>
          <a:noFill/>
          <a:ln w="6350">
            <a:solidFill>
              <a:srgbClr val="DCE3EA"/>
            </a:solidFill>
            <a:prstDash val="solid"/>
          </a:ln>
        </p:spPr>
      </p:sp>
      <p:sp>
        <p:nvSpPr>
          <p:cNvPr id="64" name="Text 62"/>
          <p:cNvSpPr txBox="1"/>
          <p:nvPr/>
        </p:nvSpPr>
        <p:spPr>
          <a:xfrm>
            <a:off x="502920" y="5349240"/>
            <a:ext cx="2011680" cy="566928"/>
          </a:xfrm>
          <a:prstGeom prst="rect">
            <a:avLst/>
          </a:prstGeom>
          <a:noFill/>
          <a:ln/>
        </p:spPr>
        <p:txBody>
          <a:bodyPr wrap="square" lIns="0" tIns="0" rIns="0" bIns="0" rtlCol="0" anchor="ctr"/>
          <a:lstStyle/>
          <a:p>
            <a:pPr marL="0" indent="0" algn="l">
              <a:buNone/>
            </a:pPr>
            <a:r>
              <a:rPr lang="en-US" sz="1500" b="1" dirty="0">
                <a:solidFill>
                  <a:srgbClr val="0A2540"/>
                </a:solidFill>
                <a:latin typeface="Malgun Gothic" pitchFamily="34" charset="0"/>
                <a:ea typeface="Malgun Gothic" pitchFamily="34" charset="-122"/>
                <a:cs typeface="Malgun Gothic" pitchFamily="34" charset="-120"/>
              </a:rPr>
              <a:t>협업 / 도구</a:t>
            </a:r>
            <a:endParaRPr lang="en-US" sz="1500" dirty="0"/>
          </a:p>
        </p:txBody>
      </p:sp>
      <p:sp>
        <p:nvSpPr>
          <p:cNvPr id="65" name="Shape 63"/>
          <p:cNvSpPr/>
          <p:nvPr/>
        </p:nvSpPr>
        <p:spPr>
          <a:xfrm>
            <a:off x="2560320" y="5440680"/>
            <a:ext cx="811256" cy="384048"/>
          </a:xfrm>
          <a:prstGeom prst="roundRect">
            <a:avLst>
              <a:gd name="adj" fmla="val 14286"/>
            </a:avLst>
          </a:prstGeom>
          <a:solidFill>
            <a:srgbClr val="F4F6F8"/>
          </a:solidFill>
          <a:ln w="12700">
            <a:solidFill>
              <a:srgbClr val="F4F6F8"/>
            </a:solidFill>
            <a:prstDash val="solid"/>
          </a:ln>
        </p:spPr>
      </p:sp>
      <p:sp>
        <p:nvSpPr>
          <p:cNvPr id="66" name="Text 64"/>
          <p:cNvSpPr txBox="1"/>
          <p:nvPr/>
        </p:nvSpPr>
        <p:spPr>
          <a:xfrm>
            <a:off x="2560320" y="5440680"/>
            <a:ext cx="811256" cy="384048"/>
          </a:xfrm>
          <a:prstGeom prst="rect">
            <a:avLst/>
          </a:prstGeom>
          <a:noFill/>
          <a:ln/>
        </p:spPr>
        <p:txBody>
          <a:bodyPr wrap="square" lIns="0" tIns="0" rIns="0" bIns="0" rtlCol="0" anchor="ctr"/>
          <a:lstStyle/>
          <a:p>
            <a:pPr marL="0" indent="0" algn="ctr">
              <a:buNone/>
            </a:pPr>
            <a:r>
              <a:rPr lang="en-US" sz="1150" dirty="0">
                <a:solidFill>
                  <a:srgbClr val="0A2540"/>
                </a:solidFill>
                <a:latin typeface="Malgun Gothic" pitchFamily="34" charset="0"/>
                <a:ea typeface="Malgun Gothic" pitchFamily="34" charset="-122"/>
                <a:cs typeface="Malgun Gothic" pitchFamily="34" charset="-120"/>
              </a:rPr>
              <a:t>GitHub</a:t>
            </a:r>
            <a:endParaRPr lang="en-US" sz="1150" dirty="0"/>
          </a:p>
        </p:txBody>
      </p:sp>
      <p:sp>
        <p:nvSpPr>
          <p:cNvPr id="67" name="Shape 65"/>
          <p:cNvSpPr/>
          <p:nvPr/>
        </p:nvSpPr>
        <p:spPr>
          <a:xfrm>
            <a:off x="3499592" y="5440680"/>
            <a:ext cx="811256" cy="384048"/>
          </a:xfrm>
          <a:prstGeom prst="roundRect">
            <a:avLst>
              <a:gd name="adj" fmla="val 14286"/>
            </a:avLst>
          </a:prstGeom>
          <a:solidFill>
            <a:srgbClr val="F4F6F8"/>
          </a:solidFill>
          <a:ln w="12700">
            <a:solidFill>
              <a:srgbClr val="F4F6F8"/>
            </a:solidFill>
            <a:prstDash val="solid"/>
          </a:ln>
        </p:spPr>
      </p:sp>
      <p:sp>
        <p:nvSpPr>
          <p:cNvPr id="68" name="Text 66"/>
          <p:cNvSpPr txBox="1"/>
          <p:nvPr/>
        </p:nvSpPr>
        <p:spPr>
          <a:xfrm>
            <a:off x="3499592" y="5440680"/>
            <a:ext cx="811256" cy="384048"/>
          </a:xfrm>
          <a:prstGeom prst="rect">
            <a:avLst/>
          </a:prstGeom>
          <a:noFill/>
          <a:ln/>
        </p:spPr>
        <p:txBody>
          <a:bodyPr wrap="square" lIns="0" tIns="0" rIns="0" bIns="0" rtlCol="0" anchor="ctr"/>
          <a:lstStyle/>
          <a:p>
            <a:pPr marL="0" indent="0" algn="ctr">
              <a:buNone/>
            </a:pPr>
            <a:r>
              <a:rPr lang="en-US" sz="1150" dirty="0">
                <a:solidFill>
                  <a:srgbClr val="0A2540"/>
                </a:solidFill>
                <a:latin typeface="Malgun Gothic" pitchFamily="34" charset="0"/>
                <a:ea typeface="Malgun Gothic" pitchFamily="34" charset="-122"/>
                <a:cs typeface="Malgun Gothic" pitchFamily="34" charset="-120"/>
              </a:rPr>
              <a:t>Notion</a:t>
            </a:r>
            <a:endParaRPr lang="en-US" sz="1150" dirty="0"/>
          </a:p>
        </p:txBody>
      </p:sp>
      <p:sp>
        <p:nvSpPr>
          <p:cNvPr id="69" name="Shape 67"/>
          <p:cNvSpPr/>
          <p:nvPr/>
        </p:nvSpPr>
        <p:spPr>
          <a:xfrm>
            <a:off x="502920" y="6007608"/>
            <a:ext cx="11201400" cy="0"/>
          </a:xfrm>
          <a:prstGeom prst="line">
            <a:avLst/>
          </a:prstGeom>
          <a:noFill/>
          <a:ln w="6350">
            <a:solidFill>
              <a:srgbClr val="DCE3EA"/>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Malgun Gothic" pitchFamily="34" charset="0"/>
                <a:ea typeface="Malgun Gothic" pitchFamily="34" charset="-122"/>
                <a:cs typeface="Malgun Gothic" pitchFamily="34" charset="-120"/>
              </a:rPr>
              <a:t>02  시스템 구성</a:t>
            </a:r>
            <a:endParaRPr lang="en-US" sz="1100" dirty="0"/>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Malgun Gothic" pitchFamily="34" charset="0"/>
                <a:ea typeface="Malgun Gothic" pitchFamily="34" charset="-122"/>
                <a:cs typeface="Malgun Gothic" pitchFamily="34" charset="-120"/>
              </a:rPr>
              <a:t>사용자 권한과 화면</a:t>
            </a:r>
            <a:endParaRPr lang="en-US" sz="2600" dirty="0"/>
          </a:p>
        </p:txBody>
      </p:sp>
      <p:sp>
        <p:nvSpPr>
          <p:cNvPr id="4" name="Text 2"/>
          <p:cNvSpPr txBox="1"/>
          <p:nvPr/>
        </p:nvSpPr>
        <p:spPr>
          <a:xfrm>
            <a:off x="548640" y="1143000"/>
            <a:ext cx="10972800" cy="320040"/>
          </a:xfrm>
          <a:prstGeom prst="rect">
            <a:avLst/>
          </a:prstGeom>
          <a:noFill/>
          <a:ln/>
        </p:spPr>
        <p:txBody>
          <a:bodyPr wrap="square" lIns="0" tIns="0" rIns="0" bIns="0" rtlCol="0" anchor="ctr"/>
          <a:lstStyle/>
          <a:p>
            <a:pPr marL="0" indent="0" algn="l">
              <a:buNone/>
            </a:pPr>
            <a:r>
              <a:rPr lang="en-US" sz="1300" dirty="0">
                <a:solidFill>
                  <a:srgbClr val="5B6B7F"/>
                </a:solidFill>
                <a:latin typeface="Malgun Gothic" pitchFamily="34" charset="0"/>
                <a:ea typeface="Malgun Gothic" pitchFamily="34" charset="-122"/>
                <a:cs typeface="Malgun Gothic" pitchFamily="34" charset="-120"/>
              </a:rPr>
              <a:t>로그인 권한에 따라 볼 수 있는 화면과 데이터 범위를 분리했습니다</a:t>
            </a:r>
            <a:endParaRPr lang="en-US" sz="1300" dirty="0"/>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Malgun Gothic" pitchFamily="34" charset="0"/>
                <a:ea typeface="Malgun Gothic" pitchFamily="34" charset="-122"/>
                <a:cs typeface="Malgun Gothic" pitchFamily="34" charset="-120"/>
              </a:rPr>
              <a:t>S Cargo  ·  못먹어도 S카고</a:t>
            </a:r>
            <a:endParaRPr lang="en-US" sz="900" dirty="0"/>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Malgun Gothic" pitchFamily="34" charset="0"/>
                <a:ea typeface="Malgun Gothic" pitchFamily="34" charset="-122"/>
                <a:cs typeface="Malgun Gothic"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4052528314"/>
              </p:ext>
            </p:extLst>
          </p:nvPr>
        </p:nvGraphicFramePr>
        <p:xfrm>
          <a:off x="502920" y="1600200"/>
          <a:ext cx="11201400" cy="3200400"/>
        </p:xfrm>
        <a:graphic>
          <a:graphicData uri="http://schemas.openxmlformats.org/drawingml/2006/table">
            <a:tbl>
              <a:tblPr/>
              <a:tblGrid>
                <a:gridCol w="1645920">
                  <a:extLst>
                    <a:ext uri="{9D8B030D-6E8A-4147-A177-3AD203B41FA5}">
                      <a16:colId xmlns:a16="http://schemas.microsoft.com/office/drawing/2014/main" val="20000"/>
                    </a:ext>
                  </a:extLst>
                </a:gridCol>
                <a:gridCol w="708660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640080">
                <a:tc>
                  <a:txBody>
                    <a:bodyPr/>
                    <a:lstStyle/>
                    <a:p>
                      <a:pPr marL="0" indent="0" algn="ctr">
                        <a:buNone/>
                      </a:pPr>
                      <a:r>
                        <a:rPr lang="en-US" sz="1250" dirty="0">
                          <a:solidFill>
                            <a:srgbClr val="FFFFFF"/>
                          </a:solidFill>
                          <a:latin typeface="Malgun Gothic" pitchFamily="34" charset="0"/>
                          <a:ea typeface="Malgun Gothic" pitchFamily="34" charset="-122"/>
                          <a:cs typeface="Malgun Gothic" pitchFamily="34" charset="-120"/>
                        </a:rPr>
                        <a:t>구분</a:t>
                      </a:r>
                      <a:endParaRPr lang="en-US" sz="125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0A2540"/>
                    </a:solidFill>
                  </a:tcPr>
                </a:tc>
                <a:tc>
                  <a:txBody>
                    <a:bodyPr/>
                    <a:lstStyle/>
                    <a:p>
                      <a:pPr marL="0" indent="0" algn="ctr">
                        <a:buNone/>
                      </a:pPr>
                      <a:r>
                        <a:rPr lang="en-US" sz="1250" dirty="0">
                          <a:solidFill>
                            <a:srgbClr val="FFFFFF"/>
                          </a:solidFill>
                          <a:latin typeface="Malgun Gothic" pitchFamily="34" charset="0"/>
                          <a:ea typeface="Malgun Gothic" pitchFamily="34" charset="-122"/>
                          <a:cs typeface="Malgun Gothic" pitchFamily="34" charset="-120"/>
                        </a:rPr>
                        <a:t>주요 화면</a:t>
                      </a:r>
                      <a:endParaRPr lang="en-US" sz="125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0A2540"/>
                    </a:solidFill>
                  </a:tcPr>
                </a:tc>
                <a:tc>
                  <a:txBody>
                    <a:bodyPr/>
                    <a:lstStyle/>
                    <a:p>
                      <a:pPr marL="0" indent="0" algn="ctr">
                        <a:buNone/>
                      </a:pPr>
                      <a:r>
                        <a:rPr lang="en-US" sz="1250" dirty="0">
                          <a:solidFill>
                            <a:srgbClr val="FFFFFF"/>
                          </a:solidFill>
                          <a:latin typeface="Malgun Gothic" pitchFamily="34" charset="0"/>
                          <a:ea typeface="Malgun Gothic" pitchFamily="34" charset="-122"/>
                          <a:cs typeface="Malgun Gothic" pitchFamily="34" charset="-120"/>
                        </a:rPr>
                        <a:t>조회 범위</a:t>
                      </a:r>
                      <a:endParaRPr lang="en-US" sz="125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0A2540"/>
                    </a:solidFill>
                  </a:tcPr>
                </a:tc>
                <a:extLst>
                  <a:ext uri="{0D108BD9-81ED-4DB2-BD59-A6C34878D82A}">
                    <a16:rowId xmlns:a16="http://schemas.microsoft.com/office/drawing/2014/main" val="10000"/>
                  </a:ext>
                </a:extLst>
              </a:tr>
              <a:tr h="640080">
                <a:tc>
                  <a:txBody>
                    <a:bodyPr/>
                    <a:lstStyle/>
                    <a:p>
                      <a:pPr marL="0" indent="0" algn="ctr">
                        <a:buNone/>
                      </a:pPr>
                      <a:r>
                        <a:rPr lang="en-US" sz="1250" dirty="0">
                          <a:solidFill>
                            <a:srgbClr val="0A2540"/>
                          </a:solidFill>
                          <a:latin typeface="Malgun Gothic" pitchFamily="34" charset="0"/>
                          <a:ea typeface="Malgun Gothic" pitchFamily="34" charset="-122"/>
                          <a:cs typeface="Malgun Gothic" pitchFamily="34" charset="-120"/>
                        </a:rPr>
                        <a:t>관리자</a:t>
                      </a:r>
                      <a:endParaRPr lang="en-US" sz="125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marL="0" indent="0" algn="l">
                        <a:buNone/>
                      </a:pPr>
                      <a:r>
                        <a:rPr lang="en-US" sz="1250" dirty="0">
                          <a:solidFill>
                            <a:srgbClr val="0A2540"/>
                          </a:solidFill>
                          <a:latin typeface="Malgun Gothic" pitchFamily="34" charset="0"/>
                          <a:ea typeface="Malgun Gothic" pitchFamily="34" charset="-122"/>
                          <a:cs typeface="Malgun Gothic" pitchFamily="34" charset="-120"/>
                        </a:rPr>
                        <a:t>통합 대시보드 · 회원 승인 · 차량 진입 허가 · 게이트 OCR · </a:t>
                      </a:r>
                      <a:r>
                        <a:rPr lang="ko-KR" altLang="en-US" sz="1250" dirty="0">
                          <a:solidFill>
                            <a:srgbClr val="0A2540"/>
                          </a:solidFill>
                          <a:latin typeface="Malgun Gothic" pitchFamily="34" charset="0"/>
                          <a:ea typeface="Malgun Gothic" pitchFamily="34" charset="-122"/>
                          <a:cs typeface="Malgun Gothic" pitchFamily="34" charset="-120"/>
                        </a:rPr>
                        <a:t>검사소</a:t>
                      </a:r>
                      <a:r>
                        <a:rPr lang="en-US" sz="1250" dirty="0">
                          <a:solidFill>
                            <a:srgbClr val="0A2540"/>
                          </a:solidFill>
                          <a:latin typeface="Malgun Gothic" pitchFamily="34" charset="0"/>
                          <a:ea typeface="Malgun Gothic" pitchFamily="34" charset="-122"/>
                          <a:cs typeface="Malgun Gothic" pitchFamily="34" charset="-120"/>
                        </a:rPr>
                        <a:t> · 컨테이너 · 야드 · 공지</a:t>
                      </a:r>
                      <a:endParaRPr lang="en-US" sz="125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250" dirty="0">
                          <a:solidFill>
                            <a:srgbClr val="0A2540"/>
                          </a:solidFill>
                          <a:latin typeface="Malgun Gothic" pitchFamily="34" charset="0"/>
                          <a:ea typeface="Malgun Gothic" pitchFamily="34" charset="-122"/>
                          <a:cs typeface="Malgun Gothic" pitchFamily="34" charset="-120"/>
                        </a:rPr>
                        <a:t>전체 업체 · 전체 이력</a:t>
                      </a:r>
                      <a:endParaRPr lang="en-US" sz="125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ctr">
                        <a:buNone/>
                      </a:pPr>
                      <a:r>
                        <a:rPr lang="en-US" sz="1250" dirty="0" err="1">
                          <a:solidFill>
                            <a:srgbClr val="0A2540"/>
                          </a:solidFill>
                          <a:latin typeface="Malgun Gothic" pitchFamily="34" charset="0"/>
                          <a:ea typeface="Malgun Gothic" pitchFamily="34" charset="-122"/>
                          <a:cs typeface="Malgun Gothic" pitchFamily="34" charset="-120"/>
                        </a:rPr>
                        <a:t>운송사</a:t>
                      </a:r>
                      <a:r>
                        <a:rPr lang="en-US" sz="1250" dirty="0">
                          <a:solidFill>
                            <a:srgbClr val="0A2540"/>
                          </a:solidFill>
                          <a:latin typeface="Malgun Gothic" pitchFamily="34" charset="0"/>
                          <a:ea typeface="Malgun Gothic" pitchFamily="34" charset="-122"/>
                          <a:cs typeface="Malgun Gothic" pitchFamily="34" charset="-120"/>
                        </a:rPr>
                        <a:t>(</a:t>
                      </a:r>
                      <a:r>
                        <a:rPr lang="ko-KR" altLang="en-US" sz="1250" dirty="0">
                          <a:solidFill>
                            <a:srgbClr val="0A2540"/>
                          </a:solidFill>
                          <a:latin typeface="Malgun Gothic" pitchFamily="34" charset="0"/>
                          <a:ea typeface="Malgun Gothic" pitchFamily="34" charset="-122"/>
                          <a:cs typeface="Malgun Gothic" pitchFamily="34" charset="-120"/>
                        </a:rPr>
                        <a:t>기업</a:t>
                      </a:r>
                      <a:r>
                        <a:rPr lang="en-US" altLang="ko-KR" sz="1250" dirty="0">
                          <a:solidFill>
                            <a:srgbClr val="0A2540"/>
                          </a:solidFill>
                          <a:latin typeface="Malgun Gothic" pitchFamily="34" charset="0"/>
                          <a:ea typeface="Malgun Gothic" pitchFamily="34" charset="-122"/>
                          <a:cs typeface="Malgun Gothic" pitchFamily="34" charset="-120"/>
                        </a:rPr>
                        <a:t>)</a:t>
                      </a:r>
                      <a:endParaRPr lang="en-US" sz="125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marL="0" indent="0" algn="l">
                        <a:buNone/>
                      </a:pPr>
                      <a:r>
                        <a:rPr lang="en-US" sz="1250" dirty="0">
                          <a:solidFill>
                            <a:srgbClr val="0A2540"/>
                          </a:solidFill>
                          <a:latin typeface="Malgun Gothic" pitchFamily="34" charset="0"/>
                          <a:ea typeface="Malgun Gothic" pitchFamily="34" charset="-122"/>
                          <a:cs typeface="Malgun Gothic" pitchFamily="34" charset="-120"/>
                        </a:rPr>
                        <a:t>사업자 대시보드 · 차량 등록 · 기사 배정 · 컨테이너 배차 매핑 · 컨테이너 위치 조회</a:t>
                      </a:r>
                      <a:endParaRPr lang="en-US" sz="125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250" dirty="0">
                          <a:solidFill>
                            <a:srgbClr val="0A2540"/>
                          </a:solidFill>
                          <a:latin typeface="Malgun Gothic" pitchFamily="34" charset="0"/>
                          <a:ea typeface="Malgun Gothic" pitchFamily="34" charset="-122"/>
                          <a:cs typeface="Malgun Gothic" pitchFamily="34" charset="-120"/>
                        </a:rPr>
                        <a:t>소속 업체 데이터만</a:t>
                      </a:r>
                      <a:endParaRPr lang="en-US" sz="125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0080">
                <a:tc>
                  <a:txBody>
                    <a:bodyPr/>
                    <a:lstStyle/>
                    <a:p>
                      <a:pPr marL="0" indent="0" algn="ctr">
                        <a:buNone/>
                      </a:pPr>
                      <a:r>
                        <a:rPr lang="en-US" sz="1250" dirty="0" err="1">
                          <a:solidFill>
                            <a:srgbClr val="0A2540"/>
                          </a:solidFill>
                          <a:latin typeface="Malgun Gothic" pitchFamily="34" charset="0"/>
                          <a:ea typeface="Malgun Gothic" pitchFamily="34" charset="-122"/>
                          <a:cs typeface="Malgun Gothic" pitchFamily="34" charset="-120"/>
                        </a:rPr>
                        <a:t>화물차</a:t>
                      </a:r>
                      <a:r>
                        <a:rPr lang="en-US" sz="1250" dirty="0">
                          <a:solidFill>
                            <a:srgbClr val="0A2540"/>
                          </a:solidFill>
                          <a:latin typeface="Malgun Gothic" pitchFamily="34" charset="0"/>
                          <a:ea typeface="Malgun Gothic" pitchFamily="34" charset="-122"/>
                          <a:cs typeface="Malgun Gothic" pitchFamily="34" charset="-120"/>
                        </a:rPr>
                        <a:t> </a:t>
                      </a:r>
                      <a:r>
                        <a:rPr lang="en-US" sz="1250" dirty="0" err="1">
                          <a:solidFill>
                            <a:srgbClr val="0A2540"/>
                          </a:solidFill>
                          <a:latin typeface="Malgun Gothic" pitchFamily="34" charset="0"/>
                          <a:ea typeface="Malgun Gothic" pitchFamily="34" charset="-122"/>
                          <a:cs typeface="Malgun Gothic" pitchFamily="34" charset="-120"/>
                        </a:rPr>
                        <a:t>기사</a:t>
                      </a:r>
                      <a:r>
                        <a:rPr lang="en-US" sz="1250" dirty="0">
                          <a:solidFill>
                            <a:srgbClr val="0A2540"/>
                          </a:solidFill>
                          <a:latin typeface="Malgun Gothic" pitchFamily="34" charset="0"/>
                          <a:ea typeface="Malgun Gothic" pitchFamily="34" charset="-122"/>
                          <a:cs typeface="Malgun Gothic" pitchFamily="34" charset="-120"/>
                        </a:rPr>
                        <a:t>(</a:t>
                      </a:r>
                      <a:r>
                        <a:rPr lang="ko-KR" altLang="en-US" sz="1250" dirty="0">
                          <a:solidFill>
                            <a:srgbClr val="0A2540"/>
                          </a:solidFill>
                          <a:latin typeface="Malgun Gothic" pitchFamily="34" charset="0"/>
                          <a:ea typeface="Malgun Gothic" pitchFamily="34" charset="-122"/>
                          <a:cs typeface="Malgun Gothic" pitchFamily="34" charset="-120"/>
                        </a:rPr>
                        <a:t>개인</a:t>
                      </a:r>
                      <a:r>
                        <a:rPr lang="en-US" altLang="ko-KR" sz="1250" dirty="0">
                          <a:solidFill>
                            <a:srgbClr val="0A2540"/>
                          </a:solidFill>
                          <a:latin typeface="Malgun Gothic" pitchFamily="34" charset="0"/>
                          <a:ea typeface="Malgun Gothic" pitchFamily="34" charset="-122"/>
                          <a:cs typeface="Malgun Gothic" pitchFamily="34" charset="-120"/>
                        </a:rPr>
                        <a:t>)</a:t>
                      </a:r>
                      <a:endParaRPr lang="en-US" sz="125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marL="0" indent="0" algn="l">
                        <a:buNone/>
                      </a:pPr>
                      <a:r>
                        <a:rPr lang="en-US" sz="1250" dirty="0">
                          <a:solidFill>
                            <a:srgbClr val="0A2540"/>
                          </a:solidFill>
                          <a:latin typeface="Malgun Gothic" pitchFamily="34" charset="0"/>
                          <a:ea typeface="Malgun Gothic" pitchFamily="34" charset="-122"/>
                          <a:cs typeface="Malgun Gothic" pitchFamily="34" charset="-120"/>
                        </a:rPr>
                        <a:t>운송현황(</a:t>
                      </a:r>
                      <a:r>
                        <a:rPr lang="en-US" sz="1250" dirty="0" err="1">
                          <a:solidFill>
                            <a:srgbClr val="0A2540"/>
                          </a:solidFill>
                          <a:latin typeface="Malgun Gothic" pitchFamily="34" charset="0"/>
                          <a:ea typeface="Malgun Gothic" pitchFamily="34" charset="-122"/>
                          <a:cs typeface="Malgun Gothic" pitchFamily="34" charset="-120"/>
                        </a:rPr>
                        <a:t>적재</a:t>
                      </a:r>
                      <a:r>
                        <a:rPr lang="en-US" sz="1250" dirty="0">
                          <a:solidFill>
                            <a:srgbClr val="0A2540"/>
                          </a:solidFill>
                          <a:latin typeface="Malgun Gothic" pitchFamily="34" charset="0"/>
                          <a:ea typeface="Malgun Gothic" pitchFamily="34" charset="-122"/>
                          <a:cs typeface="Malgun Gothic" pitchFamily="34" charset="-120"/>
                        </a:rPr>
                        <a:t> </a:t>
                      </a:r>
                      <a:r>
                        <a:rPr lang="en-US" sz="1250" dirty="0" err="1">
                          <a:solidFill>
                            <a:srgbClr val="0A2540"/>
                          </a:solidFill>
                          <a:latin typeface="Malgun Gothic" pitchFamily="34" charset="0"/>
                          <a:ea typeface="Malgun Gothic" pitchFamily="34" charset="-122"/>
                          <a:cs typeface="Malgun Gothic" pitchFamily="34" charset="-120"/>
                        </a:rPr>
                        <a:t>위치</a:t>
                      </a:r>
                      <a:r>
                        <a:rPr lang="en-US" sz="1250" dirty="0">
                          <a:solidFill>
                            <a:srgbClr val="0A2540"/>
                          </a:solidFill>
                          <a:latin typeface="Malgun Gothic" pitchFamily="34" charset="0"/>
                          <a:ea typeface="Malgun Gothic" pitchFamily="34" charset="-122"/>
                          <a:cs typeface="Malgun Gothic" pitchFamily="34" charset="-120"/>
                        </a:rPr>
                        <a:t>) · 배차목록 · 정산 · MY/차량 등록 신청</a:t>
                      </a:r>
                      <a:endParaRPr lang="en-US" sz="125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250" dirty="0">
                          <a:solidFill>
                            <a:srgbClr val="0A2540"/>
                          </a:solidFill>
                          <a:latin typeface="Malgun Gothic" pitchFamily="34" charset="0"/>
                          <a:ea typeface="Malgun Gothic" pitchFamily="34" charset="-122"/>
                          <a:cs typeface="Malgun Gothic" pitchFamily="34" charset="-120"/>
                        </a:rPr>
                        <a:t>본인 차량</a:t>
                      </a:r>
                      <a:endParaRPr lang="en-US" sz="125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lgn="ctr">
                        <a:buNone/>
                      </a:pPr>
                      <a:r>
                        <a:rPr lang="en-US" sz="1250" dirty="0">
                          <a:solidFill>
                            <a:srgbClr val="0A2540"/>
                          </a:solidFill>
                          <a:latin typeface="Malgun Gothic" pitchFamily="34" charset="0"/>
                          <a:ea typeface="Malgun Gothic" pitchFamily="34" charset="-122"/>
                          <a:cs typeface="Malgun Gothic" pitchFamily="34" charset="-120"/>
                        </a:rPr>
                        <a:t>비회원</a:t>
                      </a:r>
                      <a:endParaRPr lang="en-US" sz="125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marL="0" indent="0" algn="l">
                        <a:buNone/>
                      </a:pPr>
                      <a:r>
                        <a:rPr lang="en-US" sz="1250" dirty="0">
                          <a:solidFill>
                            <a:srgbClr val="0A2540"/>
                          </a:solidFill>
                          <a:latin typeface="Malgun Gothic" pitchFamily="34" charset="0"/>
                          <a:ea typeface="Malgun Gothic" pitchFamily="34" charset="-122"/>
                          <a:cs typeface="Malgun Gothic" pitchFamily="34" charset="-120"/>
                        </a:rPr>
                        <a:t>메인 홈 · 공지사항 · 항만 날씨</a:t>
                      </a:r>
                      <a:endParaRPr lang="en-US" sz="125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250" dirty="0">
                          <a:solidFill>
                            <a:srgbClr val="0A2540"/>
                          </a:solidFill>
                          <a:latin typeface="Malgun Gothic" pitchFamily="34" charset="0"/>
                          <a:ea typeface="Malgun Gothic" pitchFamily="34" charset="-122"/>
                          <a:cs typeface="Malgun Gothic" pitchFamily="34" charset="-120"/>
                        </a:rPr>
                        <a:t>공개 정보</a:t>
                      </a:r>
                      <a:endParaRPr lang="en-US" sz="125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5"/>
          <p:cNvSpPr txBox="1"/>
          <p:nvPr/>
        </p:nvSpPr>
        <p:spPr>
          <a:xfrm>
            <a:off x="502920" y="4983480"/>
            <a:ext cx="2743200" cy="320040"/>
          </a:xfrm>
          <a:prstGeom prst="rect">
            <a:avLst/>
          </a:prstGeom>
          <a:noFill/>
          <a:ln/>
        </p:spPr>
        <p:txBody>
          <a:bodyPr wrap="square" lIns="0" tIns="0" rIns="0" bIns="0" rtlCol="0" anchor="ctr"/>
          <a:lstStyle/>
          <a:p>
            <a:pPr marL="0" indent="0" algn="l">
              <a:buNone/>
            </a:pPr>
            <a:r>
              <a:rPr lang="en-US" sz="1500" b="1" dirty="0">
                <a:solidFill>
                  <a:srgbClr val="0A2540"/>
                </a:solidFill>
                <a:latin typeface="Malgun Gothic" pitchFamily="34" charset="0"/>
                <a:ea typeface="Malgun Gothic" pitchFamily="34" charset="-122"/>
                <a:cs typeface="Malgun Gothic" pitchFamily="34" charset="-120"/>
              </a:rPr>
              <a:t>알림</a:t>
            </a:r>
            <a:endParaRPr lang="en-US" sz="1500" dirty="0"/>
          </a:p>
        </p:txBody>
      </p:sp>
      <p:sp>
        <p:nvSpPr>
          <p:cNvPr id="9" name="Shape 6"/>
          <p:cNvSpPr/>
          <p:nvPr/>
        </p:nvSpPr>
        <p:spPr>
          <a:xfrm>
            <a:off x="502920" y="5394960"/>
            <a:ext cx="3611880" cy="640080"/>
          </a:xfrm>
          <a:prstGeom prst="roundRect">
            <a:avLst>
              <a:gd name="adj" fmla="val 8571"/>
            </a:avLst>
          </a:prstGeom>
          <a:solidFill>
            <a:srgbClr val="F4F6F8"/>
          </a:solidFill>
          <a:ln w="12700">
            <a:solidFill>
              <a:srgbClr val="F4F6F8"/>
            </a:solidFill>
            <a:prstDash val="solid"/>
          </a:ln>
        </p:spPr>
      </p:sp>
      <p:sp>
        <p:nvSpPr>
          <p:cNvPr id="10" name="Text 7"/>
          <p:cNvSpPr txBox="1"/>
          <p:nvPr/>
        </p:nvSpPr>
        <p:spPr>
          <a:xfrm>
            <a:off x="685800" y="5394960"/>
            <a:ext cx="1097280" cy="640080"/>
          </a:xfrm>
          <a:prstGeom prst="rect">
            <a:avLst/>
          </a:prstGeom>
          <a:noFill/>
          <a:ln/>
        </p:spPr>
        <p:txBody>
          <a:bodyPr wrap="square" lIns="0" tIns="0" rIns="0" bIns="0" rtlCol="0" anchor="ctr"/>
          <a:lstStyle/>
          <a:p>
            <a:pPr marL="0" indent="0" algn="l">
              <a:buNone/>
            </a:pPr>
            <a:r>
              <a:rPr lang="en-US" sz="1300" b="1" dirty="0">
                <a:solidFill>
                  <a:srgbClr val="0A2540"/>
                </a:solidFill>
                <a:latin typeface="Malgun Gothic" pitchFamily="34" charset="0"/>
                <a:ea typeface="Malgun Gothic" pitchFamily="34" charset="-122"/>
                <a:cs typeface="Malgun Gothic" pitchFamily="34" charset="-120"/>
              </a:rPr>
              <a:t>웹 알림</a:t>
            </a:r>
            <a:endParaRPr lang="en-US" sz="1300" dirty="0"/>
          </a:p>
        </p:txBody>
      </p:sp>
      <p:sp>
        <p:nvSpPr>
          <p:cNvPr id="11" name="Text 8"/>
          <p:cNvSpPr txBox="1"/>
          <p:nvPr/>
        </p:nvSpPr>
        <p:spPr>
          <a:xfrm>
            <a:off x="1783080" y="5394960"/>
            <a:ext cx="2286000" cy="640080"/>
          </a:xfrm>
          <a:prstGeom prst="rect">
            <a:avLst/>
          </a:prstGeom>
          <a:noFill/>
          <a:ln/>
        </p:spPr>
        <p:txBody>
          <a:bodyPr wrap="square" lIns="0" tIns="0" rIns="0" bIns="0" rtlCol="0" anchor="ctr"/>
          <a:lstStyle/>
          <a:p>
            <a:pPr marL="0" indent="0" algn="l">
              <a:buNone/>
            </a:pPr>
            <a:r>
              <a:rPr lang="en-US" sz="1150" dirty="0">
                <a:solidFill>
                  <a:srgbClr val="5B6B7F"/>
                </a:solidFill>
                <a:latin typeface="Malgun Gothic" pitchFamily="34" charset="0"/>
                <a:ea typeface="Malgun Gothic" pitchFamily="34" charset="-122"/>
                <a:cs typeface="Malgun Gothic" pitchFamily="34" charset="-120"/>
              </a:rPr>
              <a:t>상단 종 아이콘 · 미확인 건수 배지</a:t>
            </a:r>
            <a:endParaRPr lang="en-US" sz="1150" dirty="0"/>
          </a:p>
        </p:txBody>
      </p:sp>
      <p:sp>
        <p:nvSpPr>
          <p:cNvPr id="12" name="Shape 9"/>
          <p:cNvSpPr/>
          <p:nvPr/>
        </p:nvSpPr>
        <p:spPr>
          <a:xfrm>
            <a:off x="4270248" y="5394960"/>
            <a:ext cx="3611880" cy="640080"/>
          </a:xfrm>
          <a:prstGeom prst="roundRect">
            <a:avLst>
              <a:gd name="adj" fmla="val 8571"/>
            </a:avLst>
          </a:prstGeom>
          <a:solidFill>
            <a:srgbClr val="F4F6F8"/>
          </a:solidFill>
          <a:ln w="12700">
            <a:solidFill>
              <a:srgbClr val="F4F6F8"/>
            </a:solidFill>
            <a:prstDash val="solid"/>
          </a:ln>
        </p:spPr>
      </p:sp>
      <p:sp>
        <p:nvSpPr>
          <p:cNvPr id="7" name="Text 10"/>
          <p:cNvSpPr txBox="1"/>
          <p:nvPr/>
        </p:nvSpPr>
        <p:spPr>
          <a:xfrm>
            <a:off x="4453128" y="5394960"/>
            <a:ext cx="1097280" cy="640080"/>
          </a:xfrm>
          <a:prstGeom prst="rect">
            <a:avLst/>
          </a:prstGeom>
          <a:noFill/>
          <a:ln/>
        </p:spPr>
        <p:txBody>
          <a:bodyPr wrap="square" lIns="0" tIns="0" rIns="0" bIns="0" rtlCol="0" anchor="ctr"/>
          <a:lstStyle/>
          <a:p>
            <a:pPr marL="0" indent="0" algn="l">
              <a:buNone/>
            </a:pPr>
            <a:r>
              <a:rPr lang="en-US" sz="1300" b="1" dirty="0">
                <a:solidFill>
                  <a:srgbClr val="0A2540"/>
                </a:solidFill>
                <a:latin typeface="Malgun Gothic" pitchFamily="34" charset="0"/>
                <a:ea typeface="Malgun Gothic" pitchFamily="34" charset="-122"/>
                <a:cs typeface="Malgun Gothic" pitchFamily="34" charset="-120"/>
              </a:rPr>
              <a:t>기사 알림</a:t>
            </a:r>
            <a:endParaRPr lang="en-US" sz="1300" dirty="0"/>
          </a:p>
        </p:txBody>
      </p:sp>
      <p:sp>
        <p:nvSpPr>
          <p:cNvPr id="14" name="Text 11"/>
          <p:cNvSpPr txBox="1"/>
          <p:nvPr/>
        </p:nvSpPr>
        <p:spPr>
          <a:xfrm>
            <a:off x="5550408" y="5394960"/>
            <a:ext cx="2286000" cy="640080"/>
          </a:xfrm>
          <a:prstGeom prst="rect">
            <a:avLst/>
          </a:prstGeom>
          <a:noFill/>
          <a:ln/>
        </p:spPr>
        <p:txBody>
          <a:bodyPr wrap="square" lIns="0" tIns="0" rIns="0" bIns="0" rtlCol="0" anchor="ctr"/>
          <a:lstStyle/>
          <a:p>
            <a:pPr marL="0" indent="0" algn="l">
              <a:buNone/>
            </a:pPr>
            <a:r>
              <a:rPr lang="en-US" sz="1150" dirty="0">
                <a:solidFill>
                  <a:srgbClr val="5B6B7F"/>
                </a:solidFill>
                <a:latin typeface="Malgun Gothic" pitchFamily="34" charset="0"/>
                <a:ea typeface="Malgun Gothic" pitchFamily="34" charset="-122"/>
                <a:cs typeface="Malgun Gothic" pitchFamily="34" charset="-120"/>
              </a:rPr>
              <a:t>배차 매핑 · 기사 배정 · 과적 판정 결과</a:t>
            </a:r>
            <a:endParaRPr lang="en-US" sz="1150" dirty="0"/>
          </a:p>
        </p:txBody>
      </p:sp>
      <p:sp>
        <p:nvSpPr>
          <p:cNvPr id="15" name="Shape 12"/>
          <p:cNvSpPr/>
          <p:nvPr/>
        </p:nvSpPr>
        <p:spPr>
          <a:xfrm>
            <a:off x="8037576" y="5394960"/>
            <a:ext cx="3611880" cy="640080"/>
          </a:xfrm>
          <a:prstGeom prst="roundRect">
            <a:avLst>
              <a:gd name="adj" fmla="val 8571"/>
            </a:avLst>
          </a:prstGeom>
          <a:solidFill>
            <a:srgbClr val="F4F6F8"/>
          </a:solidFill>
          <a:ln w="12700">
            <a:solidFill>
              <a:srgbClr val="F4F6F8"/>
            </a:solidFill>
            <a:prstDash val="solid"/>
          </a:ln>
        </p:spPr>
      </p:sp>
      <p:sp>
        <p:nvSpPr>
          <p:cNvPr id="16" name="Text 13"/>
          <p:cNvSpPr txBox="1"/>
          <p:nvPr/>
        </p:nvSpPr>
        <p:spPr>
          <a:xfrm>
            <a:off x="8220456" y="5394960"/>
            <a:ext cx="1097280" cy="640080"/>
          </a:xfrm>
          <a:prstGeom prst="rect">
            <a:avLst/>
          </a:prstGeom>
          <a:noFill/>
          <a:ln/>
        </p:spPr>
        <p:txBody>
          <a:bodyPr wrap="square" lIns="0" tIns="0" rIns="0" bIns="0" rtlCol="0" anchor="ctr"/>
          <a:lstStyle/>
          <a:p>
            <a:pPr marL="0" indent="0" algn="l">
              <a:buNone/>
            </a:pPr>
            <a:r>
              <a:rPr lang="en-US" sz="1300" b="1" dirty="0">
                <a:solidFill>
                  <a:srgbClr val="0A2540"/>
                </a:solidFill>
                <a:latin typeface="Malgun Gothic" pitchFamily="34" charset="0"/>
                <a:ea typeface="Malgun Gothic" pitchFamily="34" charset="-122"/>
                <a:cs typeface="Malgun Gothic" pitchFamily="34" charset="-120"/>
              </a:rPr>
              <a:t>관리자 알림</a:t>
            </a:r>
            <a:endParaRPr lang="en-US" sz="1300" dirty="0"/>
          </a:p>
        </p:txBody>
      </p:sp>
      <p:sp>
        <p:nvSpPr>
          <p:cNvPr id="17" name="Text 14"/>
          <p:cNvSpPr txBox="1"/>
          <p:nvPr/>
        </p:nvSpPr>
        <p:spPr>
          <a:xfrm>
            <a:off x="9317736" y="5394960"/>
            <a:ext cx="2286000" cy="640080"/>
          </a:xfrm>
          <a:prstGeom prst="rect">
            <a:avLst/>
          </a:prstGeom>
          <a:noFill/>
          <a:ln/>
        </p:spPr>
        <p:txBody>
          <a:bodyPr wrap="square" lIns="0" tIns="0" rIns="0" bIns="0" rtlCol="0" anchor="ctr"/>
          <a:lstStyle/>
          <a:p>
            <a:pPr marL="0" indent="0" algn="l">
              <a:buNone/>
            </a:pPr>
            <a:r>
              <a:rPr lang="en-US" sz="1150" dirty="0">
                <a:solidFill>
                  <a:srgbClr val="5B6B7F"/>
                </a:solidFill>
                <a:latin typeface="Malgun Gothic" pitchFamily="34" charset="0"/>
                <a:ea typeface="Malgun Gothic" pitchFamily="34" charset="-122"/>
                <a:cs typeface="Malgun Gothic" pitchFamily="34" charset="-120"/>
              </a:rPr>
              <a:t>기업회원 승인 요청 · 미등록 차량 · 과적 위반</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0A2540"/>
        </a:solidFill>
        <a:effectLst/>
      </p:bgPr>
    </p:bg>
    <p:spTree>
      <p:nvGrpSpPr>
        <p:cNvPr id="1" name=""/>
        <p:cNvGrpSpPr/>
        <p:nvPr/>
      </p:nvGrpSpPr>
      <p:grpSpPr>
        <a:xfrm>
          <a:off x="0" y="0"/>
          <a:ext cx="0" cy="0"/>
          <a:chOff x="0" y="0"/>
          <a:chExt cx="0" cy="0"/>
        </a:xfrm>
      </p:grpSpPr>
      <p:pic>
        <p:nvPicPr>
          <p:cNvPr id="2" name="Image 0" descr="/home/claude/v3/img/end_bg.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822960" y="2377440"/>
            <a:ext cx="2743200" cy="822960"/>
          </a:xfrm>
          <a:prstGeom prst="rect">
            <a:avLst/>
          </a:prstGeom>
          <a:noFill/>
          <a:ln/>
        </p:spPr>
        <p:txBody>
          <a:bodyPr wrap="square" lIns="0" tIns="0" rIns="0" bIns="0" rtlCol="0" anchor="ctr"/>
          <a:lstStyle/>
          <a:p>
            <a:pPr marL="0" indent="0" algn="l">
              <a:buNone/>
            </a:pPr>
            <a:r>
              <a:rPr lang="en-US" sz="4800" b="1" dirty="0">
                <a:solidFill>
                  <a:srgbClr val="FF6B00"/>
                </a:solidFill>
                <a:latin typeface="Malgun Gothic" pitchFamily="34" charset="0"/>
                <a:ea typeface="Malgun Gothic" pitchFamily="34" charset="-122"/>
                <a:cs typeface="Malgun Gothic" pitchFamily="34" charset="-120"/>
              </a:rPr>
              <a:t>03</a:t>
            </a:r>
            <a:endParaRPr lang="en-US" sz="4800" dirty="0"/>
          </a:p>
        </p:txBody>
      </p:sp>
      <p:sp>
        <p:nvSpPr>
          <p:cNvPr id="4" name="Text 1"/>
          <p:cNvSpPr txBox="1"/>
          <p:nvPr/>
        </p:nvSpPr>
        <p:spPr>
          <a:xfrm>
            <a:off x="822960" y="3200400"/>
            <a:ext cx="10058400"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Malgun Gothic" pitchFamily="34" charset="0"/>
                <a:ea typeface="Malgun Gothic" pitchFamily="34" charset="-122"/>
                <a:cs typeface="Malgun Gothic" pitchFamily="34" charset="-120"/>
              </a:rPr>
              <a:t>핵심 기능</a:t>
            </a:r>
            <a:endParaRPr lang="en-US" sz="3600" dirty="0"/>
          </a:p>
        </p:txBody>
      </p:sp>
      <p:sp>
        <p:nvSpPr>
          <p:cNvPr id="5" name="Text 2"/>
          <p:cNvSpPr txBox="1"/>
          <p:nvPr/>
        </p:nvSpPr>
        <p:spPr>
          <a:xfrm>
            <a:off x="822960" y="3931920"/>
            <a:ext cx="10058400" cy="365760"/>
          </a:xfrm>
          <a:prstGeom prst="rect">
            <a:avLst/>
          </a:prstGeom>
          <a:noFill/>
          <a:ln/>
        </p:spPr>
        <p:txBody>
          <a:bodyPr wrap="square" lIns="0" tIns="0" rIns="0" bIns="0" rtlCol="0" anchor="ctr"/>
          <a:lstStyle/>
          <a:p>
            <a:pPr marL="0" indent="0" algn="l">
              <a:buNone/>
            </a:pPr>
            <a:r>
              <a:rPr lang="en-US" sz="1400" dirty="0">
                <a:solidFill>
                  <a:srgbClr val="C9D6E3"/>
                </a:solidFill>
                <a:latin typeface="Malgun Gothic" pitchFamily="34" charset="0"/>
                <a:ea typeface="Malgun Gothic" pitchFamily="34" charset="-122"/>
                <a:cs typeface="Malgun Gothic" pitchFamily="34" charset="-120"/>
              </a:rPr>
              <a:t>게이트 흐름 · 차량 상태 워크플로우 · 과적 판정 · 화면</a:t>
            </a:r>
            <a:endParaRPr lang="en-US" sz="1400" dirty="0"/>
          </a:p>
        </p:txBody>
      </p:sp>
      <p:sp>
        <p:nvSpPr>
          <p:cNvPr id="6" name="Shape 3"/>
          <p:cNvSpPr/>
          <p:nvPr/>
        </p:nvSpPr>
        <p:spPr>
          <a:xfrm>
            <a:off x="822960" y="4526280"/>
            <a:ext cx="2011680" cy="0"/>
          </a:xfrm>
          <a:prstGeom prst="line">
            <a:avLst/>
          </a:prstGeom>
          <a:noFill/>
          <a:ln w="38100">
            <a:solidFill>
              <a:srgbClr val="FF6B00"/>
            </a:solidFill>
            <a:prstDash val="solid"/>
          </a:ln>
        </p:spPr>
      </p:sp>
      <p:sp>
        <p:nvSpPr>
          <p:cNvPr id="7" name="Text 4"/>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8FA3BA"/>
                </a:solidFill>
                <a:latin typeface="Malgun Gothic" pitchFamily="34" charset="0"/>
                <a:ea typeface="Malgun Gothic" pitchFamily="34" charset="-122"/>
                <a:cs typeface="Malgun Gothic" pitchFamily="34" charset="-120"/>
              </a:rPr>
              <a:t>S Cargo  ·  못먹어도 S카고</a:t>
            </a:r>
            <a:endParaRPr lang="en-US" sz="900" dirty="0"/>
          </a:p>
        </p:txBody>
      </p:sp>
      <p:sp>
        <p:nvSpPr>
          <p:cNvPr id="8" name="Text 5"/>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8FA3BA"/>
                </a:solidFill>
                <a:latin typeface="Malgun Gothic" pitchFamily="34" charset="0"/>
                <a:ea typeface="Malgun Gothic" pitchFamily="34" charset="-122"/>
                <a:cs typeface="Malgun Gothic" pitchFamily="34" charset="-120"/>
              </a:rPr>
              <a:t>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Malgun Gothic" pitchFamily="34" charset="0"/>
                <a:ea typeface="Malgun Gothic" pitchFamily="34" charset="-122"/>
                <a:cs typeface="Malgun Gothic" pitchFamily="34" charset="-120"/>
              </a:rPr>
              <a:t>03  핵심 기능</a:t>
            </a:r>
            <a:endParaRPr lang="en-US" sz="1100" dirty="0"/>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Malgun Gothic" pitchFamily="34" charset="0"/>
                <a:ea typeface="Malgun Gothic" pitchFamily="34" charset="-122"/>
                <a:cs typeface="Malgun Gothic" pitchFamily="34" charset="-120"/>
              </a:rPr>
              <a:t>게이트 처리 흐름</a:t>
            </a:r>
            <a:endParaRPr lang="en-US" sz="2600" dirty="0"/>
          </a:p>
        </p:txBody>
      </p:sp>
      <p:sp>
        <p:nvSpPr>
          <p:cNvPr id="4" name="Text 2"/>
          <p:cNvSpPr txBox="1"/>
          <p:nvPr/>
        </p:nvSpPr>
        <p:spPr>
          <a:xfrm>
            <a:off x="548640" y="1143000"/>
            <a:ext cx="10972800" cy="320040"/>
          </a:xfrm>
          <a:prstGeom prst="rect">
            <a:avLst/>
          </a:prstGeom>
          <a:noFill/>
          <a:ln/>
        </p:spPr>
        <p:txBody>
          <a:bodyPr wrap="square" lIns="0" tIns="0" rIns="0" bIns="0" rtlCol="0" anchor="ctr"/>
          <a:lstStyle/>
          <a:p>
            <a:pPr marL="0" indent="0" algn="l">
              <a:buNone/>
            </a:pPr>
            <a:r>
              <a:rPr lang="en-US" sz="1300" dirty="0">
                <a:solidFill>
                  <a:srgbClr val="5B6B7F"/>
                </a:solidFill>
                <a:latin typeface="Malgun Gothic" pitchFamily="34" charset="0"/>
                <a:ea typeface="Malgun Gothic" pitchFamily="34" charset="-122"/>
                <a:cs typeface="Malgun Gothic" pitchFamily="34" charset="-120"/>
              </a:rPr>
              <a:t>화물차 한 대가 게이트 진입부터 출차까지 거치는 4단계</a:t>
            </a:r>
            <a:endParaRPr lang="en-US" sz="1300" dirty="0"/>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Malgun Gothic" pitchFamily="34" charset="0"/>
                <a:ea typeface="Malgun Gothic" pitchFamily="34" charset="-122"/>
                <a:cs typeface="Malgun Gothic" pitchFamily="34" charset="-120"/>
              </a:rPr>
              <a:t>S Cargo  ·  못먹어도 S카고</a:t>
            </a:r>
            <a:endParaRPr lang="en-US" sz="900" dirty="0"/>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Malgun Gothic" pitchFamily="34" charset="0"/>
                <a:ea typeface="Malgun Gothic" pitchFamily="34" charset="-122"/>
                <a:cs typeface="Malgun Gothic" pitchFamily="34" charset="-120"/>
              </a:rPr>
              <a:t>14</a:t>
            </a:r>
            <a:endParaRPr lang="en-US" sz="900" dirty="0"/>
          </a:p>
        </p:txBody>
      </p:sp>
      <p:sp>
        <p:nvSpPr>
          <p:cNvPr id="7" name="Shape 5"/>
          <p:cNvSpPr/>
          <p:nvPr/>
        </p:nvSpPr>
        <p:spPr>
          <a:xfrm>
            <a:off x="502920" y="1600200"/>
            <a:ext cx="2651760" cy="4114800"/>
          </a:xfrm>
          <a:prstGeom prst="roundRect">
            <a:avLst>
              <a:gd name="adj" fmla="val 2069"/>
            </a:avLst>
          </a:prstGeom>
          <a:solidFill>
            <a:srgbClr val="F4F6F8"/>
          </a:solidFill>
          <a:ln w="12700">
            <a:solidFill>
              <a:srgbClr val="F4F6F8"/>
            </a:solidFill>
            <a:prstDash val="solid"/>
          </a:ln>
        </p:spPr>
      </p:sp>
      <p:sp>
        <p:nvSpPr>
          <p:cNvPr id="8" name="Text 6"/>
          <p:cNvSpPr txBox="1"/>
          <p:nvPr/>
        </p:nvSpPr>
        <p:spPr>
          <a:xfrm>
            <a:off x="731520" y="1783080"/>
            <a:ext cx="914400" cy="411480"/>
          </a:xfrm>
          <a:prstGeom prst="rect">
            <a:avLst/>
          </a:prstGeom>
          <a:noFill/>
          <a:ln/>
        </p:spPr>
        <p:txBody>
          <a:bodyPr wrap="square" lIns="0" tIns="0" rIns="0" bIns="0" rtlCol="0" anchor="ctr"/>
          <a:lstStyle/>
          <a:p>
            <a:pPr marL="0" indent="0" algn="l">
              <a:buNone/>
            </a:pPr>
            <a:r>
              <a:rPr lang="en-US" sz="2200" b="1" dirty="0">
                <a:solidFill>
                  <a:srgbClr val="FF6B00"/>
                </a:solidFill>
                <a:latin typeface="Malgun Gothic" pitchFamily="34" charset="0"/>
                <a:ea typeface="Malgun Gothic" pitchFamily="34" charset="-122"/>
                <a:cs typeface="Malgun Gothic" pitchFamily="34" charset="-120"/>
              </a:rPr>
              <a:t>01</a:t>
            </a:r>
            <a:endParaRPr lang="en-US" sz="2200" dirty="0"/>
          </a:p>
        </p:txBody>
      </p:sp>
      <p:sp>
        <p:nvSpPr>
          <p:cNvPr id="9" name="Text 7"/>
          <p:cNvSpPr txBox="1"/>
          <p:nvPr/>
        </p:nvSpPr>
        <p:spPr>
          <a:xfrm>
            <a:off x="731520" y="2194560"/>
            <a:ext cx="2194560" cy="274320"/>
          </a:xfrm>
          <a:prstGeom prst="rect">
            <a:avLst/>
          </a:prstGeom>
          <a:noFill/>
          <a:ln/>
        </p:spPr>
        <p:txBody>
          <a:bodyPr wrap="square" lIns="0" tIns="0" rIns="0" bIns="0" rtlCol="0" anchor="ctr"/>
          <a:lstStyle/>
          <a:p>
            <a:pPr marL="0" indent="0" algn="l">
              <a:buNone/>
            </a:pPr>
            <a:r>
              <a:rPr lang="en-US" sz="1100" b="1" dirty="0">
                <a:solidFill>
                  <a:srgbClr val="5B6B7F"/>
                </a:solidFill>
                <a:latin typeface="Malgun Gothic" pitchFamily="34" charset="0"/>
                <a:ea typeface="Malgun Gothic" pitchFamily="34" charset="-122"/>
                <a:cs typeface="Malgun Gothic" pitchFamily="34" charset="-120"/>
              </a:rPr>
              <a:t>GATE IN</a:t>
            </a:r>
            <a:endParaRPr lang="en-US" sz="1100" dirty="0"/>
          </a:p>
        </p:txBody>
      </p:sp>
      <p:sp>
        <p:nvSpPr>
          <p:cNvPr id="10" name="Text 8"/>
          <p:cNvSpPr txBox="1"/>
          <p:nvPr/>
        </p:nvSpPr>
        <p:spPr>
          <a:xfrm>
            <a:off x="731520" y="2487168"/>
            <a:ext cx="2194560" cy="411480"/>
          </a:xfrm>
          <a:prstGeom prst="rect">
            <a:avLst/>
          </a:prstGeom>
          <a:noFill/>
          <a:ln/>
        </p:spPr>
        <p:txBody>
          <a:bodyPr wrap="square" lIns="0" tIns="0" rIns="0" bIns="0" rtlCol="0" anchor="ctr"/>
          <a:lstStyle/>
          <a:p>
            <a:pPr marL="0" indent="0" algn="l">
              <a:buNone/>
            </a:pPr>
            <a:r>
              <a:rPr lang="en-US" sz="1900" b="1" dirty="0">
                <a:solidFill>
                  <a:srgbClr val="0A2540"/>
                </a:solidFill>
                <a:latin typeface="Malgun Gothic" pitchFamily="34" charset="0"/>
                <a:ea typeface="Malgun Gothic" pitchFamily="34" charset="-122"/>
                <a:cs typeface="Malgun Gothic" pitchFamily="34" charset="-120"/>
              </a:rPr>
              <a:t>게이트 진입</a:t>
            </a:r>
            <a:endParaRPr lang="en-US" sz="1900" dirty="0"/>
          </a:p>
        </p:txBody>
      </p:sp>
      <p:sp>
        <p:nvSpPr>
          <p:cNvPr id="11" name="Text 9"/>
          <p:cNvSpPr txBox="1"/>
          <p:nvPr/>
        </p:nvSpPr>
        <p:spPr>
          <a:xfrm>
            <a:off x="731520" y="3063240"/>
            <a:ext cx="2286000" cy="246888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0A2540"/>
                </a:solidFill>
                <a:latin typeface="Malgun Gothic" pitchFamily="34" charset="0"/>
                <a:ea typeface="Malgun Gothic" pitchFamily="34" charset="-122"/>
                <a:cs typeface="Malgun Gothic" pitchFamily="34" charset="-120"/>
              </a:rPr>
              <a:t>번호판 촬영 → OCR 인식</a:t>
            </a:r>
            <a:endParaRPr lang="en-US" sz="1250" dirty="0"/>
          </a:p>
          <a:p>
            <a:pPr marL="152400" indent="-152400">
              <a:spcAft>
                <a:spcPts val="800"/>
              </a:spcAft>
              <a:buSzPct val="100000"/>
              <a:buChar char="•"/>
            </a:pPr>
            <a:r>
              <a:rPr lang="en-US" sz="1250" dirty="0">
                <a:solidFill>
                  <a:srgbClr val="0A2540"/>
                </a:solidFill>
                <a:latin typeface="Malgun Gothic" pitchFamily="34" charset="0"/>
                <a:ea typeface="Malgun Gothic" pitchFamily="34" charset="-122"/>
                <a:cs typeface="Malgun Gothic" pitchFamily="34" charset="-120"/>
              </a:rPr>
              <a:t>진입 허가 차량 DB 대조</a:t>
            </a:r>
            <a:endParaRPr lang="en-US" sz="1250" dirty="0"/>
          </a:p>
          <a:p>
            <a:pPr marL="152400" indent="-152400">
              <a:spcAft>
                <a:spcPts val="800"/>
              </a:spcAft>
              <a:buSzPct val="100000"/>
              <a:buChar char="•"/>
            </a:pPr>
            <a:r>
              <a:rPr lang="en-US" sz="1250" dirty="0">
                <a:solidFill>
                  <a:srgbClr val="0A2540"/>
                </a:solidFill>
                <a:latin typeface="Malgun Gothic" pitchFamily="34" charset="0"/>
                <a:ea typeface="Malgun Gothic" pitchFamily="34" charset="-122"/>
                <a:cs typeface="Malgun Gothic" pitchFamily="34" charset="-120"/>
              </a:rPr>
              <a:t>등록 차량이면 차단기 개방</a:t>
            </a:r>
            <a:endParaRPr lang="en-US" sz="1250" dirty="0"/>
          </a:p>
          <a:p>
            <a:pPr marL="152400" indent="-152400">
              <a:spcAft>
                <a:spcPts val="800"/>
              </a:spcAft>
              <a:buSzPct val="100000"/>
              <a:buChar char="•"/>
            </a:pPr>
            <a:r>
              <a:rPr lang="en-US" sz="1250" dirty="0">
                <a:solidFill>
                  <a:srgbClr val="0A2540"/>
                </a:solidFill>
                <a:latin typeface="Malgun Gothic" pitchFamily="34" charset="0"/>
                <a:ea typeface="Malgun Gothic" pitchFamily="34" charset="-122"/>
                <a:cs typeface="Malgun Gothic" pitchFamily="34" charset="-120"/>
              </a:rPr>
              <a:t>미인식 · 미등록은 보류 기록</a:t>
            </a:r>
            <a:endParaRPr lang="en-US" sz="1250" dirty="0"/>
          </a:p>
        </p:txBody>
      </p:sp>
      <p:sp>
        <p:nvSpPr>
          <p:cNvPr id="12" name="Shape 10"/>
          <p:cNvSpPr/>
          <p:nvPr/>
        </p:nvSpPr>
        <p:spPr>
          <a:xfrm>
            <a:off x="3182112" y="3657600"/>
            <a:ext cx="128016" cy="0"/>
          </a:xfrm>
          <a:prstGeom prst="line">
            <a:avLst/>
          </a:prstGeom>
          <a:noFill/>
          <a:ln w="25400">
            <a:solidFill>
              <a:srgbClr val="0A2540"/>
            </a:solidFill>
            <a:prstDash val="solid"/>
            <a:tailEnd type="triangle"/>
          </a:ln>
        </p:spPr>
      </p:sp>
      <p:sp>
        <p:nvSpPr>
          <p:cNvPr id="13" name="Shape 11"/>
          <p:cNvSpPr/>
          <p:nvPr/>
        </p:nvSpPr>
        <p:spPr>
          <a:xfrm>
            <a:off x="3337560" y="1600200"/>
            <a:ext cx="2651760" cy="4114800"/>
          </a:xfrm>
          <a:prstGeom prst="roundRect">
            <a:avLst>
              <a:gd name="adj" fmla="val 2069"/>
            </a:avLst>
          </a:prstGeom>
          <a:solidFill>
            <a:srgbClr val="F4F6F8"/>
          </a:solidFill>
          <a:ln w="12700">
            <a:solidFill>
              <a:srgbClr val="F4F6F8"/>
            </a:solidFill>
            <a:prstDash val="solid"/>
          </a:ln>
        </p:spPr>
      </p:sp>
      <p:sp>
        <p:nvSpPr>
          <p:cNvPr id="14" name="Text 12"/>
          <p:cNvSpPr txBox="1"/>
          <p:nvPr/>
        </p:nvSpPr>
        <p:spPr>
          <a:xfrm>
            <a:off x="3566160" y="1783080"/>
            <a:ext cx="914400" cy="411480"/>
          </a:xfrm>
          <a:prstGeom prst="rect">
            <a:avLst/>
          </a:prstGeom>
          <a:noFill/>
          <a:ln/>
        </p:spPr>
        <p:txBody>
          <a:bodyPr wrap="square" lIns="0" tIns="0" rIns="0" bIns="0" rtlCol="0" anchor="ctr"/>
          <a:lstStyle/>
          <a:p>
            <a:pPr marL="0" indent="0" algn="l">
              <a:buNone/>
            </a:pPr>
            <a:r>
              <a:rPr lang="en-US" sz="2200" b="1" dirty="0">
                <a:solidFill>
                  <a:srgbClr val="FF6B00"/>
                </a:solidFill>
                <a:latin typeface="Malgun Gothic" pitchFamily="34" charset="0"/>
                <a:ea typeface="Malgun Gothic" pitchFamily="34" charset="-122"/>
                <a:cs typeface="Malgun Gothic" pitchFamily="34" charset="-120"/>
              </a:rPr>
              <a:t>02</a:t>
            </a:r>
            <a:endParaRPr lang="en-US" sz="2200" dirty="0"/>
          </a:p>
        </p:txBody>
      </p:sp>
      <p:sp>
        <p:nvSpPr>
          <p:cNvPr id="15" name="Text 13"/>
          <p:cNvSpPr txBox="1"/>
          <p:nvPr/>
        </p:nvSpPr>
        <p:spPr>
          <a:xfrm>
            <a:off x="3566160" y="2194560"/>
            <a:ext cx="2194560" cy="274320"/>
          </a:xfrm>
          <a:prstGeom prst="rect">
            <a:avLst/>
          </a:prstGeom>
          <a:noFill/>
          <a:ln/>
        </p:spPr>
        <p:txBody>
          <a:bodyPr wrap="square" lIns="0" tIns="0" rIns="0" bIns="0" rtlCol="0" anchor="ctr"/>
          <a:lstStyle/>
          <a:p>
            <a:pPr marL="0" indent="0" algn="l">
              <a:buNone/>
            </a:pPr>
            <a:r>
              <a:rPr lang="en-US" sz="1100" b="1" dirty="0">
                <a:solidFill>
                  <a:srgbClr val="5B6B7F"/>
                </a:solidFill>
                <a:latin typeface="Malgun Gothic" pitchFamily="34" charset="0"/>
                <a:ea typeface="Malgun Gothic" pitchFamily="34" charset="-122"/>
                <a:cs typeface="Malgun Gothic" pitchFamily="34" charset="-120"/>
              </a:rPr>
              <a:t>YARD</a:t>
            </a:r>
            <a:endParaRPr lang="en-US" sz="1100" dirty="0"/>
          </a:p>
        </p:txBody>
      </p:sp>
      <p:sp>
        <p:nvSpPr>
          <p:cNvPr id="16" name="Text 14"/>
          <p:cNvSpPr txBox="1"/>
          <p:nvPr/>
        </p:nvSpPr>
        <p:spPr>
          <a:xfrm>
            <a:off x="3566160" y="2487168"/>
            <a:ext cx="2194560" cy="411480"/>
          </a:xfrm>
          <a:prstGeom prst="rect">
            <a:avLst/>
          </a:prstGeom>
          <a:noFill/>
          <a:ln/>
        </p:spPr>
        <p:txBody>
          <a:bodyPr wrap="square" lIns="0" tIns="0" rIns="0" bIns="0" rtlCol="0" anchor="ctr"/>
          <a:lstStyle/>
          <a:p>
            <a:pPr marL="0" indent="0" algn="l">
              <a:buNone/>
            </a:pPr>
            <a:r>
              <a:rPr lang="en-US" sz="1900" b="1" dirty="0">
                <a:solidFill>
                  <a:srgbClr val="0A2540"/>
                </a:solidFill>
                <a:latin typeface="Malgun Gothic" pitchFamily="34" charset="0"/>
                <a:ea typeface="Malgun Gothic" pitchFamily="34" charset="-122"/>
                <a:cs typeface="Malgun Gothic" pitchFamily="34" charset="-120"/>
              </a:rPr>
              <a:t>적재소</a:t>
            </a:r>
            <a:endParaRPr lang="en-US" sz="1900" dirty="0"/>
          </a:p>
        </p:txBody>
      </p:sp>
      <p:sp>
        <p:nvSpPr>
          <p:cNvPr id="17" name="Text 15"/>
          <p:cNvSpPr txBox="1"/>
          <p:nvPr/>
        </p:nvSpPr>
        <p:spPr>
          <a:xfrm>
            <a:off x="3566160" y="3063240"/>
            <a:ext cx="2286000" cy="246888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0A2540"/>
                </a:solidFill>
                <a:latin typeface="Malgun Gothic" pitchFamily="34" charset="0"/>
                <a:ea typeface="Malgun Gothic" pitchFamily="34" charset="-122"/>
                <a:cs typeface="Malgun Gothic" pitchFamily="34" charset="-120"/>
              </a:rPr>
              <a:t>배차된 적재 위치로 이동</a:t>
            </a:r>
            <a:endParaRPr lang="en-US" sz="1250" dirty="0"/>
          </a:p>
          <a:p>
            <a:pPr marL="152400" indent="-152400">
              <a:spcAft>
                <a:spcPts val="800"/>
              </a:spcAft>
              <a:buSzPct val="100000"/>
              <a:buChar char="•"/>
            </a:pPr>
            <a:r>
              <a:rPr lang="en-US" sz="1250" dirty="0">
                <a:solidFill>
                  <a:srgbClr val="0A2540"/>
                </a:solidFill>
                <a:latin typeface="Malgun Gothic" pitchFamily="34" charset="0"/>
                <a:ea typeface="Malgun Gothic" pitchFamily="34" charset="-122"/>
                <a:cs typeface="Malgun Gothic" pitchFamily="34" charset="-120"/>
              </a:rPr>
              <a:t>컨테이너 상하차 작업</a:t>
            </a:r>
            <a:endParaRPr lang="en-US" sz="1250" dirty="0"/>
          </a:p>
          <a:p>
            <a:pPr marL="152400" indent="-152400">
              <a:spcAft>
                <a:spcPts val="800"/>
              </a:spcAft>
              <a:buSzPct val="100000"/>
              <a:buChar char="•"/>
            </a:pPr>
            <a:r>
              <a:rPr lang="en-US" sz="1250" dirty="0" err="1">
                <a:solidFill>
                  <a:srgbClr val="0A2540"/>
                </a:solidFill>
                <a:latin typeface="Malgun Gothic" pitchFamily="34" charset="0"/>
                <a:ea typeface="Malgun Gothic" pitchFamily="34" charset="-122"/>
                <a:cs typeface="Malgun Gothic" pitchFamily="34" charset="-120"/>
              </a:rPr>
              <a:t>적재기록</a:t>
            </a:r>
            <a:r>
              <a:rPr lang="en-US" sz="1250" dirty="0">
                <a:solidFill>
                  <a:srgbClr val="0A2540"/>
                </a:solidFill>
                <a:latin typeface="Malgun Gothic" pitchFamily="34" charset="0"/>
                <a:ea typeface="Malgun Gothic" pitchFamily="34" charset="-122"/>
                <a:cs typeface="Malgun Gothic" pitchFamily="34" charset="-120"/>
              </a:rPr>
              <a:t> </a:t>
            </a:r>
            <a:r>
              <a:rPr lang="ko-KR" altLang="en-US" sz="1250" dirty="0">
                <a:solidFill>
                  <a:srgbClr val="0A2540"/>
                </a:solidFill>
                <a:latin typeface="Malgun Gothic" pitchFamily="34" charset="0"/>
                <a:ea typeface="Malgun Gothic" pitchFamily="34" charset="-122"/>
                <a:cs typeface="Malgun Gothic" pitchFamily="34" charset="-120"/>
              </a:rPr>
              <a:t>확인</a:t>
            </a:r>
            <a:r>
              <a:rPr lang="en-US" sz="1250" dirty="0">
                <a:solidFill>
                  <a:srgbClr val="0A2540"/>
                </a:solidFill>
                <a:latin typeface="Malgun Gothic" pitchFamily="34" charset="0"/>
                <a:ea typeface="Malgun Gothic" pitchFamily="34" charset="-122"/>
                <a:cs typeface="Malgun Gothic" pitchFamily="34" charset="-120"/>
              </a:rPr>
              <a:t> → </a:t>
            </a:r>
            <a:r>
              <a:rPr lang="ko-KR" altLang="en-US" sz="1250" dirty="0">
                <a:solidFill>
                  <a:srgbClr val="0A2540"/>
                </a:solidFill>
                <a:latin typeface="Malgun Gothic" pitchFamily="34" charset="0"/>
                <a:ea typeface="Malgun Gothic" pitchFamily="34" charset="-122"/>
                <a:cs typeface="Malgun Gothic" pitchFamily="34" charset="-120"/>
              </a:rPr>
              <a:t>완료</a:t>
            </a:r>
            <a:endParaRPr lang="en-US" sz="1250" dirty="0"/>
          </a:p>
        </p:txBody>
      </p:sp>
      <p:sp>
        <p:nvSpPr>
          <p:cNvPr id="18" name="Shape 16"/>
          <p:cNvSpPr/>
          <p:nvPr/>
        </p:nvSpPr>
        <p:spPr>
          <a:xfrm>
            <a:off x="6016752" y="3657600"/>
            <a:ext cx="128016" cy="0"/>
          </a:xfrm>
          <a:prstGeom prst="line">
            <a:avLst/>
          </a:prstGeom>
          <a:noFill/>
          <a:ln w="25400">
            <a:solidFill>
              <a:srgbClr val="0A2540"/>
            </a:solidFill>
            <a:prstDash val="solid"/>
            <a:tailEnd type="triangle"/>
          </a:ln>
        </p:spPr>
      </p:sp>
      <p:sp>
        <p:nvSpPr>
          <p:cNvPr id="19" name="Shape 17"/>
          <p:cNvSpPr/>
          <p:nvPr/>
        </p:nvSpPr>
        <p:spPr>
          <a:xfrm>
            <a:off x="6172200" y="1600200"/>
            <a:ext cx="2651760" cy="4114800"/>
          </a:xfrm>
          <a:prstGeom prst="roundRect">
            <a:avLst>
              <a:gd name="adj" fmla="val 2069"/>
            </a:avLst>
          </a:prstGeom>
          <a:solidFill>
            <a:srgbClr val="FFF0E5"/>
          </a:solidFill>
          <a:ln w="12700">
            <a:solidFill>
              <a:srgbClr val="FFF0E5"/>
            </a:solidFill>
            <a:prstDash val="solid"/>
          </a:ln>
        </p:spPr>
      </p:sp>
      <p:sp>
        <p:nvSpPr>
          <p:cNvPr id="20" name="Text 18"/>
          <p:cNvSpPr txBox="1"/>
          <p:nvPr/>
        </p:nvSpPr>
        <p:spPr>
          <a:xfrm>
            <a:off x="6400800" y="1783080"/>
            <a:ext cx="914400" cy="411480"/>
          </a:xfrm>
          <a:prstGeom prst="rect">
            <a:avLst/>
          </a:prstGeom>
          <a:noFill/>
          <a:ln/>
        </p:spPr>
        <p:txBody>
          <a:bodyPr wrap="square" lIns="0" tIns="0" rIns="0" bIns="0" rtlCol="0" anchor="ctr"/>
          <a:lstStyle/>
          <a:p>
            <a:pPr marL="0" indent="0" algn="l">
              <a:buNone/>
            </a:pPr>
            <a:r>
              <a:rPr lang="en-US" sz="2200" b="1" dirty="0">
                <a:solidFill>
                  <a:srgbClr val="FF6B00"/>
                </a:solidFill>
                <a:latin typeface="Malgun Gothic" pitchFamily="34" charset="0"/>
                <a:ea typeface="Malgun Gothic" pitchFamily="34" charset="-122"/>
                <a:cs typeface="Malgun Gothic" pitchFamily="34" charset="-120"/>
              </a:rPr>
              <a:t>03</a:t>
            </a:r>
            <a:endParaRPr lang="en-US" sz="2200" dirty="0"/>
          </a:p>
        </p:txBody>
      </p:sp>
      <p:sp>
        <p:nvSpPr>
          <p:cNvPr id="21" name="Text 19"/>
          <p:cNvSpPr txBox="1"/>
          <p:nvPr/>
        </p:nvSpPr>
        <p:spPr>
          <a:xfrm>
            <a:off x="6400800" y="2194560"/>
            <a:ext cx="2194560" cy="274320"/>
          </a:xfrm>
          <a:prstGeom prst="rect">
            <a:avLst/>
          </a:prstGeom>
          <a:noFill/>
          <a:ln/>
        </p:spPr>
        <p:txBody>
          <a:bodyPr wrap="square" lIns="0" tIns="0" rIns="0" bIns="0" rtlCol="0" anchor="ctr"/>
          <a:lstStyle/>
          <a:p>
            <a:pPr marL="0" indent="0" algn="l">
              <a:buNone/>
            </a:pPr>
            <a:r>
              <a:rPr lang="en-US" sz="1100" b="1" dirty="0">
                <a:solidFill>
                  <a:srgbClr val="5B6B7F"/>
                </a:solidFill>
                <a:latin typeface="Malgun Gothic" pitchFamily="34" charset="0"/>
                <a:ea typeface="Malgun Gothic" pitchFamily="34" charset="-122"/>
                <a:cs typeface="Malgun Gothic" pitchFamily="34" charset="-120"/>
              </a:rPr>
              <a:t>WB-01</a:t>
            </a:r>
            <a:endParaRPr lang="en-US" sz="1100" dirty="0"/>
          </a:p>
        </p:txBody>
      </p:sp>
      <p:sp>
        <p:nvSpPr>
          <p:cNvPr id="22" name="Text 20"/>
          <p:cNvSpPr txBox="1"/>
          <p:nvPr/>
        </p:nvSpPr>
        <p:spPr>
          <a:xfrm>
            <a:off x="6400800" y="2487168"/>
            <a:ext cx="2194560" cy="411480"/>
          </a:xfrm>
          <a:prstGeom prst="rect">
            <a:avLst/>
          </a:prstGeom>
          <a:noFill/>
          <a:ln/>
        </p:spPr>
        <p:txBody>
          <a:bodyPr wrap="square" lIns="0" tIns="0" rIns="0" bIns="0" rtlCol="0" anchor="ctr"/>
          <a:lstStyle/>
          <a:p>
            <a:pPr marL="0" indent="0" algn="l">
              <a:buNone/>
            </a:pPr>
            <a:r>
              <a:rPr lang="en-US" sz="1900" b="1" dirty="0">
                <a:solidFill>
                  <a:srgbClr val="0A2540"/>
                </a:solidFill>
                <a:latin typeface="Malgun Gothic" pitchFamily="34" charset="0"/>
                <a:ea typeface="Malgun Gothic" pitchFamily="34" charset="-122"/>
                <a:cs typeface="Malgun Gothic" pitchFamily="34" charset="-120"/>
              </a:rPr>
              <a:t>검사소</a:t>
            </a:r>
            <a:endParaRPr lang="en-US" sz="1900" dirty="0"/>
          </a:p>
        </p:txBody>
      </p:sp>
      <p:sp>
        <p:nvSpPr>
          <p:cNvPr id="23" name="Text 21"/>
          <p:cNvSpPr txBox="1"/>
          <p:nvPr/>
        </p:nvSpPr>
        <p:spPr>
          <a:xfrm>
            <a:off x="6400800" y="3063240"/>
            <a:ext cx="2286000" cy="246888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0A2540"/>
                </a:solidFill>
                <a:latin typeface="Malgun Gothic" pitchFamily="34" charset="0"/>
                <a:ea typeface="Malgun Gothic" pitchFamily="34" charset="-122"/>
                <a:cs typeface="Malgun Gothic" pitchFamily="34" charset="-120"/>
              </a:rPr>
              <a:t>계량 대기열 자동 등록</a:t>
            </a:r>
            <a:endParaRPr lang="en-US" sz="1250" dirty="0"/>
          </a:p>
          <a:p>
            <a:pPr marL="152400" indent="-152400">
              <a:spcAft>
                <a:spcPts val="800"/>
              </a:spcAft>
              <a:buSzPct val="100000"/>
              <a:buChar char="•"/>
            </a:pPr>
            <a:r>
              <a:rPr lang="en-US" sz="1250" dirty="0">
                <a:solidFill>
                  <a:srgbClr val="0A2540"/>
                </a:solidFill>
                <a:latin typeface="Malgun Gothic" pitchFamily="34" charset="0"/>
                <a:ea typeface="Malgun Gothic" pitchFamily="34" charset="-122"/>
                <a:cs typeface="Malgun Gothic" pitchFamily="34" charset="-120"/>
              </a:rPr>
              <a:t>축중 · VGM 측정</a:t>
            </a:r>
            <a:endParaRPr lang="en-US" sz="1250" dirty="0"/>
          </a:p>
          <a:p>
            <a:pPr marL="152400" indent="-152400">
              <a:spcAft>
                <a:spcPts val="800"/>
              </a:spcAft>
              <a:buSzPct val="100000"/>
              <a:buChar char="•"/>
            </a:pPr>
            <a:r>
              <a:rPr lang="en-US" sz="1250" dirty="0">
                <a:solidFill>
                  <a:srgbClr val="0A2540"/>
                </a:solidFill>
                <a:latin typeface="Malgun Gothic" pitchFamily="34" charset="0"/>
                <a:ea typeface="Malgun Gothic" pitchFamily="34" charset="-122"/>
                <a:cs typeface="Malgun Gothic" pitchFamily="34" charset="-120"/>
              </a:rPr>
              <a:t>과적 PASS / FAIL 판정</a:t>
            </a:r>
            <a:endParaRPr lang="en-US" sz="1250" dirty="0"/>
          </a:p>
          <a:p>
            <a:pPr marL="152400" indent="-152400">
              <a:spcAft>
                <a:spcPts val="800"/>
              </a:spcAft>
              <a:buSzPct val="100000"/>
              <a:buChar char="•"/>
            </a:pPr>
            <a:r>
              <a:rPr lang="en-US" sz="1250" dirty="0">
                <a:solidFill>
                  <a:srgbClr val="0A2540"/>
                </a:solidFill>
                <a:latin typeface="Malgun Gothic" pitchFamily="34" charset="0"/>
                <a:ea typeface="Malgun Gothic" pitchFamily="34" charset="-122"/>
                <a:cs typeface="Malgun Gothic" pitchFamily="34" charset="-120"/>
              </a:rPr>
              <a:t>FAIL → 재계량 · 업체 알림</a:t>
            </a:r>
            <a:endParaRPr lang="en-US" sz="1250" dirty="0"/>
          </a:p>
        </p:txBody>
      </p:sp>
      <p:sp>
        <p:nvSpPr>
          <p:cNvPr id="24" name="Shape 22"/>
          <p:cNvSpPr/>
          <p:nvPr/>
        </p:nvSpPr>
        <p:spPr>
          <a:xfrm>
            <a:off x="8851392" y="3657600"/>
            <a:ext cx="128016" cy="0"/>
          </a:xfrm>
          <a:prstGeom prst="line">
            <a:avLst/>
          </a:prstGeom>
          <a:noFill/>
          <a:ln w="25400">
            <a:solidFill>
              <a:srgbClr val="0A2540"/>
            </a:solidFill>
            <a:prstDash val="solid"/>
            <a:tailEnd type="triangle"/>
          </a:ln>
        </p:spPr>
      </p:sp>
      <p:sp>
        <p:nvSpPr>
          <p:cNvPr id="25" name="Shape 23"/>
          <p:cNvSpPr/>
          <p:nvPr/>
        </p:nvSpPr>
        <p:spPr>
          <a:xfrm>
            <a:off x="9006840" y="1600200"/>
            <a:ext cx="2651760" cy="4114800"/>
          </a:xfrm>
          <a:prstGeom prst="roundRect">
            <a:avLst>
              <a:gd name="adj" fmla="val 2069"/>
            </a:avLst>
          </a:prstGeom>
          <a:solidFill>
            <a:srgbClr val="F4F6F8"/>
          </a:solidFill>
          <a:ln w="12700">
            <a:solidFill>
              <a:srgbClr val="F4F6F8"/>
            </a:solidFill>
            <a:prstDash val="solid"/>
          </a:ln>
        </p:spPr>
      </p:sp>
      <p:sp>
        <p:nvSpPr>
          <p:cNvPr id="26" name="Text 24"/>
          <p:cNvSpPr txBox="1"/>
          <p:nvPr/>
        </p:nvSpPr>
        <p:spPr>
          <a:xfrm>
            <a:off x="9235440" y="1783080"/>
            <a:ext cx="914400" cy="411480"/>
          </a:xfrm>
          <a:prstGeom prst="rect">
            <a:avLst/>
          </a:prstGeom>
          <a:noFill/>
          <a:ln/>
        </p:spPr>
        <p:txBody>
          <a:bodyPr wrap="square" lIns="0" tIns="0" rIns="0" bIns="0" rtlCol="0" anchor="ctr"/>
          <a:lstStyle/>
          <a:p>
            <a:pPr marL="0" indent="0" algn="l">
              <a:buNone/>
            </a:pPr>
            <a:r>
              <a:rPr lang="en-US" sz="2200" b="1" dirty="0">
                <a:solidFill>
                  <a:srgbClr val="FF6B00"/>
                </a:solidFill>
                <a:latin typeface="Malgun Gothic" pitchFamily="34" charset="0"/>
                <a:ea typeface="Malgun Gothic" pitchFamily="34" charset="-122"/>
                <a:cs typeface="Malgun Gothic" pitchFamily="34" charset="-120"/>
              </a:rPr>
              <a:t>04</a:t>
            </a:r>
            <a:endParaRPr lang="en-US" sz="2200" dirty="0"/>
          </a:p>
        </p:txBody>
      </p:sp>
      <p:sp>
        <p:nvSpPr>
          <p:cNvPr id="27" name="Text 25"/>
          <p:cNvSpPr txBox="1"/>
          <p:nvPr/>
        </p:nvSpPr>
        <p:spPr>
          <a:xfrm>
            <a:off x="9235440" y="2194560"/>
            <a:ext cx="2194560" cy="274320"/>
          </a:xfrm>
          <a:prstGeom prst="rect">
            <a:avLst/>
          </a:prstGeom>
          <a:noFill/>
          <a:ln/>
        </p:spPr>
        <p:txBody>
          <a:bodyPr wrap="square" lIns="0" tIns="0" rIns="0" bIns="0" rtlCol="0" anchor="ctr"/>
          <a:lstStyle/>
          <a:p>
            <a:pPr marL="0" indent="0" algn="l">
              <a:buNone/>
            </a:pPr>
            <a:r>
              <a:rPr lang="en-US" sz="1100" b="1" dirty="0">
                <a:solidFill>
                  <a:srgbClr val="5B6B7F"/>
                </a:solidFill>
                <a:latin typeface="Malgun Gothic" pitchFamily="34" charset="0"/>
                <a:ea typeface="Malgun Gothic" pitchFamily="34" charset="-122"/>
                <a:cs typeface="Malgun Gothic" pitchFamily="34" charset="-120"/>
              </a:rPr>
              <a:t>GATE OUT</a:t>
            </a:r>
            <a:endParaRPr lang="en-US" sz="1100" dirty="0"/>
          </a:p>
        </p:txBody>
      </p:sp>
      <p:sp>
        <p:nvSpPr>
          <p:cNvPr id="28" name="Text 26"/>
          <p:cNvSpPr txBox="1"/>
          <p:nvPr/>
        </p:nvSpPr>
        <p:spPr>
          <a:xfrm>
            <a:off x="9235440" y="2487168"/>
            <a:ext cx="2194560" cy="411480"/>
          </a:xfrm>
          <a:prstGeom prst="rect">
            <a:avLst/>
          </a:prstGeom>
          <a:noFill/>
          <a:ln/>
        </p:spPr>
        <p:txBody>
          <a:bodyPr wrap="square" lIns="0" tIns="0" rIns="0" bIns="0" rtlCol="0" anchor="ctr"/>
          <a:lstStyle/>
          <a:p>
            <a:pPr marL="0" indent="0" algn="l">
              <a:buNone/>
            </a:pPr>
            <a:r>
              <a:rPr lang="en-US" sz="1900" b="1" dirty="0">
                <a:solidFill>
                  <a:srgbClr val="0A2540"/>
                </a:solidFill>
                <a:latin typeface="Malgun Gothic" pitchFamily="34" charset="0"/>
                <a:ea typeface="Malgun Gothic" pitchFamily="34" charset="-122"/>
                <a:cs typeface="Malgun Gothic" pitchFamily="34" charset="-120"/>
              </a:rPr>
              <a:t>출차</a:t>
            </a:r>
            <a:endParaRPr lang="en-US" sz="1900" dirty="0"/>
          </a:p>
        </p:txBody>
      </p:sp>
      <p:sp>
        <p:nvSpPr>
          <p:cNvPr id="29" name="Text 27"/>
          <p:cNvSpPr txBox="1"/>
          <p:nvPr/>
        </p:nvSpPr>
        <p:spPr>
          <a:xfrm>
            <a:off x="9235440" y="3063240"/>
            <a:ext cx="2286000" cy="246888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0A2540"/>
                </a:solidFill>
                <a:latin typeface="Malgun Gothic" pitchFamily="34" charset="0"/>
                <a:ea typeface="Malgun Gothic" pitchFamily="34" charset="-122"/>
                <a:cs typeface="Malgun Gothic" pitchFamily="34" charset="-120"/>
              </a:rPr>
              <a:t>번호판 OCR 재확인</a:t>
            </a:r>
            <a:endParaRPr lang="en-US" sz="1250" dirty="0"/>
          </a:p>
          <a:p>
            <a:pPr marL="152400" indent="-152400">
              <a:spcAft>
                <a:spcPts val="800"/>
              </a:spcAft>
              <a:buSzPct val="100000"/>
              <a:buChar char="•"/>
            </a:pPr>
            <a:r>
              <a:rPr lang="en-US" sz="1250" dirty="0">
                <a:solidFill>
                  <a:srgbClr val="0A2540"/>
                </a:solidFill>
                <a:latin typeface="Malgun Gothic" pitchFamily="34" charset="0"/>
                <a:ea typeface="Malgun Gothic" pitchFamily="34" charset="-122"/>
                <a:cs typeface="Malgun Gothic" pitchFamily="34" charset="-120"/>
              </a:rPr>
              <a:t>상하차 완료 + 과적 통과 확인</a:t>
            </a:r>
            <a:endParaRPr lang="en-US" sz="1250" dirty="0"/>
          </a:p>
          <a:p>
            <a:pPr marL="152400" indent="-152400">
              <a:spcAft>
                <a:spcPts val="800"/>
              </a:spcAft>
              <a:buSzPct val="100000"/>
              <a:buChar char="•"/>
            </a:pPr>
            <a:r>
              <a:rPr lang="en-US" sz="1250" dirty="0">
                <a:solidFill>
                  <a:srgbClr val="0A2540"/>
                </a:solidFill>
                <a:latin typeface="Malgun Gothic" pitchFamily="34" charset="0"/>
                <a:ea typeface="Malgun Gothic" pitchFamily="34" charset="-122"/>
                <a:cs typeface="Malgun Gothic" pitchFamily="34" charset="-120"/>
              </a:rPr>
              <a:t>정상 : </a:t>
            </a:r>
            <a:r>
              <a:rPr lang="en-US" sz="1250" dirty="0" err="1">
                <a:solidFill>
                  <a:srgbClr val="0A2540"/>
                </a:solidFill>
                <a:latin typeface="Malgun Gothic" pitchFamily="34" charset="0"/>
                <a:ea typeface="Malgun Gothic" pitchFamily="34" charset="-122"/>
                <a:cs typeface="Malgun Gothic" pitchFamily="34" charset="-120"/>
              </a:rPr>
              <a:t>출차</a:t>
            </a:r>
            <a:r>
              <a:rPr lang="en-US" sz="1250" dirty="0">
                <a:solidFill>
                  <a:srgbClr val="0A2540"/>
                </a:solidFill>
                <a:latin typeface="Malgun Gothic" pitchFamily="34" charset="0"/>
                <a:ea typeface="Malgun Gothic" pitchFamily="34" charset="-122"/>
                <a:cs typeface="Malgun Gothic" pitchFamily="34" charset="-120"/>
              </a:rPr>
              <a:t> </a:t>
            </a:r>
            <a:r>
              <a:rPr lang="en-US" sz="1250" dirty="0" err="1">
                <a:solidFill>
                  <a:srgbClr val="0A2540"/>
                </a:solidFill>
                <a:latin typeface="Malgun Gothic" pitchFamily="34" charset="0"/>
                <a:ea typeface="Malgun Gothic" pitchFamily="34" charset="-122"/>
                <a:cs typeface="Malgun Gothic" pitchFamily="34" charset="-120"/>
              </a:rPr>
              <a:t>완료</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Malgun Gothic" pitchFamily="34" charset="0"/>
                <a:ea typeface="Malgun Gothic" pitchFamily="34" charset="-122"/>
                <a:cs typeface="Malgun Gothic" pitchFamily="34" charset="-120"/>
              </a:rPr>
              <a:t>03  핵심 기능</a:t>
            </a:r>
            <a:endParaRPr lang="en-US" sz="1100" dirty="0"/>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Malgun Gothic" pitchFamily="34" charset="0"/>
                <a:ea typeface="Malgun Gothic" pitchFamily="34" charset="-122"/>
                <a:cs typeface="Malgun Gothic" pitchFamily="34" charset="-120"/>
              </a:rPr>
              <a:t>OCR 차량 </a:t>
            </a:r>
            <a:r>
              <a:rPr lang="en-US" sz="2600" b="1" dirty="0" err="1">
                <a:solidFill>
                  <a:srgbClr val="0A2540"/>
                </a:solidFill>
                <a:latin typeface="Malgun Gothic" pitchFamily="34" charset="0"/>
                <a:ea typeface="Malgun Gothic" pitchFamily="34" charset="-122"/>
                <a:cs typeface="Malgun Gothic" pitchFamily="34" charset="-120"/>
              </a:rPr>
              <a:t>처리</a:t>
            </a:r>
            <a:r>
              <a:rPr lang="en-US" sz="2600" b="1" dirty="0">
                <a:solidFill>
                  <a:srgbClr val="0A2540"/>
                </a:solidFill>
                <a:latin typeface="Malgun Gothic" pitchFamily="34" charset="0"/>
                <a:ea typeface="Malgun Gothic" pitchFamily="34" charset="-122"/>
                <a:cs typeface="Malgun Gothic" pitchFamily="34" charset="-120"/>
              </a:rPr>
              <a:t> </a:t>
            </a:r>
            <a:r>
              <a:rPr lang="en-US" sz="2600" b="1" dirty="0" err="1">
                <a:solidFill>
                  <a:srgbClr val="0A2540"/>
                </a:solidFill>
                <a:latin typeface="Malgun Gothic" pitchFamily="34" charset="0"/>
                <a:ea typeface="Malgun Gothic" pitchFamily="34" charset="-122"/>
                <a:cs typeface="Malgun Gothic" pitchFamily="34" charset="-120"/>
              </a:rPr>
              <a:t>워크플로우</a:t>
            </a:r>
            <a:endParaRPr lang="en-US" sz="2600" dirty="0"/>
          </a:p>
        </p:txBody>
      </p:sp>
      <p:sp>
        <p:nvSpPr>
          <p:cNvPr id="4" name="Text 2"/>
          <p:cNvSpPr txBox="1"/>
          <p:nvPr/>
        </p:nvSpPr>
        <p:spPr>
          <a:xfrm>
            <a:off x="548640" y="1143000"/>
            <a:ext cx="10972800" cy="320040"/>
          </a:xfrm>
          <a:prstGeom prst="rect">
            <a:avLst/>
          </a:prstGeom>
          <a:noFill/>
          <a:ln/>
        </p:spPr>
        <p:txBody>
          <a:bodyPr wrap="square" lIns="0" tIns="0" rIns="0" bIns="0" rtlCol="0" anchor="ctr"/>
          <a:lstStyle/>
          <a:p>
            <a:pPr marL="0" indent="0" algn="l">
              <a:buNone/>
            </a:pPr>
            <a:r>
              <a:rPr lang="en-US" sz="1300" dirty="0">
                <a:solidFill>
                  <a:srgbClr val="5B6B7F"/>
                </a:solidFill>
                <a:latin typeface="Malgun Gothic" pitchFamily="34" charset="0"/>
                <a:ea typeface="Malgun Gothic" pitchFamily="34" charset="-122"/>
                <a:cs typeface="Malgun Gothic" pitchFamily="34" charset="-120"/>
              </a:rPr>
              <a:t>OCR 인식 한 번으로 차량 · 적재기록 상태가 자동으로 바뀝니다</a:t>
            </a:r>
            <a:endParaRPr lang="en-US" sz="1300" dirty="0"/>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Malgun Gothic" pitchFamily="34" charset="0"/>
                <a:ea typeface="Malgun Gothic" pitchFamily="34" charset="-122"/>
                <a:cs typeface="Malgun Gothic" pitchFamily="34" charset="-120"/>
              </a:rPr>
              <a:t>S Cargo  ·  못먹어도 S카고</a:t>
            </a:r>
            <a:endParaRPr lang="en-US" sz="900" dirty="0"/>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Malgun Gothic" pitchFamily="34" charset="0"/>
                <a:ea typeface="Malgun Gothic" pitchFamily="34" charset="-122"/>
                <a:cs typeface="Malgun Gothic" pitchFamily="34" charset="-120"/>
              </a:rPr>
              <a:t>15</a:t>
            </a:r>
            <a:endParaRPr lang="en-US" sz="900" dirty="0"/>
          </a:p>
        </p:txBody>
      </p:sp>
      <p:sp>
        <p:nvSpPr>
          <p:cNvPr id="7" name="Shape 5"/>
          <p:cNvSpPr/>
          <p:nvPr/>
        </p:nvSpPr>
        <p:spPr>
          <a:xfrm>
            <a:off x="502920" y="1600200"/>
            <a:ext cx="2148840" cy="1097280"/>
          </a:xfrm>
          <a:prstGeom prst="roundRect">
            <a:avLst>
              <a:gd name="adj" fmla="val 5000"/>
            </a:avLst>
          </a:prstGeom>
          <a:solidFill>
            <a:srgbClr val="FFFFFF"/>
          </a:solidFill>
          <a:ln w="19050">
            <a:solidFill>
              <a:srgbClr val="5B6B7F"/>
            </a:solidFill>
            <a:prstDash val="solid"/>
          </a:ln>
        </p:spPr>
      </p:sp>
      <p:sp>
        <p:nvSpPr>
          <p:cNvPr id="8" name="Shape 6"/>
          <p:cNvSpPr/>
          <p:nvPr/>
        </p:nvSpPr>
        <p:spPr>
          <a:xfrm>
            <a:off x="502920" y="1600200"/>
            <a:ext cx="2148840" cy="365760"/>
          </a:xfrm>
          <a:prstGeom prst="roundRect">
            <a:avLst>
              <a:gd name="adj" fmla="val 15000"/>
            </a:avLst>
          </a:prstGeom>
          <a:solidFill>
            <a:srgbClr val="5B6B7F"/>
          </a:solidFill>
          <a:ln w="12700">
            <a:solidFill>
              <a:srgbClr val="5B6B7F"/>
            </a:solidFill>
            <a:prstDash val="solid"/>
          </a:ln>
        </p:spPr>
      </p:sp>
      <p:sp>
        <p:nvSpPr>
          <p:cNvPr id="9" name="Text 7"/>
          <p:cNvSpPr txBox="1"/>
          <p:nvPr/>
        </p:nvSpPr>
        <p:spPr>
          <a:xfrm>
            <a:off x="594360" y="1600200"/>
            <a:ext cx="1965960" cy="365760"/>
          </a:xfrm>
          <a:prstGeom prst="rect">
            <a:avLst/>
          </a:prstGeom>
          <a:noFill/>
          <a:ln/>
        </p:spPr>
        <p:txBody>
          <a:bodyPr wrap="square" lIns="0" tIns="0" rIns="0" bIns="0" rtlCol="0" anchor="ctr"/>
          <a:lstStyle/>
          <a:p>
            <a:pPr marL="0" indent="0" algn="l">
              <a:buNone/>
            </a:pPr>
            <a:r>
              <a:rPr lang="en-US" sz="1250" b="1" dirty="0">
                <a:solidFill>
                  <a:srgbClr val="FFFFFF"/>
                </a:solidFill>
                <a:latin typeface="Malgun Gothic" pitchFamily="34" charset="0"/>
                <a:ea typeface="Malgun Gothic" pitchFamily="34" charset="-122"/>
                <a:cs typeface="Malgun Gothic" pitchFamily="34" charset="-120"/>
              </a:rPr>
              <a:t>초기 상태</a:t>
            </a:r>
            <a:endParaRPr lang="en-US" sz="1250" dirty="0"/>
          </a:p>
        </p:txBody>
      </p:sp>
      <p:sp>
        <p:nvSpPr>
          <p:cNvPr id="10" name="Text 8"/>
          <p:cNvSpPr txBox="1"/>
          <p:nvPr/>
        </p:nvSpPr>
        <p:spPr>
          <a:xfrm>
            <a:off x="640080" y="2039112"/>
            <a:ext cx="1874520" cy="274320"/>
          </a:xfrm>
          <a:prstGeom prst="rect">
            <a:avLst/>
          </a:prstGeom>
          <a:noFill/>
          <a:ln/>
        </p:spPr>
        <p:txBody>
          <a:bodyPr wrap="square" lIns="0" tIns="0" rIns="0" bIns="0" rtlCol="0" anchor="ctr"/>
          <a:lstStyle/>
          <a:p>
            <a:pPr marL="0" indent="0" algn="l">
              <a:buNone/>
            </a:pPr>
            <a:r>
              <a:rPr lang="en-US" sz="1150" dirty="0">
                <a:solidFill>
                  <a:srgbClr val="0A2540"/>
                </a:solidFill>
                <a:latin typeface="Malgun Gothic" pitchFamily="34" charset="0"/>
                <a:ea typeface="Malgun Gothic" pitchFamily="34" charset="-122"/>
                <a:cs typeface="Malgun Gothic" pitchFamily="34" charset="-120"/>
              </a:rPr>
              <a:t>Truck  OUTSIDE</a:t>
            </a:r>
            <a:endParaRPr lang="en-US" sz="1150" dirty="0"/>
          </a:p>
        </p:txBody>
      </p:sp>
      <p:sp>
        <p:nvSpPr>
          <p:cNvPr id="11" name="Text 9"/>
          <p:cNvSpPr txBox="1"/>
          <p:nvPr/>
        </p:nvSpPr>
        <p:spPr>
          <a:xfrm>
            <a:off x="640080" y="2331720"/>
            <a:ext cx="1874520" cy="274320"/>
          </a:xfrm>
          <a:prstGeom prst="rect">
            <a:avLst/>
          </a:prstGeom>
          <a:noFill/>
          <a:ln/>
        </p:spPr>
        <p:txBody>
          <a:bodyPr wrap="square" lIns="0" tIns="0" rIns="0" bIns="0" rtlCol="0" anchor="ctr"/>
          <a:lstStyle/>
          <a:p>
            <a:pPr marL="0" indent="0" algn="l">
              <a:buNone/>
            </a:pPr>
            <a:r>
              <a:rPr lang="en-US" sz="1150" dirty="0">
                <a:solidFill>
                  <a:srgbClr val="0A2540"/>
                </a:solidFill>
                <a:latin typeface="Malgun Gothic" pitchFamily="34" charset="0"/>
                <a:ea typeface="Malgun Gothic" pitchFamily="34" charset="-122"/>
                <a:cs typeface="Malgun Gothic" pitchFamily="34" charset="-120"/>
              </a:rPr>
              <a:t>Loading  PENDING</a:t>
            </a:r>
            <a:endParaRPr lang="en-US" sz="1150" dirty="0"/>
          </a:p>
        </p:txBody>
      </p:sp>
      <p:sp>
        <p:nvSpPr>
          <p:cNvPr id="12" name="Shape 10"/>
          <p:cNvSpPr/>
          <p:nvPr/>
        </p:nvSpPr>
        <p:spPr>
          <a:xfrm>
            <a:off x="3017520" y="1600200"/>
            <a:ext cx="2148840" cy="1097280"/>
          </a:xfrm>
          <a:prstGeom prst="roundRect">
            <a:avLst>
              <a:gd name="adj" fmla="val 5000"/>
            </a:avLst>
          </a:prstGeom>
          <a:solidFill>
            <a:srgbClr val="FFFFFF"/>
          </a:solidFill>
          <a:ln w="19050">
            <a:solidFill>
              <a:srgbClr val="0A2540"/>
            </a:solidFill>
            <a:prstDash val="solid"/>
          </a:ln>
        </p:spPr>
      </p:sp>
      <p:sp>
        <p:nvSpPr>
          <p:cNvPr id="13" name="Shape 11"/>
          <p:cNvSpPr/>
          <p:nvPr/>
        </p:nvSpPr>
        <p:spPr>
          <a:xfrm>
            <a:off x="3017520" y="1600200"/>
            <a:ext cx="2148840" cy="365760"/>
          </a:xfrm>
          <a:prstGeom prst="roundRect">
            <a:avLst>
              <a:gd name="adj" fmla="val 15000"/>
            </a:avLst>
          </a:prstGeom>
          <a:solidFill>
            <a:srgbClr val="0A2540"/>
          </a:solidFill>
          <a:ln w="12700">
            <a:solidFill>
              <a:srgbClr val="0A2540"/>
            </a:solidFill>
            <a:prstDash val="solid"/>
          </a:ln>
        </p:spPr>
      </p:sp>
      <p:sp>
        <p:nvSpPr>
          <p:cNvPr id="14" name="Text 12"/>
          <p:cNvSpPr txBox="1"/>
          <p:nvPr/>
        </p:nvSpPr>
        <p:spPr>
          <a:xfrm>
            <a:off x="3108960" y="1600200"/>
            <a:ext cx="1965960" cy="365760"/>
          </a:xfrm>
          <a:prstGeom prst="rect">
            <a:avLst/>
          </a:prstGeom>
          <a:noFill/>
          <a:ln/>
        </p:spPr>
        <p:txBody>
          <a:bodyPr wrap="square" lIns="0" tIns="0" rIns="0" bIns="0" rtlCol="0" anchor="ctr"/>
          <a:lstStyle/>
          <a:p>
            <a:pPr marL="0" indent="0" algn="l">
              <a:buNone/>
            </a:pPr>
            <a:r>
              <a:rPr lang="en-US" sz="1250" b="1" dirty="0">
                <a:solidFill>
                  <a:srgbClr val="FFFFFF"/>
                </a:solidFill>
                <a:latin typeface="Malgun Gothic" pitchFamily="34" charset="0"/>
                <a:ea typeface="Malgun Gothic" pitchFamily="34" charset="-122"/>
                <a:cs typeface="Malgun Gothic" pitchFamily="34" charset="-120"/>
              </a:rPr>
              <a:t>① 첫 OCR · 입차</a:t>
            </a:r>
            <a:endParaRPr lang="en-US" sz="1250" dirty="0"/>
          </a:p>
        </p:txBody>
      </p:sp>
      <p:sp>
        <p:nvSpPr>
          <p:cNvPr id="15" name="Text 13"/>
          <p:cNvSpPr txBox="1"/>
          <p:nvPr/>
        </p:nvSpPr>
        <p:spPr>
          <a:xfrm>
            <a:off x="3154680" y="2039112"/>
            <a:ext cx="1874520" cy="274320"/>
          </a:xfrm>
          <a:prstGeom prst="rect">
            <a:avLst/>
          </a:prstGeom>
          <a:noFill/>
          <a:ln/>
        </p:spPr>
        <p:txBody>
          <a:bodyPr wrap="square" lIns="0" tIns="0" rIns="0" bIns="0" rtlCol="0" anchor="ctr"/>
          <a:lstStyle/>
          <a:p>
            <a:pPr marL="0" indent="0" algn="l">
              <a:buNone/>
            </a:pPr>
            <a:r>
              <a:rPr lang="en-US" sz="1150" dirty="0">
                <a:solidFill>
                  <a:srgbClr val="0A2540"/>
                </a:solidFill>
                <a:latin typeface="Malgun Gothic" pitchFamily="34" charset="0"/>
                <a:ea typeface="Malgun Gothic" pitchFamily="34" charset="-122"/>
                <a:cs typeface="Malgun Gothic" pitchFamily="34" charset="-120"/>
              </a:rPr>
              <a:t>Truck  INSIDE</a:t>
            </a:r>
            <a:endParaRPr lang="en-US" sz="1150" dirty="0"/>
          </a:p>
        </p:txBody>
      </p:sp>
      <p:sp>
        <p:nvSpPr>
          <p:cNvPr id="16" name="Text 14"/>
          <p:cNvSpPr txBox="1"/>
          <p:nvPr/>
        </p:nvSpPr>
        <p:spPr>
          <a:xfrm>
            <a:off x="3154680" y="2331720"/>
            <a:ext cx="1874520" cy="274320"/>
          </a:xfrm>
          <a:prstGeom prst="rect">
            <a:avLst/>
          </a:prstGeom>
          <a:noFill/>
          <a:ln/>
        </p:spPr>
        <p:txBody>
          <a:bodyPr wrap="square" lIns="0" tIns="0" rIns="0" bIns="0" rtlCol="0" anchor="ctr"/>
          <a:lstStyle/>
          <a:p>
            <a:pPr marL="0" indent="0" algn="l">
              <a:buNone/>
            </a:pPr>
            <a:r>
              <a:rPr lang="en-US" sz="1150" dirty="0">
                <a:solidFill>
                  <a:srgbClr val="0A2540"/>
                </a:solidFill>
                <a:latin typeface="Malgun Gothic" pitchFamily="34" charset="0"/>
                <a:ea typeface="Malgun Gothic" pitchFamily="34" charset="-122"/>
                <a:cs typeface="Malgun Gothic" pitchFamily="34" charset="-120"/>
              </a:rPr>
              <a:t>Loading  IN_PROGRESS</a:t>
            </a:r>
            <a:endParaRPr lang="en-US" sz="1150" dirty="0"/>
          </a:p>
        </p:txBody>
      </p:sp>
      <p:sp>
        <p:nvSpPr>
          <p:cNvPr id="17" name="Shape 15"/>
          <p:cNvSpPr/>
          <p:nvPr/>
        </p:nvSpPr>
        <p:spPr>
          <a:xfrm>
            <a:off x="5532120" y="1600200"/>
            <a:ext cx="2148840" cy="1097280"/>
          </a:xfrm>
          <a:prstGeom prst="roundRect">
            <a:avLst>
              <a:gd name="adj" fmla="val 5000"/>
            </a:avLst>
          </a:prstGeom>
          <a:solidFill>
            <a:srgbClr val="FFFFFF"/>
          </a:solidFill>
          <a:ln w="19050">
            <a:solidFill>
              <a:srgbClr val="0A2540"/>
            </a:solidFill>
            <a:prstDash val="solid"/>
          </a:ln>
        </p:spPr>
      </p:sp>
      <p:sp>
        <p:nvSpPr>
          <p:cNvPr id="18" name="Shape 16"/>
          <p:cNvSpPr/>
          <p:nvPr/>
        </p:nvSpPr>
        <p:spPr>
          <a:xfrm>
            <a:off x="5532120" y="1600200"/>
            <a:ext cx="2148840" cy="365760"/>
          </a:xfrm>
          <a:prstGeom prst="roundRect">
            <a:avLst>
              <a:gd name="adj" fmla="val 15000"/>
            </a:avLst>
          </a:prstGeom>
          <a:solidFill>
            <a:srgbClr val="0A2540"/>
          </a:solidFill>
          <a:ln w="12700">
            <a:solidFill>
              <a:srgbClr val="0A2540"/>
            </a:solidFill>
            <a:prstDash val="solid"/>
          </a:ln>
        </p:spPr>
      </p:sp>
      <p:sp>
        <p:nvSpPr>
          <p:cNvPr id="19" name="Text 17"/>
          <p:cNvSpPr txBox="1"/>
          <p:nvPr/>
        </p:nvSpPr>
        <p:spPr>
          <a:xfrm>
            <a:off x="5623560" y="1600200"/>
            <a:ext cx="1965960" cy="365760"/>
          </a:xfrm>
          <a:prstGeom prst="rect">
            <a:avLst/>
          </a:prstGeom>
          <a:noFill/>
          <a:ln/>
        </p:spPr>
        <p:txBody>
          <a:bodyPr wrap="square" lIns="0" tIns="0" rIns="0" bIns="0" rtlCol="0" anchor="ctr"/>
          <a:lstStyle/>
          <a:p>
            <a:pPr marL="0" indent="0" algn="l">
              <a:buNone/>
            </a:pPr>
            <a:r>
              <a:rPr lang="en-US" sz="1250" b="1" dirty="0">
                <a:solidFill>
                  <a:srgbClr val="FFFFFF"/>
                </a:solidFill>
                <a:latin typeface="Malgun Gothic" pitchFamily="34" charset="0"/>
                <a:ea typeface="Malgun Gothic" pitchFamily="34" charset="-122"/>
                <a:cs typeface="Malgun Gothic" pitchFamily="34" charset="-120"/>
              </a:rPr>
              <a:t>5초 후 · 야드 이동</a:t>
            </a:r>
            <a:endParaRPr lang="en-US" sz="1250" dirty="0"/>
          </a:p>
        </p:txBody>
      </p:sp>
      <p:sp>
        <p:nvSpPr>
          <p:cNvPr id="20" name="Text 18"/>
          <p:cNvSpPr txBox="1"/>
          <p:nvPr/>
        </p:nvSpPr>
        <p:spPr>
          <a:xfrm>
            <a:off x="5669280" y="2039112"/>
            <a:ext cx="1874520" cy="274320"/>
          </a:xfrm>
          <a:prstGeom prst="rect">
            <a:avLst/>
          </a:prstGeom>
          <a:noFill/>
          <a:ln/>
        </p:spPr>
        <p:txBody>
          <a:bodyPr wrap="square" lIns="0" tIns="0" rIns="0" bIns="0" rtlCol="0" anchor="ctr"/>
          <a:lstStyle/>
          <a:p>
            <a:pPr marL="0" indent="0" algn="l">
              <a:buNone/>
            </a:pPr>
            <a:r>
              <a:rPr lang="en-US" sz="1150" dirty="0">
                <a:solidFill>
                  <a:srgbClr val="0A2540"/>
                </a:solidFill>
                <a:latin typeface="Malgun Gothic" pitchFamily="34" charset="0"/>
                <a:ea typeface="Malgun Gothic" pitchFamily="34" charset="-122"/>
                <a:cs typeface="Malgun Gothic" pitchFamily="34" charset="-120"/>
              </a:rPr>
              <a:t>Truck  IN_TRANSIT</a:t>
            </a:r>
            <a:endParaRPr lang="en-US" sz="1150" dirty="0"/>
          </a:p>
        </p:txBody>
      </p:sp>
      <p:sp>
        <p:nvSpPr>
          <p:cNvPr id="21" name="Text 19"/>
          <p:cNvSpPr txBox="1"/>
          <p:nvPr/>
        </p:nvSpPr>
        <p:spPr>
          <a:xfrm>
            <a:off x="5669280" y="2331720"/>
            <a:ext cx="1874520" cy="274320"/>
          </a:xfrm>
          <a:prstGeom prst="rect">
            <a:avLst/>
          </a:prstGeom>
          <a:noFill/>
          <a:ln/>
        </p:spPr>
        <p:txBody>
          <a:bodyPr wrap="square" lIns="0" tIns="0" rIns="0" bIns="0" rtlCol="0" anchor="ctr"/>
          <a:lstStyle/>
          <a:p>
            <a:pPr marL="0" indent="0" algn="l">
              <a:buNone/>
            </a:pPr>
            <a:r>
              <a:rPr lang="en-US" sz="1150" dirty="0">
                <a:solidFill>
                  <a:srgbClr val="0A2540"/>
                </a:solidFill>
                <a:latin typeface="Malgun Gothic" pitchFamily="34" charset="0"/>
                <a:ea typeface="Malgun Gothic" pitchFamily="34" charset="-122"/>
                <a:cs typeface="Malgun Gothic" pitchFamily="34" charset="-120"/>
              </a:rPr>
              <a:t>Loading  IN_PROGRESS</a:t>
            </a:r>
            <a:endParaRPr lang="en-US" sz="1150" dirty="0"/>
          </a:p>
        </p:txBody>
      </p:sp>
      <p:sp>
        <p:nvSpPr>
          <p:cNvPr id="22" name="Shape 20"/>
          <p:cNvSpPr/>
          <p:nvPr/>
        </p:nvSpPr>
        <p:spPr>
          <a:xfrm>
            <a:off x="8046720" y="1600200"/>
            <a:ext cx="2148840" cy="1097280"/>
          </a:xfrm>
          <a:prstGeom prst="roundRect">
            <a:avLst>
              <a:gd name="adj" fmla="val 5000"/>
            </a:avLst>
          </a:prstGeom>
          <a:solidFill>
            <a:srgbClr val="FFFFFF"/>
          </a:solidFill>
          <a:ln w="19050">
            <a:solidFill>
              <a:srgbClr val="0A2540"/>
            </a:solidFill>
            <a:prstDash val="solid"/>
          </a:ln>
        </p:spPr>
      </p:sp>
      <p:sp>
        <p:nvSpPr>
          <p:cNvPr id="23" name="Shape 21"/>
          <p:cNvSpPr/>
          <p:nvPr/>
        </p:nvSpPr>
        <p:spPr>
          <a:xfrm>
            <a:off x="8046720" y="1600200"/>
            <a:ext cx="2148840" cy="365760"/>
          </a:xfrm>
          <a:prstGeom prst="roundRect">
            <a:avLst>
              <a:gd name="adj" fmla="val 15000"/>
            </a:avLst>
          </a:prstGeom>
          <a:solidFill>
            <a:srgbClr val="0A2540"/>
          </a:solidFill>
          <a:ln w="12700">
            <a:solidFill>
              <a:srgbClr val="0A2540"/>
            </a:solidFill>
            <a:prstDash val="solid"/>
          </a:ln>
        </p:spPr>
      </p:sp>
      <p:sp>
        <p:nvSpPr>
          <p:cNvPr id="24" name="Text 22"/>
          <p:cNvSpPr txBox="1"/>
          <p:nvPr/>
        </p:nvSpPr>
        <p:spPr>
          <a:xfrm>
            <a:off x="8138160" y="1600200"/>
            <a:ext cx="1965960" cy="365760"/>
          </a:xfrm>
          <a:prstGeom prst="rect">
            <a:avLst/>
          </a:prstGeom>
          <a:noFill/>
          <a:ln/>
        </p:spPr>
        <p:txBody>
          <a:bodyPr wrap="square" lIns="0" tIns="0" rIns="0" bIns="0" rtlCol="0" anchor="ctr"/>
          <a:lstStyle/>
          <a:p>
            <a:pPr marL="0" indent="0" algn="l">
              <a:buNone/>
            </a:pPr>
            <a:r>
              <a:rPr lang="en-US" sz="1250" b="1" dirty="0">
                <a:solidFill>
                  <a:srgbClr val="FFFFFF"/>
                </a:solidFill>
                <a:latin typeface="Malgun Gothic" pitchFamily="34" charset="0"/>
                <a:ea typeface="Malgun Gothic" pitchFamily="34" charset="-122"/>
                <a:cs typeface="Malgun Gothic" pitchFamily="34" charset="-120"/>
              </a:rPr>
              <a:t>15초 후 · 작업 완료</a:t>
            </a:r>
            <a:endParaRPr lang="en-US" sz="1250" dirty="0"/>
          </a:p>
        </p:txBody>
      </p:sp>
      <p:sp>
        <p:nvSpPr>
          <p:cNvPr id="25" name="Text 23"/>
          <p:cNvSpPr txBox="1"/>
          <p:nvPr/>
        </p:nvSpPr>
        <p:spPr>
          <a:xfrm>
            <a:off x="8183880" y="2039112"/>
            <a:ext cx="1874520" cy="274320"/>
          </a:xfrm>
          <a:prstGeom prst="rect">
            <a:avLst/>
          </a:prstGeom>
          <a:noFill/>
          <a:ln/>
        </p:spPr>
        <p:txBody>
          <a:bodyPr wrap="square" lIns="0" tIns="0" rIns="0" bIns="0" rtlCol="0" anchor="ctr"/>
          <a:lstStyle/>
          <a:p>
            <a:pPr marL="0" indent="0" algn="l">
              <a:buNone/>
            </a:pPr>
            <a:r>
              <a:rPr lang="en-US" sz="1150" dirty="0">
                <a:solidFill>
                  <a:srgbClr val="0A2540"/>
                </a:solidFill>
                <a:latin typeface="Malgun Gothic" pitchFamily="34" charset="0"/>
                <a:ea typeface="Malgun Gothic" pitchFamily="34" charset="-122"/>
                <a:cs typeface="Malgun Gothic" pitchFamily="34" charset="-120"/>
              </a:rPr>
              <a:t>Truck  INSIDE</a:t>
            </a:r>
            <a:endParaRPr lang="en-US" sz="1150" dirty="0"/>
          </a:p>
        </p:txBody>
      </p:sp>
      <p:sp>
        <p:nvSpPr>
          <p:cNvPr id="26" name="Text 24"/>
          <p:cNvSpPr txBox="1"/>
          <p:nvPr/>
        </p:nvSpPr>
        <p:spPr>
          <a:xfrm>
            <a:off x="8183880" y="2331720"/>
            <a:ext cx="1874520" cy="274320"/>
          </a:xfrm>
          <a:prstGeom prst="rect">
            <a:avLst/>
          </a:prstGeom>
          <a:noFill/>
          <a:ln/>
        </p:spPr>
        <p:txBody>
          <a:bodyPr wrap="square" lIns="0" tIns="0" rIns="0" bIns="0" rtlCol="0" anchor="ctr"/>
          <a:lstStyle/>
          <a:p>
            <a:pPr marL="0" indent="0" algn="l">
              <a:buNone/>
            </a:pPr>
            <a:r>
              <a:rPr lang="en-US" sz="1150" dirty="0">
                <a:solidFill>
                  <a:srgbClr val="0A2540"/>
                </a:solidFill>
                <a:latin typeface="Malgun Gothic" pitchFamily="34" charset="0"/>
                <a:ea typeface="Malgun Gothic" pitchFamily="34" charset="-122"/>
                <a:cs typeface="Malgun Gothic" pitchFamily="34" charset="-120"/>
              </a:rPr>
              <a:t>Loading  COMPLETED</a:t>
            </a:r>
            <a:endParaRPr lang="en-US" sz="1150" dirty="0"/>
          </a:p>
        </p:txBody>
      </p:sp>
      <p:sp>
        <p:nvSpPr>
          <p:cNvPr id="27" name="Shape 25"/>
          <p:cNvSpPr/>
          <p:nvPr/>
        </p:nvSpPr>
        <p:spPr>
          <a:xfrm>
            <a:off x="2697480" y="2148840"/>
            <a:ext cx="274320" cy="0"/>
          </a:xfrm>
          <a:prstGeom prst="line">
            <a:avLst/>
          </a:prstGeom>
          <a:noFill/>
          <a:ln w="25400">
            <a:solidFill>
              <a:srgbClr val="0A2540"/>
            </a:solidFill>
            <a:prstDash val="solid"/>
            <a:tailEnd type="triangle"/>
          </a:ln>
        </p:spPr>
      </p:sp>
      <p:sp>
        <p:nvSpPr>
          <p:cNvPr id="28" name="Shape 26"/>
          <p:cNvSpPr/>
          <p:nvPr/>
        </p:nvSpPr>
        <p:spPr>
          <a:xfrm>
            <a:off x="5212080" y="2148840"/>
            <a:ext cx="274320" cy="0"/>
          </a:xfrm>
          <a:prstGeom prst="line">
            <a:avLst/>
          </a:prstGeom>
          <a:noFill/>
          <a:ln w="25400">
            <a:solidFill>
              <a:srgbClr val="0A2540"/>
            </a:solidFill>
            <a:prstDash val="solid"/>
            <a:tailEnd type="triangle"/>
          </a:ln>
        </p:spPr>
      </p:sp>
      <p:sp>
        <p:nvSpPr>
          <p:cNvPr id="29" name="Shape 27"/>
          <p:cNvSpPr/>
          <p:nvPr/>
        </p:nvSpPr>
        <p:spPr>
          <a:xfrm>
            <a:off x="7726680" y="2148840"/>
            <a:ext cx="274320" cy="0"/>
          </a:xfrm>
          <a:prstGeom prst="line">
            <a:avLst/>
          </a:prstGeom>
          <a:noFill/>
          <a:ln w="25400">
            <a:solidFill>
              <a:srgbClr val="0A2540"/>
            </a:solidFill>
            <a:prstDash val="solid"/>
            <a:tailEnd type="triangle"/>
          </a:ln>
        </p:spPr>
      </p:sp>
      <p:sp>
        <p:nvSpPr>
          <p:cNvPr id="30" name="Shape 28"/>
          <p:cNvSpPr/>
          <p:nvPr/>
        </p:nvSpPr>
        <p:spPr>
          <a:xfrm>
            <a:off x="10424160" y="1600200"/>
            <a:ext cx="1280160" cy="1097280"/>
          </a:xfrm>
          <a:prstGeom prst="roundRect">
            <a:avLst>
              <a:gd name="adj" fmla="val 5000"/>
            </a:avLst>
          </a:prstGeom>
          <a:solidFill>
            <a:srgbClr val="F4F6F8"/>
          </a:solidFill>
          <a:ln w="12700">
            <a:solidFill>
              <a:srgbClr val="F4F6F8"/>
            </a:solidFill>
            <a:prstDash val="solid"/>
          </a:ln>
        </p:spPr>
      </p:sp>
      <p:sp>
        <p:nvSpPr>
          <p:cNvPr id="31" name="Text 29"/>
          <p:cNvSpPr txBox="1"/>
          <p:nvPr/>
        </p:nvSpPr>
        <p:spPr>
          <a:xfrm>
            <a:off x="10424160" y="1600200"/>
            <a:ext cx="1280160" cy="1097280"/>
          </a:xfrm>
          <a:prstGeom prst="rect">
            <a:avLst/>
          </a:prstGeom>
          <a:noFill/>
          <a:ln/>
        </p:spPr>
        <p:txBody>
          <a:bodyPr wrap="square" lIns="508" tIns="508" rIns="508" bIns="508" rtlCol="0" anchor="ctr"/>
          <a:lstStyle/>
          <a:p>
            <a:pPr marL="0" indent="0" algn="ctr">
              <a:buNone/>
            </a:pPr>
            <a:r>
              <a:rPr lang="en-US" sz="1050" dirty="0">
                <a:solidFill>
                  <a:srgbClr val="5B6B7F"/>
                </a:solidFill>
                <a:latin typeface="Malgun Gothic" pitchFamily="34" charset="0"/>
                <a:ea typeface="Malgun Gothic" pitchFamily="34" charset="-122"/>
                <a:cs typeface="Malgun Gothic" pitchFamily="34" charset="-120"/>
              </a:rPr>
              <a:t>OCR 실패</a:t>
            </a:r>
            <a:endParaRPr lang="en-US" sz="1050" dirty="0"/>
          </a:p>
          <a:p>
            <a:pPr marL="0" indent="0" algn="ctr">
              <a:buNone/>
            </a:pPr>
            <a:r>
              <a:rPr lang="en-US" sz="1050" dirty="0">
                <a:solidFill>
                  <a:srgbClr val="5B6B7F"/>
                </a:solidFill>
                <a:latin typeface="Malgun Gothic" pitchFamily="34" charset="0"/>
                <a:ea typeface="Malgun Gothic" pitchFamily="34" charset="-122"/>
                <a:cs typeface="Malgun Gothic" pitchFamily="34" charset="-120"/>
              </a:rPr>
              <a:t>→ FAILED 기록</a:t>
            </a:r>
            <a:endParaRPr lang="en-US" sz="1050" dirty="0"/>
          </a:p>
          <a:p>
            <a:pPr marL="0" indent="0" algn="ctr">
              <a:buNone/>
            </a:pPr>
            <a:r>
              <a:rPr lang="en-US" sz="1050" dirty="0">
                <a:solidFill>
                  <a:srgbClr val="5B6B7F"/>
                </a:solidFill>
                <a:latin typeface="Malgun Gothic" pitchFamily="34" charset="0"/>
                <a:ea typeface="Malgun Gothic" pitchFamily="34" charset="-122"/>
                <a:cs typeface="Malgun Gothic" pitchFamily="34" charset="-120"/>
              </a:rPr>
              <a:t>워크플로우 X</a:t>
            </a:r>
            <a:endParaRPr lang="en-US" sz="1050" dirty="0"/>
          </a:p>
        </p:txBody>
      </p:sp>
      <p:sp>
        <p:nvSpPr>
          <p:cNvPr id="32" name="Shape 30"/>
          <p:cNvSpPr/>
          <p:nvPr/>
        </p:nvSpPr>
        <p:spPr>
          <a:xfrm>
            <a:off x="502920" y="3063240"/>
            <a:ext cx="3657600" cy="1143000"/>
          </a:xfrm>
          <a:prstGeom prst="roundRect">
            <a:avLst>
              <a:gd name="adj" fmla="val 4800"/>
            </a:avLst>
          </a:prstGeom>
          <a:solidFill>
            <a:srgbClr val="F4F6F8"/>
          </a:solidFill>
          <a:ln w="12700">
            <a:solidFill>
              <a:srgbClr val="F4F6F8"/>
            </a:solidFill>
            <a:prstDash val="solid"/>
          </a:ln>
        </p:spPr>
      </p:sp>
      <p:sp>
        <p:nvSpPr>
          <p:cNvPr id="33" name="Text 31"/>
          <p:cNvSpPr txBox="1"/>
          <p:nvPr/>
        </p:nvSpPr>
        <p:spPr>
          <a:xfrm>
            <a:off x="685800" y="3108960"/>
            <a:ext cx="3383280" cy="320040"/>
          </a:xfrm>
          <a:prstGeom prst="rect">
            <a:avLst/>
          </a:prstGeom>
          <a:noFill/>
          <a:ln/>
        </p:spPr>
        <p:txBody>
          <a:bodyPr wrap="square" lIns="0" tIns="0" rIns="0" bIns="0" rtlCol="0" anchor="ctr"/>
          <a:lstStyle/>
          <a:p>
            <a:pPr marL="0" indent="0" algn="l">
              <a:buNone/>
            </a:pPr>
            <a:r>
              <a:rPr lang="en-US" sz="1350" b="1" dirty="0">
                <a:solidFill>
                  <a:srgbClr val="0A2540"/>
                </a:solidFill>
                <a:latin typeface="Malgun Gothic" pitchFamily="34" charset="0"/>
                <a:ea typeface="Malgun Gothic" pitchFamily="34" charset="-122"/>
                <a:cs typeface="Malgun Gothic" pitchFamily="34" charset="-120"/>
              </a:rPr>
              <a:t>② 과적 재검사 횟수 확인</a:t>
            </a:r>
            <a:endParaRPr lang="en-US" sz="1350" dirty="0"/>
          </a:p>
        </p:txBody>
      </p:sp>
      <p:sp>
        <p:nvSpPr>
          <p:cNvPr id="34" name="Text 32"/>
          <p:cNvSpPr txBox="1"/>
          <p:nvPr/>
        </p:nvSpPr>
        <p:spPr>
          <a:xfrm>
            <a:off x="685800" y="3456432"/>
            <a:ext cx="3383280" cy="731520"/>
          </a:xfrm>
          <a:prstGeom prst="rect">
            <a:avLst/>
          </a:prstGeom>
          <a:noFill/>
          <a:ln/>
        </p:spPr>
        <p:txBody>
          <a:bodyPr wrap="square" lIns="0" tIns="0" rIns="0" bIns="0" rtlCol="0" anchor="t"/>
          <a:lstStyle/>
          <a:p>
            <a:pPr marL="0" indent="0" algn="l">
              <a:buNone/>
            </a:pPr>
            <a:r>
              <a:rPr lang="en-US" sz="1150" dirty="0">
                <a:solidFill>
                  <a:srgbClr val="5B6B7F"/>
                </a:solidFill>
                <a:latin typeface="Malgun Gothic" pitchFamily="34" charset="0"/>
                <a:ea typeface="Malgun Gothic" pitchFamily="34" charset="-122"/>
                <a:cs typeface="Malgun Gothic" pitchFamily="34" charset="-120"/>
              </a:rPr>
              <a:t>최신 과적검사의 retry_count 조회</a:t>
            </a:r>
            <a:endParaRPr lang="en-US" sz="1150" dirty="0"/>
          </a:p>
          <a:p>
            <a:pPr marL="0" indent="0" algn="l">
              <a:buNone/>
            </a:pPr>
            <a:r>
              <a:rPr lang="en-US" sz="1150" dirty="0">
                <a:solidFill>
                  <a:srgbClr val="5B6B7F"/>
                </a:solidFill>
                <a:latin typeface="Malgun Gothic" pitchFamily="34" charset="0"/>
                <a:ea typeface="Malgun Gothic" pitchFamily="34" charset="-122"/>
                <a:cs typeface="Malgun Gothic" pitchFamily="34" charset="-120"/>
              </a:rPr>
              <a:t>(검사일시 기준 가장 최근 검사)</a:t>
            </a:r>
            <a:endParaRPr lang="en-US" sz="1150" dirty="0"/>
          </a:p>
        </p:txBody>
      </p:sp>
      <p:sp>
        <p:nvSpPr>
          <p:cNvPr id="35" name="Shape 33"/>
          <p:cNvSpPr/>
          <p:nvPr/>
        </p:nvSpPr>
        <p:spPr>
          <a:xfrm>
            <a:off x="4572000" y="3063240"/>
            <a:ext cx="3383280" cy="1143000"/>
          </a:xfrm>
          <a:prstGeom prst="roundRect">
            <a:avLst>
              <a:gd name="adj" fmla="val 4800"/>
            </a:avLst>
          </a:prstGeom>
          <a:solidFill>
            <a:srgbClr val="FFFFFF"/>
          </a:solidFill>
          <a:ln w="19050">
            <a:solidFill>
              <a:srgbClr val="10B981"/>
            </a:solidFill>
            <a:prstDash val="solid"/>
          </a:ln>
        </p:spPr>
      </p:sp>
      <p:sp>
        <p:nvSpPr>
          <p:cNvPr id="36" name="Text 34"/>
          <p:cNvSpPr txBox="1"/>
          <p:nvPr/>
        </p:nvSpPr>
        <p:spPr>
          <a:xfrm>
            <a:off x="4754880" y="3108960"/>
            <a:ext cx="3108960" cy="320040"/>
          </a:xfrm>
          <a:prstGeom prst="rect">
            <a:avLst/>
          </a:prstGeom>
          <a:noFill/>
          <a:ln/>
        </p:spPr>
        <p:txBody>
          <a:bodyPr wrap="square" lIns="0" tIns="0" rIns="0" bIns="0" rtlCol="0" anchor="ctr"/>
          <a:lstStyle/>
          <a:p>
            <a:pPr marL="0" indent="0" algn="l">
              <a:buNone/>
            </a:pPr>
            <a:r>
              <a:rPr lang="en-US" sz="1350" b="1" dirty="0">
                <a:solidFill>
                  <a:srgbClr val="10B981"/>
                </a:solidFill>
                <a:latin typeface="Malgun Gothic" pitchFamily="34" charset="0"/>
                <a:ea typeface="Malgun Gothic" pitchFamily="34" charset="-122"/>
                <a:cs typeface="Malgun Gothic" pitchFamily="34" charset="-120"/>
              </a:rPr>
              <a:t>retry_count &lt; 3</a:t>
            </a:r>
            <a:endParaRPr lang="en-US" sz="1350" dirty="0"/>
          </a:p>
        </p:txBody>
      </p:sp>
      <p:sp>
        <p:nvSpPr>
          <p:cNvPr id="37" name="Text 35"/>
          <p:cNvSpPr txBox="1"/>
          <p:nvPr/>
        </p:nvSpPr>
        <p:spPr>
          <a:xfrm>
            <a:off x="4754880" y="3456432"/>
            <a:ext cx="3108960" cy="731520"/>
          </a:xfrm>
          <a:prstGeom prst="rect">
            <a:avLst/>
          </a:prstGeom>
          <a:noFill/>
          <a:ln/>
        </p:spPr>
        <p:txBody>
          <a:bodyPr wrap="square" lIns="0" tIns="0" rIns="0" bIns="0" rtlCol="0" anchor="t"/>
          <a:lstStyle/>
          <a:p>
            <a:pPr marL="0" indent="0" algn="l">
              <a:buNone/>
            </a:pPr>
            <a:r>
              <a:rPr lang="en-US" sz="1150" dirty="0">
                <a:solidFill>
                  <a:srgbClr val="0A2540"/>
                </a:solidFill>
                <a:latin typeface="Malgun Gothic" pitchFamily="34" charset="0"/>
                <a:ea typeface="Malgun Gothic" pitchFamily="34" charset="-122"/>
                <a:cs typeface="Malgun Gothic" pitchFamily="34" charset="-120"/>
              </a:rPr>
              <a:t>COMPLETED 유지 · INSIDE</a:t>
            </a:r>
            <a:endParaRPr lang="en-US" sz="1150" dirty="0"/>
          </a:p>
          <a:p>
            <a:pPr marL="0" indent="0" algn="l">
              <a:buNone/>
            </a:pPr>
            <a:r>
              <a:rPr lang="en-US" sz="1150" dirty="0">
                <a:solidFill>
                  <a:srgbClr val="0A2540"/>
                </a:solidFill>
                <a:latin typeface="Malgun Gothic" pitchFamily="34" charset="0"/>
                <a:ea typeface="Malgun Gothic" pitchFamily="34" charset="-122"/>
                <a:cs typeface="Malgun Gothic" pitchFamily="34" charset="-120"/>
              </a:rPr>
              <a:t>→ 최종 OCR 대기</a:t>
            </a:r>
            <a:endParaRPr lang="en-US" sz="1150" dirty="0"/>
          </a:p>
        </p:txBody>
      </p:sp>
      <p:sp>
        <p:nvSpPr>
          <p:cNvPr id="38" name="Shape 36"/>
          <p:cNvSpPr/>
          <p:nvPr/>
        </p:nvSpPr>
        <p:spPr>
          <a:xfrm>
            <a:off x="8321040" y="3063240"/>
            <a:ext cx="3383280" cy="1143000"/>
          </a:xfrm>
          <a:prstGeom prst="roundRect">
            <a:avLst>
              <a:gd name="adj" fmla="val 4800"/>
            </a:avLst>
          </a:prstGeom>
          <a:solidFill>
            <a:srgbClr val="FFFFFF"/>
          </a:solidFill>
          <a:ln w="19050">
            <a:solidFill>
              <a:srgbClr val="EF4444"/>
            </a:solidFill>
            <a:prstDash val="solid"/>
          </a:ln>
        </p:spPr>
      </p:sp>
      <p:sp>
        <p:nvSpPr>
          <p:cNvPr id="39" name="Text 37"/>
          <p:cNvSpPr txBox="1"/>
          <p:nvPr/>
        </p:nvSpPr>
        <p:spPr>
          <a:xfrm>
            <a:off x="8503920" y="3108960"/>
            <a:ext cx="3108960" cy="320040"/>
          </a:xfrm>
          <a:prstGeom prst="rect">
            <a:avLst/>
          </a:prstGeom>
          <a:noFill/>
          <a:ln/>
        </p:spPr>
        <p:txBody>
          <a:bodyPr wrap="square" lIns="0" tIns="0" rIns="0" bIns="0" rtlCol="0" anchor="ctr"/>
          <a:lstStyle/>
          <a:p>
            <a:pPr marL="0" indent="0" algn="l">
              <a:buNone/>
            </a:pPr>
            <a:r>
              <a:rPr lang="en-US" sz="1350" b="1" dirty="0">
                <a:solidFill>
                  <a:srgbClr val="EF4444"/>
                </a:solidFill>
                <a:latin typeface="Malgun Gothic" pitchFamily="34" charset="0"/>
                <a:ea typeface="Malgun Gothic" pitchFamily="34" charset="-122"/>
                <a:cs typeface="Malgun Gothic" pitchFamily="34" charset="-120"/>
              </a:rPr>
              <a:t>retry_count ≥ 3</a:t>
            </a:r>
            <a:endParaRPr lang="en-US" sz="1350" dirty="0"/>
          </a:p>
        </p:txBody>
      </p:sp>
      <p:sp>
        <p:nvSpPr>
          <p:cNvPr id="40" name="Text 38"/>
          <p:cNvSpPr txBox="1"/>
          <p:nvPr/>
        </p:nvSpPr>
        <p:spPr>
          <a:xfrm>
            <a:off x="8503920" y="3456432"/>
            <a:ext cx="3108960" cy="731520"/>
          </a:xfrm>
          <a:prstGeom prst="rect">
            <a:avLst/>
          </a:prstGeom>
          <a:noFill/>
          <a:ln/>
        </p:spPr>
        <p:txBody>
          <a:bodyPr wrap="square" lIns="0" tIns="0" rIns="0" bIns="0" rtlCol="0" anchor="t"/>
          <a:lstStyle/>
          <a:p>
            <a:pPr marL="0" indent="0" algn="l">
              <a:buNone/>
            </a:pPr>
            <a:r>
              <a:rPr lang="en-US" sz="1150" dirty="0">
                <a:solidFill>
                  <a:srgbClr val="0A2540"/>
                </a:solidFill>
                <a:latin typeface="Malgun Gothic" pitchFamily="34" charset="0"/>
                <a:ea typeface="Malgun Gothic" pitchFamily="34" charset="-122"/>
                <a:cs typeface="Malgun Gothic" pitchFamily="34" charset="-120"/>
              </a:rPr>
              <a:t>COMPLETED → CANCELED</a:t>
            </a:r>
            <a:endParaRPr lang="en-US" sz="1150" dirty="0"/>
          </a:p>
          <a:p>
            <a:pPr marL="0" indent="0" algn="l">
              <a:buNone/>
            </a:pPr>
            <a:r>
              <a:rPr lang="en-US" sz="1150" dirty="0">
                <a:solidFill>
                  <a:srgbClr val="0A2540"/>
                </a:solidFill>
                <a:latin typeface="Malgun Gothic" pitchFamily="34" charset="0"/>
                <a:ea typeface="Malgun Gothic" pitchFamily="34" charset="-122"/>
                <a:cs typeface="Malgun Gothic" pitchFamily="34" charset="-120"/>
              </a:rPr>
              <a:t>자동 출차 금지 · 관리자 수동 출차</a:t>
            </a:r>
            <a:endParaRPr lang="en-US" sz="1150" dirty="0"/>
          </a:p>
        </p:txBody>
      </p:sp>
      <p:sp>
        <p:nvSpPr>
          <p:cNvPr id="41" name="Shape 39"/>
          <p:cNvSpPr/>
          <p:nvPr/>
        </p:nvSpPr>
        <p:spPr>
          <a:xfrm>
            <a:off x="4206240" y="3630168"/>
            <a:ext cx="320040" cy="0"/>
          </a:xfrm>
          <a:prstGeom prst="line">
            <a:avLst/>
          </a:prstGeom>
          <a:noFill/>
          <a:ln w="19050">
            <a:solidFill>
              <a:srgbClr val="0A2540"/>
            </a:solidFill>
            <a:prstDash val="solid"/>
            <a:tailEnd type="triangle"/>
          </a:ln>
        </p:spPr>
      </p:sp>
      <p:sp>
        <p:nvSpPr>
          <p:cNvPr id="42" name="Shape 40"/>
          <p:cNvSpPr/>
          <p:nvPr/>
        </p:nvSpPr>
        <p:spPr>
          <a:xfrm>
            <a:off x="8001000" y="3630168"/>
            <a:ext cx="274320" cy="0"/>
          </a:xfrm>
          <a:prstGeom prst="line">
            <a:avLst/>
          </a:prstGeom>
          <a:noFill/>
          <a:ln w="19050">
            <a:solidFill>
              <a:srgbClr val="0A2540"/>
            </a:solidFill>
            <a:prstDash val="solid"/>
            <a:tailEnd type="triangle"/>
          </a:ln>
        </p:spPr>
      </p:sp>
      <p:sp>
        <p:nvSpPr>
          <p:cNvPr id="43" name="Shape 41"/>
          <p:cNvSpPr/>
          <p:nvPr/>
        </p:nvSpPr>
        <p:spPr>
          <a:xfrm>
            <a:off x="502920" y="4572000"/>
            <a:ext cx="3657600" cy="1234440"/>
          </a:xfrm>
          <a:prstGeom prst="roundRect">
            <a:avLst>
              <a:gd name="adj" fmla="val 4444"/>
            </a:avLst>
          </a:prstGeom>
          <a:solidFill>
            <a:srgbClr val="0A2540"/>
          </a:solidFill>
          <a:ln w="12700">
            <a:solidFill>
              <a:srgbClr val="0A2540"/>
            </a:solidFill>
            <a:prstDash val="solid"/>
          </a:ln>
        </p:spPr>
      </p:sp>
      <p:sp>
        <p:nvSpPr>
          <p:cNvPr id="44" name="Text 42"/>
          <p:cNvSpPr txBox="1"/>
          <p:nvPr/>
        </p:nvSpPr>
        <p:spPr>
          <a:xfrm>
            <a:off x="685800" y="4617720"/>
            <a:ext cx="3383280" cy="320040"/>
          </a:xfrm>
          <a:prstGeom prst="rect">
            <a:avLst/>
          </a:prstGeom>
          <a:noFill/>
          <a:ln/>
        </p:spPr>
        <p:txBody>
          <a:bodyPr wrap="square" lIns="0" tIns="0" rIns="0" bIns="0" rtlCol="0" anchor="ctr"/>
          <a:lstStyle/>
          <a:p>
            <a:pPr marL="0" indent="0" algn="l">
              <a:buNone/>
            </a:pPr>
            <a:r>
              <a:rPr lang="en-US" sz="1350" b="1" dirty="0">
                <a:solidFill>
                  <a:srgbClr val="FFFFFF"/>
                </a:solidFill>
                <a:latin typeface="Malgun Gothic" pitchFamily="34" charset="0"/>
                <a:ea typeface="Malgun Gothic" pitchFamily="34" charset="-122"/>
                <a:cs typeface="Malgun Gothic" pitchFamily="34" charset="-120"/>
              </a:rPr>
              <a:t>③ 최종 OCR · 출차</a:t>
            </a:r>
            <a:endParaRPr lang="en-US" sz="1350" dirty="0"/>
          </a:p>
        </p:txBody>
      </p:sp>
      <p:sp>
        <p:nvSpPr>
          <p:cNvPr id="45" name="Text 43"/>
          <p:cNvSpPr txBox="1"/>
          <p:nvPr/>
        </p:nvSpPr>
        <p:spPr>
          <a:xfrm>
            <a:off x="685800" y="4983480"/>
            <a:ext cx="3383280" cy="777240"/>
          </a:xfrm>
          <a:prstGeom prst="rect">
            <a:avLst/>
          </a:prstGeom>
          <a:noFill/>
          <a:ln/>
        </p:spPr>
        <p:txBody>
          <a:bodyPr wrap="square" lIns="0" tIns="0" rIns="0" bIns="0" rtlCol="0" anchor="t"/>
          <a:lstStyle/>
          <a:p>
            <a:pPr marL="0" indent="0" algn="l">
              <a:buNone/>
            </a:pPr>
            <a:r>
              <a:rPr lang="en-US" sz="1150" dirty="0">
                <a:solidFill>
                  <a:srgbClr val="C9D4E0"/>
                </a:solidFill>
                <a:latin typeface="Malgun Gothic" pitchFamily="34" charset="0"/>
                <a:ea typeface="Malgun Gothic" pitchFamily="34" charset="-122"/>
                <a:cs typeface="Malgun Gothic" pitchFamily="34" charset="-120"/>
              </a:rPr>
              <a:t>INSIDE + COMPLETED 차량만 가능</a:t>
            </a:r>
            <a:endParaRPr lang="en-US" sz="1150" dirty="0"/>
          </a:p>
          <a:p>
            <a:pPr marL="0" indent="0" algn="l">
              <a:buNone/>
            </a:pPr>
            <a:r>
              <a:rPr lang="en-US" sz="1150" dirty="0">
                <a:solidFill>
                  <a:srgbClr val="C9D4E0"/>
                </a:solidFill>
                <a:latin typeface="Malgun Gothic" pitchFamily="34" charset="0"/>
                <a:ea typeface="Malgun Gothic" pitchFamily="34" charset="-122"/>
                <a:cs typeface="Malgun Gothic" pitchFamily="34" charset="-120"/>
              </a:rPr>
              <a:t>최신 과적검사의 is_passed 확인</a:t>
            </a:r>
            <a:endParaRPr lang="en-US" sz="1150" dirty="0"/>
          </a:p>
        </p:txBody>
      </p:sp>
      <p:sp>
        <p:nvSpPr>
          <p:cNvPr id="46" name="Shape 44"/>
          <p:cNvSpPr/>
          <p:nvPr/>
        </p:nvSpPr>
        <p:spPr>
          <a:xfrm>
            <a:off x="4572000" y="4572000"/>
            <a:ext cx="3383280" cy="1234440"/>
          </a:xfrm>
          <a:prstGeom prst="roundRect">
            <a:avLst>
              <a:gd name="adj" fmla="val 4444"/>
            </a:avLst>
          </a:prstGeom>
          <a:solidFill>
            <a:srgbClr val="FFFFFF"/>
          </a:solidFill>
          <a:ln w="19050">
            <a:solidFill>
              <a:srgbClr val="10B981"/>
            </a:solidFill>
            <a:prstDash val="solid"/>
          </a:ln>
        </p:spPr>
      </p:sp>
      <p:sp>
        <p:nvSpPr>
          <p:cNvPr id="47" name="Text 45"/>
          <p:cNvSpPr txBox="1"/>
          <p:nvPr/>
        </p:nvSpPr>
        <p:spPr>
          <a:xfrm>
            <a:off x="4754880" y="4617720"/>
            <a:ext cx="3108960" cy="320040"/>
          </a:xfrm>
          <a:prstGeom prst="rect">
            <a:avLst/>
          </a:prstGeom>
          <a:noFill/>
          <a:ln/>
        </p:spPr>
        <p:txBody>
          <a:bodyPr wrap="square" lIns="0" tIns="0" rIns="0" bIns="0" rtlCol="0" anchor="ctr"/>
          <a:lstStyle/>
          <a:p>
            <a:pPr marL="0" indent="0" algn="l">
              <a:buNone/>
            </a:pPr>
            <a:r>
              <a:rPr lang="en-US" sz="1350" b="1" dirty="0">
                <a:solidFill>
                  <a:srgbClr val="10B981"/>
                </a:solidFill>
                <a:latin typeface="Malgun Gothic" pitchFamily="34" charset="0"/>
                <a:ea typeface="Malgun Gothic" pitchFamily="34" charset="-122"/>
                <a:cs typeface="Malgun Gothic" pitchFamily="34" charset="-120"/>
              </a:rPr>
              <a:t>is_passed = TRUE</a:t>
            </a:r>
            <a:endParaRPr lang="en-US" sz="1350" dirty="0"/>
          </a:p>
        </p:txBody>
      </p:sp>
      <p:sp>
        <p:nvSpPr>
          <p:cNvPr id="48" name="Text 46"/>
          <p:cNvSpPr txBox="1"/>
          <p:nvPr/>
        </p:nvSpPr>
        <p:spPr>
          <a:xfrm>
            <a:off x="4754880" y="4983480"/>
            <a:ext cx="3108960" cy="777240"/>
          </a:xfrm>
          <a:prstGeom prst="rect">
            <a:avLst/>
          </a:prstGeom>
          <a:noFill/>
          <a:ln/>
        </p:spPr>
        <p:txBody>
          <a:bodyPr wrap="square" lIns="0" tIns="0" rIns="0" bIns="0" rtlCol="0" anchor="t"/>
          <a:lstStyle/>
          <a:p>
            <a:pPr marL="0" indent="0" algn="l">
              <a:buNone/>
            </a:pPr>
            <a:r>
              <a:rPr lang="en-US" sz="1150" dirty="0">
                <a:solidFill>
                  <a:srgbClr val="0A2540"/>
                </a:solidFill>
                <a:latin typeface="Malgun Gothic" pitchFamily="34" charset="0"/>
                <a:ea typeface="Malgun Gothic" pitchFamily="34" charset="-122"/>
                <a:cs typeface="Malgun Gothic" pitchFamily="34" charset="-120"/>
              </a:rPr>
              <a:t>Truck → OUTSIDE</a:t>
            </a:r>
            <a:endParaRPr lang="en-US" sz="1150" dirty="0"/>
          </a:p>
          <a:p>
            <a:pPr marL="0" indent="0" algn="l">
              <a:buNone/>
            </a:pPr>
            <a:r>
              <a:rPr lang="en-US" sz="1150" dirty="0">
                <a:solidFill>
                  <a:srgbClr val="0A2540"/>
                </a:solidFill>
                <a:latin typeface="Malgun Gothic" pitchFamily="34" charset="0"/>
                <a:ea typeface="Malgun Gothic" pitchFamily="34" charset="-122"/>
                <a:cs typeface="Malgun Gothic" pitchFamily="34" charset="-120"/>
              </a:rPr>
              <a:t>정상 출차 완료</a:t>
            </a:r>
            <a:endParaRPr lang="en-US" sz="1150" dirty="0"/>
          </a:p>
        </p:txBody>
      </p:sp>
      <p:sp>
        <p:nvSpPr>
          <p:cNvPr id="49" name="Shape 47"/>
          <p:cNvSpPr/>
          <p:nvPr/>
        </p:nvSpPr>
        <p:spPr>
          <a:xfrm>
            <a:off x="8321040" y="4572000"/>
            <a:ext cx="3383280" cy="1234440"/>
          </a:xfrm>
          <a:prstGeom prst="roundRect">
            <a:avLst>
              <a:gd name="adj" fmla="val 4444"/>
            </a:avLst>
          </a:prstGeom>
          <a:solidFill>
            <a:srgbClr val="FFFFFF"/>
          </a:solidFill>
          <a:ln w="19050">
            <a:solidFill>
              <a:srgbClr val="FF6B00"/>
            </a:solidFill>
            <a:prstDash val="solid"/>
          </a:ln>
        </p:spPr>
      </p:sp>
      <p:sp>
        <p:nvSpPr>
          <p:cNvPr id="50" name="Text 48"/>
          <p:cNvSpPr txBox="1"/>
          <p:nvPr/>
        </p:nvSpPr>
        <p:spPr>
          <a:xfrm>
            <a:off x="8503920" y="4617720"/>
            <a:ext cx="3108960" cy="320040"/>
          </a:xfrm>
          <a:prstGeom prst="rect">
            <a:avLst/>
          </a:prstGeom>
          <a:noFill/>
          <a:ln/>
        </p:spPr>
        <p:txBody>
          <a:bodyPr wrap="square" lIns="0" tIns="0" rIns="0" bIns="0" rtlCol="0" anchor="ctr"/>
          <a:lstStyle/>
          <a:p>
            <a:pPr marL="0" indent="0" algn="l">
              <a:buNone/>
            </a:pPr>
            <a:r>
              <a:rPr lang="en-US" sz="1350" b="1" dirty="0">
                <a:solidFill>
                  <a:srgbClr val="FF6B00"/>
                </a:solidFill>
                <a:latin typeface="Malgun Gothic" pitchFamily="34" charset="0"/>
                <a:ea typeface="Malgun Gothic" pitchFamily="34" charset="-122"/>
                <a:cs typeface="Malgun Gothic" pitchFamily="34" charset="-120"/>
              </a:rPr>
              <a:t>is_passed = FALSE</a:t>
            </a:r>
            <a:endParaRPr lang="en-US" sz="1350" dirty="0"/>
          </a:p>
        </p:txBody>
      </p:sp>
      <p:sp>
        <p:nvSpPr>
          <p:cNvPr id="51" name="Text 49"/>
          <p:cNvSpPr txBox="1"/>
          <p:nvPr/>
        </p:nvSpPr>
        <p:spPr>
          <a:xfrm>
            <a:off x="8503920" y="4983480"/>
            <a:ext cx="3108960" cy="777240"/>
          </a:xfrm>
          <a:prstGeom prst="rect">
            <a:avLst/>
          </a:prstGeom>
          <a:noFill/>
          <a:ln/>
        </p:spPr>
        <p:txBody>
          <a:bodyPr wrap="square" lIns="0" tIns="0" rIns="0" bIns="0" rtlCol="0" anchor="t"/>
          <a:lstStyle/>
          <a:p>
            <a:pPr marL="0" indent="0" algn="l">
              <a:buNone/>
            </a:pPr>
            <a:r>
              <a:rPr lang="en-US" sz="1150" dirty="0">
                <a:solidFill>
                  <a:srgbClr val="0A2540"/>
                </a:solidFill>
                <a:latin typeface="Malgun Gothic" pitchFamily="34" charset="0"/>
                <a:ea typeface="Malgun Gothic" pitchFamily="34" charset="-122"/>
                <a:cs typeface="Malgun Gothic" pitchFamily="34" charset="-120"/>
              </a:rPr>
              <a:t>Truck = INSIDE 유지</a:t>
            </a:r>
            <a:endParaRPr lang="en-US" sz="1150" dirty="0"/>
          </a:p>
          <a:p>
            <a:pPr marL="0" indent="0" algn="l">
              <a:buNone/>
            </a:pPr>
            <a:r>
              <a:rPr lang="en-US" sz="1150" dirty="0">
                <a:solidFill>
                  <a:srgbClr val="0A2540"/>
                </a:solidFill>
                <a:latin typeface="Malgun Gothic" pitchFamily="34" charset="0"/>
                <a:ea typeface="Malgun Gothic" pitchFamily="34" charset="-122"/>
                <a:cs typeface="Malgun Gothic" pitchFamily="34" charset="-120"/>
              </a:rPr>
              <a:t>출차 대기 (재계량 필요)</a:t>
            </a:r>
            <a:endParaRPr lang="en-US" sz="1150" dirty="0"/>
          </a:p>
        </p:txBody>
      </p:sp>
      <p:sp>
        <p:nvSpPr>
          <p:cNvPr id="52" name="Shape 50"/>
          <p:cNvSpPr/>
          <p:nvPr/>
        </p:nvSpPr>
        <p:spPr>
          <a:xfrm>
            <a:off x="4206240" y="5184648"/>
            <a:ext cx="320040" cy="0"/>
          </a:xfrm>
          <a:prstGeom prst="line">
            <a:avLst/>
          </a:prstGeom>
          <a:noFill/>
          <a:ln w="19050">
            <a:solidFill>
              <a:srgbClr val="0A2540"/>
            </a:solidFill>
            <a:prstDash val="solid"/>
            <a:tailEnd type="triangle"/>
          </a:ln>
        </p:spPr>
      </p:sp>
      <p:sp>
        <p:nvSpPr>
          <p:cNvPr id="53" name="Shape 51"/>
          <p:cNvSpPr/>
          <p:nvPr/>
        </p:nvSpPr>
        <p:spPr>
          <a:xfrm>
            <a:off x="8001000" y="5184648"/>
            <a:ext cx="274320" cy="0"/>
          </a:xfrm>
          <a:prstGeom prst="line">
            <a:avLst/>
          </a:prstGeom>
          <a:noFill/>
          <a:ln w="19050">
            <a:solidFill>
              <a:srgbClr val="0A2540"/>
            </a:solidFill>
            <a:prstDash val="solid"/>
            <a:tailEnd type="triangle"/>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v3/img/end_bg.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822960" y="2377440"/>
            <a:ext cx="2743200" cy="822960"/>
          </a:xfrm>
          <a:prstGeom prst="rect">
            <a:avLst/>
          </a:prstGeom>
          <a:noFill/>
          <a:ln/>
        </p:spPr>
        <p:txBody>
          <a:bodyPr wrap="square" lIns="0" tIns="0" rIns="0" bIns="0" rtlCol="0" anchor="ctr"/>
          <a:lstStyle/>
          <a:p>
            <a:pPr marL="0" indent="0" algn="l">
              <a:buNone/>
            </a:pPr>
            <a:r>
              <a:rPr lang="en-US" sz="4800" b="1" dirty="0">
                <a:solidFill>
                  <a:srgbClr val="FF6B00"/>
                </a:solidFill>
                <a:latin typeface="Malgun Gothic" pitchFamily="34" charset="0"/>
                <a:ea typeface="Malgun Gothic" pitchFamily="34" charset="-122"/>
                <a:cs typeface="Malgun Gothic" pitchFamily="34" charset="-120"/>
              </a:rPr>
              <a:t>03-1</a:t>
            </a:r>
            <a:endParaRPr lang="en-US" sz="4800" dirty="0"/>
          </a:p>
        </p:txBody>
      </p:sp>
      <p:sp>
        <p:nvSpPr>
          <p:cNvPr id="4" name="Text 1"/>
          <p:cNvSpPr txBox="1"/>
          <p:nvPr/>
        </p:nvSpPr>
        <p:spPr>
          <a:xfrm>
            <a:off x="822960" y="3200400"/>
            <a:ext cx="10058400" cy="731520"/>
          </a:xfrm>
          <a:prstGeom prst="rect">
            <a:avLst/>
          </a:prstGeom>
          <a:noFill/>
          <a:ln/>
        </p:spPr>
        <p:txBody>
          <a:bodyPr wrap="square" lIns="0" tIns="0" rIns="0" bIns="0" rtlCol="0" anchor="ctr"/>
          <a:lstStyle/>
          <a:p>
            <a:pPr marL="0" indent="0" algn="l">
              <a:buNone/>
            </a:pPr>
            <a:r>
              <a:rPr lang="ko-KR" altLang="en-US" sz="3600" b="1" dirty="0">
                <a:solidFill>
                  <a:srgbClr val="FFFFFF"/>
                </a:solidFill>
                <a:latin typeface="Malgun Gothic" pitchFamily="34" charset="0"/>
                <a:ea typeface="Malgun Gothic" pitchFamily="34" charset="-122"/>
              </a:rPr>
              <a:t>영상</a:t>
            </a:r>
            <a:endParaRPr lang="en-US" sz="3600" dirty="0"/>
          </a:p>
        </p:txBody>
      </p:sp>
      <p:sp>
        <p:nvSpPr>
          <p:cNvPr id="5" name="Text 2"/>
          <p:cNvSpPr txBox="1"/>
          <p:nvPr/>
        </p:nvSpPr>
        <p:spPr>
          <a:xfrm>
            <a:off x="822960" y="3931920"/>
            <a:ext cx="10058400" cy="365760"/>
          </a:xfrm>
          <a:prstGeom prst="rect">
            <a:avLst/>
          </a:prstGeom>
          <a:noFill/>
          <a:ln/>
        </p:spPr>
        <p:txBody>
          <a:bodyPr wrap="square" lIns="0" tIns="0" rIns="0" bIns="0" rtlCol="0" anchor="ctr"/>
          <a:lstStyle/>
          <a:p>
            <a:pPr marL="0" indent="0" algn="l">
              <a:buNone/>
            </a:pPr>
            <a:r>
              <a:rPr lang="en-US" sz="1400" dirty="0">
                <a:solidFill>
                  <a:srgbClr val="C9D6E3"/>
                </a:solidFill>
                <a:latin typeface="Malgun Gothic" pitchFamily="34" charset="0"/>
                <a:ea typeface="Malgun Gothic" pitchFamily="34" charset="-122"/>
                <a:cs typeface="Malgun Gothic" pitchFamily="34" charset="-120"/>
              </a:rPr>
              <a:t>게이트 진입 → 상하차 → 과적 검사 → 출차</a:t>
            </a:r>
            <a:endParaRPr lang="en-US" sz="1400" dirty="0"/>
          </a:p>
        </p:txBody>
      </p:sp>
      <p:sp>
        <p:nvSpPr>
          <p:cNvPr id="6" name="Shape 3"/>
          <p:cNvSpPr/>
          <p:nvPr/>
        </p:nvSpPr>
        <p:spPr>
          <a:xfrm>
            <a:off x="822960" y="4526280"/>
            <a:ext cx="2011680" cy="0"/>
          </a:xfrm>
          <a:prstGeom prst="line">
            <a:avLst/>
          </a:prstGeom>
          <a:noFill/>
          <a:ln w="38100">
            <a:solidFill>
              <a:srgbClr val="FF6B00"/>
            </a:solidFill>
            <a:prstDash val="solid"/>
          </a:ln>
        </p:spPr>
      </p:sp>
      <p:sp>
        <p:nvSpPr>
          <p:cNvPr id="7" name="Text 4"/>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8FA3BA"/>
                </a:solidFill>
                <a:latin typeface="Malgun Gothic" pitchFamily="34" charset="0"/>
                <a:ea typeface="Malgun Gothic" pitchFamily="34" charset="-122"/>
                <a:cs typeface="Malgun Gothic" pitchFamily="34" charset="-120"/>
              </a:rPr>
              <a:t>S Cargo  ·  못먹어도 S카고</a:t>
            </a:r>
            <a:endParaRPr lang="en-US" sz="900" dirty="0"/>
          </a:p>
        </p:txBody>
      </p:sp>
      <p:sp>
        <p:nvSpPr>
          <p:cNvPr id="8" name="Text 5"/>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8FA3BA"/>
                </a:solidFill>
                <a:latin typeface="Malgun Gothic" pitchFamily="34" charset="0"/>
                <a:ea typeface="Malgun Gothic" pitchFamily="34" charset="-122"/>
                <a:cs typeface="Malgun Gothic" pitchFamily="34" charset="-120"/>
              </a:rPr>
              <a:t>29</a:t>
            </a:r>
            <a:endParaRPr lang="en-US" sz="900" dirty="0"/>
          </a:p>
        </p:txBody>
      </p:sp>
    </p:spTree>
    <p:extLst>
      <p:ext uri="{BB962C8B-B14F-4D97-AF65-F5344CB8AC3E}">
        <p14:creationId xmlns:p14="http://schemas.microsoft.com/office/powerpoint/2010/main" val="33492233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Malgun Gothic" pitchFamily="34" charset="0"/>
                <a:ea typeface="Malgun Gothic" pitchFamily="34" charset="-122"/>
                <a:cs typeface="Malgun Gothic" pitchFamily="34" charset="-120"/>
              </a:rPr>
              <a:t>S Cargo  ·  못먹어도 S카고</a:t>
            </a:r>
            <a:endParaRPr lang="en-US" sz="900" dirty="0"/>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Malgun Gothic" pitchFamily="34" charset="0"/>
                <a:ea typeface="Malgun Gothic" pitchFamily="34" charset="-122"/>
                <a:cs typeface="Malgun Gothic" pitchFamily="34" charset="-120"/>
              </a:rPr>
              <a:t>30</a:t>
            </a:r>
            <a:endParaRPr lang="en-US" sz="900" dirty="0"/>
          </a:p>
        </p:txBody>
      </p:sp>
      <p:pic>
        <p:nvPicPr>
          <p:cNvPr id="7"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752600" y="985837"/>
            <a:ext cx="8686800" cy="48863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Malgun Gothic" pitchFamily="34" charset="0"/>
                <a:ea typeface="Malgun Gothic" pitchFamily="34" charset="-122"/>
                <a:cs typeface="Malgun Gothic" pitchFamily="34" charset="-120"/>
              </a:rPr>
              <a:t>03  핵심 기능</a:t>
            </a:r>
            <a:endParaRPr lang="en-US" sz="1100" dirty="0"/>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Malgun Gothic" pitchFamily="34" charset="0"/>
                <a:ea typeface="Malgun Gothic" pitchFamily="34" charset="-122"/>
                <a:cs typeface="Malgun Gothic" pitchFamily="34" charset="-120"/>
              </a:rPr>
              <a:t>게이트 OCR 검사 화면</a:t>
            </a:r>
            <a:endParaRPr lang="en-US" sz="2600" dirty="0"/>
          </a:p>
        </p:txBody>
      </p:sp>
      <p:sp>
        <p:nvSpPr>
          <p:cNvPr id="4" name="Text 2"/>
          <p:cNvSpPr txBox="1"/>
          <p:nvPr/>
        </p:nvSpPr>
        <p:spPr>
          <a:xfrm>
            <a:off x="548640" y="1143000"/>
            <a:ext cx="10972800" cy="320040"/>
          </a:xfrm>
          <a:prstGeom prst="rect">
            <a:avLst/>
          </a:prstGeom>
          <a:noFill/>
          <a:ln/>
        </p:spPr>
        <p:txBody>
          <a:bodyPr wrap="square" lIns="0" tIns="0" rIns="0" bIns="0" rtlCol="0" anchor="ctr"/>
          <a:lstStyle/>
          <a:p>
            <a:pPr marL="0" indent="0" algn="l">
              <a:buNone/>
            </a:pPr>
            <a:r>
              <a:rPr lang="en-US" sz="1300" dirty="0">
                <a:solidFill>
                  <a:srgbClr val="5B6B7F"/>
                </a:solidFill>
                <a:latin typeface="Malgun Gothic" pitchFamily="34" charset="0"/>
                <a:ea typeface="Malgun Gothic" pitchFamily="34" charset="-122"/>
                <a:cs typeface="Malgun Gothic" pitchFamily="34" charset="-120"/>
              </a:rPr>
              <a:t>관리자 › 게이트 OCR 검사</a:t>
            </a:r>
            <a:endParaRPr lang="en-US" sz="1300" dirty="0"/>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Malgun Gothic" pitchFamily="34" charset="0"/>
                <a:ea typeface="Malgun Gothic" pitchFamily="34" charset="-122"/>
                <a:cs typeface="Malgun Gothic" pitchFamily="34" charset="-120"/>
              </a:rPr>
              <a:t>S Cargo  ·  못먹어도 S카고</a:t>
            </a:r>
            <a:endParaRPr lang="en-US" sz="900" dirty="0"/>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Malgun Gothic" pitchFamily="34" charset="0"/>
                <a:ea typeface="Malgun Gothic" pitchFamily="34" charset="-122"/>
                <a:cs typeface="Malgun Gothic" pitchFamily="34" charset="-120"/>
              </a:rPr>
              <a:t>16</a:t>
            </a:r>
            <a:endParaRPr lang="en-US" sz="900" dirty="0"/>
          </a:p>
        </p:txBody>
      </p:sp>
      <p:sp>
        <p:nvSpPr>
          <p:cNvPr id="7" name="Shape 5"/>
          <p:cNvSpPr/>
          <p:nvPr/>
        </p:nvSpPr>
        <p:spPr>
          <a:xfrm>
            <a:off x="502920" y="1554480"/>
            <a:ext cx="5669280" cy="4646951"/>
          </a:xfrm>
          <a:prstGeom prst="roundRect">
            <a:avLst>
              <a:gd name="adj" fmla="val 1181"/>
            </a:avLst>
          </a:prstGeom>
          <a:solidFill>
            <a:srgbClr val="FFFFFF"/>
          </a:solidFill>
          <a:ln w="12700">
            <a:solidFill>
              <a:srgbClr val="DCE3EA"/>
            </a:solidFill>
            <a:prstDash val="solid"/>
          </a:ln>
          <a:effectLst>
            <a:outerShdw blurRad="76200" dist="25400" dir="5400000" algn="bl" rotWithShape="0">
              <a:srgbClr val="000000">
                <a:alpha val="15000"/>
              </a:srgbClr>
            </a:outerShdw>
          </a:effectLst>
        </p:spPr>
      </p:sp>
      <p:pic>
        <p:nvPicPr>
          <p:cNvPr id="8" name="Image 0" descr="/home/claude/v3/img/gate.jpg"/>
          <p:cNvPicPr>
            <a:picLocks noChangeAspect="1"/>
          </p:cNvPicPr>
          <p:nvPr/>
        </p:nvPicPr>
        <p:blipFill>
          <a:blip r:embed="rId3"/>
          <a:stretch>
            <a:fillRect/>
          </a:stretch>
        </p:blipFill>
        <p:spPr>
          <a:xfrm>
            <a:off x="502920" y="1554480"/>
            <a:ext cx="5669280" cy="4646951"/>
          </a:xfrm>
          <a:prstGeom prst="rect">
            <a:avLst/>
          </a:prstGeom>
        </p:spPr>
      </p:pic>
      <p:sp>
        <p:nvSpPr>
          <p:cNvPr id="9" name="Shape 6"/>
          <p:cNvSpPr/>
          <p:nvPr/>
        </p:nvSpPr>
        <p:spPr>
          <a:xfrm>
            <a:off x="6629400" y="1755648"/>
            <a:ext cx="329184" cy="329184"/>
          </a:xfrm>
          <a:prstGeom prst="ellipse">
            <a:avLst/>
          </a:prstGeom>
          <a:solidFill>
            <a:srgbClr val="FF6B00"/>
          </a:solidFill>
          <a:ln w="12700">
            <a:solidFill>
              <a:srgbClr val="FF6B00"/>
            </a:solidFill>
            <a:prstDash val="solid"/>
          </a:ln>
        </p:spPr>
      </p:sp>
      <p:sp>
        <p:nvSpPr>
          <p:cNvPr id="10" name="Text 7"/>
          <p:cNvSpPr txBox="1"/>
          <p:nvPr/>
        </p:nvSpPr>
        <p:spPr>
          <a:xfrm>
            <a:off x="6629400" y="175564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1</a:t>
            </a:r>
            <a:endParaRPr lang="en-US" sz="1200" dirty="0"/>
          </a:p>
        </p:txBody>
      </p:sp>
      <p:sp>
        <p:nvSpPr>
          <p:cNvPr id="11" name="Text 8"/>
          <p:cNvSpPr txBox="1"/>
          <p:nvPr/>
        </p:nvSpPr>
        <p:spPr>
          <a:xfrm>
            <a:off x="7086600" y="1719072"/>
            <a:ext cx="4480560" cy="347472"/>
          </a:xfrm>
          <a:prstGeom prst="rect">
            <a:avLst/>
          </a:prstGeom>
          <a:noFill/>
          <a:ln/>
        </p:spPr>
        <p:txBody>
          <a:bodyPr wrap="square" lIns="0" tIns="0" rIns="0" bIns="0" rtlCol="0" anchor="ctr"/>
          <a:lstStyle/>
          <a:p>
            <a:pPr marL="0" indent="0" algn="l">
              <a:buNone/>
            </a:pPr>
            <a:r>
              <a:rPr lang="en-US" sz="1500" b="1" dirty="0">
                <a:solidFill>
                  <a:srgbClr val="0A2540"/>
                </a:solidFill>
                <a:latin typeface="Malgun Gothic" pitchFamily="34" charset="0"/>
                <a:ea typeface="Malgun Gothic" pitchFamily="34" charset="-122"/>
                <a:cs typeface="Malgun Gothic" pitchFamily="34" charset="-120"/>
              </a:rPr>
              <a:t>Gate IN · Gate OUT</a:t>
            </a:r>
            <a:endParaRPr lang="en-US" sz="1500" dirty="0"/>
          </a:p>
        </p:txBody>
      </p:sp>
      <p:sp>
        <p:nvSpPr>
          <p:cNvPr id="12" name="Text 9"/>
          <p:cNvSpPr txBox="1"/>
          <p:nvPr/>
        </p:nvSpPr>
        <p:spPr>
          <a:xfrm>
            <a:off x="7086600" y="2066544"/>
            <a:ext cx="4480560" cy="731520"/>
          </a:xfrm>
          <a:prstGeom prst="rect">
            <a:avLst/>
          </a:prstGeom>
          <a:noFill/>
          <a:ln/>
        </p:spPr>
        <p:txBody>
          <a:bodyPr wrap="square" lIns="0" tIns="0" rIns="0" bIns="0" rtlCol="0" anchor="t"/>
          <a:lstStyle/>
          <a:p>
            <a:pPr marL="0" indent="0" algn="l">
              <a:lnSpc>
                <a:spcPct val="110000"/>
              </a:lnSpc>
              <a:buNone/>
            </a:pPr>
            <a:r>
              <a:rPr lang="en-US" sz="1200" dirty="0">
                <a:solidFill>
                  <a:srgbClr val="5B6B7F"/>
                </a:solidFill>
                <a:latin typeface="Malgun Gothic" pitchFamily="34" charset="0"/>
                <a:ea typeface="Malgun Gothic" pitchFamily="34" charset="-122"/>
                <a:cs typeface="Malgun Gothic" pitchFamily="34" charset="-120"/>
              </a:rPr>
              <a:t>버튼 한 번으로 수신 이미지를 OCR 검사</a:t>
            </a:r>
            <a:endParaRPr lang="en-US" sz="1200" dirty="0"/>
          </a:p>
          <a:p>
            <a:pPr marL="0" indent="0" algn="l">
              <a:lnSpc>
                <a:spcPct val="110000"/>
              </a:lnSpc>
              <a:buNone/>
            </a:pPr>
            <a:r>
              <a:rPr lang="en-US" sz="1200" dirty="0">
                <a:solidFill>
                  <a:srgbClr val="5B6B7F"/>
                </a:solidFill>
                <a:latin typeface="Malgun Gothic" pitchFamily="34" charset="0"/>
                <a:ea typeface="Malgun Gothic" pitchFamily="34" charset="-122"/>
                <a:cs typeface="Malgun Gothic" pitchFamily="34" charset="-120"/>
              </a:rPr>
              <a:t>구내 차량은 상하차 완료 + 과적 통과 시에만 출차</a:t>
            </a:r>
            <a:endParaRPr lang="en-US" sz="1200" dirty="0"/>
          </a:p>
        </p:txBody>
      </p:sp>
      <p:sp>
        <p:nvSpPr>
          <p:cNvPr id="13" name="Shape 10"/>
          <p:cNvSpPr/>
          <p:nvPr/>
        </p:nvSpPr>
        <p:spPr>
          <a:xfrm>
            <a:off x="6629400" y="2990088"/>
            <a:ext cx="329184" cy="329184"/>
          </a:xfrm>
          <a:prstGeom prst="ellipse">
            <a:avLst/>
          </a:prstGeom>
          <a:solidFill>
            <a:srgbClr val="FF6B00"/>
          </a:solidFill>
          <a:ln w="12700">
            <a:solidFill>
              <a:srgbClr val="FF6B00"/>
            </a:solidFill>
            <a:prstDash val="solid"/>
          </a:ln>
        </p:spPr>
      </p:sp>
      <p:sp>
        <p:nvSpPr>
          <p:cNvPr id="14" name="Text 11"/>
          <p:cNvSpPr txBox="1"/>
          <p:nvPr/>
        </p:nvSpPr>
        <p:spPr>
          <a:xfrm>
            <a:off x="6629400" y="299008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2</a:t>
            </a:r>
            <a:endParaRPr lang="en-US" sz="1200" dirty="0"/>
          </a:p>
        </p:txBody>
      </p:sp>
      <p:sp>
        <p:nvSpPr>
          <p:cNvPr id="15" name="Text 12"/>
          <p:cNvSpPr txBox="1"/>
          <p:nvPr/>
        </p:nvSpPr>
        <p:spPr>
          <a:xfrm>
            <a:off x="7086600" y="2953512"/>
            <a:ext cx="4480560" cy="347472"/>
          </a:xfrm>
          <a:prstGeom prst="rect">
            <a:avLst/>
          </a:prstGeom>
          <a:noFill/>
          <a:ln/>
        </p:spPr>
        <p:txBody>
          <a:bodyPr wrap="square" lIns="0" tIns="0" rIns="0" bIns="0" rtlCol="0" anchor="ctr"/>
          <a:lstStyle/>
          <a:p>
            <a:pPr marL="0" indent="0" algn="l">
              <a:buNone/>
            </a:pPr>
            <a:r>
              <a:rPr lang="en-US" sz="1500" b="1" dirty="0">
                <a:solidFill>
                  <a:srgbClr val="0A2540"/>
                </a:solidFill>
                <a:latin typeface="Malgun Gothic" pitchFamily="34" charset="0"/>
                <a:ea typeface="Malgun Gothic" pitchFamily="34" charset="-122"/>
                <a:cs typeface="Malgun Gothic" pitchFamily="34" charset="-120"/>
              </a:rPr>
              <a:t>판독 결과와 차단기</a:t>
            </a:r>
            <a:endParaRPr lang="en-US" sz="1500" dirty="0"/>
          </a:p>
        </p:txBody>
      </p:sp>
      <p:sp>
        <p:nvSpPr>
          <p:cNvPr id="16" name="Text 13"/>
          <p:cNvSpPr txBox="1"/>
          <p:nvPr/>
        </p:nvSpPr>
        <p:spPr>
          <a:xfrm>
            <a:off x="7086600" y="3300984"/>
            <a:ext cx="4480560" cy="731520"/>
          </a:xfrm>
          <a:prstGeom prst="rect">
            <a:avLst/>
          </a:prstGeom>
          <a:noFill/>
          <a:ln/>
        </p:spPr>
        <p:txBody>
          <a:bodyPr wrap="square" lIns="0" tIns="0" rIns="0" bIns="0" rtlCol="0" anchor="t"/>
          <a:lstStyle/>
          <a:p>
            <a:pPr marL="0" indent="0" algn="l">
              <a:lnSpc>
                <a:spcPct val="110000"/>
              </a:lnSpc>
              <a:buNone/>
            </a:pPr>
            <a:r>
              <a:rPr lang="en-US" sz="1200" dirty="0">
                <a:solidFill>
                  <a:srgbClr val="5B6B7F"/>
                </a:solidFill>
                <a:latin typeface="Malgun Gothic" pitchFamily="34" charset="0"/>
                <a:ea typeface="Malgun Gothic" pitchFamily="34" charset="-122"/>
                <a:cs typeface="Malgun Gothic" pitchFamily="34" charset="-120"/>
              </a:rPr>
              <a:t>인식 번호판 · 등록차량 일치 여부를 표시하고</a:t>
            </a:r>
            <a:endParaRPr lang="en-US" sz="1200" dirty="0"/>
          </a:p>
          <a:p>
            <a:pPr marL="0" indent="0" algn="l">
              <a:lnSpc>
                <a:spcPct val="110000"/>
              </a:lnSpc>
              <a:buNone/>
            </a:pPr>
            <a:r>
              <a:rPr lang="en-US" sz="1200" dirty="0">
                <a:solidFill>
                  <a:srgbClr val="5B6B7F"/>
                </a:solidFill>
                <a:latin typeface="Malgun Gothic" pitchFamily="34" charset="0"/>
                <a:ea typeface="Malgun Gothic" pitchFamily="34" charset="-122"/>
                <a:cs typeface="Malgun Gothic" pitchFamily="34" charset="-120"/>
              </a:rPr>
              <a:t>차단기 그림으로 통과 / 보류를 보여줌</a:t>
            </a:r>
            <a:endParaRPr lang="en-US" sz="1200" dirty="0"/>
          </a:p>
        </p:txBody>
      </p:sp>
      <p:sp>
        <p:nvSpPr>
          <p:cNvPr id="17" name="Shape 14"/>
          <p:cNvSpPr/>
          <p:nvPr/>
        </p:nvSpPr>
        <p:spPr>
          <a:xfrm>
            <a:off x="6629400" y="4224528"/>
            <a:ext cx="329184" cy="329184"/>
          </a:xfrm>
          <a:prstGeom prst="ellipse">
            <a:avLst/>
          </a:prstGeom>
          <a:solidFill>
            <a:srgbClr val="FF6B00"/>
          </a:solidFill>
          <a:ln w="12700">
            <a:solidFill>
              <a:srgbClr val="FF6B00"/>
            </a:solidFill>
            <a:prstDash val="solid"/>
          </a:ln>
        </p:spPr>
      </p:sp>
      <p:sp>
        <p:nvSpPr>
          <p:cNvPr id="18" name="Text 15"/>
          <p:cNvSpPr txBox="1"/>
          <p:nvPr/>
        </p:nvSpPr>
        <p:spPr>
          <a:xfrm>
            <a:off x="6629400" y="42245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3</a:t>
            </a:r>
            <a:endParaRPr lang="en-US" sz="1200" dirty="0"/>
          </a:p>
        </p:txBody>
      </p:sp>
      <p:sp>
        <p:nvSpPr>
          <p:cNvPr id="19" name="Text 16"/>
          <p:cNvSpPr txBox="1"/>
          <p:nvPr/>
        </p:nvSpPr>
        <p:spPr>
          <a:xfrm>
            <a:off x="7086600" y="4187952"/>
            <a:ext cx="4480560" cy="347472"/>
          </a:xfrm>
          <a:prstGeom prst="rect">
            <a:avLst/>
          </a:prstGeom>
          <a:noFill/>
          <a:ln/>
        </p:spPr>
        <p:txBody>
          <a:bodyPr wrap="square" lIns="0" tIns="0" rIns="0" bIns="0" rtlCol="0" anchor="ctr"/>
          <a:lstStyle/>
          <a:p>
            <a:pPr marL="0" indent="0" algn="l">
              <a:buNone/>
            </a:pPr>
            <a:r>
              <a:rPr lang="en-US" sz="1500" b="1" dirty="0">
                <a:solidFill>
                  <a:srgbClr val="0A2540"/>
                </a:solidFill>
                <a:latin typeface="Malgun Gothic" pitchFamily="34" charset="0"/>
                <a:ea typeface="Malgun Gothic" pitchFamily="34" charset="-122"/>
                <a:cs typeface="Malgun Gothic" pitchFamily="34" charset="-120"/>
              </a:rPr>
              <a:t>실시간 검사 기록</a:t>
            </a:r>
            <a:endParaRPr lang="en-US" sz="1500" dirty="0"/>
          </a:p>
        </p:txBody>
      </p:sp>
      <p:sp>
        <p:nvSpPr>
          <p:cNvPr id="20" name="Text 17"/>
          <p:cNvSpPr txBox="1"/>
          <p:nvPr/>
        </p:nvSpPr>
        <p:spPr>
          <a:xfrm>
            <a:off x="7086600" y="4535424"/>
            <a:ext cx="4480560" cy="731520"/>
          </a:xfrm>
          <a:prstGeom prst="rect">
            <a:avLst/>
          </a:prstGeom>
          <a:noFill/>
          <a:ln/>
        </p:spPr>
        <p:txBody>
          <a:bodyPr wrap="square" lIns="0" tIns="0" rIns="0" bIns="0" rtlCol="0" anchor="t"/>
          <a:lstStyle/>
          <a:p>
            <a:pPr marL="0" indent="0" algn="l">
              <a:lnSpc>
                <a:spcPct val="110000"/>
              </a:lnSpc>
              <a:buNone/>
            </a:pPr>
            <a:r>
              <a:rPr lang="en-US" sz="1200" dirty="0">
                <a:solidFill>
                  <a:srgbClr val="5B6B7F"/>
                </a:solidFill>
                <a:latin typeface="Malgun Gothic" pitchFamily="34" charset="0"/>
                <a:ea typeface="Malgun Gothic" pitchFamily="34" charset="-122"/>
                <a:cs typeface="Malgun Gothic" pitchFamily="34" charset="-120"/>
              </a:rPr>
              <a:t>게이트 · ENTRY/EXIT · 신뢰도 · 상태를 3초마다 갱신</a:t>
            </a:r>
            <a:endParaRPr lang="en-US" sz="1200" dirty="0"/>
          </a:p>
          <a:p>
            <a:pPr marL="0" indent="0" algn="l">
              <a:lnSpc>
                <a:spcPct val="110000"/>
              </a:lnSpc>
              <a:buNone/>
            </a:pPr>
            <a:r>
              <a:rPr lang="en-US" sz="1200" dirty="0">
                <a:solidFill>
                  <a:srgbClr val="5B6B7F"/>
                </a:solidFill>
                <a:latin typeface="Malgun Gothic" pitchFamily="34" charset="0"/>
                <a:ea typeface="Malgun Gothic" pitchFamily="34" charset="-122"/>
                <a:cs typeface="Malgun Gothic" pitchFamily="34" charset="-120"/>
              </a:rPr>
              <a:t>통과 차량은 계중대 대기열에 자동 등록</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Malgun Gothic" pitchFamily="34" charset="0"/>
                <a:ea typeface="Malgun Gothic" pitchFamily="34" charset="-122"/>
                <a:cs typeface="Malgun Gothic" pitchFamily="34" charset="-120"/>
              </a:rPr>
              <a:t>03  핵심 기능</a:t>
            </a:r>
            <a:endParaRPr lang="en-US" sz="1100" dirty="0"/>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Malgun Gothic" pitchFamily="34" charset="0"/>
                <a:ea typeface="Malgun Gothic" pitchFamily="34" charset="-122"/>
                <a:cs typeface="Malgun Gothic" pitchFamily="34" charset="-120"/>
              </a:rPr>
              <a:t>과적 판정</a:t>
            </a:r>
            <a:endParaRPr lang="en-US" sz="2600" dirty="0"/>
          </a:p>
        </p:txBody>
      </p:sp>
      <p:sp>
        <p:nvSpPr>
          <p:cNvPr id="4" name="Text 2"/>
          <p:cNvSpPr txBox="1"/>
          <p:nvPr/>
        </p:nvSpPr>
        <p:spPr>
          <a:xfrm>
            <a:off x="548640" y="1143000"/>
            <a:ext cx="10972800" cy="320040"/>
          </a:xfrm>
          <a:prstGeom prst="rect">
            <a:avLst/>
          </a:prstGeom>
          <a:noFill/>
          <a:ln/>
        </p:spPr>
        <p:txBody>
          <a:bodyPr wrap="square" lIns="0" tIns="0" rIns="0" bIns="0" rtlCol="0" anchor="ctr"/>
          <a:lstStyle/>
          <a:p>
            <a:pPr marL="0" indent="0" algn="l">
              <a:buNone/>
            </a:pPr>
            <a:r>
              <a:rPr lang="en-US" sz="1300" dirty="0">
                <a:solidFill>
                  <a:srgbClr val="5B6B7F"/>
                </a:solidFill>
                <a:latin typeface="Malgun Gothic" pitchFamily="34" charset="0"/>
                <a:ea typeface="Malgun Gothic" pitchFamily="34" charset="-122"/>
                <a:cs typeface="Malgun Gothic" pitchFamily="34" charset="-120"/>
              </a:rPr>
              <a:t>차량번호로 컨테이너를 찾아 대조하고, 세 가지 기준으로 판정합니다</a:t>
            </a:r>
            <a:endParaRPr lang="en-US" sz="1300" dirty="0"/>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Malgun Gothic" pitchFamily="34" charset="0"/>
                <a:ea typeface="Malgun Gothic" pitchFamily="34" charset="-122"/>
                <a:cs typeface="Malgun Gothic" pitchFamily="34" charset="-120"/>
              </a:rPr>
              <a:t>S Cargo  ·  못먹어도 S카고</a:t>
            </a:r>
            <a:endParaRPr lang="en-US" sz="900" dirty="0"/>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Malgun Gothic" pitchFamily="34" charset="0"/>
                <a:ea typeface="Malgun Gothic" pitchFamily="34" charset="-122"/>
                <a:cs typeface="Malgun Gothic" pitchFamily="34" charset="-120"/>
              </a:rPr>
              <a:t>17</a:t>
            </a:r>
            <a:endParaRPr lang="en-US" sz="900" dirty="0"/>
          </a:p>
        </p:txBody>
      </p:sp>
      <p:sp>
        <p:nvSpPr>
          <p:cNvPr id="7" name="Text 5"/>
          <p:cNvSpPr txBox="1"/>
          <p:nvPr/>
        </p:nvSpPr>
        <p:spPr>
          <a:xfrm>
            <a:off x="502920" y="1554480"/>
            <a:ext cx="5486400" cy="320040"/>
          </a:xfrm>
          <a:prstGeom prst="rect">
            <a:avLst/>
          </a:prstGeom>
          <a:noFill/>
          <a:ln/>
        </p:spPr>
        <p:txBody>
          <a:bodyPr wrap="square" lIns="0" tIns="0" rIns="0" bIns="0" rtlCol="0" anchor="ctr"/>
          <a:lstStyle/>
          <a:p>
            <a:pPr marL="0" indent="0" algn="l">
              <a:buNone/>
            </a:pPr>
            <a:r>
              <a:rPr lang="en-US" sz="1500" b="1" dirty="0">
                <a:solidFill>
                  <a:srgbClr val="0A2540"/>
                </a:solidFill>
                <a:latin typeface="Malgun Gothic" pitchFamily="34" charset="0"/>
                <a:ea typeface="Malgun Gothic" pitchFamily="34" charset="-122"/>
                <a:cs typeface="Malgun Gothic" pitchFamily="34" charset="-120"/>
              </a:rPr>
              <a:t>① 차량번호 → 컨테이너 대조</a:t>
            </a:r>
            <a:endParaRPr lang="en-US" sz="1500" dirty="0"/>
          </a:p>
        </p:txBody>
      </p:sp>
      <p:sp>
        <p:nvSpPr>
          <p:cNvPr id="8" name="Shape 6"/>
          <p:cNvSpPr/>
          <p:nvPr/>
        </p:nvSpPr>
        <p:spPr>
          <a:xfrm>
            <a:off x="502920" y="1965960"/>
            <a:ext cx="5394960" cy="512064"/>
          </a:xfrm>
          <a:prstGeom prst="roundRect">
            <a:avLst>
              <a:gd name="adj" fmla="val 10714"/>
            </a:avLst>
          </a:prstGeom>
          <a:solidFill>
            <a:srgbClr val="F4F6F8"/>
          </a:solidFill>
          <a:ln w="12700">
            <a:solidFill>
              <a:srgbClr val="F4F6F8"/>
            </a:solidFill>
            <a:prstDash val="solid"/>
          </a:ln>
        </p:spPr>
      </p:sp>
      <p:sp>
        <p:nvSpPr>
          <p:cNvPr id="9" name="Text 7"/>
          <p:cNvSpPr txBox="1"/>
          <p:nvPr/>
        </p:nvSpPr>
        <p:spPr>
          <a:xfrm>
            <a:off x="685800" y="1965960"/>
            <a:ext cx="365760" cy="512064"/>
          </a:xfrm>
          <a:prstGeom prst="rect">
            <a:avLst/>
          </a:prstGeom>
          <a:noFill/>
          <a:ln/>
        </p:spPr>
        <p:txBody>
          <a:bodyPr wrap="square" lIns="0" tIns="0" rIns="0" bIns="0" rtlCol="0" anchor="ctr"/>
          <a:lstStyle/>
          <a:p>
            <a:pPr marL="0" indent="0" algn="l">
              <a:buNone/>
            </a:pPr>
            <a:r>
              <a:rPr lang="en-US" sz="1400" b="1" dirty="0">
                <a:solidFill>
                  <a:srgbClr val="FF6B00"/>
                </a:solidFill>
                <a:latin typeface="Malgun Gothic" pitchFamily="34" charset="0"/>
                <a:ea typeface="Malgun Gothic" pitchFamily="34" charset="-122"/>
                <a:cs typeface="Malgun Gothic" pitchFamily="34" charset="-120"/>
              </a:rPr>
              <a:t>1</a:t>
            </a:r>
            <a:endParaRPr lang="en-US" sz="1400" dirty="0"/>
          </a:p>
        </p:txBody>
      </p:sp>
      <p:sp>
        <p:nvSpPr>
          <p:cNvPr id="10" name="Text 8"/>
          <p:cNvSpPr txBox="1"/>
          <p:nvPr/>
        </p:nvSpPr>
        <p:spPr>
          <a:xfrm>
            <a:off x="1051560" y="1965960"/>
            <a:ext cx="1554480" cy="512064"/>
          </a:xfrm>
          <a:prstGeom prst="rect">
            <a:avLst/>
          </a:prstGeom>
          <a:noFill/>
          <a:ln/>
        </p:spPr>
        <p:txBody>
          <a:bodyPr wrap="square" lIns="0" tIns="0" rIns="0" bIns="0" rtlCol="0" anchor="ctr"/>
          <a:lstStyle/>
          <a:p>
            <a:pPr marL="0" indent="0" algn="l">
              <a:buNone/>
            </a:pPr>
            <a:r>
              <a:rPr lang="en-US" sz="1300" b="1" dirty="0">
                <a:solidFill>
                  <a:srgbClr val="0A2540"/>
                </a:solidFill>
                <a:latin typeface="Malgun Gothic" pitchFamily="34" charset="0"/>
                <a:ea typeface="Malgun Gothic" pitchFamily="34" charset="-122"/>
                <a:cs typeface="Malgun Gothic" pitchFamily="34" charset="-120"/>
              </a:rPr>
              <a:t>배차 매핑</a:t>
            </a:r>
            <a:endParaRPr lang="en-US" sz="1300" dirty="0"/>
          </a:p>
        </p:txBody>
      </p:sp>
      <p:sp>
        <p:nvSpPr>
          <p:cNvPr id="11" name="Text 9"/>
          <p:cNvSpPr txBox="1"/>
          <p:nvPr/>
        </p:nvSpPr>
        <p:spPr>
          <a:xfrm>
            <a:off x="2606040" y="1965960"/>
            <a:ext cx="3200400" cy="512064"/>
          </a:xfrm>
          <a:prstGeom prst="rect">
            <a:avLst/>
          </a:prstGeom>
          <a:noFill/>
          <a:ln/>
        </p:spPr>
        <p:txBody>
          <a:bodyPr wrap="square" lIns="0" tIns="0" rIns="0" bIns="0" rtlCol="0" anchor="ctr"/>
          <a:lstStyle/>
          <a:p>
            <a:pPr marL="0" indent="0" algn="l">
              <a:buNone/>
            </a:pPr>
            <a:r>
              <a:rPr lang="en-US" sz="1150" dirty="0">
                <a:solidFill>
                  <a:srgbClr val="5B6B7F"/>
                </a:solidFill>
                <a:latin typeface="Malgun Gothic" pitchFamily="34" charset="0"/>
                <a:ea typeface="Malgun Gothic" pitchFamily="34" charset="-122"/>
                <a:cs typeface="Malgun Gothic" pitchFamily="34" charset="-120"/>
              </a:rPr>
              <a:t>운송사가 등록한 차량-컨테이너 매핑</a:t>
            </a:r>
            <a:endParaRPr lang="en-US" sz="1150" dirty="0"/>
          </a:p>
        </p:txBody>
      </p:sp>
      <p:sp>
        <p:nvSpPr>
          <p:cNvPr id="12" name="Shape 10"/>
          <p:cNvSpPr/>
          <p:nvPr/>
        </p:nvSpPr>
        <p:spPr>
          <a:xfrm>
            <a:off x="502920" y="2587752"/>
            <a:ext cx="5394960" cy="512064"/>
          </a:xfrm>
          <a:prstGeom prst="roundRect">
            <a:avLst>
              <a:gd name="adj" fmla="val 10714"/>
            </a:avLst>
          </a:prstGeom>
          <a:solidFill>
            <a:srgbClr val="F4F6F8"/>
          </a:solidFill>
          <a:ln w="12700">
            <a:solidFill>
              <a:srgbClr val="F4F6F8"/>
            </a:solidFill>
            <a:prstDash val="solid"/>
          </a:ln>
        </p:spPr>
      </p:sp>
      <p:sp>
        <p:nvSpPr>
          <p:cNvPr id="13" name="Text 11"/>
          <p:cNvSpPr txBox="1"/>
          <p:nvPr/>
        </p:nvSpPr>
        <p:spPr>
          <a:xfrm>
            <a:off x="685800" y="2587752"/>
            <a:ext cx="365760" cy="512064"/>
          </a:xfrm>
          <a:prstGeom prst="rect">
            <a:avLst/>
          </a:prstGeom>
          <a:noFill/>
          <a:ln/>
        </p:spPr>
        <p:txBody>
          <a:bodyPr wrap="square" lIns="0" tIns="0" rIns="0" bIns="0" rtlCol="0" anchor="ctr"/>
          <a:lstStyle/>
          <a:p>
            <a:pPr marL="0" indent="0" algn="l">
              <a:buNone/>
            </a:pPr>
            <a:r>
              <a:rPr lang="en-US" sz="1400" b="1" dirty="0">
                <a:solidFill>
                  <a:srgbClr val="FF6B00"/>
                </a:solidFill>
                <a:latin typeface="Malgun Gothic" pitchFamily="34" charset="0"/>
                <a:ea typeface="Malgun Gothic" pitchFamily="34" charset="-122"/>
                <a:cs typeface="Malgun Gothic" pitchFamily="34" charset="-120"/>
              </a:rPr>
              <a:t>2</a:t>
            </a:r>
            <a:endParaRPr lang="en-US" sz="1400" dirty="0"/>
          </a:p>
        </p:txBody>
      </p:sp>
      <p:sp>
        <p:nvSpPr>
          <p:cNvPr id="14" name="Text 12"/>
          <p:cNvSpPr txBox="1"/>
          <p:nvPr/>
        </p:nvSpPr>
        <p:spPr>
          <a:xfrm>
            <a:off x="1051560" y="2587752"/>
            <a:ext cx="1554480" cy="512064"/>
          </a:xfrm>
          <a:prstGeom prst="rect">
            <a:avLst/>
          </a:prstGeom>
          <a:noFill/>
          <a:ln/>
        </p:spPr>
        <p:txBody>
          <a:bodyPr wrap="square" lIns="0" tIns="0" rIns="0" bIns="0" rtlCol="0" anchor="ctr"/>
          <a:lstStyle/>
          <a:p>
            <a:pPr marL="0" indent="0" algn="l">
              <a:buNone/>
            </a:pPr>
            <a:r>
              <a:rPr lang="en-US" sz="1300" b="1" dirty="0">
                <a:solidFill>
                  <a:srgbClr val="0A2540"/>
                </a:solidFill>
                <a:latin typeface="Malgun Gothic" pitchFamily="34" charset="0"/>
                <a:ea typeface="Malgun Gothic" pitchFamily="34" charset="-122"/>
                <a:cs typeface="Malgun Gothic" pitchFamily="34" charset="-120"/>
              </a:rPr>
              <a:t>운행 계획</a:t>
            </a:r>
            <a:endParaRPr lang="en-US" sz="1300" dirty="0"/>
          </a:p>
        </p:txBody>
      </p:sp>
      <p:sp>
        <p:nvSpPr>
          <p:cNvPr id="15" name="Text 13"/>
          <p:cNvSpPr txBox="1"/>
          <p:nvPr/>
        </p:nvSpPr>
        <p:spPr>
          <a:xfrm>
            <a:off x="2606040" y="2587752"/>
            <a:ext cx="3200400" cy="512064"/>
          </a:xfrm>
          <a:prstGeom prst="rect">
            <a:avLst/>
          </a:prstGeom>
          <a:noFill/>
          <a:ln/>
        </p:spPr>
        <p:txBody>
          <a:bodyPr wrap="square" lIns="0" tIns="0" rIns="0" bIns="0" rtlCol="0" anchor="ctr"/>
          <a:lstStyle/>
          <a:p>
            <a:pPr marL="0" indent="0" algn="l">
              <a:buNone/>
            </a:pPr>
            <a:r>
              <a:rPr lang="en-US" sz="1150" dirty="0">
                <a:solidFill>
                  <a:srgbClr val="5B6B7F"/>
                </a:solidFill>
                <a:latin typeface="Malgun Gothic" pitchFamily="34" charset="0"/>
                <a:ea typeface="Malgun Gothic" pitchFamily="34" charset="-122"/>
                <a:cs typeface="Malgun Gothic" pitchFamily="34" charset="-120"/>
              </a:rPr>
              <a:t>매핑이 없으면 차량 운행 계획</a:t>
            </a:r>
            <a:endParaRPr lang="en-US" sz="1150" dirty="0"/>
          </a:p>
        </p:txBody>
      </p:sp>
      <p:sp>
        <p:nvSpPr>
          <p:cNvPr id="16" name="Shape 14"/>
          <p:cNvSpPr/>
          <p:nvPr/>
        </p:nvSpPr>
        <p:spPr>
          <a:xfrm>
            <a:off x="502920" y="3209544"/>
            <a:ext cx="5394960" cy="512064"/>
          </a:xfrm>
          <a:prstGeom prst="roundRect">
            <a:avLst>
              <a:gd name="adj" fmla="val 10714"/>
            </a:avLst>
          </a:prstGeom>
          <a:solidFill>
            <a:srgbClr val="F4F6F8"/>
          </a:solidFill>
          <a:ln w="12700">
            <a:solidFill>
              <a:srgbClr val="F4F6F8"/>
            </a:solidFill>
            <a:prstDash val="solid"/>
          </a:ln>
        </p:spPr>
      </p:sp>
      <p:sp>
        <p:nvSpPr>
          <p:cNvPr id="17" name="Text 15"/>
          <p:cNvSpPr txBox="1"/>
          <p:nvPr/>
        </p:nvSpPr>
        <p:spPr>
          <a:xfrm>
            <a:off x="685800" y="3209544"/>
            <a:ext cx="365760" cy="512064"/>
          </a:xfrm>
          <a:prstGeom prst="rect">
            <a:avLst/>
          </a:prstGeom>
          <a:noFill/>
          <a:ln/>
        </p:spPr>
        <p:txBody>
          <a:bodyPr wrap="square" lIns="0" tIns="0" rIns="0" bIns="0" rtlCol="0" anchor="ctr"/>
          <a:lstStyle/>
          <a:p>
            <a:pPr marL="0" indent="0" algn="l">
              <a:buNone/>
            </a:pPr>
            <a:r>
              <a:rPr lang="en-US" sz="1400" b="1" dirty="0">
                <a:solidFill>
                  <a:srgbClr val="FF6B00"/>
                </a:solidFill>
                <a:latin typeface="Malgun Gothic" pitchFamily="34" charset="0"/>
                <a:ea typeface="Malgun Gothic" pitchFamily="34" charset="-122"/>
                <a:cs typeface="Malgun Gothic" pitchFamily="34" charset="-120"/>
              </a:rPr>
              <a:t>3</a:t>
            </a:r>
            <a:endParaRPr lang="en-US" sz="1400" dirty="0"/>
          </a:p>
        </p:txBody>
      </p:sp>
      <p:sp>
        <p:nvSpPr>
          <p:cNvPr id="18" name="Text 16"/>
          <p:cNvSpPr txBox="1"/>
          <p:nvPr/>
        </p:nvSpPr>
        <p:spPr>
          <a:xfrm>
            <a:off x="1051560" y="3209544"/>
            <a:ext cx="1554480" cy="512064"/>
          </a:xfrm>
          <a:prstGeom prst="rect">
            <a:avLst/>
          </a:prstGeom>
          <a:noFill/>
          <a:ln/>
        </p:spPr>
        <p:txBody>
          <a:bodyPr wrap="square" lIns="0" tIns="0" rIns="0" bIns="0" rtlCol="0" anchor="ctr"/>
          <a:lstStyle/>
          <a:p>
            <a:pPr marL="0" indent="0" algn="l">
              <a:buNone/>
            </a:pPr>
            <a:r>
              <a:rPr lang="en-US" sz="1300" b="1" dirty="0">
                <a:solidFill>
                  <a:srgbClr val="0A2540"/>
                </a:solidFill>
                <a:latin typeface="Malgun Gothic" pitchFamily="34" charset="0"/>
                <a:ea typeface="Malgun Gothic" pitchFamily="34" charset="-122"/>
                <a:cs typeface="Malgun Gothic" pitchFamily="34" charset="-120"/>
              </a:rPr>
              <a:t>최근 적재기록</a:t>
            </a:r>
            <a:endParaRPr lang="en-US" sz="1300" dirty="0"/>
          </a:p>
        </p:txBody>
      </p:sp>
      <p:sp>
        <p:nvSpPr>
          <p:cNvPr id="19" name="Text 17"/>
          <p:cNvSpPr txBox="1"/>
          <p:nvPr/>
        </p:nvSpPr>
        <p:spPr>
          <a:xfrm>
            <a:off x="2606040" y="3209544"/>
            <a:ext cx="3200400" cy="512064"/>
          </a:xfrm>
          <a:prstGeom prst="rect">
            <a:avLst/>
          </a:prstGeom>
          <a:noFill/>
          <a:ln/>
        </p:spPr>
        <p:txBody>
          <a:bodyPr wrap="square" lIns="0" tIns="0" rIns="0" bIns="0" rtlCol="0" anchor="ctr"/>
          <a:lstStyle/>
          <a:p>
            <a:pPr marL="0" indent="0" algn="l">
              <a:buNone/>
            </a:pPr>
            <a:r>
              <a:rPr lang="en-US" sz="1150" dirty="0">
                <a:solidFill>
                  <a:srgbClr val="5B6B7F"/>
                </a:solidFill>
                <a:latin typeface="Malgun Gothic" pitchFamily="34" charset="0"/>
                <a:ea typeface="Malgun Gothic" pitchFamily="34" charset="-122"/>
                <a:cs typeface="Malgun Gothic" pitchFamily="34" charset="-120"/>
              </a:rPr>
              <a:t>그래도 없으면 가장 최근 적재기록</a:t>
            </a:r>
            <a:endParaRPr lang="en-US" sz="1150" dirty="0"/>
          </a:p>
        </p:txBody>
      </p:sp>
      <p:sp>
        <p:nvSpPr>
          <p:cNvPr id="20" name="Text 18"/>
          <p:cNvSpPr txBox="1"/>
          <p:nvPr/>
        </p:nvSpPr>
        <p:spPr>
          <a:xfrm>
            <a:off x="502920" y="3931920"/>
            <a:ext cx="5394960" cy="548640"/>
          </a:xfrm>
          <a:prstGeom prst="rect">
            <a:avLst/>
          </a:prstGeom>
          <a:noFill/>
          <a:ln/>
        </p:spPr>
        <p:txBody>
          <a:bodyPr wrap="square" lIns="0" tIns="0" rIns="0" bIns="0" rtlCol="0" anchor="t"/>
          <a:lstStyle/>
          <a:p>
            <a:pPr marL="0" indent="0" algn="l">
              <a:buNone/>
            </a:pPr>
            <a:r>
              <a:rPr lang="en-US" sz="1200" dirty="0">
                <a:solidFill>
                  <a:srgbClr val="0A2540"/>
                </a:solidFill>
                <a:latin typeface="Malgun Gothic" pitchFamily="34" charset="0"/>
                <a:ea typeface="Malgun Gothic" pitchFamily="34" charset="-122"/>
                <a:cs typeface="Malgun Gothic" pitchFamily="34" charset="-120"/>
              </a:rPr>
              <a:t>→ 컨테이너 규격 · 최대 총중량 · 자체중량(TARE)과 VGM을 가져와 차량 자체중량과 함께 표시</a:t>
            </a:r>
            <a:endParaRPr lang="en-US" sz="1200" dirty="0"/>
          </a:p>
        </p:txBody>
      </p:sp>
      <p:sp>
        <p:nvSpPr>
          <p:cNvPr id="21" name="Text 19"/>
          <p:cNvSpPr txBox="1"/>
          <p:nvPr/>
        </p:nvSpPr>
        <p:spPr>
          <a:xfrm>
            <a:off x="6309360" y="1554480"/>
            <a:ext cx="5486400" cy="320040"/>
          </a:xfrm>
          <a:prstGeom prst="rect">
            <a:avLst/>
          </a:prstGeom>
          <a:noFill/>
          <a:ln/>
        </p:spPr>
        <p:txBody>
          <a:bodyPr wrap="square" lIns="0" tIns="0" rIns="0" bIns="0" rtlCol="0" anchor="ctr"/>
          <a:lstStyle/>
          <a:p>
            <a:pPr marL="0" indent="0" algn="l">
              <a:buNone/>
            </a:pPr>
            <a:r>
              <a:rPr lang="en-US" sz="1500" b="1" dirty="0">
                <a:solidFill>
                  <a:srgbClr val="0A2540"/>
                </a:solidFill>
                <a:latin typeface="Malgun Gothic" pitchFamily="34" charset="0"/>
                <a:ea typeface="Malgun Gothic" pitchFamily="34" charset="-122"/>
                <a:cs typeface="Malgun Gothic" pitchFamily="34" charset="-120"/>
              </a:rPr>
              <a:t>② 판정 기준 (하나라도 넘으면 FAIL)</a:t>
            </a:r>
            <a:endParaRPr lang="en-US" sz="1500" dirty="0"/>
          </a:p>
        </p:txBody>
      </p:sp>
      <p:sp>
        <p:nvSpPr>
          <p:cNvPr id="22" name="Shape 20"/>
          <p:cNvSpPr/>
          <p:nvPr/>
        </p:nvSpPr>
        <p:spPr>
          <a:xfrm>
            <a:off x="6309360" y="1965960"/>
            <a:ext cx="5394960" cy="658368"/>
          </a:xfrm>
          <a:prstGeom prst="roundRect">
            <a:avLst>
              <a:gd name="adj" fmla="val 8333"/>
            </a:avLst>
          </a:prstGeom>
          <a:solidFill>
            <a:srgbClr val="FFFFFF"/>
          </a:solidFill>
          <a:ln w="12700">
            <a:solidFill>
              <a:srgbClr val="DCE3EA"/>
            </a:solidFill>
            <a:prstDash val="solid"/>
          </a:ln>
        </p:spPr>
      </p:sp>
      <p:sp>
        <p:nvSpPr>
          <p:cNvPr id="23" name="Shape 21"/>
          <p:cNvSpPr/>
          <p:nvPr/>
        </p:nvSpPr>
        <p:spPr>
          <a:xfrm>
            <a:off x="6309360" y="1965960"/>
            <a:ext cx="91440" cy="658368"/>
          </a:xfrm>
          <a:prstGeom prst="rect">
            <a:avLst/>
          </a:prstGeom>
          <a:solidFill>
            <a:srgbClr val="FF6B00"/>
          </a:solidFill>
          <a:ln w="12700">
            <a:solidFill>
              <a:srgbClr val="FF6B00"/>
            </a:solidFill>
            <a:prstDash val="solid"/>
          </a:ln>
        </p:spPr>
      </p:sp>
      <p:sp>
        <p:nvSpPr>
          <p:cNvPr id="24" name="Text 22"/>
          <p:cNvSpPr txBox="1"/>
          <p:nvPr/>
        </p:nvSpPr>
        <p:spPr>
          <a:xfrm>
            <a:off x="6537960" y="1965960"/>
            <a:ext cx="1188720" cy="658368"/>
          </a:xfrm>
          <a:prstGeom prst="rect">
            <a:avLst/>
          </a:prstGeom>
          <a:noFill/>
          <a:ln/>
        </p:spPr>
        <p:txBody>
          <a:bodyPr wrap="square" lIns="0" tIns="0" rIns="0" bIns="0" rtlCol="0" anchor="ctr"/>
          <a:lstStyle/>
          <a:p>
            <a:pPr marL="0" indent="0" algn="l">
              <a:buNone/>
            </a:pPr>
            <a:r>
              <a:rPr lang="en-US" sz="1400" b="1" dirty="0">
                <a:solidFill>
                  <a:srgbClr val="0A2540"/>
                </a:solidFill>
                <a:latin typeface="Malgun Gothic" pitchFamily="34" charset="0"/>
                <a:ea typeface="Malgun Gothic" pitchFamily="34" charset="-122"/>
                <a:cs typeface="Malgun Gothic" pitchFamily="34" charset="-120"/>
              </a:rPr>
              <a:t>축하중</a:t>
            </a:r>
            <a:endParaRPr lang="en-US" sz="1400" dirty="0"/>
          </a:p>
        </p:txBody>
      </p:sp>
      <p:sp>
        <p:nvSpPr>
          <p:cNvPr id="25" name="Text 23"/>
          <p:cNvSpPr txBox="1"/>
          <p:nvPr/>
        </p:nvSpPr>
        <p:spPr>
          <a:xfrm>
            <a:off x="7680960" y="1965960"/>
            <a:ext cx="2011680" cy="658368"/>
          </a:xfrm>
          <a:prstGeom prst="rect">
            <a:avLst/>
          </a:prstGeom>
          <a:noFill/>
          <a:ln/>
        </p:spPr>
        <p:txBody>
          <a:bodyPr wrap="square" lIns="0" tIns="0" rIns="0" bIns="0" rtlCol="0" anchor="ctr"/>
          <a:lstStyle/>
          <a:p>
            <a:pPr marL="0" indent="0" algn="l">
              <a:buNone/>
            </a:pPr>
            <a:r>
              <a:rPr lang="en-US" sz="1400" b="1" dirty="0">
                <a:solidFill>
                  <a:srgbClr val="FF6B00"/>
                </a:solidFill>
                <a:latin typeface="Malgun Gothic" pitchFamily="34" charset="0"/>
                <a:ea typeface="Malgun Gothic" pitchFamily="34" charset="-122"/>
                <a:cs typeface="Malgun Gothic" pitchFamily="34" charset="-120"/>
              </a:rPr>
              <a:t>10,000 kg</a:t>
            </a:r>
            <a:endParaRPr lang="en-US" sz="1400" dirty="0"/>
          </a:p>
        </p:txBody>
      </p:sp>
      <p:sp>
        <p:nvSpPr>
          <p:cNvPr id="26" name="Text 24"/>
          <p:cNvSpPr txBox="1"/>
          <p:nvPr/>
        </p:nvSpPr>
        <p:spPr>
          <a:xfrm>
            <a:off x="9601200" y="1965960"/>
            <a:ext cx="2057400" cy="658368"/>
          </a:xfrm>
          <a:prstGeom prst="rect">
            <a:avLst/>
          </a:prstGeom>
          <a:noFill/>
          <a:ln/>
        </p:spPr>
        <p:txBody>
          <a:bodyPr wrap="square" lIns="0" tIns="0" rIns="0" bIns="0" rtlCol="0" anchor="ctr"/>
          <a:lstStyle/>
          <a:p>
            <a:pPr marL="0" indent="0" algn="l">
              <a:buNone/>
            </a:pPr>
            <a:r>
              <a:rPr lang="en-US" sz="1050" dirty="0">
                <a:solidFill>
                  <a:srgbClr val="5B6B7F"/>
                </a:solidFill>
                <a:latin typeface="Malgun Gothic" pitchFamily="34" charset="0"/>
                <a:ea typeface="Malgun Gothic" pitchFamily="34" charset="-122"/>
                <a:cs typeface="Malgun Gothic" pitchFamily="34" charset="-120"/>
              </a:rPr>
              <a:t>축별 하중이 하나라도 초과</a:t>
            </a:r>
            <a:endParaRPr lang="en-US" sz="1050" dirty="0"/>
          </a:p>
        </p:txBody>
      </p:sp>
      <p:sp>
        <p:nvSpPr>
          <p:cNvPr id="27" name="Shape 25"/>
          <p:cNvSpPr/>
          <p:nvPr/>
        </p:nvSpPr>
        <p:spPr>
          <a:xfrm>
            <a:off x="6309360" y="2743200"/>
            <a:ext cx="5394960" cy="658368"/>
          </a:xfrm>
          <a:prstGeom prst="roundRect">
            <a:avLst>
              <a:gd name="adj" fmla="val 8333"/>
            </a:avLst>
          </a:prstGeom>
          <a:solidFill>
            <a:srgbClr val="FFFFFF"/>
          </a:solidFill>
          <a:ln w="12700">
            <a:solidFill>
              <a:srgbClr val="DCE3EA"/>
            </a:solidFill>
            <a:prstDash val="solid"/>
          </a:ln>
        </p:spPr>
      </p:sp>
      <p:sp>
        <p:nvSpPr>
          <p:cNvPr id="28" name="Shape 26"/>
          <p:cNvSpPr/>
          <p:nvPr/>
        </p:nvSpPr>
        <p:spPr>
          <a:xfrm>
            <a:off x="6309360" y="2743200"/>
            <a:ext cx="91440" cy="658368"/>
          </a:xfrm>
          <a:prstGeom prst="rect">
            <a:avLst/>
          </a:prstGeom>
          <a:solidFill>
            <a:srgbClr val="FF6B00"/>
          </a:solidFill>
          <a:ln w="12700">
            <a:solidFill>
              <a:srgbClr val="FF6B00"/>
            </a:solidFill>
            <a:prstDash val="solid"/>
          </a:ln>
        </p:spPr>
      </p:sp>
      <p:sp>
        <p:nvSpPr>
          <p:cNvPr id="29" name="Text 27"/>
          <p:cNvSpPr txBox="1"/>
          <p:nvPr/>
        </p:nvSpPr>
        <p:spPr>
          <a:xfrm>
            <a:off x="6537960" y="2743200"/>
            <a:ext cx="1188720" cy="658368"/>
          </a:xfrm>
          <a:prstGeom prst="rect">
            <a:avLst/>
          </a:prstGeom>
          <a:noFill/>
          <a:ln/>
        </p:spPr>
        <p:txBody>
          <a:bodyPr wrap="square" lIns="0" tIns="0" rIns="0" bIns="0" rtlCol="0" anchor="ctr"/>
          <a:lstStyle/>
          <a:p>
            <a:pPr marL="0" indent="0" algn="l">
              <a:buNone/>
            </a:pPr>
            <a:r>
              <a:rPr lang="en-US" sz="1400" b="1" dirty="0">
                <a:solidFill>
                  <a:srgbClr val="0A2540"/>
                </a:solidFill>
                <a:latin typeface="Malgun Gothic" pitchFamily="34" charset="0"/>
                <a:ea typeface="Malgun Gothic" pitchFamily="34" charset="-122"/>
                <a:cs typeface="Malgun Gothic" pitchFamily="34" charset="-120"/>
              </a:rPr>
              <a:t>총중량</a:t>
            </a:r>
            <a:endParaRPr lang="en-US" sz="1400" dirty="0"/>
          </a:p>
        </p:txBody>
      </p:sp>
      <p:sp>
        <p:nvSpPr>
          <p:cNvPr id="30" name="Text 28"/>
          <p:cNvSpPr txBox="1"/>
          <p:nvPr/>
        </p:nvSpPr>
        <p:spPr>
          <a:xfrm>
            <a:off x="7680960" y="2743200"/>
            <a:ext cx="2011680" cy="658368"/>
          </a:xfrm>
          <a:prstGeom prst="rect">
            <a:avLst/>
          </a:prstGeom>
          <a:noFill/>
          <a:ln/>
        </p:spPr>
        <p:txBody>
          <a:bodyPr wrap="square" lIns="0" tIns="0" rIns="0" bIns="0" rtlCol="0" anchor="ctr"/>
          <a:lstStyle/>
          <a:p>
            <a:pPr marL="0" indent="0" algn="l">
              <a:buNone/>
            </a:pPr>
            <a:r>
              <a:rPr lang="en-US" sz="1400" b="1" dirty="0">
                <a:solidFill>
                  <a:srgbClr val="FF6B00"/>
                </a:solidFill>
                <a:latin typeface="Malgun Gothic" pitchFamily="34" charset="0"/>
                <a:ea typeface="Malgun Gothic" pitchFamily="34" charset="-122"/>
                <a:cs typeface="Malgun Gothic" pitchFamily="34" charset="-120"/>
              </a:rPr>
              <a:t>40,000 kg</a:t>
            </a:r>
            <a:endParaRPr lang="en-US" sz="1400" dirty="0"/>
          </a:p>
        </p:txBody>
      </p:sp>
      <p:sp>
        <p:nvSpPr>
          <p:cNvPr id="31" name="Text 29"/>
          <p:cNvSpPr txBox="1"/>
          <p:nvPr/>
        </p:nvSpPr>
        <p:spPr>
          <a:xfrm>
            <a:off x="9601200" y="2743200"/>
            <a:ext cx="2057400" cy="658368"/>
          </a:xfrm>
          <a:prstGeom prst="rect">
            <a:avLst/>
          </a:prstGeom>
          <a:noFill/>
          <a:ln/>
        </p:spPr>
        <p:txBody>
          <a:bodyPr wrap="square" lIns="0" tIns="0" rIns="0" bIns="0" rtlCol="0" anchor="ctr"/>
          <a:lstStyle/>
          <a:p>
            <a:pPr marL="0" indent="0" algn="l">
              <a:buNone/>
            </a:pPr>
            <a:r>
              <a:rPr lang="en-US" sz="1050" dirty="0">
                <a:solidFill>
                  <a:srgbClr val="5B6B7F"/>
                </a:solidFill>
                <a:latin typeface="Malgun Gothic" pitchFamily="34" charset="0"/>
                <a:ea typeface="Malgun Gothic" pitchFamily="34" charset="-122"/>
                <a:cs typeface="Malgun Gothic" pitchFamily="34" charset="-120"/>
              </a:rPr>
              <a:t>전체 축 합계 초과</a:t>
            </a:r>
            <a:endParaRPr lang="en-US" sz="1050" dirty="0"/>
          </a:p>
        </p:txBody>
      </p:sp>
      <p:sp>
        <p:nvSpPr>
          <p:cNvPr id="32" name="Shape 30"/>
          <p:cNvSpPr/>
          <p:nvPr/>
        </p:nvSpPr>
        <p:spPr>
          <a:xfrm>
            <a:off x="6309360" y="3520440"/>
            <a:ext cx="5394960" cy="658368"/>
          </a:xfrm>
          <a:prstGeom prst="roundRect">
            <a:avLst>
              <a:gd name="adj" fmla="val 8333"/>
            </a:avLst>
          </a:prstGeom>
          <a:solidFill>
            <a:srgbClr val="FFFFFF"/>
          </a:solidFill>
          <a:ln w="12700">
            <a:solidFill>
              <a:srgbClr val="DCE3EA"/>
            </a:solidFill>
            <a:prstDash val="solid"/>
          </a:ln>
        </p:spPr>
      </p:sp>
      <p:sp>
        <p:nvSpPr>
          <p:cNvPr id="33" name="Shape 31"/>
          <p:cNvSpPr/>
          <p:nvPr/>
        </p:nvSpPr>
        <p:spPr>
          <a:xfrm>
            <a:off x="6309360" y="3520440"/>
            <a:ext cx="91440" cy="658368"/>
          </a:xfrm>
          <a:prstGeom prst="rect">
            <a:avLst/>
          </a:prstGeom>
          <a:solidFill>
            <a:srgbClr val="FF6B00"/>
          </a:solidFill>
          <a:ln w="12700">
            <a:solidFill>
              <a:srgbClr val="FF6B00"/>
            </a:solidFill>
            <a:prstDash val="solid"/>
          </a:ln>
        </p:spPr>
      </p:sp>
      <p:sp>
        <p:nvSpPr>
          <p:cNvPr id="34" name="Text 32"/>
          <p:cNvSpPr txBox="1"/>
          <p:nvPr/>
        </p:nvSpPr>
        <p:spPr>
          <a:xfrm>
            <a:off x="6537960" y="3520440"/>
            <a:ext cx="1188720" cy="658368"/>
          </a:xfrm>
          <a:prstGeom prst="rect">
            <a:avLst/>
          </a:prstGeom>
          <a:noFill/>
          <a:ln/>
        </p:spPr>
        <p:txBody>
          <a:bodyPr wrap="square" lIns="0" tIns="0" rIns="0" bIns="0" rtlCol="0" anchor="ctr"/>
          <a:lstStyle/>
          <a:p>
            <a:pPr marL="0" indent="0" algn="l">
              <a:buNone/>
            </a:pPr>
            <a:r>
              <a:rPr lang="en-US" sz="1400" b="1" dirty="0">
                <a:solidFill>
                  <a:srgbClr val="0A2540"/>
                </a:solidFill>
                <a:latin typeface="Malgun Gothic" pitchFamily="34" charset="0"/>
                <a:ea typeface="Malgun Gothic" pitchFamily="34" charset="-122"/>
                <a:cs typeface="Malgun Gothic" pitchFamily="34" charset="-120"/>
              </a:rPr>
              <a:t>적재중량</a:t>
            </a:r>
            <a:endParaRPr lang="en-US" sz="1400" dirty="0"/>
          </a:p>
        </p:txBody>
      </p:sp>
      <p:sp>
        <p:nvSpPr>
          <p:cNvPr id="35" name="Text 33"/>
          <p:cNvSpPr txBox="1"/>
          <p:nvPr/>
        </p:nvSpPr>
        <p:spPr>
          <a:xfrm>
            <a:off x="7680960" y="3520440"/>
            <a:ext cx="2011680" cy="658368"/>
          </a:xfrm>
          <a:prstGeom prst="rect">
            <a:avLst/>
          </a:prstGeom>
          <a:noFill/>
          <a:ln/>
        </p:spPr>
        <p:txBody>
          <a:bodyPr wrap="square" lIns="0" tIns="0" rIns="0" bIns="0" rtlCol="0" anchor="ctr"/>
          <a:lstStyle/>
          <a:p>
            <a:pPr marL="0" indent="0" algn="l">
              <a:buNone/>
            </a:pPr>
            <a:r>
              <a:rPr lang="en-US" sz="1400" b="1" dirty="0">
                <a:solidFill>
                  <a:srgbClr val="FF6B00"/>
                </a:solidFill>
                <a:latin typeface="Malgun Gothic" pitchFamily="34" charset="0"/>
                <a:ea typeface="Malgun Gothic" pitchFamily="34" charset="-122"/>
                <a:cs typeface="Malgun Gothic" pitchFamily="34" charset="-120"/>
              </a:rPr>
              <a:t>최대적재량 × 110%</a:t>
            </a:r>
            <a:endParaRPr lang="en-US" sz="1400" dirty="0"/>
          </a:p>
        </p:txBody>
      </p:sp>
      <p:sp>
        <p:nvSpPr>
          <p:cNvPr id="36" name="Text 34"/>
          <p:cNvSpPr txBox="1"/>
          <p:nvPr/>
        </p:nvSpPr>
        <p:spPr>
          <a:xfrm>
            <a:off x="9601200" y="3520440"/>
            <a:ext cx="2057400" cy="658368"/>
          </a:xfrm>
          <a:prstGeom prst="rect">
            <a:avLst/>
          </a:prstGeom>
          <a:noFill/>
          <a:ln/>
        </p:spPr>
        <p:txBody>
          <a:bodyPr wrap="square" lIns="0" tIns="0" rIns="0" bIns="0" rtlCol="0" anchor="ctr"/>
          <a:lstStyle/>
          <a:p>
            <a:pPr marL="0" indent="0" algn="l">
              <a:buNone/>
            </a:pPr>
            <a:r>
              <a:rPr lang="en-US" sz="1050" dirty="0">
                <a:solidFill>
                  <a:srgbClr val="5B6B7F"/>
                </a:solidFill>
                <a:latin typeface="Malgun Gothic" pitchFamily="34" charset="0"/>
                <a:ea typeface="Malgun Gothic" pitchFamily="34" charset="-122"/>
                <a:cs typeface="Malgun Gothic" pitchFamily="34" charset="-120"/>
              </a:rPr>
              <a:t>컨테이너 VGM이 차량 최대적재량의 110% 초과</a:t>
            </a:r>
            <a:endParaRPr lang="en-US" sz="1050" dirty="0"/>
          </a:p>
        </p:txBody>
      </p:sp>
      <p:sp>
        <p:nvSpPr>
          <p:cNvPr id="37" name="Text 35"/>
          <p:cNvSpPr txBox="1"/>
          <p:nvPr/>
        </p:nvSpPr>
        <p:spPr>
          <a:xfrm>
            <a:off x="502920" y="4617720"/>
            <a:ext cx="5486400" cy="320040"/>
          </a:xfrm>
          <a:prstGeom prst="rect">
            <a:avLst/>
          </a:prstGeom>
          <a:noFill/>
          <a:ln/>
        </p:spPr>
        <p:txBody>
          <a:bodyPr wrap="square" lIns="0" tIns="0" rIns="0" bIns="0" rtlCol="0" anchor="ctr"/>
          <a:lstStyle/>
          <a:p>
            <a:pPr marL="0" indent="0" algn="l">
              <a:buNone/>
            </a:pPr>
            <a:r>
              <a:rPr lang="en-US" sz="1500" b="1" dirty="0">
                <a:solidFill>
                  <a:srgbClr val="0A2540"/>
                </a:solidFill>
                <a:latin typeface="Malgun Gothic" pitchFamily="34" charset="0"/>
                <a:ea typeface="Malgun Gothic" pitchFamily="34" charset="-122"/>
                <a:cs typeface="Malgun Gothic" pitchFamily="34" charset="-120"/>
              </a:rPr>
              <a:t>③ FAIL 이후 처리</a:t>
            </a:r>
            <a:endParaRPr lang="en-US" sz="1500" dirty="0"/>
          </a:p>
        </p:txBody>
      </p:sp>
      <p:sp>
        <p:nvSpPr>
          <p:cNvPr id="38" name="Shape 36"/>
          <p:cNvSpPr/>
          <p:nvPr/>
        </p:nvSpPr>
        <p:spPr>
          <a:xfrm>
            <a:off x="502920" y="5029200"/>
            <a:ext cx="3611880" cy="868680"/>
          </a:xfrm>
          <a:prstGeom prst="roundRect">
            <a:avLst>
              <a:gd name="adj" fmla="val 6316"/>
            </a:avLst>
          </a:prstGeom>
          <a:solidFill>
            <a:srgbClr val="F4F6F8"/>
          </a:solidFill>
          <a:ln w="12700">
            <a:solidFill>
              <a:srgbClr val="F4F6F8"/>
            </a:solidFill>
            <a:prstDash val="solid"/>
          </a:ln>
        </p:spPr>
      </p:sp>
      <p:sp>
        <p:nvSpPr>
          <p:cNvPr id="39" name="Text 37"/>
          <p:cNvSpPr txBox="1"/>
          <p:nvPr/>
        </p:nvSpPr>
        <p:spPr>
          <a:xfrm>
            <a:off x="685800" y="5074920"/>
            <a:ext cx="3291840" cy="347472"/>
          </a:xfrm>
          <a:prstGeom prst="rect">
            <a:avLst/>
          </a:prstGeom>
          <a:noFill/>
          <a:ln/>
        </p:spPr>
        <p:txBody>
          <a:bodyPr wrap="square" lIns="0" tIns="0" rIns="0" bIns="0" rtlCol="0" anchor="ctr"/>
          <a:lstStyle/>
          <a:p>
            <a:pPr marL="0" indent="0" algn="l">
              <a:buNone/>
            </a:pPr>
            <a:r>
              <a:rPr lang="en-US" sz="1350" b="1" dirty="0">
                <a:solidFill>
                  <a:srgbClr val="0A2540"/>
                </a:solidFill>
                <a:latin typeface="Malgun Gothic" pitchFamily="34" charset="0"/>
                <a:ea typeface="Malgun Gothic" pitchFamily="34" charset="-122"/>
                <a:cs typeface="Malgun Gothic" pitchFamily="34" charset="-120"/>
              </a:rPr>
              <a:t>위반 사유 기록 · 업체 알림</a:t>
            </a:r>
            <a:endParaRPr lang="en-US" sz="1350" dirty="0"/>
          </a:p>
        </p:txBody>
      </p:sp>
      <p:sp>
        <p:nvSpPr>
          <p:cNvPr id="40" name="Text 38"/>
          <p:cNvSpPr txBox="1"/>
          <p:nvPr/>
        </p:nvSpPr>
        <p:spPr>
          <a:xfrm>
            <a:off x="685800" y="5422392"/>
            <a:ext cx="3291840" cy="411480"/>
          </a:xfrm>
          <a:prstGeom prst="rect">
            <a:avLst/>
          </a:prstGeom>
          <a:noFill/>
          <a:ln/>
        </p:spPr>
        <p:txBody>
          <a:bodyPr wrap="square" lIns="0" tIns="0" rIns="0" bIns="0" rtlCol="0" anchor="ctr"/>
          <a:lstStyle/>
          <a:p>
            <a:pPr marL="0" indent="0" algn="l">
              <a:buNone/>
            </a:pPr>
            <a:r>
              <a:rPr lang="en-US" sz="1150" dirty="0">
                <a:solidFill>
                  <a:srgbClr val="5B6B7F"/>
                </a:solidFill>
                <a:latin typeface="Malgun Gothic" pitchFamily="34" charset="0"/>
                <a:ea typeface="Malgun Gothic" pitchFamily="34" charset="-122"/>
                <a:cs typeface="Malgun Gothic" pitchFamily="34" charset="-120"/>
              </a:rPr>
              <a:t>어느 축이 얼마나 넘었는지 사유로 저장</a:t>
            </a:r>
            <a:endParaRPr lang="en-US" sz="1150" dirty="0"/>
          </a:p>
        </p:txBody>
      </p:sp>
      <p:sp>
        <p:nvSpPr>
          <p:cNvPr id="41" name="Shape 39"/>
          <p:cNvSpPr/>
          <p:nvPr/>
        </p:nvSpPr>
        <p:spPr>
          <a:xfrm>
            <a:off x="4270248" y="5029200"/>
            <a:ext cx="3611880" cy="868680"/>
          </a:xfrm>
          <a:prstGeom prst="roundRect">
            <a:avLst>
              <a:gd name="adj" fmla="val 6316"/>
            </a:avLst>
          </a:prstGeom>
          <a:solidFill>
            <a:srgbClr val="F4F6F8"/>
          </a:solidFill>
          <a:ln w="12700">
            <a:solidFill>
              <a:srgbClr val="F4F6F8"/>
            </a:solidFill>
            <a:prstDash val="solid"/>
          </a:ln>
        </p:spPr>
      </p:sp>
      <p:sp>
        <p:nvSpPr>
          <p:cNvPr id="42" name="Text 40"/>
          <p:cNvSpPr txBox="1"/>
          <p:nvPr/>
        </p:nvSpPr>
        <p:spPr>
          <a:xfrm>
            <a:off x="4453128" y="5074920"/>
            <a:ext cx="3291840" cy="347472"/>
          </a:xfrm>
          <a:prstGeom prst="rect">
            <a:avLst/>
          </a:prstGeom>
          <a:noFill/>
          <a:ln/>
        </p:spPr>
        <p:txBody>
          <a:bodyPr wrap="square" lIns="0" tIns="0" rIns="0" bIns="0" rtlCol="0" anchor="ctr"/>
          <a:lstStyle/>
          <a:p>
            <a:pPr marL="0" indent="0" algn="l">
              <a:buNone/>
            </a:pPr>
            <a:r>
              <a:rPr lang="en-US" sz="1350" b="1" dirty="0">
                <a:solidFill>
                  <a:srgbClr val="0A2540"/>
                </a:solidFill>
                <a:latin typeface="Malgun Gothic" pitchFamily="34" charset="0"/>
                <a:ea typeface="Malgun Gothic" pitchFamily="34" charset="-122"/>
                <a:cs typeface="Malgun Gothic" pitchFamily="34" charset="-120"/>
              </a:rPr>
              <a:t>감량 후 재계량</a:t>
            </a:r>
            <a:endParaRPr lang="en-US" sz="1350" dirty="0"/>
          </a:p>
        </p:txBody>
      </p:sp>
      <p:sp>
        <p:nvSpPr>
          <p:cNvPr id="43" name="Text 41"/>
          <p:cNvSpPr txBox="1"/>
          <p:nvPr/>
        </p:nvSpPr>
        <p:spPr>
          <a:xfrm>
            <a:off x="4453128" y="5422392"/>
            <a:ext cx="3291840" cy="411480"/>
          </a:xfrm>
          <a:prstGeom prst="rect">
            <a:avLst/>
          </a:prstGeom>
          <a:noFill/>
          <a:ln/>
        </p:spPr>
        <p:txBody>
          <a:bodyPr wrap="square" lIns="0" tIns="0" rIns="0" bIns="0" rtlCol="0" anchor="ctr"/>
          <a:lstStyle/>
          <a:p>
            <a:pPr marL="0" indent="0" algn="l">
              <a:buNone/>
            </a:pPr>
            <a:r>
              <a:rPr lang="en-US" sz="1150" dirty="0">
                <a:solidFill>
                  <a:srgbClr val="5B6B7F"/>
                </a:solidFill>
                <a:latin typeface="Malgun Gothic" pitchFamily="34" charset="0"/>
                <a:ea typeface="Malgun Gothic" pitchFamily="34" charset="-122"/>
                <a:cs typeface="Malgun Gothic" pitchFamily="34" charset="-120"/>
              </a:rPr>
              <a:t>재계량할 때마다 retry_count 증가</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Malgun Gothic" pitchFamily="34" charset="0"/>
                <a:ea typeface="Malgun Gothic" pitchFamily="34" charset="-122"/>
                <a:cs typeface="Malgun Gothic" pitchFamily="34" charset="-120"/>
              </a:rPr>
              <a:t>03  핵심 기능</a:t>
            </a:r>
            <a:endParaRPr lang="en-US" sz="1100" dirty="0"/>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Malgun Gothic" pitchFamily="34" charset="0"/>
                <a:ea typeface="Malgun Gothic" pitchFamily="34" charset="-122"/>
                <a:cs typeface="Malgun Gothic" pitchFamily="34" charset="-120"/>
              </a:rPr>
              <a:t>검사소(계중대) 계량 화면</a:t>
            </a:r>
            <a:endParaRPr lang="en-US" sz="2600" dirty="0"/>
          </a:p>
        </p:txBody>
      </p:sp>
      <p:sp>
        <p:nvSpPr>
          <p:cNvPr id="4" name="Text 2"/>
          <p:cNvSpPr txBox="1"/>
          <p:nvPr/>
        </p:nvSpPr>
        <p:spPr>
          <a:xfrm>
            <a:off x="548640" y="1143000"/>
            <a:ext cx="10972800" cy="320040"/>
          </a:xfrm>
          <a:prstGeom prst="rect">
            <a:avLst/>
          </a:prstGeom>
          <a:noFill/>
          <a:ln/>
        </p:spPr>
        <p:txBody>
          <a:bodyPr wrap="square" lIns="0" tIns="0" rIns="0" bIns="0" rtlCol="0" anchor="ctr"/>
          <a:lstStyle/>
          <a:p>
            <a:pPr marL="0" indent="0" algn="l">
              <a:buNone/>
            </a:pPr>
            <a:r>
              <a:rPr lang="en-US" sz="1300" dirty="0">
                <a:solidFill>
                  <a:srgbClr val="5B6B7F"/>
                </a:solidFill>
                <a:latin typeface="Malgun Gothic" pitchFamily="34" charset="0"/>
                <a:ea typeface="Malgun Gothic" pitchFamily="34" charset="-122"/>
                <a:cs typeface="Malgun Gothic" pitchFamily="34" charset="-120"/>
              </a:rPr>
              <a:t>관리자 › 계중대 계량</a:t>
            </a:r>
            <a:endParaRPr lang="en-US" sz="1300" dirty="0"/>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Malgun Gothic" pitchFamily="34" charset="0"/>
                <a:ea typeface="Malgun Gothic" pitchFamily="34" charset="-122"/>
                <a:cs typeface="Malgun Gothic" pitchFamily="34" charset="-120"/>
              </a:rPr>
              <a:t>S Cargo  ·  못먹어도 S카고</a:t>
            </a:r>
            <a:endParaRPr lang="en-US" sz="900" dirty="0"/>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Malgun Gothic" pitchFamily="34" charset="0"/>
                <a:ea typeface="Malgun Gothic" pitchFamily="34" charset="-122"/>
                <a:cs typeface="Malgun Gothic" pitchFamily="34" charset="-120"/>
              </a:rPr>
              <a:t>18</a:t>
            </a:r>
            <a:endParaRPr lang="en-US" sz="900" dirty="0"/>
          </a:p>
        </p:txBody>
      </p:sp>
      <p:sp>
        <p:nvSpPr>
          <p:cNvPr id="7" name="Shape 5"/>
          <p:cNvSpPr/>
          <p:nvPr/>
        </p:nvSpPr>
        <p:spPr>
          <a:xfrm>
            <a:off x="502920" y="1554480"/>
            <a:ext cx="5669280" cy="4414603"/>
          </a:xfrm>
          <a:prstGeom prst="roundRect">
            <a:avLst>
              <a:gd name="adj" fmla="val 1243"/>
            </a:avLst>
          </a:prstGeom>
          <a:solidFill>
            <a:srgbClr val="FFFFFF"/>
          </a:solidFill>
          <a:ln w="12700">
            <a:solidFill>
              <a:srgbClr val="DCE3EA"/>
            </a:solidFill>
            <a:prstDash val="solid"/>
          </a:ln>
          <a:effectLst>
            <a:outerShdw blurRad="76200" dist="25400" dir="5400000" algn="bl" rotWithShape="0">
              <a:srgbClr val="000000">
                <a:alpha val="15000"/>
              </a:srgbClr>
            </a:outerShdw>
          </a:effectLst>
        </p:spPr>
      </p:sp>
      <p:pic>
        <p:nvPicPr>
          <p:cNvPr id="8" name="Image 0" descr="/home/claude/v3/img/wb.jpg"/>
          <p:cNvPicPr>
            <a:picLocks noChangeAspect="1"/>
          </p:cNvPicPr>
          <p:nvPr/>
        </p:nvPicPr>
        <p:blipFill>
          <a:blip r:embed="rId3"/>
          <a:stretch>
            <a:fillRect/>
          </a:stretch>
        </p:blipFill>
        <p:spPr>
          <a:xfrm>
            <a:off x="502920" y="1554480"/>
            <a:ext cx="5669280" cy="4414603"/>
          </a:xfrm>
          <a:prstGeom prst="rect">
            <a:avLst/>
          </a:prstGeom>
        </p:spPr>
      </p:pic>
      <p:sp>
        <p:nvSpPr>
          <p:cNvPr id="9" name="Shape 6"/>
          <p:cNvSpPr/>
          <p:nvPr/>
        </p:nvSpPr>
        <p:spPr>
          <a:xfrm>
            <a:off x="6629400" y="1755648"/>
            <a:ext cx="329184" cy="329184"/>
          </a:xfrm>
          <a:prstGeom prst="ellipse">
            <a:avLst/>
          </a:prstGeom>
          <a:solidFill>
            <a:srgbClr val="FF6B00"/>
          </a:solidFill>
          <a:ln w="12700">
            <a:solidFill>
              <a:srgbClr val="FF6B00"/>
            </a:solidFill>
            <a:prstDash val="solid"/>
          </a:ln>
        </p:spPr>
      </p:sp>
      <p:sp>
        <p:nvSpPr>
          <p:cNvPr id="10" name="Text 7"/>
          <p:cNvSpPr txBox="1"/>
          <p:nvPr/>
        </p:nvSpPr>
        <p:spPr>
          <a:xfrm>
            <a:off x="6629400" y="175564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1</a:t>
            </a:r>
            <a:endParaRPr lang="en-US" sz="1200" dirty="0"/>
          </a:p>
        </p:txBody>
      </p:sp>
      <p:sp>
        <p:nvSpPr>
          <p:cNvPr id="11" name="Text 8"/>
          <p:cNvSpPr txBox="1"/>
          <p:nvPr/>
        </p:nvSpPr>
        <p:spPr>
          <a:xfrm>
            <a:off x="7086600" y="1719072"/>
            <a:ext cx="4480560" cy="347472"/>
          </a:xfrm>
          <a:prstGeom prst="rect">
            <a:avLst/>
          </a:prstGeom>
          <a:noFill/>
          <a:ln/>
        </p:spPr>
        <p:txBody>
          <a:bodyPr wrap="square" lIns="0" tIns="0" rIns="0" bIns="0" rtlCol="0" anchor="ctr"/>
          <a:lstStyle/>
          <a:p>
            <a:pPr marL="0" indent="0" algn="l">
              <a:buNone/>
            </a:pPr>
            <a:r>
              <a:rPr lang="en-US" sz="1500" b="1" dirty="0">
                <a:solidFill>
                  <a:srgbClr val="0A2540"/>
                </a:solidFill>
                <a:latin typeface="Malgun Gothic" pitchFamily="34" charset="0"/>
                <a:ea typeface="Malgun Gothic" pitchFamily="34" charset="-122"/>
                <a:cs typeface="Malgun Gothic" pitchFamily="34" charset="-120"/>
              </a:rPr>
              <a:t>계량 대기열 · 자동 계량</a:t>
            </a:r>
            <a:endParaRPr lang="en-US" sz="1500" dirty="0"/>
          </a:p>
        </p:txBody>
      </p:sp>
      <p:sp>
        <p:nvSpPr>
          <p:cNvPr id="12" name="Text 9"/>
          <p:cNvSpPr txBox="1"/>
          <p:nvPr/>
        </p:nvSpPr>
        <p:spPr>
          <a:xfrm>
            <a:off x="7086600" y="2066544"/>
            <a:ext cx="4480560" cy="731520"/>
          </a:xfrm>
          <a:prstGeom prst="rect">
            <a:avLst/>
          </a:prstGeom>
          <a:noFill/>
          <a:ln/>
        </p:spPr>
        <p:txBody>
          <a:bodyPr wrap="square" lIns="0" tIns="0" rIns="0" bIns="0" rtlCol="0" anchor="t"/>
          <a:lstStyle/>
          <a:p>
            <a:pPr marL="0" indent="0" algn="l">
              <a:lnSpc>
                <a:spcPct val="110000"/>
              </a:lnSpc>
              <a:buNone/>
            </a:pPr>
            <a:r>
              <a:rPr lang="en-US" sz="1200" dirty="0">
                <a:solidFill>
                  <a:srgbClr val="5B6B7F"/>
                </a:solidFill>
                <a:latin typeface="Malgun Gothic" pitchFamily="34" charset="0"/>
                <a:ea typeface="Malgun Gothic" pitchFamily="34" charset="-122"/>
                <a:cs typeface="Malgun Gothic" pitchFamily="34" charset="-120"/>
              </a:rPr>
              <a:t>게이트를 통과한 차량이 자동으로 대기열에 오르고</a:t>
            </a:r>
            <a:endParaRPr lang="en-US" sz="1200" dirty="0"/>
          </a:p>
          <a:p>
            <a:pPr marL="0" indent="0" algn="l">
              <a:lnSpc>
                <a:spcPct val="110000"/>
              </a:lnSpc>
              <a:buNone/>
            </a:pPr>
            <a:r>
              <a:rPr lang="en-US" sz="1200" dirty="0">
                <a:solidFill>
                  <a:srgbClr val="5B6B7F"/>
                </a:solidFill>
                <a:latin typeface="Malgun Gothic" pitchFamily="34" charset="0"/>
                <a:ea typeface="Malgun Gothic" pitchFamily="34" charset="-122"/>
                <a:cs typeface="Malgun Gothic" pitchFamily="34" charset="-120"/>
              </a:rPr>
              <a:t>자동 계량을 켜면 순서대로 축중을 계측</a:t>
            </a:r>
            <a:endParaRPr lang="en-US" sz="1200" dirty="0"/>
          </a:p>
        </p:txBody>
      </p:sp>
      <p:sp>
        <p:nvSpPr>
          <p:cNvPr id="13" name="Shape 10"/>
          <p:cNvSpPr/>
          <p:nvPr/>
        </p:nvSpPr>
        <p:spPr>
          <a:xfrm>
            <a:off x="6629400" y="2990088"/>
            <a:ext cx="329184" cy="329184"/>
          </a:xfrm>
          <a:prstGeom prst="ellipse">
            <a:avLst/>
          </a:prstGeom>
          <a:solidFill>
            <a:srgbClr val="FF6B00"/>
          </a:solidFill>
          <a:ln w="12700">
            <a:solidFill>
              <a:srgbClr val="FF6B00"/>
            </a:solidFill>
            <a:prstDash val="solid"/>
          </a:ln>
        </p:spPr>
      </p:sp>
      <p:sp>
        <p:nvSpPr>
          <p:cNvPr id="14" name="Text 11"/>
          <p:cNvSpPr txBox="1"/>
          <p:nvPr/>
        </p:nvSpPr>
        <p:spPr>
          <a:xfrm>
            <a:off x="6629400" y="299008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2</a:t>
            </a:r>
            <a:endParaRPr lang="en-US" sz="1200" dirty="0"/>
          </a:p>
        </p:txBody>
      </p:sp>
      <p:sp>
        <p:nvSpPr>
          <p:cNvPr id="15" name="Text 12"/>
          <p:cNvSpPr txBox="1"/>
          <p:nvPr/>
        </p:nvSpPr>
        <p:spPr>
          <a:xfrm>
            <a:off x="7086600" y="2953512"/>
            <a:ext cx="4480560" cy="347472"/>
          </a:xfrm>
          <a:prstGeom prst="rect">
            <a:avLst/>
          </a:prstGeom>
          <a:noFill/>
          <a:ln/>
        </p:spPr>
        <p:txBody>
          <a:bodyPr wrap="square" lIns="0" tIns="0" rIns="0" bIns="0" rtlCol="0" anchor="ctr"/>
          <a:lstStyle/>
          <a:p>
            <a:pPr marL="0" indent="0" algn="l">
              <a:buNone/>
            </a:pPr>
            <a:r>
              <a:rPr lang="en-US" sz="1500" b="1" dirty="0">
                <a:solidFill>
                  <a:srgbClr val="0A2540"/>
                </a:solidFill>
                <a:latin typeface="Malgun Gothic" pitchFamily="34" charset="0"/>
                <a:ea typeface="Malgun Gothic" pitchFamily="34" charset="-122"/>
                <a:cs typeface="Malgun Gothic" pitchFamily="34" charset="-120"/>
              </a:rPr>
              <a:t>축별 하중 → 판정</a:t>
            </a:r>
            <a:endParaRPr lang="en-US" sz="1500" dirty="0"/>
          </a:p>
        </p:txBody>
      </p:sp>
      <p:sp>
        <p:nvSpPr>
          <p:cNvPr id="16" name="Text 13"/>
          <p:cNvSpPr txBox="1"/>
          <p:nvPr/>
        </p:nvSpPr>
        <p:spPr>
          <a:xfrm>
            <a:off x="7086600" y="3300984"/>
            <a:ext cx="4480560" cy="731520"/>
          </a:xfrm>
          <a:prstGeom prst="rect">
            <a:avLst/>
          </a:prstGeom>
          <a:noFill/>
          <a:ln/>
        </p:spPr>
        <p:txBody>
          <a:bodyPr wrap="square" lIns="0" tIns="0" rIns="0" bIns="0" rtlCol="0" anchor="t"/>
          <a:lstStyle/>
          <a:p>
            <a:pPr marL="0" indent="0" algn="l">
              <a:lnSpc>
                <a:spcPct val="110000"/>
              </a:lnSpc>
              <a:buNone/>
            </a:pPr>
            <a:r>
              <a:rPr lang="en-US" sz="1200" dirty="0">
                <a:solidFill>
                  <a:srgbClr val="5B6B7F"/>
                </a:solidFill>
                <a:latin typeface="Malgun Gothic" pitchFamily="34" charset="0"/>
                <a:ea typeface="Malgun Gothic" pitchFamily="34" charset="-122"/>
                <a:cs typeface="Malgun Gothic" pitchFamily="34" charset="-120"/>
              </a:rPr>
              <a:t>축하중 10,000kg · 총중량 40,000kg 기준 대비 %</a:t>
            </a:r>
            <a:endParaRPr lang="en-US" sz="1200" dirty="0"/>
          </a:p>
          <a:p>
            <a:pPr marL="0" indent="0" algn="l">
              <a:lnSpc>
                <a:spcPct val="110000"/>
              </a:lnSpc>
              <a:buNone/>
            </a:pPr>
            <a:r>
              <a:rPr lang="en-US" sz="1200" dirty="0">
                <a:solidFill>
                  <a:srgbClr val="5B6B7F"/>
                </a:solidFill>
                <a:latin typeface="Malgun Gothic" pitchFamily="34" charset="0"/>
                <a:ea typeface="Malgun Gothic" pitchFamily="34" charset="-122"/>
                <a:cs typeface="Malgun Gothic" pitchFamily="34" charset="-120"/>
              </a:rPr>
              <a:t>차량 자체중량 + 컨테이너 VGM 구성 표시</a:t>
            </a:r>
            <a:endParaRPr lang="en-US" sz="1200" dirty="0"/>
          </a:p>
        </p:txBody>
      </p:sp>
      <p:sp>
        <p:nvSpPr>
          <p:cNvPr id="17" name="Shape 14"/>
          <p:cNvSpPr/>
          <p:nvPr/>
        </p:nvSpPr>
        <p:spPr>
          <a:xfrm>
            <a:off x="6629400" y="4224528"/>
            <a:ext cx="329184" cy="329184"/>
          </a:xfrm>
          <a:prstGeom prst="ellipse">
            <a:avLst/>
          </a:prstGeom>
          <a:solidFill>
            <a:srgbClr val="FF6B00"/>
          </a:solidFill>
          <a:ln w="12700">
            <a:solidFill>
              <a:srgbClr val="FF6B00"/>
            </a:solidFill>
            <a:prstDash val="solid"/>
          </a:ln>
        </p:spPr>
      </p:sp>
      <p:sp>
        <p:nvSpPr>
          <p:cNvPr id="18" name="Text 15"/>
          <p:cNvSpPr txBox="1"/>
          <p:nvPr/>
        </p:nvSpPr>
        <p:spPr>
          <a:xfrm>
            <a:off x="6629400" y="42245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3</a:t>
            </a:r>
            <a:endParaRPr lang="en-US" sz="1200" dirty="0"/>
          </a:p>
        </p:txBody>
      </p:sp>
      <p:sp>
        <p:nvSpPr>
          <p:cNvPr id="19" name="Text 16"/>
          <p:cNvSpPr txBox="1"/>
          <p:nvPr/>
        </p:nvSpPr>
        <p:spPr>
          <a:xfrm>
            <a:off x="7086600" y="4187952"/>
            <a:ext cx="4480560" cy="347472"/>
          </a:xfrm>
          <a:prstGeom prst="rect">
            <a:avLst/>
          </a:prstGeom>
          <a:noFill/>
          <a:ln/>
        </p:spPr>
        <p:txBody>
          <a:bodyPr wrap="square" lIns="0" tIns="0" rIns="0" bIns="0" rtlCol="0" anchor="ctr"/>
          <a:lstStyle/>
          <a:p>
            <a:pPr marL="0" indent="0" algn="l">
              <a:buNone/>
            </a:pPr>
            <a:r>
              <a:rPr lang="en-US" sz="1500" b="1" dirty="0">
                <a:solidFill>
                  <a:srgbClr val="0A2540"/>
                </a:solidFill>
                <a:latin typeface="Malgun Gothic" pitchFamily="34" charset="0"/>
                <a:ea typeface="Malgun Gothic" pitchFamily="34" charset="-122"/>
                <a:cs typeface="Malgun Gothic" pitchFamily="34" charset="-120"/>
              </a:rPr>
              <a:t>기록 · 알림 · 이동 경로</a:t>
            </a:r>
            <a:endParaRPr lang="en-US" sz="1500" dirty="0"/>
          </a:p>
        </p:txBody>
      </p:sp>
      <p:sp>
        <p:nvSpPr>
          <p:cNvPr id="20" name="Text 17"/>
          <p:cNvSpPr txBox="1"/>
          <p:nvPr/>
        </p:nvSpPr>
        <p:spPr>
          <a:xfrm>
            <a:off x="7086600" y="4535424"/>
            <a:ext cx="4480560" cy="731520"/>
          </a:xfrm>
          <a:prstGeom prst="rect">
            <a:avLst/>
          </a:prstGeom>
          <a:noFill/>
          <a:ln/>
        </p:spPr>
        <p:txBody>
          <a:bodyPr wrap="square" lIns="0" tIns="0" rIns="0" bIns="0" rtlCol="0" anchor="t"/>
          <a:lstStyle/>
          <a:p>
            <a:pPr marL="0" indent="0" algn="l">
              <a:lnSpc>
                <a:spcPct val="110000"/>
              </a:lnSpc>
              <a:buNone/>
            </a:pPr>
            <a:r>
              <a:rPr lang="en-US" sz="1200" dirty="0">
                <a:solidFill>
                  <a:srgbClr val="5B6B7F"/>
                </a:solidFill>
                <a:latin typeface="Malgun Gothic" pitchFamily="34" charset="0"/>
                <a:ea typeface="Malgun Gothic" pitchFamily="34" charset="-122"/>
                <a:cs typeface="Malgun Gothic" pitchFamily="34" charset="-120"/>
              </a:rPr>
              <a:t>판정 후 저장 → 과적 검사 기록 생성, 과적이면 업체 알림</a:t>
            </a:r>
            <a:endParaRPr lang="en-US" sz="1200" dirty="0"/>
          </a:p>
          <a:p>
            <a:pPr marL="0" indent="0" algn="l">
              <a:lnSpc>
                <a:spcPct val="110000"/>
              </a:lnSpc>
              <a:buNone/>
            </a:pPr>
            <a:r>
              <a:rPr lang="en-US" sz="1200" dirty="0">
                <a:solidFill>
                  <a:srgbClr val="5B6B7F"/>
                </a:solidFill>
                <a:latin typeface="Malgun Gothic" pitchFamily="34" charset="0"/>
                <a:ea typeface="Malgun Gothic" pitchFamily="34" charset="-122"/>
                <a:cs typeface="Malgun Gothic" pitchFamily="34" charset="-120"/>
              </a:rPr>
              <a:t>게이트 → 검사소 → 야드 이동 경로 미니 지도</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Malgun Gothic" pitchFamily="34" charset="0"/>
                <a:ea typeface="Malgun Gothic" pitchFamily="34" charset="-122"/>
                <a:cs typeface="Malgun Gothic" pitchFamily="34" charset="-120"/>
              </a:rPr>
              <a:t>03  핵심 기능</a:t>
            </a:r>
            <a:endParaRPr lang="en-US" sz="1100" dirty="0"/>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Malgun Gothic" pitchFamily="34" charset="0"/>
                <a:ea typeface="Malgun Gothic" pitchFamily="34" charset="-122"/>
                <a:cs typeface="Malgun Gothic" pitchFamily="34" charset="-120"/>
              </a:rPr>
              <a:t>관리자 대시보드 · 진입 허가 심사</a:t>
            </a:r>
            <a:endParaRPr lang="en-US" sz="2600" dirty="0"/>
          </a:p>
        </p:txBody>
      </p:sp>
      <p:sp>
        <p:nvSpPr>
          <p:cNvPr id="4" name="Text 2"/>
          <p:cNvSpPr txBox="1"/>
          <p:nvPr/>
        </p:nvSpPr>
        <p:spPr>
          <a:xfrm>
            <a:off x="548640" y="1143000"/>
            <a:ext cx="10972800" cy="320040"/>
          </a:xfrm>
          <a:prstGeom prst="rect">
            <a:avLst/>
          </a:prstGeom>
          <a:noFill/>
          <a:ln/>
        </p:spPr>
        <p:txBody>
          <a:bodyPr wrap="square" lIns="0" tIns="0" rIns="0" bIns="0" rtlCol="0" anchor="ctr"/>
          <a:lstStyle/>
          <a:p>
            <a:pPr marL="0" indent="0" algn="l">
              <a:buNone/>
            </a:pPr>
            <a:r>
              <a:rPr lang="en-US" sz="1300" dirty="0">
                <a:solidFill>
                  <a:srgbClr val="5B6B7F"/>
                </a:solidFill>
                <a:latin typeface="Malgun Gothic" pitchFamily="34" charset="0"/>
                <a:ea typeface="Malgun Gothic" pitchFamily="34" charset="-122"/>
                <a:cs typeface="Malgun Gothic" pitchFamily="34" charset="-120"/>
              </a:rPr>
              <a:t>관리자 › 대시보드 / 차량 관리</a:t>
            </a:r>
            <a:endParaRPr lang="en-US" sz="1300" dirty="0"/>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Malgun Gothic" pitchFamily="34" charset="0"/>
                <a:ea typeface="Malgun Gothic" pitchFamily="34" charset="-122"/>
                <a:cs typeface="Malgun Gothic" pitchFamily="34" charset="-120"/>
              </a:rPr>
              <a:t>S Cargo  ·  못먹어도 S카고</a:t>
            </a:r>
            <a:endParaRPr lang="en-US" sz="900" dirty="0"/>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Malgun Gothic" pitchFamily="34" charset="0"/>
                <a:ea typeface="Malgun Gothic" pitchFamily="34" charset="-122"/>
                <a:cs typeface="Malgun Gothic" pitchFamily="34" charset="-120"/>
              </a:rPr>
              <a:t>19</a:t>
            </a:r>
            <a:endParaRPr lang="en-US" sz="900" dirty="0"/>
          </a:p>
        </p:txBody>
      </p:sp>
      <p:sp>
        <p:nvSpPr>
          <p:cNvPr id="7" name="Shape 5"/>
          <p:cNvSpPr/>
          <p:nvPr/>
        </p:nvSpPr>
        <p:spPr>
          <a:xfrm>
            <a:off x="502920" y="1554480"/>
            <a:ext cx="5486400" cy="4227226"/>
          </a:xfrm>
          <a:prstGeom prst="roundRect">
            <a:avLst>
              <a:gd name="adj" fmla="val 1298"/>
            </a:avLst>
          </a:prstGeom>
          <a:solidFill>
            <a:srgbClr val="FFFFFF"/>
          </a:solidFill>
          <a:ln w="12700">
            <a:solidFill>
              <a:srgbClr val="DCE3EA"/>
            </a:solidFill>
            <a:prstDash val="solid"/>
          </a:ln>
          <a:effectLst>
            <a:outerShdw blurRad="76200" dist="25400" dir="5400000" algn="bl" rotWithShape="0">
              <a:srgbClr val="000000">
                <a:alpha val="15000"/>
              </a:srgbClr>
            </a:outerShdw>
          </a:effectLst>
        </p:spPr>
      </p:sp>
      <p:pic>
        <p:nvPicPr>
          <p:cNvPr id="8" name="Image 0" descr="/home/claude/v3/img/dash.jpg"/>
          <p:cNvPicPr>
            <a:picLocks noChangeAspect="1"/>
          </p:cNvPicPr>
          <p:nvPr/>
        </p:nvPicPr>
        <p:blipFill>
          <a:blip r:embed="rId3"/>
          <a:stretch>
            <a:fillRect/>
          </a:stretch>
        </p:blipFill>
        <p:spPr>
          <a:xfrm>
            <a:off x="502920" y="1554480"/>
            <a:ext cx="5486400" cy="4227226"/>
          </a:xfrm>
          <a:prstGeom prst="rect">
            <a:avLst/>
          </a:prstGeom>
        </p:spPr>
      </p:pic>
      <p:sp>
        <p:nvSpPr>
          <p:cNvPr id="9" name="Shape 6"/>
          <p:cNvSpPr/>
          <p:nvPr/>
        </p:nvSpPr>
        <p:spPr>
          <a:xfrm>
            <a:off x="6355080" y="1554480"/>
            <a:ext cx="5120640" cy="4155273"/>
          </a:xfrm>
          <a:prstGeom prst="roundRect">
            <a:avLst>
              <a:gd name="adj" fmla="val 1320"/>
            </a:avLst>
          </a:prstGeom>
          <a:solidFill>
            <a:srgbClr val="FFFFFF"/>
          </a:solidFill>
          <a:ln w="12700">
            <a:solidFill>
              <a:srgbClr val="DCE3EA"/>
            </a:solidFill>
            <a:prstDash val="solid"/>
          </a:ln>
          <a:effectLst>
            <a:outerShdw blurRad="76200" dist="25400" dir="5400000" algn="bl" rotWithShape="0">
              <a:srgbClr val="000000">
                <a:alpha val="15000"/>
              </a:srgbClr>
            </a:outerShdw>
          </a:effectLst>
        </p:spPr>
      </p:sp>
      <p:pic>
        <p:nvPicPr>
          <p:cNvPr id="10" name="Image 1" descr="/home/claude/v3/img/trucks.jpg"/>
          <p:cNvPicPr>
            <a:picLocks noChangeAspect="1"/>
          </p:cNvPicPr>
          <p:nvPr/>
        </p:nvPicPr>
        <p:blipFill>
          <a:blip r:embed="rId4"/>
          <a:stretch>
            <a:fillRect/>
          </a:stretch>
        </p:blipFill>
        <p:spPr>
          <a:xfrm>
            <a:off x="6355080" y="1554480"/>
            <a:ext cx="5120640" cy="4155273"/>
          </a:xfrm>
          <a:prstGeom prst="rect">
            <a:avLst/>
          </a:prstGeom>
        </p:spPr>
      </p:pic>
      <p:sp>
        <p:nvSpPr>
          <p:cNvPr id="11" name="Text 7"/>
          <p:cNvSpPr txBox="1"/>
          <p:nvPr/>
        </p:nvSpPr>
        <p:spPr>
          <a:xfrm>
            <a:off x="502920" y="5852160"/>
            <a:ext cx="5486400" cy="320040"/>
          </a:xfrm>
          <a:prstGeom prst="rect">
            <a:avLst/>
          </a:prstGeom>
          <a:noFill/>
          <a:ln/>
        </p:spPr>
        <p:txBody>
          <a:bodyPr wrap="square" lIns="508" tIns="508" rIns="508" bIns="508" rtlCol="0" anchor="ctr"/>
          <a:lstStyle/>
          <a:p>
            <a:pPr marL="0" indent="0" algn="ctr">
              <a:buNone/>
            </a:pPr>
            <a:r>
              <a:rPr lang="en-US" sz="1150" dirty="0">
                <a:solidFill>
                  <a:srgbClr val="5B6B7F"/>
                </a:solidFill>
                <a:latin typeface="Malgun Gothic" pitchFamily="34" charset="0"/>
                <a:ea typeface="Malgun Gothic" pitchFamily="34" charset="-122"/>
                <a:cs typeface="Malgun Gothic" pitchFamily="34" charset="-120"/>
              </a:rPr>
              <a:t>KPI 6종 · 차량 운행 현황 · 검사 현황 · 운송 흐름 (날짜별 조회)</a:t>
            </a:r>
            <a:endParaRPr lang="en-US" sz="1150" dirty="0"/>
          </a:p>
        </p:txBody>
      </p:sp>
      <p:sp>
        <p:nvSpPr>
          <p:cNvPr id="12" name="Text 8"/>
          <p:cNvSpPr txBox="1"/>
          <p:nvPr/>
        </p:nvSpPr>
        <p:spPr>
          <a:xfrm>
            <a:off x="6355080" y="5852160"/>
            <a:ext cx="5120640" cy="320040"/>
          </a:xfrm>
          <a:prstGeom prst="rect">
            <a:avLst/>
          </a:prstGeom>
          <a:noFill/>
          <a:ln/>
        </p:spPr>
        <p:txBody>
          <a:bodyPr wrap="square" lIns="508" tIns="508" rIns="508" bIns="508" rtlCol="0" anchor="ctr"/>
          <a:lstStyle/>
          <a:p>
            <a:pPr marL="0" indent="0" algn="ctr">
              <a:buNone/>
            </a:pPr>
            <a:r>
              <a:rPr lang="en-US" sz="1150" dirty="0">
                <a:solidFill>
                  <a:srgbClr val="5B6B7F"/>
                </a:solidFill>
                <a:latin typeface="Malgun Gothic" pitchFamily="34" charset="0"/>
                <a:ea typeface="Malgun Gothic" pitchFamily="34" charset="-122"/>
                <a:cs typeface="Malgun Gothic" pitchFamily="34" charset="-120"/>
              </a:rPr>
              <a:t>차량 목록 + 신규 차량 진입 허가 / 불허</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Malgun Gothic" pitchFamily="34" charset="0"/>
                <a:ea typeface="Malgun Gothic" pitchFamily="34" charset="-122"/>
                <a:cs typeface="Malgun Gothic" pitchFamily="34" charset="-120"/>
              </a:rPr>
              <a:t>03  핵심 기능</a:t>
            </a:r>
            <a:endParaRPr lang="en-US" sz="1100" dirty="0"/>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Malgun Gothic" pitchFamily="34" charset="0"/>
                <a:ea typeface="Malgun Gothic" pitchFamily="34" charset="-122"/>
                <a:cs typeface="Malgun Gothic" pitchFamily="34" charset="-120"/>
              </a:rPr>
              <a:t>운송사 배차 매핑 · 기사 운송현황</a:t>
            </a:r>
            <a:endParaRPr lang="en-US" sz="2600" dirty="0"/>
          </a:p>
        </p:txBody>
      </p:sp>
      <p:sp>
        <p:nvSpPr>
          <p:cNvPr id="4" name="Text 2"/>
          <p:cNvSpPr txBox="1"/>
          <p:nvPr/>
        </p:nvSpPr>
        <p:spPr>
          <a:xfrm>
            <a:off x="548640" y="1143000"/>
            <a:ext cx="10972800" cy="320040"/>
          </a:xfrm>
          <a:prstGeom prst="rect">
            <a:avLst/>
          </a:prstGeom>
          <a:noFill/>
          <a:ln/>
        </p:spPr>
        <p:txBody>
          <a:bodyPr wrap="square" lIns="0" tIns="0" rIns="0" bIns="0" rtlCol="0" anchor="ctr"/>
          <a:lstStyle/>
          <a:p>
            <a:pPr marL="0" indent="0" algn="l">
              <a:buNone/>
            </a:pPr>
            <a:r>
              <a:rPr lang="en-US" sz="1300" dirty="0">
                <a:solidFill>
                  <a:srgbClr val="5B6B7F"/>
                </a:solidFill>
                <a:latin typeface="Malgun Gothic" pitchFamily="34" charset="0"/>
                <a:ea typeface="Malgun Gothic" pitchFamily="34" charset="-122"/>
                <a:cs typeface="Malgun Gothic" pitchFamily="34" charset="-120"/>
              </a:rPr>
              <a:t>사업자 › 운송 관리  /  기사 › 운송현황</a:t>
            </a:r>
            <a:endParaRPr lang="en-US" sz="1300" dirty="0"/>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Malgun Gothic" pitchFamily="34" charset="0"/>
                <a:ea typeface="Malgun Gothic" pitchFamily="34" charset="-122"/>
                <a:cs typeface="Malgun Gothic" pitchFamily="34" charset="-120"/>
              </a:rPr>
              <a:t>S Cargo  ·  못먹어도 S카고</a:t>
            </a:r>
            <a:endParaRPr lang="en-US" sz="900" dirty="0"/>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Malgun Gothic" pitchFamily="34" charset="0"/>
                <a:ea typeface="Malgun Gothic" pitchFamily="34" charset="-122"/>
                <a:cs typeface="Malgun Gothic" pitchFamily="34" charset="-120"/>
              </a:rPr>
              <a:t>20</a:t>
            </a:r>
            <a:endParaRPr lang="en-US" sz="900" dirty="0"/>
          </a:p>
        </p:txBody>
      </p:sp>
      <p:sp>
        <p:nvSpPr>
          <p:cNvPr id="7" name="Shape 5"/>
          <p:cNvSpPr/>
          <p:nvPr/>
        </p:nvSpPr>
        <p:spPr>
          <a:xfrm>
            <a:off x="3271524" y="1805940"/>
            <a:ext cx="5486400" cy="3597639"/>
          </a:xfrm>
          <a:prstGeom prst="roundRect">
            <a:avLst>
              <a:gd name="adj" fmla="val 1525"/>
            </a:avLst>
          </a:prstGeom>
          <a:solidFill>
            <a:srgbClr val="FFFFFF"/>
          </a:solidFill>
          <a:ln w="12700">
            <a:solidFill>
              <a:srgbClr val="DCE3EA"/>
            </a:solidFill>
            <a:prstDash val="solid"/>
          </a:ln>
          <a:effectLst>
            <a:outerShdw blurRad="76200" dist="25400" dir="5400000" algn="bl" rotWithShape="0">
              <a:srgbClr val="000000">
                <a:alpha val="15000"/>
              </a:srgbClr>
            </a:outerShdw>
          </a:effectLst>
        </p:spPr>
      </p:sp>
      <p:pic>
        <p:nvPicPr>
          <p:cNvPr id="8" name="Image 0" descr="/home/claude/v3/img/mapping.jpg"/>
          <p:cNvPicPr>
            <a:picLocks noChangeAspect="1"/>
          </p:cNvPicPr>
          <p:nvPr/>
        </p:nvPicPr>
        <p:blipFill>
          <a:blip r:embed="rId3"/>
          <a:stretch>
            <a:fillRect/>
          </a:stretch>
        </p:blipFill>
        <p:spPr>
          <a:xfrm>
            <a:off x="3271524" y="1805940"/>
            <a:ext cx="5486400" cy="3597639"/>
          </a:xfrm>
          <a:prstGeom prst="rect">
            <a:avLst/>
          </a:prstGeom>
        </p:spPr>
      </p:pic>
      <p:sp>
        <p:nvSpPr>
          <p:cNvPr id="11" name="Text 7"/>
          <p:cNvSpPr txBox="1"/>
          <p:nvPr/>
        </p:nvSpPr>
        <p:spPr>
          <a:xfrm>
            <a:off x="3271524" y="5554980"/>
            <a:ext cx="5486400" cy="548640"/>
          </a:xfrm>
          <a:prstGeom prst="rect">
            <a:avLst/>
          </a:prstGeom>
          <a:noFill/>
          <a:ln/>
        </p:spPr>
        <p:txBody>
          <a:bodyPr wrap="square" lIns="508" tIns="508" rIns="508" bIns="508" rtlCol="0" anchor="ctr"/>
          <a:lstStyle/>
          <a:p>
            <a:pPr marL="0" indent="0" algn="ctr">
              <a:buNone/>
            </a:pPr>
            <a:r>
              <a:rPr lang="en-US" sz="1150" dirty="0">
                <a:solidFill>
                  <a:srgbClr val="5B6B7F"/>
                </a:solidFill>
                <a:latin typeface="Malgun Gothic" pitchFamily="34" charset="0"/>
                <a:ea typeface="Malgun Gothic" pitchFamily="34" charset="-122"/>
                <a:cs typeface="Malgun Gothic" pitchFamily="34" charset="-120"/>
              </a:rPr>
              <a:t>소속 차량 + 배정 가능 컨테이너 선택 → 매핑 등록</a:t>
            </a:r>
            <a:endParaRPr lang="en-US" sz="1150" dirty="0"/>
          </a:p>
          <a:p>
            <a:pPr marL="0" indent="0" algn="ctr">
              <a:buNone/>
            </a:pPr>
            <a:r>
              <a:rPr lang="en-US" sz="1150" dirty="0">
                <a:solidFill>
                  <a:srgbClr val="5B6B7F"/>
                </a:solidFill>
                <a:latin typeface="Malgun Gothic" pitchFamily="34" charset="0"/>
                <a:ea typeface="Malgun Gothic" pitchFamily="34" charset="-122"/>
                <a:cs typeface="Malgun Gothic" pitchFamily="34" charset="-120"/>
              </a:rPr>
              <a:t>등록 즉시 담당 기사에게 알림</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2540"/>
        </a:solidFill>
        <a:effectLst/>
      </p:bgPr>
    </p:bg>
    <p:spTree>
      <p:nvGrpSpPr>
        <p:cNvPr id="1" name=""/>
        <p:cNvGrpSpPr/>
        <p:nvPr/>
      </p:nvGrpSpPr>
      <p:grpSpPr>
        <a:xfrm>
          <a:off x="0" y="0"/>
          <a:ext cx="0" cy="0"/>
          <a:chOff x="0" y="0"/>
          <a:chExt cx="0" cy="0"/>
        </a:xfrm>
      </p:grpSpPr>
      <p:pic>
        <p:nvPicPr>
          <p:cNvPr id="2" name="Image 0" descr="/home/claude/v3/img/end_bg.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822960" y="2377440"/>
            <a:ext cx="2743200" cy="822960"/>
          </a:xfrm>
          <a:prstGeom prst="rect">
            <a:avLst/>
          </a:prstGeom>
          <a:noFill/>
          <a:ln/>
        </p:spPr>
        <p:txBody>
          <a:bodyPr wrap="square" lIns="0" tIns="0" rIns="0" bIns="0" rtlCol="0" anchor="ctr"/>
          <a:lstStyle/>
          <a:p>
            <a:pPr marL="0" indent="0" algn="l">
              <a:buNone/>
            </a:pPr>
            <a:r>
              <a:rPr lang="en-US" sz="4800" b="1" dirty="0">
                <a:solidFill>
                  <a:srgbClr val="FF6B00"/>
                </a:solidFill>
                <a:latin typeface="Malgun Gothic" pitchFamily="34" charset="0"/>
                <a:ea typeface="Malgun Gothic" pitchFamily="34" charset="-122"/>
                <a:cs typeface="Malgun Gothic" pitchFamily="34" charset="-120"/>
              </a:rPr>
              <a:t>04</a:t>
            </a:r>
            <a:endParaRPr lang="en-US" sz="4800" dirty="0"/>
          </a:p>
        </p:txBody>
      </p:sp>
      <p:sp>
        <p:nvSpPr>
          <p:cNvPr id="4" name="Text 1"/>
          <p:cNvSpPr txBox="1"/>
          <p:nvPr/>
        </p:nvSpPr>
        <p:spPr>
          <a:xfrm>
            <a:off x="822960" y="3200400"/>
            <a:ext cx="10058400"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Malgun Gothic" pitchFamily="34" charset="0"/>
                <a:ea typeface="Malgun Gothic" pitchFamily="34" charset="-122"/>
                <a:cs typeface="Malgun Gothic" pitchFamily="34" charset="-120"/>
              </a:rPr>
              <a:t>AI 번호판 인식</a:t>
            </a:r>
            <a:endParaRPr lang="en-US" sz="3600" dirty="0"/>
          </a:p>
        </p:txBody>
      </p:sp>
      <p:sp>
        <p:nvSpPr>
          <p:cNvPr id="5" name="Text 2"/>
          <p:cNvSpPr txBox="1"/>
          <p:nvPr/>
        </p:nvSpPr>
        <p:spPr>
          <a:xfrm>
            <a:off x="822960" y="3931920"/>
            <a:ext cx="10058400" cy="365760"/>
          </a:xfrm>
          <a:prstGeom prst="rect">
            <a:avLst/>
          </a:prstGeom>
          <a:noFill/>
          <a:ln/>
        </p:spPr>
        <p:txBody>
          <a:bodyPr wrap="square" lIns="0" tIns="0" rIns="0" bIns="0" rtlCol="0" anchor="ctr"/>
          <a:lstStyle/>
          <a:p>
            <a:pPr marL="0" indent="0" algn="l">
              <a:buNone/>
            </a:pPr>
            <a:r>
              <a:rPr lang="en-US" sz="1400" dirty="0">
                <a:solidFill>
                  <a:srgbClr val="C9D6E3"/>
                </a:solidFill>
                <a:latin typeface="Malgun Gothic" pitchFamily="34" charset="0"/>
                <a:ea typeface="Malgun Gothic" pitchFamily="34" charset="-122"/>
                <a:cs typeface="Malgun Gothic" pitchFamily="34" charset="-120"/>
              </a:rPr>
              <a:t>인식 파이프라인 · 성능 개선</a:t>
            </a:r>
            <a:endParaRPr lang="en-US" sz="1400" dirty="0"/>
          </a:p>
        </p:txBody>
      </p:sp>
      <p:sp>
        <p:nvSpPr>
          <p:cNvPr id="6" name="Shape 3"/>
          <p:cNvSpPr/>
          <p:nvPr/>
        </p:nvSpPr>
        <p:spPr>
          <a:xfrm>
            <a:off x="822960" y="4526280"/>
            <a:ext cx="2011680" cy="0"/>
          </a:xfrm>
          <a:prstGeom prst="line">
            <a:avLst/>
          </a:prstGeom>
          <a:noFill/>
          <a:ln w="38100">
            <a:solidFill>
              <a:srgbClr val="FF6B00"/>
            </a:solidFill>
            <a:prstDash val="solid"/>
          </a:ln>
        </p:spPr>
      </p:sp>
      <p:sp>
        <p:nvSpPr>
          <p:cNvPr id="7" name="Text 4"/>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8FA3BA"/>
                </a:solidFill>
                <a:latin typeface="Malgun Gothic" pitchFamily="34" charset="0"/>
                <a:ea typeface="Malgun Gothic" pitchFamily="34" charset="-122"/>
                <a:cs typeface="Malgun Gothic" pitchFamily="34" charset="-120"/>
              </a:rPr>
              <a:t>S Cargo  ·  못먹어도 S카고</a:t>
            </a:r>
            <a:endParaRPr lang="en-US" sz="900" dirty="0"/>
          </a:p>
        </p:txBody>
      </p:sp>
      <p:sp>
        <p:nvSpPr>
          <p:cNvPr id="8" name="Text 5"/>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8FA3BA"/>
                </a:solidFill>
                <a:latin typeface="Malgun Gothic" pitchFamily="34" charset="0"/>
                <a:ea typeface="Malgun Gothic" pitchFamily="34" charset="-122"/>
                <a:cs typeface="Malgun Gothic"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Malgun Gothic" pitchFamily="34" charset="0"/>
                <a:ea typeface="Malgun Gothic" pitchFamily="34" charset="-122"/>
                <a:cs typeface="Malgun Gothic" pitchFamily="34" charset="-120"/>
              </a:rPr>
              <a:t>04  AI 번호판 인식</a:t>
            </a:r>
            <a:endParaRPr lang="en-US" sz="1100" dirty="0"/>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Malgun Gothic" pitchFamily="34" charset="0"/>
                <a:ea typeface="Malgun Gothic" pitchFamily="34" charset="-122"/>
                <a:cs typeface="Malgun Gothic" pitchFamily="34" charset="-120"/>
              </a:rPr>
              <a:t>번호판 인식 파이프라인</a:t>
            </a:r>
            <a:endParaRPr lang="en-US" sz="2600" dirty="0"/>
          </a:p>
        </p:txBody>
      </p:sp>
      <p:sp>
        <p:nvSpPr>
          <p:cNvPr id="4" name="Text 2"/>
          <p:cNvSpPr txBox="1"/>
          <p:nvPr/>
        </p:nvSpPr>
        <p:spPr>
          <a:xfrm>
            <a:off x="548640" y="1143000"/>
            <a:ext cx="10972800" cy="320040"/>
          </a:xfrm>
          <a:prstGeom prst="rect">
            <a:avLst/>
          </a:prstGeom>
          <a:noFill/>
          <a:ln/>
        </p:spPr>
        <p:txBody>
          <a:bodyPr wrap="square" lIns="0" tIns="0" rIns="0" bIns="0" rtlCol="0" anchor="ctr"/>
          <a:lstStyle/>
          <a:p>
            <a:pPr marL="0" indent="0" algn="l">
              <a:buNone/>
            </a:pPr>
            <a:r>
              <a:rPr lang="en-US" sz="1300" dirty="0">
                <a:solidFill>
                  <a:srgbClr val="5B6B7F"/>
                </a:solidFill>
                <a:latin typeface="Malgun Gothic" pitchFamily="34" charset="0"/>
                <a:ea typeface="Malgun Gothic" pitchFamily="34" charset="-122"/>
                <a:cs typeface="Malgun Gothic" pitchFamily="34" charset="-120"/>
              </a:rPr>
              <a:t>YOLO로 번호판 위치를 찾고, 잘라낸 영역을 직접 학습한 CRNN으로 읽는 2단계 구조</a:t>
            </a:r>
            <a:endParaRPr lang="en-US" sz="1300" dirty="0"/>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Malgun Gothic" pitchFamily="34" charset="0"/>
                <a:ea typeface="Malgun Gothic" pitchFamily="34" charset="-122"/>
                <a:cs typeface="Malgun Gothic" pitchFamily="34" charset="-120"/>
              </a:rPr>
              <a:t>S Cargo  ·  못먹어도 S카고</a:t>
            </a:r>
            <a:endParaRPr lang="en-US" sz="900" dirty="0"/>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Malgun Gothic" pitchFamily="34" charset="0"/>
                <a:ea typeface="Malgun Gothic" pitchFamily="34" charset="-122"/>
                <a:cs typeface="Malgun Gothic" pitchFamily="34" charset="-120"/>
              </a:rPr>
              <a:t>22</a:t>
            </a:r>
            <a:endParaRPr lang="en-US" sz="900" dirty="0"/>
          </a:p>
        </p:txBody>
      </p:sp>
      <p:sp>
        <p:nvSpPr>
          <p:cNvPr id="7" name="Shape 5"/>
          <p:cNvSpPr/>
          <p:nvPr/>
        </p:nvSpPr>
        <p:spPr>
          <a:xfrm>
            <a:off x="502920" y="1600200"/>
            <a:ext cx="1691640" cy="1234440"/>
          </a:xfrm>
          <a:prstGeom prst="roundRect">
            <a:avLst>
              <a:gd name="adj" fmla="val 4444"/>
            </a:avLst>
          </a:prstGeom>
          <a:solidFill>
            <a:srgbClr val="FFFFFF"/>
          </a:solidFill>
          <a:ln w="12700">
            <a:solidFill>
              <a:srgbClr val="DCE3EA"/>
            </a:solidFill>
            <a:prstDash val="solid"/>
          </a:ln>
        </p:spPr>
      </p:sp>
      <p:sp>
        <p:nvSpPr>
          <p:cNvPr id="8" name="Text 6"/>
          <p:cNvSpPr txBox="1"/>
          <p:nvPr/>
        </p:nvSpPr>
        <p:spPr>
          <a:xfrm>
            <a:off x="502920" y="1664208"/>
            <a:ext cx="1691640" cy="384048"/>
          </a:xfrm>
          <a:prstGeom prst="rect">
            <a:avLst/>
          </a:prstGeom>
          <a:noFill/>
          <a:ln/>
        </p:spPr>
        <p:txBody>
          <a:bodyPr wrap="square" lIns="0" tIns="0" rIns="0" bIns="0" rtlCol="0" anchor="ctr"/>
          <a:lstStyle/>
          <a:p>
            <a:pPr marL="0" indent="0" algn="ctr">
              <a:buNone/>
            </a:pPr>
            <a:r>
              <a:rPr lang="en-US" sz="1400" b="1" dirty="0" err="1">
                <a:solidFill>
                  <a:srgbClr val="0A2540"/>
                </a:solidFill>
                <a:latin typeface="Malgun Gothic" pitchFamily="34" charset="0"/>
                <a:ea typeface="Malgun Gothic" pitchFamily="34" charset="-122"/>
                <a:cs typeface="Malgun Gothic" pitchFamily="34" charset="-120"/>
              </a:rPr>
              <a:t>이미지</a:t>
            </a:r>
            <a:r>
              <a:rPr lang="en-US" sz="1400" b="1" dirty="0">
                <a:solidFill>
                  <a:srgbClr val="0A2540"/>
                </a:solidFill>
                <a:latin typeface="Malgun Gothic" pitchFamily="34" charset="0"/>
                <a:ea typeface="Malgun Gothic" pitchFamily="34" charset="-122"/>
                <a:cs typeface="Malgun Gothic" pitchFamily="34" charset="-120"/>
              </a:rPr>
              <a:t> </a:t>
            </a:r>
            <a:r>
              <a:rPr lang="ko-KR" altLang="en-US" sz="1400" b="1" dirty="0">
                <a:solidFill>
                  <a:srgbClr val="0A2540"/>
                </a:solidFill>
                <a:latin typeface="Malgun Gothic" pitchFamily="34" charset="0"/>
                <a:ea typeface="Malgun Gothic" pitchFamily="34" charset="-122"/>
                <a:cs typeface="Malgun Gothic" pitchFamily="34" charset="-120"/>
              </a:rPr>
              <a:t>인식</a:t>
            </a:r>
            <a:endParaRPr lang="en-US" sz="1400" dirty="0"/>
          </a:p>
        </p:txBody>
      </p:sp>
      <p:sp>
        <p:nvSpPr>
          <p:cNvPr id="9" name="Text 7"/>
          <p:cNvSpPr txBox="1"/>
          <p:nvPr/>
        </p:nvSpPr>
        <p:spPr>
          <a:xfrm>
            <a:off x="502920" y="2057400"/>
            <a:ext cx="1691640" cy="685800"/>
          </a:xfrm>
          <a:prstGeom prst="rect">
            <a:avLst/>
          </a:prstGeom>
          <a:noFill/>
          <a:ln/>
        </p:spPr>
        <p:txBody>
          <a:bodyPr wrap="square" lIns="0" tIns="0" rIns="0" bIns="0" rtlCol="0" anchor="t"/>
          <a:lstStyle/>
          <a:p>
            <a:pPr marL="0" indent="0" algn="ctr">
              <a:buNone/>
            </a:pPr>
            <a:r>
              <a:rPr lang="en-US" sz="1100" dirty="0" err="1">
                <a:solidFill>
                  <a:srgbClr val="5B6B7F"/>
                </a:solidFill>
                <a:latin typeface="Malgun Gothic" pitchFamily="34" charset="0"/>
                <a:ea typeface="Malgun Gothic" pitchFamily="34" charset="-122"/>
                <a:cs typeface="Malgun Gothic" pitchFamily="34" charset="-120"/>
              </a:rPr>
              <a:t>게이트</a:t>
            </a:r>
            <a:r>
              <a:rPr lang="en-US" sz="1100" dirty="0">
                <a:solidFill>
                  <a:srgbClr val="5B6B7F"/>
                </a:solidFill>
                <a:latin typeface="Malgun Gothic" pitchFamily="34" charset="0"/>
                <a:ea typeface="Malgun Gothic" pitchFamily="34" charset="-122"/>
                <a:cs typeface="Malgun Gothic" pitchFamily="34" charset="-120"/>
              </a:rPr>
              <a:t> </a:t>
            </a:r>
            <a:r>
              <a:rPr lang="en-US" sz="1100" dirty="0" err="1">
                <a:solidFill>
                  <a:srgbClr val="5B6B7F"/>
                </a:solidFill>
                <a:latin typeface="Malgun Gothic" pitchFamily="34" charset="0"/>
                <a:ea typeface="Malgun Gothic" pitchFamily="34" charset="-122"/>
                <a:cs typeface="Malgun Gothic" pitchFamily="34" charset="-120"/>
              </a:rPr>
              <a:t>카메라</a:t>
            </a:r>
            <a:endParaRPr lang="en-US" sz="1100" dirty="0"/>
          </a:p>
        </p:txBody>
      </p:sp>
      <p:sp>
        <p:nvSpPr>
          <p:cNvPr id="10" name="Shape 8"/>
          <p:cNvSpPr/>
          <p:nvPr/>
        </p:nvSpPr>
        <p:spPr>
          <a:xfrm>
            <a:off x="2221992" y="2212848"/>
            <a:ext cx="173736" cy="0"/>
          </a:xfrm>
          <a:prstGeom prst="line">
            <a:avLst/>
          </a:prstGeom>
          <a:noFill/>
          <a:ln w="19050">
            <a:solidFill>
              <a:srgbClr val="0A2540"/>
            </a:solidFill>
            <a:prstDash val="solid"/>
            <a:tailEnd type="triangle"/>
          </a:ln>
        </p:spPr>
      </p:sp>
      <p:sp>
        <p:nvSpPr>
          <p:cNvPr id="11" name="Shape 9"/>
          <p:cNvSpPr/>
          <p:nvPr/>
        </p:nvSpPr>
        <p:spPr>
          <a:xfrm>
            <a:off x="2423160" y="1600200"/>
            <a:ext cx="1691640" cy="1234440"/>
          </a:xfrm>
          <a:prstGeom prst="roundRect">
            <a:avLst>
              <a:gd name="adj" fmla="val 4444"/>
            </a:avLst>
          </a:prstGeom>
          <a:solidFill>
            <a:srgbClr val="0A2540"/>
          </a:solidFill>
          <a:ln w="12700">
            <a:solidFill>
              <a:srgbClr val="0A2540"/>
            </a:solidFill>
            <a:prstDash val="solid"/>
          </a:ln>
        </p:spPr>
      </p:sp>
      <p:sp>
        <p:nvSpPr>
          <p:cNvPr id="12" name="Text 10"/>
          <p:cNvSpPr txBox="1"/>
          <p:nvPr/>
        </p:nvSpPr>
        <p:spPr>
          <a:xfrm>
            <a:off x="2423160" y="1664208"/>
            <a:ext cx="169164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번호판 탐지</a:t>
            </a:r>
            <a:endParaRPr lang="en-US" sz="1400" dirty="0"/>
          </a:p>
        </p:txBody>
      </p:sp>
      <p:sp>
        <p:nvSpPr>
          <p:cNvPr id="13" name="Text 11"/>
          <p:cNvSpPr txBox="1"/>
          <p:nvPr/>
        </p:nvSpPr>
        <p:spPr>
          <a:xfrm>
            <a:off x="2423160" y="2057400"/>
            <a:ext cx="1691640" cy="685800"/>
          </a:xfrm>
          <a:prstGeom prst="rect">
            <a:avLst/>
          </a:prstGeom>
          <a:noFill/>
          <a:ln/>
        </p:spPr>
        <p:txBody>
          <a:bodyPr wrap="square" lIns="0" tIns="0" rIns="0" bIns="0" rtlCol="0" anchor="t"/>
          <a:lstStyle/>
          <a:p>
            <a:pPr marL="0" indent="0" algn="ctr">
              <a:buNone/>
            </a:pPr>
            <a:r>
              <a:rPr lang="en-US" sz="1100" dirty="0">
                <a:solidFill>
                  <a:srgbClr val="C9D4E0"/>
                </a:solidFill>
                <a:latin typeface="Malgun Gothic" pitchFamily="34" charset="0"/>
                <a:ea typeface="Malgun Gothic" pitchFamily="34" charset="-122"/>
                <a:cs typeface="Malgun Gothic" pitchFamily="34" charset="-120"/>
              </a:rPr>
              <a:t>YOLO11</a:t>
            </a:r>
            <a:endParaRPr lang="en-US" sz="1100" dirty="0"/>
          </a:p>
        </p:txBody>
      </p:sp>
      <p:sp>
        <p:nvSpPr>
          <p:cNvPr id="14" name="Shape 12"/>
          <p:cNvSpPr/>
          <p:nvPr/>
        </p:nvSpPr>
        <p:spPr>
          <a:xfrm>
            <a:off x="4142232" y="2212848"/>
            <a:ext cx="173736" cy="0"/>
          </a:xfrm>
          <a:prstGeom prst="line">
            <a:avLst/>
          </a:prstGeom>
          <a:noFill/>
          <a:ln w="19050">
            <a:solidFill>
              <a:srgbClr val="0A2540"/>
            </a:solidFill>
            <a:prstDash val="solid"/>
            <a:tailEnd type="triangle"/>
          </a:ln>
        </p:spPr>
      </p:sp>
      <p:sp>
        <p:nvSpPr>
          <p:cNvPr id="15" name="Shape 13"/>
          <p:cNvSpPr/>
          <p:nvPr/>
        </p:nvSpPr>
        <p:spPr>
          <a:xfrm>
            <a:off x="4343400" y="1600200"/>
            <a:ext cx="1691640" cy="1234440"/>
          </a:xfrm>
          <a:prstGeom prst="roundRect">
            <a:avLst>
              <a:gd name="adj" fmla="val 4444"/>
            </a:avLst>
          </a:prstGeom>
          <a:solidFill>
            <a:srgbClr val="FFFFFF"/>
          </a:solidFill>
          <a:ln w="12700">
            <a:solidFill>
              <a:srgbClr val="DCE3EA"/>
            </a:solidFill>
            <a:prstDash val="solid"/>
          </a:ln>
        </p:spPr>
      </p:sp>
      <p:sp>
        <p:nvSpPr>
          <p:cNvPr id="16" name="Text 14"/>
          <p:cNvSpPr txBox="1"/>
          <p:nvPr/>
        </p:nvSpPr>
        <p:spPr>
          <a:xfrm>
            <a:off x="4343400" y="1664208"/>
            <a:ext cx="1691640" cy="384048"/>
          </a:xfrm>
          <a:prstGeom prst="rect">
            <a:avLst/>
          </a:prstGeom>
          <a:noFill/>
          <a:ln/>
        </p:spPr>
        <p:txBody>
          <a:bodyPr wrap="square" lIns="0" tIns="0" rIns="0" bIns="0" rtlCol="0" anchor="ctr"/>
          <a:lstStyle/>
          <a:p>
            <a:pPr marL="0" indent="0" algn="ctr">
              <a:buNone/>
            </a:pPr>
            <a:r>
              <a:rPr lang="en-US" sz="1400" b="1" dirty="0">
                <a:solidFill>
                  <a:srgbClr val="0A2540"/>
                </a:solidFill>
                <a:latin typeface="Malgun Gothic" pitchFamily="34" charset="0"/>
                <a:ea typeface="Malgun Gothic" pitchFamily="34" charset="-122"/>
                <a:cs typeface="Malgun Gothic" pitchFamily="34" charset="-120"/>
              </a:rPr>
              <a:t>크롭 · 전처리</a:t>
            </a:r>
            <a:endParaRPr lang="en-US" sz="1400" dirty="0"/>
          </a:p>
        </p:txBody>
      </p:sp>
      <p:sp>
        <p:nvSpPr>
          <p:cNvPr id="17" name="Text 15"/>
          <p:cNvSpPr txBox="1"/>
          <p:nvPr/>
        </p:nvSpPr>
        <p:spPr>
          <a:xfrm>
            <a:off x="4343400" y="2057400"/>
            <a:ext cx="1691640" cy="685800"/>
          </a:xfrm>
          <a:prstGeom prst="rect">
            <a:avLst/>
          </a:prstGeom>
          <a:noFill/>
          <a:ln/>
        </p:spPr>
        <p:txBody>
          <a:bodyPr wrap="square" lIns="0" tIns="0" rIns="0" bIns="0" rtlCol="0" anchor="t"/>
          <a:lstStyle/>
          <a:p>
            <a:pPr marL="0" indent="0" algn="ctr">
              <a:buNone/>
            </a:pPr>
            <a:r>
              <a:rPr lang="en-US" sz="1100" dirty="0">
                <a:solidFill>
                  <a:srgbClr val="5B6B7F"/>
                </a:solidFill>
                <a:latin typeface="Malgun Gothic" pitchFamily="34" charset="0"/>
                <a:ea typeface="Malgun Gothic" pitchFamily="34" charset="-122"/>
                <a:cs typeface="Malgun Gothic" pitchFamily="34" charset="-120"/>
              </a:rPr>
              <a:t>OpenCV</a:t>
            </a:r>
            <a:endParaRPr lang="en-US" sz="1100" dirty="0"/>
          </a:p>
        </p:txBody>
      </p:sp>
      <p:sp>
        <p:nvSpPr>
          <p:cNvPr id="18" name="Shape 16"/>
          <p:cNvSpPr/>
          <p:nvPr/>
        </p:nvSpPr>
        <p:spPr>
          <a:xfrm>
            <a:off x="6062472" y="2212848"/>
            <a:ext cx="173736" cy="0"/>
          </a:xfrm>
          <a:prstGeom prst="line">
            <a:avLst/>
          </a:prstGeom>
          <a:noFill/>
          <a:ln w="19050">
            <a:solidFill>
              <a:srgbClr val="0A2540"/>
            </a:solidFill>
            <a:prstDash val="solid"/>
            <a:tailEnd type="triangle"/>
          </a:ln>
        </p:spPr>
      </p:sp>
      <p:sp>
        <p:nvSpPr>
          <p:cNvPr id="19" name="Shape 17"/>
          <p:cNvSpPr/>
          <p:nvPr/>
        </p:nvSpPr>
        <p:spPr>
          <a:xfrm>
            <a:off x="6263640" y="1600200"/>
            <a:ext cx="1691640" cy="1234440"/>
          </a:xfrm>
          <a:prstGeom prst="roundRect">
            <a:avLst>
              <a:gd name="adj" fmla="val 4444"/>
            </a:avLst>
          </a:prstGeom>
          <a:solidFill>
            <a:srgbClr val="0A2540"/>
          </a:solidFill>
          <a:ln w="12700">
            <a:solidFill>
              <a:srgbClr val="0A2540"/>
            </a:solidFill>
            <a:prstDash val="solid"/>
          </a:ln>
        </p:spPr>
      </p:sp>
      <p:sp>
        <p:nvSpPr>
          <p:cNvPr id="20" name="Text 18"/>
          <p:cNvSpPr txBox="1"/>
          <p:nvPr/>
        </p:nvSpPr>
        <p:spPr>
          <a:xfrm>
            <a:off x="6263640" y="1664208"/>
            <a:ext cx="169164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글자 인식</a:t>
            </a:r>
            <a:endParaRPr lang="en-US" sz="1400" dirty="0"/>
          </a:p>
        </p:txBody>
      </p:sp>
      <p:sp>
        <p:nvSpPr>
          <p:cNvPr id="21" name="Text 19"/>
          <p:cNvSpPr txBox="1"/>
          <p:nvPr/>
        </p:nvSpPr>
        <p:spPr>
          <a:xfrm>
            <a:off x="6263640" y="2057400"/>
            <a:ext cx="1691640" cy="685800"/>
          </a:xfrm>
          <a:prstGeom prst="rect">
            <a:avLst/>
          </a:prstGeom>
          <a:noFill/>
          <a:ln/>
        </p:spPr>
        <p:txBody>
          <a:bodyPr wrap="square" lIns="0" tIns="0" rIns="0" bIns="0" rtlCol="0" anchor="t"/>
          <a:lstStyle/>
          <a:p>
            <a:pPr marL="0" indent="0" algn="ctr">
              <a:buNone/>
            </a:pPr>
            <a:r>
              <a:rPr lang="en-US" sz="1100" dirty="0">
                <a:solidFill>
                  <a:srgbClr val="C9D4E0"/>
                </a:solidFill>
                <a:latin typeface="Malgun Gothic" pitchFamily="34" charset="0"/>
                <a:ea typeface="Malgun Gothic" pitchFamily="34" charset="-122"/>
                <a:cs typeface="Malgun Gothic" pitchFamily="34" charset="-120"/>
              </a:rPr>
              <a:t>CRNN + CTC</a:t>
            </a:r>
            <a:endParaRPr lang="en-US" sz="1100" dirty="0"/>
          </a:p>
        </p:txBody>
      </p:sp>
      <p:sp>
        <p:nvSpPr>
          <p:cNvPr id="22" name="Shape 20"/>
          <p:cNvSpPr/>
          <p:nvPr/>
        </p:nvSpPr>
        <p:spPr>
          <a:xfrm>
            <a:off x="7982712" y="2212848"/>
            <a:ext cx="173736" cy="0"/>
          </a:xfrm>
          <a:prstGeom prst="line">
            <a:avLst/>
          </a:prstGeom>
          <a:noFill/>
          <a:ln w="19050">
            <a:solidFill>
              <a:srgbClr val="0A2540"/>
            </a:solidFill>
            <a:prstDash val="solid"/>
            <a:tailEnd type="triangle"/>
          </a:ln>
        </p:spPr>
      </p:sp>
      <p:sp>
        <p:nvSpPr>
          <p:cNvPr id="23" name="Shape 21"/>
          <p:cNvSpPr/>
          <p:nvPr/>
        </p:nvSpPr>
        <p:spPr>
          <a:xfrm>
            <a:off x="8183880" y="1600200"/>
            <a:ext cx="1691640" cy="1234440"/>
          </a:xfrm>
          <a:prstGeom prst="roundRect">
            <a:avLst>
              <a:gd name="adj" fmla="val 4444"/>
            </a:avLst>
          </a:prstGeom>
          <a:solidFill>
            <a:srgbClr val="FFFFFF"/>
          </a:solidFill>
          <a:ln w="12700">
            <a:solidFill>
              <a:srgbClr val="DCE3EA"/>
            </a:solidFill>
            <a:prstDash val="solid"/>
          </a:ln>
        </p:spPr>
      </p:sp>
      <p:sp>
        <p:nvSpPr>
          <p:cNvPr id="24" name="Text 22"/>
          <p:cNvSpPr txBox="1"/>
          <p:nvPr/>
        </p:nvSpPr>
        <p:spPr>
          <a:xfrm>
            <a:off x="8183880" y="1664208"/>
            <a:ext cx="1691640" cy="384048"/>
          </a:xfrm>
          <a:prstGeom prst="rect">
            <a:avLst/>
          </a:prstGeom>
          <a:noFill/>
          <a:ln/>
        </p:spPr>
        <p:txBody>
          <a:bodyPr wrap="square" lIns="0" tIns="0" rIns="0" bIns="0" rtlCol="0" anchor="ctr"/>
          <a:lstStyle/>
          <a:p>
            <a:pPr marL="0" indent="0" algn="ctr">
              <a:buNone/>
            </a:pPr>
            <a:r>
              <a:rPr lang="en-US" sz="1400" b="1" dirty="0">
                <a:solidFill>
                  <a:srgbClr val="0A2540"/>
                </a:solidFill>
                <a:latin typeface="Malgun Gothic" pitchFamily="34" charset="0"/>
                <a:ea typeface="Malgun Gothic" pitchFamily="34" charset="-122"/>
                <a:cs typeface="Malgun Gothic" pitchFamily="34" charset="-120"/>
              </a:rPr>
              <a:t>형식 검사</a:t>
            </a:r>
            <a:endParaRPr lang="en-US" sz="1400" dirty="0"/>
          </a:p>
        </p:txBody>
      </p:sp>
      <p:sp>
        <p:nvSpPr>
          <p:cNvPr id="25" name="Text 23"/>
          <p:cNvSpPr txBox="1"/>
          <p:nvPr/>
        </p:nvSpPr>
        <p:spPr>
          <a:xfrm>
            <a:off x="8183880" y="2057400"/>
            <a:ext cx="1691640" cy="685800"/>
          </a:xfrm>
          <a:prstGeom prst="rect">
            <a:avLst/>
          </a:prstGeom>
          <a:noFill/>
          <a:ln/>
        </p:spPr>
        <p:txBody>
          <a:bodyPr wrap="square" lIns="0" tIns="0" rIns="0" bIns="0" rtlCol="0" anchor="t"/>
          <a:lstStyle/>
          <a:p>
            <a:pPr marL="0" indent="0" algn="ctr">
              <a:buNone/>
            </a:pPr>
            <a:r>
              <a:rPr lang="en-US" sz="1100" dirty="0">
                <a:solidFill>
                  <a:srgbClr val="5B6B7F"/>
                </a:solidFill>
                <a:latin typeface="Malgun Gothic" pitchFamily="34" charset="0"/>
                <a:ea typeface="Malgun Gothic" pitchFamily="34" charset="-122"/>
                <a:cs typeface="Malgun Gothic" pitchFamily="34" charset="-120"/>
              </a:rPr>
              <a:t>번호판 패턴</a:t>
            </a:r>
            <a:endParaRPr lang="en-US" sz="1100" dirty="0"/>
          </a:p>
        </p:txBody>
      </p:sp>
      <p:sp>
        <p:nvSpPr>
          <p:cNvPr id="26" name="Shape 24"/>
          <p:cNvSpPr/>
          <p:nvPr/>
        </p:nvSpPr>
        <p:spPr>
          <a:xfrm>
            <a:off x="9902952" y="2212848"/>
            <a:ext cx="173736" cy="0"/>
          </a:xfrm>
          <a:prstGeom prst="line">
            <a:avLst/>
          </a:prstGeom>
          <a:noFill/>
          <a:ln w="19050">
            <a:solidFill>
              <a:srgbClr val="0A2540"/>
            </a:solidFill>
            <a:prstDash val="solid"/>
            <a:tailEnd type="triangle"/>
          </a:ln>
        </p:spPr>
      </p:sp>
      <p:sp>
        <p:nvSpPr>
          <p:cNvPr id="27" name="Shape 25"/>
          <p:cNvSpPr/>
          <p:nvPr/>
        </p:nvSpPr>
        <p:spPr>
          <a:xfrm>
            <a:off x="10104120" y="1600200"/>
            <a:ext cx="1691640" cy="1234440"/>
          </a:xfrm>
          <a:prstGeom prst="roundRect">
            <a:avLst>
              <a:gd name="adj" fmla="val 4444"/>
            </a:avLst>
          </a:prstGeom>
          <a:solidFill>
            <a:srgbClr val="FFFFFF"/>
          </a:solidFill>
          <a:ln w="12700">
            <a:solidFill>
              <a:srgbClr val="DCE3EA"/>
            </a:solidFill>
            <a:prstDash val="solid"/>
          </a:ln>
        </p:spPr>
      </p:sp>
      <p:sp>
        <p:nvSpPr>
          <p:cNvPr id="28" name="Text 26"/>
          <p:cNvSpPr txBox="1"/>
          <p:nvPr/>
        </p:nvSpPr>
        <p:spPr>
          <a:xfrm>
            <a:off x="10104120" y="1664208"/>
            <a:ext cx="1691640" cy="384048"/>
          </a:xfrm>
          <a:prstGeom prst="rect">
            <a:avLst/>
          </a:prstGeom>
          <a:noFill/>
          <a:ln/>
        </p:spPr>
        <p:txBody>
          <a:bodyPr wrap="square" lIns="0" tIns="0" rIns="0" bIns="0" rtlCol="0" anchor="ctr"/>
          <a:lstStyle/>
          <a:p>
            <a:pPr marL="0" indent="0" algn="ctr">
              <a:buNone/>
            </a:pPr>
            <a:r>
              <a:rPr lang="en-US" sz="1400" b="1" dirty="0">
                <a:solidFill>
                  <a:srgbClr val="0A2540"/>
                </a:solidFill>
                <a:latin typeface="Malgun Gothic" pitchFamily="34" charset="0"/>
                <a:ea typeface="Malgun Gothic" pitchFamily="34" charset="-122"/>
                <a:cs typeface="Malgun Gothic" pitchFamily="34" charset="-120"/>
              </a:rPr>
              <a:t>DB 저장</a:t>
            </a:r>
            <a:endParaRPr lang="en-US" sz="1400" dirty="0"/>
          </a:p>
        </p:txBody>
      </p:sp>
      <p:sp>
        <p:nvSpPr>
          <p:cNvPr id="29" name="Text 27"/>
          <p:cNvSpPr txBox="1"/>
          <p:nvPr/>
        </p:nvSpPr>
        <p:spPr>
          <a:xfrm>
            <a:off x="10104120" y="2057400"/>
            <a:ext cx="1691640" cy="685800"/>
          </a:xfrm>
          <a:prstGeom prst="rect">
            <a:avLst/>
          </a:prstGeom>
          <a:noFill/>
          <a:ln/>
        </p:spPr>
        <p:txBody>
          <a:bodyPr wrap="square" lIns="0" tIns="0" rIns="0" bIns="0" rtlCol="0" anchor="t"/>
          <a:lstStyle/>
          <a:p>
            <a:pPr marL="0" indent="0" algn="ctr">
              <a:buNone/>
            </a:pPr>
            <a:r>
              <a:rPr lang="en-US" sz="1100" dirty="0">
                <a:solidFill>
                  <a:srgbClr val="5B6B7F"/>
                </a:solidFill>
                <a:latin typeface="Malgun Gothic" pitchFamily="34" charset="0"/>
                <a:ea typeface="Malgun Gothic" pitchFamily="34" charset="-122"/>
                <a:cs typeface="Malgun Gothic" pitchFamily="34" charset="-120"/>
              </a:rPr>
              <a:t>게이트로그</a:t>
            </a:r>
            <a:endParaRPr lang="en-US" sz="1100" dirty="0"/>
          </a:p>
          <a:p>
            <a:pPr marL="0" indent="0" algn="ctr">
              <a:buNone/>
            </a:pPr>
            <a:r>
              <a:rPr lang="en-US" sz="1100" dirty="0">
                <a:solidFill>
                  <a:srgbClr val="5B6B7F"/>
                </a:solidFill>
                <a:latin typeface="Malgun Gothic" pitchFamily="34" charset="0"/>
                <a:ea typeface="Malgun Gothic" pitchFamily="34" charset="-122"/>
                <a:cs typeface="Malgun Gothic" pitchFamily="34" charset="-120"/>
              </a:rPr>
              <a:t>등록차량 대조</a:t>
            </a:r>
            <a:endParaRPr lang="en-US" sz="1100" dirty="0"/>
          </a:p>
        </p:txBody>
      </p:sp>
      <p:sp>
        <p:nvSpPr>
          <p:cNvPr id="30" name="Shape 28"/>
          <p:cNvSpPr/>
          <p:nvPr/>
        </p:nvSpPr>
        <p:spPr>
          <a:xfrm>
            <a:off x="548640" y="3383280"/>
            <a:ext cx="2633472" cy="2011680"/>
          </a:xfrm>
          <a:prstGeom prst="roundRect">
            <a:avLst>
              <a:gd name="adj" fmla="val 2727"/>
            </a:avLst>
          </a:prstGeom>
          <a:solidFill>
            <a:srgbClr val="FFFFFF"/>
          </a:solidFill>
          <a:ln w="12700">
            <a:solidFill>
              <a:srgbClr val="DCE3EA"/>
            </a:solidFill>
            <a:prstDash val="solid"/>
          </a:ln>
        </p:spPr>
      </p:sp>
      <p:sp>
        <p:nvSpPr>
          <p:cNvPr id="31" name="Text 29"/>
          <p:cNvSpPr txBox="1"/>
          <p:nvPr/>
        </p:nvSpPr>
        <p:spPr>
          <a:xfrm>
            <a:off x="548640" y="3611880"/>
            <a:ext cx="2633472" cy="548640"/>
          </a:xfrm>
          <a:prstGeom prst="rect">
            <a:avLst/>
          </a:prstGeom>
          <a:noFill/>
          <a:ln/>
        </p:spPr>
        <p:txBody>
          <a:bodyPr wrap="square" lIns="0" tIns="0" rIns="0" bIns="0" rtlCol="0" anchor="ctr"/>
          <a:lstStyle/>
          <a:p>
            <a:pPr marL="0" indent="0" algn="ctr">
              <a:buNone/>
            </a:pPr>
            <a:r>
              <a:rPr lang="en-US" sz="2400" b="1" dirty="0">
                <a:solidFill>
                  <a:srgbClr val="FF6B00"/>
                </a:solidFill>
                <a:latin typeface="Malgun Gothic" pitchFamily="34" charset="0"/>
                <a:ea typeface="Malgun Gothic" pitchFamily="34" charset="-122"/>
                <a:cs typeface="Malgun Gothic" pitchFamily="34" charset="-120"/>
              </a:rPr>
              <a:t>9,995 / 10,000</a:t>
            </a:r>
            <a:endParaRPr lang="en-US" sz="2400" dirty="0"/>
          </a:p>
        </p:txBody>
      </p:sp>
      <p:sp>
        <p:nvSpPr>
          <p:cNvPr id="32" name="Text 30"/>
          <p:cNvSpPr txBox="1"/>
          <p:nvPr/>
        </p:nvSpPr>
        <p:spPr>
          <a:xfrm>
            <a:off x="548640" y="4297680"/>
            <a:ext cx="2633472" cy="822960"/>
          </a:xfrm>
          <a:prstGeom prst="rect">
            <a:avLst/>
          </a:prstGeom>
          <a:noFill/>
          <a:ln/>
        </p:spPr>
        <p:txBody>
          <a:bodyPr wrap="square" lIns="0" tIns="0" rIns="0" bIns="0" rtlCol="0" anchor="t"/>
          <a:lstStyle/>
          <a:p>
            <a:pPr marL="0" indent="0" algn="ctr">
              <a:buNone/>
            </a:pPr>
            <a:r>
              <a:rPr lang="en-US" sz="1200" dirty="0">
                <a:solidFill>
                  <a:srgbClr val="5B6B7F"/>
                </a:solidFill>
                <a:latin typeface="Malgun Gothic" pitchFamily="34" charset="0"/>
                <a:ea typeface="Malgun Gothic" pitchFamily="34" charset="-122"/>
                <a:cs typeface="Malgun Gothic" pitchFamily="34" charset="-120"/>
              </a:rPr>
              <a:t>일반 차량 1만 장</a:t>
            </a:r>
            <a:endParaRPr lang="en-US" sz="1200" dirty="0"/>
          </a:p>
          <a:p>
            <a:pPr marL="0" indent="0" algn="ctr">
              <a:buNone/>
            </a:pPr>
            <a:r>
              <a:rPr lang="en-US" sz="1200" dirty="0">
                <a:solidFill>
                  <a:srgbClr val="5B6B7F"/>
                </a:solidFill>
                <a:latin typeface="Malgun Gothic" pitchFamily="34" charset="0"/>
                <a:ea typeface="Malgun Gothic" pitchFamily="34" charset="-122"/>
                <a:cs typeface="Malgun Gothic" pitchFamily="34" charset="-120"/>
              </a:rPr>
              <a:t>번호판 탐지 성공</a:t>
            </a:r>
            <a:endParaRPr lang="en-US" sz="1200" dirty="0"/>
          </a:p>
        </p:txBody>
      </p:sp>
      <p:sp>
        <p:nvSpPr>
          <p:cNvPr id="33" name="Shape 31"/>
          <p:cNvSpPr/>
          <p:nvPr/>
        </p:nvSpPr>
        <p:spPr>
          <a:xfrm>
            <a:off x="3364992" y="3383280"/>
            <a:ext cx="2633472" cy="2011680"/>
          </a:xfrm>
          <a:prstGeom prst="roundRect">
            <a:avLst>
              <a:gd name="adj" fmla="val 2727"/>
            </a:avLst>
          </a:prstGeom>
          <a:solidFill>
            <a:srgbClr val="FFFFFF"/>
          </a:solidFill>
          <a:ln w="12700">
            <a:solidFill>
              <a:srgbClr val="DCE3EA"/>
            </a:solidFill>
            <a:prstDash val="solid"/>
          </a:ln>
        </p:spPr>
      </p:sp>
      <p:sp>
        <p:nvSpPr>
          <p:cNvPr id="34" name="Text 32"/>
          <p:cNvSpPr txBox="1"/>
          <p:nvPr/>
        </p:nvSpPr>
        <p:spPr>
          <a:xfrm>
            <a:off x="3364992" y="3611880"/>
            <a:ext cx="2633472" cy="548640"/>
          </a:xfrm>
          <a:prstGeom prst="rect">
            <a:avLst/>
          </a:prstGeom>
          <a:noFill/>
          <a:ln/>
        </p:spPr>
        <p:txBody>
          <a:bodyPr wrap="square" lIns="0" tIns="0" rIns="0" bIns="0" rtlCol="0" anchor="ctr"/>
          <a:lstStyle/>
          <a:p>
            <a:pPr marL="0" indent="0" algn="ctr">
              <a:buNone/>
            </a:pPr>
            <a:r>
              <a:rPr lang="en-US" sz="2400" b="1" dirty="0">
                <a:solidFill>
                  <a:srgbClr val="FF6B00"/>
                </a:solidFill>
                <a:latin typeface="Malgun Gothic" pitchFamily="34" charset="0"/>
                <a:ea typeface="Malgun Gothic" pitchFamily="34" charset="-122"/>
                <a:cs typeface="Malgun Gothic" pitchFamily="34" charset="-120"/>
              </a:rPr>
              <a:t>2,162장</a:t>
            </a:r>
            <a:endParaRPr lang="en-US" sz="2400" dirty="0"/>
          </a:p>
        </p:txBody>
      </p:sp>
      <p:sp>
        <p:nvSpPr>
          <p:cNvPr id="35" name="Text 33"/>
          <p:cNvSpPr txBox="1"/>
          <p:nvPr/>
        </p:nvSpPr>
        <p:spPr>
          <a:xfrm>
            <a:off x="3364992" y="4297680"/>
            <a:ext cx="2633472" cy="822960"/>
          </a:xfrm>
          <a:prstGeom prst="rect">
            <a:avLst/>
          </a:prstGeom>
          <a:noFill/>
          <a:ln/>
        </p:spPr>
        <p:txBody>
          <a:bodyPr wrap="square" lIns="0" tIns="0" rIns="0" bIns="0" rtlCol="0" anchor="t"/>
          <a:lstStyle/>
          <a:p>
            <a:pPr marL="0" indent="0" algn="ctr">
              <a:buNone/>
            </a:pPr>
            <a:r>
              <a:rPr lang="ko-KR" altLang="en-US" sz="1200" dirty="0">
                <a:solidFill>
                  <a:srgbClr val="5B6B7F"/>
                </a:solidFill>
                <a:latin typeface="Malgun Gothic" pitchFamily="34" charset="0"/>
                <a:ea typeface="Malgun Gothic" pitchFamily="34" charset="-122"/>
                <a:cs typeface="Malgun Gothic" pitchFamily="34" charset="-120"/>
              </a:rPr>
              <a:t>화물 차량 </a:t>
            </a:r>
            <a:r>
              <a:rPr lang="en-US" sz="1200" dirty="0" err="1">
                <a:solidFill>
                  <a:srgbClr val="5B6B7F"/>
                </a:solidFill>
                <a:latin typeface="Malgun Gothic" pitchFamily="34" charset="0"/>
                <a:ea typeface="Malgun Gothic" pitchFamily="34" charset="-122"/>
                <a:cs typeface="Malgun Gothic" pitchFamily="34" charset="-120"/>
              </a:rPr>
              <a:t>탐지</a:t>
            </a:r>
            <a:r>
              <a:rPr lang="en-US" sz="1200" dirty="0">
                <a:solidFill>
                  <a:srgbClr val="5B6B7F"/>
                </a:solidFill>
                <a:latin typeface="Malgun Gothic" pitchFamily="34" charset="0"/>
                <a:ea typeface="Malgun Gothic" pitchFamily="34" charset="-122"/>
                <a:cs typeface="Malgun Gothic" pitchFamily="34" charset="-120"/>
              </a:rPr>
              <a:t> 학습 이미지</a:t>
            </a:r>
            <a:endParaRPr lang="en-US" sz="1200" dirty="0"/>
          </a:p>
          <a:p>
            <a:pPr marL="0" indent="0" algn="ctr">
              <a:buNone/>
            </a:pPr>
            <a:r>
              <a:rPr lang="en-US" sz="1200" dirty="0">
                <a:solidFill>
                  <a:srgbClr val="5B6B7F"/>
                </a:solidFill>
                <a:latin typeface="Malgun Gothic" pitchFamily="34" charset="0"/>
                <a:ea typeface="Malgun Gothic" pitchFamily="34" charset="-122"/>
                <a:cs typeface="Malgun Gothic" pitchFamily="34" charset="-120"/>
              </a:rPr>
              <a:t>(인천신항 직접 촬영 포함)</a:t>
            </a:r>
            <a:endParaRPr lang="en-US" sz="1200" dirty="0"/>
          </a:p>
        </p:txBody>
      </p:sp>
      <p:sp>
        <p:nvSpPr>
          <p:cNvPr id="36" name="Shape 34"/>
          <p:cNvSpPr/>
          <p:nvPr/>
        </p:nvSpPr>
        <p:spPr>
          <a:xfrm>
            <a:off x="6181344" y="3383280"/>
            <a:ext cx="2633472" cy="2011680"/>
          </a:xfrm>
          <a:prstGeom prst="roundRect">
            <a:avLst>
              <a:gd name="adj" fmla="val 2727"/>
            </a:avLst>
          </a:prstGeom>
          <a:solidFill>
            <a:srgbClr val="FFFFFF"/>
          </a:solidFill>
          <a:ln w="12700">
            <a:solidFill>
              <a:srgbClr val="DCE3EA"/>
            </a:solidFill>
            <a:prstDash val="solid"/>
          </a:ln>
        </p:spPr>
      </p:sp>
      <p:sp>
        <p:nvSpPr>
          <p:cNvPr id="37" name="Text 35"/>
          <p:cNvSpPr txBox="1"/>
          <p:nvPr/>
        </p:nvSpPr>
        <p:spPr>
          <a:xfrm>
            <a:off x="6181344" y="3611880"/>
            <a:ext cx="2633472" cy="548640"/>
          </a:xfrm>
          <a:prstGeom prst="rect">
            <a:avLst/>
          </a:prstGeom>
          <a:noFill/>
          <a:ln/>
        </p:spPr>
        <p:txBody>
          <a:bodyPr wrap="square" lIns="0" tIns="0" rIns="0" bIns="0" rtlCol="0" anchor="ctr"/>
          <a:lstStyle/>
          <a:p>
            <a:pPr marL="0" indent="0" algn="ctr">
              <a:buNone/>
            </a:pPr>
            <a:r>
              <a:rPr lang="en-US" sz="2400" b="1" dirty="0">
                <a:solidFill>
                  <a:srgbClr val="FF6B00"/>
                </a:solidFill>
                <a:latin typeface="Malgun Gothic" pitchFamily="34" charset="0"/>
                <a:ea typeface="Malgun Gothic" pitchFamily="34" charset="-122"/>
                <a:cs typeface="Malgun Gothic" pitchFamily="34" charset="-120"/>
              </a:rPr>
              <a:t>237장</a:t>
            </a:r>
            <a:endParaRPr lang="en-US" sz="2400" dirty="0"/>
          </a:p>
        </p:txBody>
      </p:sp>
      <p:sp>
        <p:nvSpPr>
          <p:cNvPr id="38" name="Text 36"/>
          <p:cNvSpPr txBox="1"/>
          <p:nvPr/>
        </p:nvSpPr>
        <p:spPr>
          <a:xfrm>
            <a:off x="6181344" y="4297680"/>
            <a:ext cx="2633472" cy="822960"/>
          </a:xfrm>
          <a:prstGeom prst="rect">
            <a:avLst/>
          </a:prstGeom>
          <a:noFill/>
          <a:ln/>
        </p:spPr>
        <p:txBody>
          <a:bodyPr wrap="square" lIns="0" tIns="0" rIns="0" bIns="0" rtlCol="0" anchor="t"/>
          <a:lstStyle/>
          <a:p>
            <a:pPr marL="0" indent="0" algn="ctr">
              <a:buNone/>
            </a:pPr>
            <a:r>
              <a:rPr lang="en-US" sz="1200" dirty="0">
                <a:solidFill>
                  <a:srgbClr val="5B6B7F"/>
                </a:solidFill>
                <a:latin typeface="Malgun Gothic" pitchFamily="34" charset="0"/>
                <a:ea typeface="Malgun Gothic" pitchFamily="34" charset="-122"/>
                <a:cs typeface="Malgun Gothic" pitchFamily="34" charset="-120"/>
              </a:rPr>
              <a:t>팀원이 직접 검수한</a:t>
            </a:r>
            <a:endParaRPr lang="en-US" sz="1200" dirty="0"/>
          </a:p>
          <a:p>
            <a:pPr marL="0" indent="0" algn="ctr">
              <a:buNone/>
            </a:pPr>
            <a:r>
              <a:rPr lang="en-US" sz="1200" dirty="0">
                <a:solidFill>
                  <a:srgbClr val="5B6B7F"/>
                </a:solidFill>
                <a:latin typeface="Malgun Gothic" pitchFamily="34" charset="0"/>
                <a:ea typeface="Malgun Gothic" pitchFamily="34" charset="-122"/>
                <a:cs typeface="Malgun Gothic" pitchFamily="34" charset="-120"/>
              </a:rPr>
              <a:t>추가 </a:t>
            </a:r>
            <a:r>
              <a:rPr lang="en-US" sz="1200" dirty="0" err="1">
                <a:solidFill>
                  <a:srgbClr val="5B6B7F"/>
                </a:solidFill>
                <a:latin typeface="Malgun Gothic" pitchFamily="34" charset="0"/>
                <a:ea typeface="Malgun Gothic" pitchFamily="34" charset="-122"/>
                <a:cs typeface="Malgun Gothic" pitchFamily="34" charset="-120"/>
              </a:rPr>
              <a:t>학습</a:t>
            </a:r>
            <a:r>
              <a:rPr lang="en-US" sz="1200" dirty="0">
                <a:solidFill>
                  <a:srgbClr val="5B6B7F"/>
                </a:solidFill>
                <a:latin typeface="Malgun Gothic" pitchFamily="34" charset="0"/>
                <a:ea typeface="Malgun Gothic" pitchFamily="34" charset="-122"/>
                <a:cs typeface="Malgun Gothic" pitchFamily="34" charset="-120"/>
              </a:rPr>
              <a:t> </a:t>
            </a:r>
            <a:r>
              <a:rPr lang="en-US" sz="1200" dirty="0" err="1">
                <a:solidFill>
                  <a:srgbClr val="5B6B7F"/>
                </a:solidFill>
                <a:latin typeface="Malgun Gothic" pitchFamily="34" charset="0"/>
                <a:ea typeface="Malgun Gothic" pitchFamily="34" charset="-122"/>
                <a:cs typeface="Malgun Gothic" pitchFamily="34" charset="-120"/>
              </a:rPr>
              <a:t>데이터</a:t>
            </a:r>
            <a:endParaRPr lang="en-US" sz="1200" dirty="0"/>
          </a:p>
        </p:txBody>
      </p:sp>
      <p:sp>
        <p:nvSpPr>
          <p:cNvPr id="39" name="Shape 37"/>
          <p:cNvSpPr/>
          <p:nvPr/>
        </p:nvSpPr>
        <p:spPr>
          <a:xfrm>
            <a:off x="8997696" y="3383280"/>
            <a:ext cx="2633472" cy="2011680"/>
          </a:xfrm>
          <a:prstGeom prst="roundRect">
            <a:avLst>
              <a:gd name="adj" fmla="val 2727"/>
            </a:avLst>
          </a:prstGeom>
          <a:solidFill>
            <a:srgbClr val="FFFFFF"/>
          </a:solidFill>
          <a:ln w="12700">
            <a:solidFill>
              <a:srgbClr val="DCE3EA"/>
            </a:solidFill>
            <a:prstDash val="solid"/>
          </a:ln>
        </p:spPr>
      </p:sp>
      <p:sp>
        <p:nvSpPr>
          <p:cNvPr id="40" name="Text 38"/>
          <p:cNvSpPr txBox="1"/>
          <p:nvPr/>
        </p:nvSpPr>
        <p:spPr>
          <a:xfrm>
            <a:off x="8997696" y="3611880"/>
            <a:ext cx="2633472" cy="548640"/>
          </a:xfrm>
          <a:prstGeom prst="rect">
            <a:avLst/>
          </a:prstGeom>
          <a:noFill/>
          <a:ln/>
        </p:spPr>
        <p:txBody>
          <a:bodyPr wrap="square" lIns="0" tIns="0" rIns="0" bIns="0" rtlCol="0" anchor="ctr"/>
          <a:lstStyle/>
          <a:p>
            <a:pPr marL="0" indent="0" algn="ctr">
              <a:buNone/>
            </a:pPr>
            <a:r>
              <a:rPr lang="en-US" sz="2000" b="1" dirty="0">
                <a:solidFill>
                  <a:srgbClr val="FF6B00"/>
                </a:solidFill>
                <a:latin typeface="Malgun Gothic" pitchFamily="34" charset="0"/>
                <a:ea typeface="Malgun Gothic" pitchFamily="34" charset="-122"/>
                <a:cs typeface="Malgun Gothic" pitchFamily="34" charset="-120"/>
              </a:rPr>
              <a:t>합성 · 증강</a:t>
            </a:r>
            <a:endParaRPr lang="en-US" sz="2000" dirty="0"/>
          </a:p>
        </p:txBody>
      </p:sp>
      <p:sp>
        <p:nvSpPr>
          <p:cNvPr id="41" name="Text 39"/>
          <p:cNvSpPr txBox="1"/>
          <p:nvPr/>
        </p:nvSpPr>
        <p:spPr>
          <a:xfrm>
            <a:off x="8997696" y="4297680"/>
            <a:ext cx="2633472" cy="822960"/>
          </a:xfrm>
          <a:prstGeom prst="rect">
            <a:avLst/>
          </a:prstGeom>
          <a:noFill/>
          <a:ln/>
        </p:spPr>
        <p:txBody>
          <a:bodyPr wrap="square" lIns="0" tIns="0" rIns="0" bIns="0" rtlCol="0" anchor="t"/>
          <a:lstStyle/>
          <a:p>
            <a:pPr marL="0" indent="0" algn="ctr">
              <a:buNone/>
            </a:pPr>
            <a:r>
              <a:rPr lang="en-US" sz="1200" dirty="0">
                <a:solidFill>
                  <a:srgbClr val="5B6B7F"/>
                </a:solidFill>
                <a:latin typeface="Malgun Gothic" pitchFamily="34" charset="0"/>
                <a:ea typeface="Malgun Gothic" pitchFamily="34" charset="-122"/>
                <a:cs typeface="Malgun Gothic" pitchFamily="34" charset="-120"/>
              </a:rPr>
              <a:t>CRNN 합성 번호판 사전학습</a:t>
            </a:r>
            <a:endParaRPr lang="en-US" sz="1200" dirty="0"/>
          </a:p>
          <a:p>
            <a:pPr marL="0" indent="0" algn="ctr">
              <a:buNone/>
            </a:pPr>
            <a:r>
              <a:rPr lang="en-US" sz="1200" dirty="0">
                <a:solidFill>
                  <a:srgbClr val="5B6B7F"/>
                </a:solidFill>
                <a:latin typeface="Malgun Gothic" pitchFamily="34" charset="0"/>
                <a:ea typeface="Malgun Gothic" pitchFamily="34" charset="-122"/>
                <a:cs typeface="Malgun Gothic" pitchFamily="34" charset="-120"/>
              </a:rPr>
              <a:t>야간 · 역광 밝기 증강</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Malgun Gothic" pitchFamily="34" charset="0"/>
                <a:ea typeface="Malgun Gothic" pitchFamily="34" charset="-122"/>
                <a:cs typeface="Malgun Gothic" pitchFamily="34" charset="-120"/>
              </a:rPr>
              <a:t>04  AI 번호판 인식</a:t>
            </a:r>
            <a:endParaRPr lang="en-US" sz="1100" dirty="0"/>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Malgun Gothic" pitchFamily="34" charset="0"/>
                <a:ea typeface="Malgun Gothic" pitchFamily="34" charset="-122"/>
                <a:cs typeface="Malgun Gothic" pitchFamily="34" charset="-120"/>
              </a:rPr>
              <a:t>모델 성능 개선 과정</a:t>
            </a:r>
            <a:endParaRPr lang="en-US" sz="2600" dirty="0"/>
          </a:p>
        </p:txBody>
      </p:sp>
      <p:sp>
        <p:nvSpPr>
          <p:cNvPr id="4" name="Text 2"/>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Malgun Gothic" pitchFamily="34" charset="0"/>
                <a:ea typeface="Malgun Gothic" pitchFamily="34" charset="-122"/>
                <a:cs typeface="Malgun Gothic" pitchFamily="34" charset="-120"/>
              </a:rPr>
              <a:t>S Cargo  ·  못먹어도 S카고</a:t>
            </a:r>
            <a:endParaRPr lang="en-US" sz="900" dirty="0"/>
          </a:p>
        </p:txBody>
      </p:sp>
      <p:sp>
        <p:nvSpPr>
          <p:cNvPr id="5" name="Text 3"/>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Malgun Gothic" pitchFamily="34" charset="0"/>
                <a:ea typeface="Malgun Gothic" pitchFamily="34" charset="-122"/>
                <a:cs typeface="Malgun Gothic" pitchFamily="34" charset="-120"/>
              </a:rPr>
              <a:t>23</a:t>
            </a:r>
            <a:endParaRPr lang="en-US" sz="900" dirty="0"/>
          </a:p>
        </p:txBody>
      </p:sp>
      <p:sp>
        <p:nvSpPr>
          <p:cNvPr id="6" name="Text 4"/>
          <p:cNvSpPr txBox="1"/>
          <p:nvPr/>
        </p:nvSpPr>
        <p:spPr>
          <a:xfrm>
            <a:off x="502920" y="1371600"/>
            <a:ext cx="5943600" cy="320040"/>
          </a:xfrm>
          <a:prstGeom prst="rect">
            <a:avLst/>
          </a:prstGeom>
          <a:noFill/>
          <a:ln/>
        </p:spPr>
        <p:txBody>
          <a:bodyPr wrap="square" lIns="0" tIns="0" rIns="0" bIns="0" rtlCol="0" anchor="ctr"/>
          <a:lstStyle/>
          <a:p>
            <a:pPr marL="0" indent="0" algn="l">
              <a:buNone/>
            </a:pPr>
            <a:r>
              <a:rPr lang="en-US" sz="1500" b="1" dirty="0">
                <a:solidFill>
                  <a:srgbClr val="0A2540"/>
                </a:solidFill>
                <a:latin typeface="Malgun Gothic" pitchFamily="34" charset="0"/>
                <a:ea typeface="Malgun Gothic" pitchFamily="34" charset="-122"/>
                <a:cs typeface="Malgun Gothic" pitchFamily="34" charset="-120"/>
              </a:rPr>
              <a:t>번호판 탐지 (YOLO) — 검증 mAP50-95</a:t>
            </a:r>
            <a:endParaRPr lang="en-US" sz="1500" dirty="0"/>
          </a:p>
        </p:txBody>
      </p:sp>
      <p:graphicFrame>
        <p:nvGraphicFramePr>
          <p:cNvPr id="7" name="Chart 0"/>
          <p:cNvGraphicFramePr/>
          <p:nvPr/>
        </p:nvGraphicFramePr>
        <p:xfrm>
          <a:off x="411480" y="1737360"/>
          <a:ext cx="612648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502920" y="5715000"/>
            <a:ext cx="5943600" cy="365760"/>
          </a:xfrm>
          <a:prstGeom prst="rect">
            <a:avLst/>
          </a:prstGeom>
          <a:noFill/>
          <a:ln/>
        </p:spPr>
        <p:txBody>
          <a:bodyPr wrap="square" lIns="0" tIns="0" rIns="0" bIns="0" rtlCol="0" anchor="ctr"/>
          <a:lstStyle/>
          <a:p>
            <a:pPr marL="0" indent="0" algn="l">
              <a:buNone/>
            </a:pPr>
            <a:r>
              <a:rPr lang="en-US" sz="1250" b="1" dirty="0">
                <a:solidFill>
                  <a:srgbClr val="FF6B00"/>
                </a:solidFill>
                <a:latin typeface="Malgun Gothic" pitchFamily="34" charset="0"/>
                <a:ea typeface="Malgun Gothic" pitchFamily="34" charset="-122"/>
                <a:cs typeface="Malgun Gothic" pitchFamily="34" charset="-120"/>
              </a:rPr>
              <a:t>데이터 548 → 1,921장 확대로 0.700 → 0.874, mAP50 0.98</a:t>
            </a:r>
            <a:endParaRPr lang="en-US" sz="1250" dirty="0"/>
          </a:p>
        </p:txBody>
      </p:sp>
      <p:sp>
        <p:nvSpPr>
          <p:cNvPr id="9" name="Text 6"/>
          <p:cNvSpPr txBox="1"/>
          <p:nvPr/>
        </p:nvSpPr>
        <p:spPr>
          <a:xfrm>
            <a:off x="6858000" y="1371600"/>
            <a:ext cx="4846320" cy="320040"/>
          </a:xfrm>
          <a:prstGeom prst="rect">
            <a:avLst/>
          </a:prstGeom>
          <a:noFill/>
          <a:ln/>
        </p:spPr>
        <p:txBody>
          <a:bodyPr wrap="square" lIns="0" tIns="0" rIns="0" bIns="0" rtlCol="0" anchor="ctr"/>
          <a:lstStyle/>
          <a:p>
            <a:pPr marL="0" indent="0" algn="l">
              <a:buNone/>
            </a:pPr>
            <a:r>
              <a:rPr lang="en-US" sz="1500" b="1" dirty="0">
                <a:solidFill>
                  <a:srgbClr val="0A2540"/>
                </a:solidFill>
                <a:latin typeface="Malgun Gothic" pitchFamily="34" charset="0"/>
                <a:ea typeface="Malgun Gothic" pitchFamily="34" charset="-122"/>
                <a:cs typeface="Malgun Gothic" pitchFamily="34" charset="-120"/>
              </a:rPr>
              <a:t>전체 인식 정확도 (767장 테스트)</a:t>
            </a:r>
            <a:endParaRPr lang="en-US" sz="1500" dirty="0"/>
          </a:p>
        </p:txBody>
      </p:sp>
      <p:graphicFrame>
        <p:nvGraphicFramePr>
          <p:cNvPr id="10" name="Chart 1"/>
          <p:cNvGraphicFramePr/>
          <p:nvPr/>
        </p:nvGraphicFramePr>
        <p:xfrm>
          <a:off x="6766560" y="1737360"/>
          <a:ext cx="498348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11" name="Shape 7"/>
          <p:cNvSpPr/>
          <p:nvPr/>
        </p:nvSpPr>
        <p:spPr>
          <a:xfrm>
            <a:off x="6858000" y="4663440"/>
            <a:ext cx="2377440" cy="1371600"/>
          </a:xfrm>
          <a:prstGeom prst="roundRect">
            <a:avLst>
              <a:gd name="adj" fmla="val 4000"/>
            </a:avLst>
          </a:prstGeom>
          <a:solidFill>
            <a:srgbClr val="0A2540"/>
          </a:solidFill>
          <a:ln w="12700">
            <a:solidFill>
              <a:srgbClr val="0A2540"/>
            </a:solidFill>
            <a:prstDash val="solid"/>
          </a:ln>
        </p:spPr>
      </p:sp>
      <p:sp>
        <p:nvSpPr>
          <p:cNvPr id="12" name="Text 8"/>
          <p:cNvSpPr txBox="1"/>
          <p:nvPr/>
        </p:nvSpPr>
        <p:spPr>
          <a:xfrm>
            <a:off x="6858000" y="4736592"/>
            <a:ext cx="2377440" cy="566928"/>
          </a:xfrm>
          <a:prstGeom prst="rect">
            <a:avLst/>
          </a:prstGeom>
          <a:noFill/>
          <a:ln/>
        </p:spPr>
        <p:txBody>
          <a:bodyPr wrap="square" lIns="0" tIns="0" rIns="0" bIns="0" rtlCol="0" anchor="ctr"/>
          <a:lstStyle/>
          <a:p>
            <a:pPr marL="0" indent="0" algn="ctr">
              <a:buNone/>
            </a:pPr>
            <a:r>
              <a:rPr lang="en-US" sz="2800" b="1" dirty="0">
                <a:solidFill>
                  <a:srgbClr val="FFFFFF"/>
                </a:solidFill>
                <a:latin typeface="Malgun Gothic" pitchFamily="34" charset="0"/>
                <a:ea typeface="Malgun Gothic" pitchFamily="34" charset="-122"/>
                <a:cs typeface="Malgun Gothic" pitchFamily="34" charset="-120"/>
              </a:rPr>
              <a:t>89.3%</a:t>
            </a:r>
            <a:endParaRPr lang="en-US" sz="2800" dirty="0"/>
          </a:p>
        </p:txBody>
      </p:sp>
      <p:sp>
        <p:nvSpPr>
          <p:cNvPr id="13" name="Text 9"/>
          <p:cNvSpPr txBox="1"/>
          <p:nvPr/>
        </p:nvSpPr>
        <p:spPr>
          <a:xfrm>
            <a:off x="6858000" y="5349240"/>
            <a:ext cx="2377440" cy="548640"/>
          </a:xfrm>
          <a:prstGeom prst="rect">
            <a:avLst/>
          </a:prstGeom>
          <a:noFill/>
          <a:ln/>
        </p:spPr>
        <p:txBody>
          <a:bodyPr wrap="square" lIns="0" tIns="0" rIns="0" bIns="0" rtlCol="0" anchor="ctr"/>
          <a:lstStyle/>
          <a:p>
            <a:pPr marL="0" indent="0" algn="ctr">
              <a:buNone/>
            </a:pPr>
            <a:r>
              <a:rPr lang="en-US" sz="1100" dirty="0">
                <a:solidFill>
                  <a:srgbClr val="C9D4E0"/>
                </a:solidFill>
                <a:latin typeface="Malgun Gothic" pitchFamily="34" charset="0"/>
                <a:ea typeface="Malgun Gothic" pitchFamily="34" charset="-122"/>
                <a:cs typeface="Malgun Gothic" pitchFamily="34" charset="-120"/>
              </a:rPr>
              <a:t>정확 일치 (738장 기준)</a:t>
            </a:r>
            <a:endParaRPr lang="en-US" sz="1100" dirty="0"/>
          </a:p>
        </p:txBody>
      </p:sp>
      <p:sp>
        <p:nvSpPr>
          <p:cNvPr id="14" name="Shape 10"/>
          <p:cNvSpPr/>
          <p:nvPr/>
        </p:nvSpPr>
        <p:spPr>
          <a:xfrm>
            <a:off x="9372600" y="4663440"/>
            <a:ext cx="2331720" cy="1371600"/>
          </a:xfrm>
          <a:prstGeom prst="roundRect">
            <a:avLst>
              <a:gd name="adj" fmla="val 4000"/>
            </a:avLst>
          </a:prstGeom>
          <a:solidFill>
            <a:srgbClr val="F4F6F8"/>
          </a:solidFill>
          <a:ln w="12700">
            <a:solidFill>
              <a:srgbClr val="F4F6F8"/>
            </a:solidFill>
            <a:prstDash val="solid"/>
          </a:ln>
        </p:spPr>
      </p:sp>
      <p:sp>
        <p:nvSpPr>
          <p:cNvPr id="15" name="Text 11"/>
          <p:cNvSpPr txBox="1"/>
          <p:nvPr/>
        </p:nvSpPr>
        <p:spPr>
          <a:xfrm>
            <a:off x="9372600" y="4736592"/>
            <a:ext cx="2331720" cy="566928"/>
          </a:xfrm>
          <a:prstGeom prst="rect">
            <a:avLst/>
          </a:prstGeom>
          <a:noFill/>
          <a:ln/>
        </p:spPr>
        <p:txBody>
          <a:bodyPr wrap="square" lIns="0" tIns="0" rIns="0" bIns="0" rtlCol="0" anchor="ctr"/>
          <a:lstStyle/>
          <a:p>
            <a:pPr marL="0" indent="0" algn="ctr">
              <a:buNone/>
            </a:pPr>
            <a:r>
              <a:rPr lang="en-US" sz="2800" b="1" dirty="0">
                <a:solidFill>
                  <a:srgbClr val="FF6B00"/>
                </a:solidFill>
                <a:latin typeface="Malgun Gothic" pitchFamily="34" charset="0"/>
                <a:ea typeface="Malgun Gothic" pitchFamily="34" charset="-122"/>
                <a:cs typeface="Malgun Gothic" pitchFamily="34" charset="-120"/>
              </a:rPr>
              <a:t>0.074</a:t>
            </a:r>
            <a:endParaRPr lang="en-US" sz="2800" dirty="0"/>
          </a:p>
        </p:txBody>
      </p:sp>
      <p:sp>
        <p:nvSpPr>
          <p:cNvPr id="16" name="Text 12"/>
          <p:cNvSpPr txBox="1"/>
          <p:nvPr/>
        </p:nvSpPr>
        <p:spPr>
          <a:xfrm>
            <a:off x="9372600" y="5349240"/>
            <a:ext cx="2331720" cy="548640"/>
          </a:xfrm>
          <a:prstGeom prst="rect">
            <a:avLst/>
          </a:prstGeom>
          <a:noFill/>
          <a:ln/>
        </p:spPr>
        <p:txBody>
          <a:bodyPr wrap="square" lIns="0" tIns="0" rIns="0" bIns="0" rtlCol="0" anchor="ctr"/>
          <a:lstStyle/>
          <a:p>
            <a:pPr marL="0" indent="0" algn="ctr">
              <a:buNone/>
            </a:pPr>
            <a:r>
              <a:rPr lang="en-US" sz="1100" dirty="0">
                <a:solidFill>
                  <a:srgbClr val="5B6B7F"/>
                </a:solidFill>
                <a:latin typeface="Malgun Gothic" pitchFamily="34" charset="0"/>
                <a:ea typeface="Malgun Gothic" pitchFamily="34" charset="-122"/>
                <a:cs typeface="Malgun Gothic" pitchFamily="34" charset="-120"/>
              </a:rPr>
              <a:t>CRNN 문자 오류율 (CER)</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9">
    <p:bg>
      <p:bgPr>
        <a:solidFill>
          <a:srgbClr val="0A2540"/>
        </a:solidFill>
        <a:effectLst/>
      </p:bgPr>
    </p:bg>
    <p:spTree>
      <p:nvGrpSpPr>
        <p:cNvPr id="1" name=""/>
        <p:cNvGrpSpPr/>
        <p:nvPr/>
      </p:nvGrpSpPr>
      <p:grpSpPr>
        <a:xfrm>
          <a:off x="0" y="0"/>
          <a:ext cx="0" cy="0"/>
          <a:chOff x="0" y="0"/>
          <a:chExt cx="0" cy="0"/>
        </a:xfrm>
      </p:grpSpPr>
      <p:pic>
        <p:nvPicPr>
          <p:cNvPr id="2" name="Image 0" descr="/home/claude/v3/img/end_bg.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822960" y="2377440"/>
            <a:ext cx="2743200" cy="822960"/>
          </a:xfrm>
          <a:prstGeom prst="rect">
            <a:avLst/>
          </a:prstGeom>
          <a:noFill/>
          <a:ln/>
        </p:spPr>
        <p:txBody>
          <a:bodyPr wrap="square" lIns="0" tIns="0" rIns="0" bIns="0" rtlCol="0" anchor="ctr"/>
          <a:lstStyle/>
          <a:p>
            <a:pPr marL="0" indent="0" algn="l">
              <a:buNone/>
            </a:pPr>
            <a:r>
              <a:rPr lang="en-US" sz="4800" b="1" dirty="0">
                <a:solidFill>
                  <a:srgbClr val="FF6B00"/>
                </a:solidFill>
                <a:latin typeface="Malgun Gothic" pitchFamily="34" charset="0"/>
                <a:ea typeface="Malgun Gothic" pitchFamily="34" charset="-122"/>
                <a:cs typeface="Malgun Gothic" pitchFamily="34" charset="-120"/>
              </a:rPr>
              <a:t>06</a:t>
            </a:r>
            <a:endParaRPr lang="en-US" sz="4800" dirty="0"/>
          </a:p>
        </p:txBody>
      </p:sp>
      <p:sp>
        <p:nvSpPr>
          <p:cNvPr id="4" name="Text 1"/>
          <p:cNvSpPr txBox="1"/>
          <p:nvPr/>
        </p:nvSpPr>
        <p:spPr>
          <a:xfrm>
            <a:off x="822960" y="3200400"/>
            <a:ext cx="10058400"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Malgun Gothic" pitchFamily="34" charset="0"/>
                <a:ea typeface="Malgun Gothic" pitchFamily="34" charset="-122"/>
                <a:cs typeface="Malgun Gothic" pitchFamily="34" charset="-120"/>
              </a:rPr>
              <a:t>시연</a:t>
            </a:r>
            <a:endParaRPr lang="en-US" sz="3600" dirty="0"/>
          </a:p>
        </p:txBody>
      </p:sp>
      <p:sp>
        <p:nvSpPr>
          <p:cNvPr id="5" name="Text 2"/>
          <p:cNvSpPr txBox="1"/>
          <p:nvPr/>
        </p:nvSpPr>
        <p:spPr>
          <a:xfrm>
            <a:off x="822960" y="3931920"/>
            <a:ext cx="10058400" cy="365760"/>
          </a:xfrm>
          <a:prstGeom prst="rect">
            <a:avLst/>
          </a:prstGeom>
          <a:noFill/>
          <a:ln/>
        </p:spPr>
        <p:txBody>
          <a:bodyPr wrap="square" lIns="0" tIns="0" rIns="0" bIns="0" rtlCol="0" anchor="ctr"/>
          <a:lstStyle/>
          <a:p>
            <a:pPr marL="0" indent="0" algn="l">
              <a:buNone/>
            </a:pPr>
            <a:r>
              <a:rPr lang="en-US" sz="1400" dirty="0">
                <a:solidFill>
                  <a:srgbClr val="C9D6E3"/>
                </a:solidFill>
                <a:latin typeface="Malgun Gothic" pitchFamily="34" charset="0"/>
                <a:ea typeface="Malgun Gothic" pitchFamily="34" charset="-122"/>
                <a:cs typeface="Malgun Gothic" pitchFamily="34" charset="-120"/>
              </a:rPr>
              <a:t>게이트 진입 → 상하차 → 과적 검사 → 출차</a:t>
            </a:r>
            <a:endParaRPr lang="en-US" sz="1400" dirty="0"/>
          </a:p>
        </p:txBody>
      </p:sp>
      <p:sp>
        <p:nvSpPr>
          <p:cNvPr id="6" name="Shape 3"/>
          <p:cNvSpPr/>
          <p:nvPr/>
        </p:nvSpPr>
        <p:spPr>
          <a:xfrm>
            <a:off x="822960" y="4526280"/>
            <a:ext cx="2011680" cy="0"/>
          </a:xfrm>
          <a:prstGeom prst="line">
            <a:avLst/>
          </a:prstGeom>
          <a:noFill/>
          <a:ln w="38100">
            <a:solidFill>
              <a:srgbClr val="FF6B00"/>
            </a:solidFill>
            <a:prstDash val="solid"/>
          </a:ln>
        </p:spPr>
      </p:sp>
      <p:sp>
        <p:nvSpPr>
          <p:cNvPr id="7" name="Text 4"/>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8FA3BA"/>
                </a:solidFill>
                <a:latin typeface="Malgun Gothic" pitchFamily="34" charset="0"/>
                <a:ea typeface="Malgun Gothic" pitchFamily="34" charset="-122"/>
                <a:cs typeface="Malgun Gothic" pitchFamily="34" charset="-120"/>
              </a:rPr>
              <a:t>S Cargo  ·  못먹어도 S카고</a:t>
            </a:r>
            <a:endParaRPr lang="en-US" sz="900" dirty="0"/>
          </a:p>
        </p:txBody>
      </p:sp>
      <p:sp>
        <p:nvSpPr>
          <p:cNvPr id="8" name="Text 5"/>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8FA3BA"/>
                </a:solidFill>
                <a:latin typeface="Malgun Gothic" pitchFamily="34" charset="0"/>
                <a:ea typeface="Malgun Gothic" pitchFamily="34" charset="-122"/>
                <a:cs typeface="Malgun Gothic" pitchFamily="34" charset="-120"/>
              </a:rPr>
              <a:t>29</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0A2540"/>
        </a:solidFill>
        <a:effectLst/>
      </p:bgPr>
    </p:bg>
    <p:spTree>
      <p:nvGrpSpPr>
        <p:cNvPr id="1" name=""/>
        <p:cNvGrpSpPr/>
        <p:nvPr/>
      </p:nvGrpSpPr>
      <p:grpSpPr>
        <a:xfrm>
          <a:off x="0" y="0"/>
          <a:ext cx="0" cy="0"/>
          <a:chOff x="0" y="0"/>
          <a:chExt cx="0" cy="0"/>
        </a:xfrm>
      </p:grpSpPr>
      <p:pic>
        <p:nvPicPr>
          <p:cNvPr id="2" name="Image 0" descr="/home/claude/v3/img/end_bg.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822960" y="2377440"/>
            <a:ext cx="2743200" cy="822960"/>
          </a:xfrm>
          <a:prstGeom prst="rect">
            <a:avLst/>
          </a:prstGeom>
          <a:noFill/>
          <a:ln/>
        </p:spPr>
        <p:txBody>
          <a:bodyPr wrap="square" lIns="0" tIns="0" rIns="0" bIns="0" rtlCol="0" anchor="ctr"/>
          <a:lstStyle/>
          <a:p>
            <a:pPr marL="0" indent="0" algn="l">
              <a:buNone/>
            </a:pPr>
            <a:r>
              <a:rPr lang="en-US" sz="4800" b="1" dirty="0">
                <a:solidFill>
                  <a:srgbClr val="FF6B00"/>
                </a:solidFill>
                <a:latin typeface="Malgun Gothic" pitchFamily="34" charset="0"/>
                <a:ea typeface="Malgun Gothic" pitchFamily="34" charset="-122"/>
                <a:cs typeface="Malgun Gothic" pitchFamily="34" charset="-120"/>
              </a:rPr>
              <a:t>05</a:t>
            </a:r>
            <a:endParaRPr lang="en-US" sz="4800" dirty="0"/>
          </a:p>
        </p:txBody>
      </p:sp>
      <p:sp>
        <p:nvSpPr>
          <p:cNvPr id="4" name="Text 1"/>
          <p:cNvSpPr txBox="1"/>
          <p:nvPr/>
        </p:nvSpPr>
        <p:spPr>
          <a:xfrm>
            <a:off x="822960" y="3200400"/>
            <a:ext cx="10058400"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Malgun Gothic" pitchFamily="34" charset="0"/>
                <a:ea typeface="Malgun Gothic" pitchFamily="34" charset="-122"/>
                <a:cs typeface="Malgun Gothic" pitchFamily="34" charset="-120"/>
              </a:rPr>
              <a:t>트러블슈팅 및 향후 계획</a:t>
            </a:r>
            <a:endParaRPr lang="en-US" sz="3600" dirty="0"/>
          </a:p>
        </p:txBody>
      </p:sp>
      <p:sp>
        <p:nvSpPr>
          <p:cNvPr id="5" name="Text 2"/>
          <p:cNvSpPr txBox="1"/>
          <p:nvPr/>
        </p:nvSpPr>
        <p:spPr>
          <a:xfrm>
            <a:off x="822960" y="3931920"/>
            <a:ext cx="10058400" cy="365760"/>
          </a:xfrm>
          <a:prstGeom prst="rect">
            <a:avLst/>
          </a:prstGeom>
          <a:noFill/>
          <a:ln/>
        </p:spPr>
        <p:txBody>
          <a:bodyPr wrap="square" lIns="0" tIns="0" rIns="0" bIns="0" rtlCol="0" anchor="ctr"/>
          <a:lstStyle/>
          <a:p>
            <a:pPr marL="0" indent="0" algn="l">
              <a:buNone/>
            </a:pPr>
            <a:r>
              <a:rPr lang="en-US" sz="1400" dirty="0">
                <a:solidFill>
                  <a:srgbClr val="C9D6E3"/>
                </a:solidFill>
                <a:latin typeface="Malgun Gothic" pitchFamily="34" charset="0"/>
                <a:ea typeface="Malgun Gothic" pitchFamily="34" charset="-122"/>
                <a:cs typeface="Malgun Gothic" pitchFamily="34" charset="-120"/>
              </a:rPr>
              <a:t>번호판 인식 개선 과정 · 성과와 한계 · 2차 확장 계획</a:t>
            </a:r>
            <a:endParaRPr lang="en-US" sz="1400" dirty="0"/>
          </a:p>
        </p:txBody>
      </p:sp>
      <p:sp>
        <p:nvSpPr>
          <p:cNvPr id="6" name="Shape 3"/>
          <p:cNvSpPr/>
          <p:nvPr/>
        </p:nvSpPr>
        <p:spPr>
          <a:xfrm>
            <a:off x="822960" y="4526280"/>
            <a:ext cx="2011680" cy="0"/>
          </a:xfrm>
          <a:prstGeom prst="line">
            <a:avLst/>
          </a:prstGeom>
          <a:noFill/>
          <a:ln w="38100">
            <a:solidFill>
              <a:srgbClr val="FF6B00"/>
            </a:solidFill>
            <a:prstDash val="solid"/>
          </a:ln>
        </p:spPr>
      </p:sp>
      <p:sp>
        <p:nvSpPr>
          <p:cNvPr id="7" name="Text 4"/>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8FA3BA"/>
                </a:solidFill>
                <a:latin typeface="Malgun Gothic" pitchFamily="34" charset="0"/>
                <a:ea typeface="Malgun Gothic" pitchFamily="34" charset="-122"/>
                <a:cs typeface="Malgun Gothic" pitchFamily="34" charset="-120"/>
              </a:rPr>
              <a:t>S Cargo  ·  못먹어도 S카고</a:t>
            </a:r>
            <a:endParaRPr lang="en-US" sz="900" dirty="0"/>
          </a:p>
        </p:txBody>
      </p:sp>
      <p:sp>
        <p:nvSpPr>
          <p:cNvPr id="8" name="Text 5"/>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8FA3BA"/>
                </a:solidFill>
                <a:latin typeface="Malgun Gothic" pitchFamily="34" charset="0"/>
                <a:ea typeface="Malgun Gothic" pitchFamily="34" charset="-122"/>
                <a:cs typeface="Malgun Gothic"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Malgun Gothic" pitchFamily="34" charset="0"/>
                <a:ea typeface="Malgun Gothic" pitchFamily="34" charset="-122"/>
                <a:cs typeface="Malgun Gothic" pitchFamily="34" charset="-120"/>
              </a:rPr>
              <a:t>05  트러블슈팅</a:t>
            </a:r>
            <a:endParaRPr lang="en-US" sz="1100" dirty="0"/>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Malgun Gothic" pitchFamily="34" charset="0"/>
                <a:ea typeface="Malgun Gothic" pitchFamily="34" charset="-122"/>
                <a:cs typeface="Malgun Gothic" pitchFamily="34" charset="-120"/>
              </a:rPr>
              <a:t>번호판 인식 개선 과정</a:t>
            </a:r>
            <a:endParaRPr lang="en-US" sz="2600" dirty="0"/>
          </a:p>
        </p:txBody>
      </p:sp>
      <p:sp>
        <p:nvSpPr>
          <p:cNvPr id="4" name="Text 2"/>
          <p:cNvSpPr txBox="1"/>
          <p:nvPr/>
        </p:nvSpPr>
        <p:spPr>
          <a:xfrm>
            <a:off x="548640" y="1143000"/>
            <a:ext cx="10972800" cy="320040"/>
          </a:xfrm>
          <a:prstGeom prst="rect">
            <a:avLst/>
          </a:prstGeom>
          <a:noFill/>
          <a:ln/>
        </p:spPr>
        <p:txBody>
          <a:bodyPr wrap="square" lIns="0" tIns="0" rIns="0" bIns="0" rtlCol="0" anchor="ctr"/>
          <a:lstStyle/>
          <a:p>
            <a:pPr marL="0" indent="0" algn="l">
              <a:buNone/>
            </a:pPr>
            <a:r>
              <a:rPr lang="en-US" sz="1300" dirty="0">
                <a:solidFill>
                  <a:srgbClr val="5B6B7F"/>
                </a:solidFill>
                <a:latin typeface="Malgun Gothic" pitchFamily="34" charset="0"/>
                <a:ea typeface="Malgun Gothic" pitchFamily="34" charset="-122"/>
                <a:cs typeface="Malgun Gothic" pitchFamily="34" charset="-120"/>
              </a:rPr>
              <a:t>위치 검출은 초반에 잡혔고, 글자 인식에서 여러 번 막혔습니다</a:t>
            </a:r>
            <a:endParaRPr lang="en-US" sz="1300" dirty="0"/>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Malgun Gothic" pitchFamily="34" charset="0"/>
                <a:ea typeface="Malgun Gothic" pitchFamily="34" charset="-122"/>
                <a:cs typeface="Malgun Gothic" pitchFamily="34" charset="-120"/>
              </a:rPr>
              <a:t>S Cargo  ·  못먹어도 S카고</a:t>
            </a:r>
            <a:endParaRPr lang="en-US" sz="900" dirty="0"/>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Malgun Gothic" pitchFamily="34" charset="0"/>
                <a:ea typeface="Malgun Gothic" pitchFamily="34" charset="-122"/>
                <a:cs typeface="Malgun Gothic" pitchFamily="34" charset="-120"/>
              </a:rPr>
              <a:t>25</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201400" cy="3840480"/>
        </p:xfrm>
        <a:graphic>
          <a:graphicData uri="http://schemas.openxmlformats.org/drawingml/2006/table">
            <a:tbl>
              <a:tblPr/>
              <a:tblGrid>
                <a:gridCol w="8686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611880">
                  <a:extLst>
                    <a:ext uri="{9D8B030D-6E8A-4147-A177-3AD203B41FA5}">
                      <a16:colId xmlns:a16="http://schemas.microsoft.com/office/drawing/2014/main" val="20002"/>
                    </a:ext>
                  </a:extLst>
                </a:gridCol>
                <a:gridCol w="3611880">
                  <a:extLst>
                    <a:ext uri="{9D8B030D-6E8A-4147-A177-3AD203B41FA5}">
                      <a16:colId xmlns:a16="http://schemas.microsoft.com/office/drawing/2014/main" val="20003"/>
                    </a:ext>
                  </a:extLst>
                </a:gridCol>
              </a:tblGrid>
              <a:tr h="640080">
                <a:tc>
                  <a:txBody>
                    <a:bodyPr/>
                    <a:lstStyle/>
                    <a:p>
                      <a:pPr marL="0" indent="0" algn="ctr">
                        <a:buNone/>
                      </a:pPr>
                      <a:r>
                        <a:rPr lang="en-US" sz="1100" dirty="0">
                          <a:solidFill>
                            <a:srgbClr val="FFFFFF"/>
                          </a:solidFill>
                          <a:latin typeface="Malgun Gothic" pitchFamily="34" charset="0"/>
                          <a:ea typeface="Malgun Gothic" pitchFamily="34" charset="-122"/>
                          <a:cs typeface="Malgun Gothic" pitchFamily="34" charset="-120"/>
                        </a:rPr>
                        <a:t>시도</a:t>
                      </a:r>
                      <a:endParaRPr lang="en-US" sz="110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0A2540"/>
                    </a:solidFill>
                  </a:tcPr>
                </a:tc>
                <a:tc>
                  <a:txBody>
                    <a:bodyPr/>
                    <a:lstStyle/>
                    <a:p>
                      <a:pPr marL="0" indent="0" algn="ctr">
                        <a:buNone/>
                      </a:pPr>
                      <a:r>
                        <a:rPr lang="en-US" sz="1100" dirty="0">
                          <a:solidFill>
                            <a:srgbClr val="FFFFFF"/>
                          </a:solidFill>
                          <a:latin typeface="Malgun Gothic" pitchFamily="34" charset="0"/>
                          <a:ea typeface="Malgun Gothic" pitchFamily="34" charset="-122"/>
                          <a:cs typeface="Malgun Gothic" pitchFamily="34" charset="-120"/>
                        </a:rPr>
                        <a:t>문제</a:t>
                      </a:r>
                      <a:endParaRPr lang="en-US" sz="110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0A2540"/>
                    </a:solidFill>
                  </a:tcPr>
                </a:tc>
                <a:tc>
                  <a:txBody>
                    <a:bodyPr/>
                    <a:lstStyle/>
                    <a:p>
                      <a:pPr marL="0" indent="0" algn="ctr">
                        <a:buNone/>
                      </a:pPr>
                      <a:r>
                        <a:rPr lang="en-US" sz="1100" dirty="0">
                          <a:solidFill>
                            <a:srgbClr val="FFFFFF"/>
                          </a:solidFill>
                          <a:latin typeface="Malgun Gothic" pitchFamily="34" charset="0"/>
                          <a:ea typeface="Malgun Gothic" pitchFamily="34" charset="-122"/>
                          <a:cs typeface="Malgun Gothic" pitchFamily="34" charset="-120"/>
                        </a:rPr>
                        <a:t>원인</a:t>
                      </a:r>
                      <a:endParaRPr lang="en-US" sz="110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0A2540"/>
                    </a:solidFill>
                  </a:tcPr>
                </a:tc>
                <a:tc>
                  <a:txBody>
                    <a:bodyPr/>
                    <a:lstStyle/>
                    <a:p>
                      <a:pPr marL="0" indent="0" algn="ctr">
                        <a:buNone/>
                      </a:pPr>
                      <a:r>
                        <a:rPr lang="en-US" sz="1100" dirty="0">
                          <a:solidFill>
                            <a:srgbClr val="FFFFFF"/>
                          </a:solidFill>
                          <a:latin typeface="Malgun Gothic" pitchFamily="34" charset="0"/>
                          <a:ea typeface="Malgun Gothic" pitchFamily="34" charset="-122"/>
                          <a:cs typeface="Malgun Gothic" pitchFamily="34" charset="-120"/>
                        </a:rPr>
                        <a:t>조치</a:t>
                      </a:r>
                      <a:endParaRPr lang="en-US" sz="110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0A2540"/>
                    </a:solidFill>
                  </a:tcPr>
                </a:tc>
                <a:extLst>
                  <a:ext uri="{0D108BD9-81ED-4DB2-BD59-A6C34878D82A}">
                    <a16:rowId xmlns:a16="http://schemas.microsoft.com/office/drawing/2014/main" val="10000"/>
                  </a:ext>
                </a:extLst>
              </a:tr>
              <a:tr h="640080">
                <a:tc>
                  <a:txBody>
                    <a:bodyPr/>
                    <a:lstStyle/>
                    <a:p>
                      <a:pPr marL="0" indent="0" algn="ctr">
                        <a:buNone/>
                      </a:pPr>
                      <a:r>
                        <a:rPr lang="en-US" sz="1100" dirty="0">
                          <a:solidFill>
                            <a:srgbClr val="0A2540"/>
                          </a:solidFill>
                          <a:latin typeface="Malgun Gothic" pitchFamily="34" charset="0"/>
                          <a:ea typeface="Malgun Gothic" pitchFamily="34" charset="-122"/>
                          <a:cs typeface="Malgun Gothic" pitchFamily="34" charset="-120"/>
                        </a:rPr>
                        <a:t>1차</a:t>
                      </a:r>
                      <a:endParaRPr lang="en-US" sz="110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marL="0" indent="0" algn="l">
                        <a:buNone/>
                      </a:pPr>
                      <a:r>
                        <a:rPr lang="en-US" sz="1100" dirty="0">
                          <a:solidFill>
                            <a:srgbClr val="0A2540"/>
                          </a:solidFill>
                          <a:latin typeface="Malgun Gothic" pitchFamily="34" charset="0"/>
                          <a:ea typeface="Malgun Gothic" pitchFamily="34" charset="-122"/>
                          <a:cs typeface="Malgun Gothic" pitchFamily="34" charset="-120"/>
                        </a:rPr>
                        <a:t>위치 검출 24/25 성공, 글자 인식 0/25</a:t>
                      </a:r>
                      <a:endParaRPr lang="en-US" sz="110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A2540"/>
                          </a:solidFill>
                          <a:latin typeface="Malgun Gothic" pitchFamily="34" charset="0"/>
                          <a:ea typeface="Malgun Gothic" pitchFamily="34" charset="-122"/>
                          <a:cs typeface="Malgun Gothic" pitchFamily="34" charset="-120"/>
                        </a:rPr>
                        <a:t>Roboflow export 시 512×512 리사이즈로 번호판이 25×12px까지 축소</a:t>
                      </a:r>
                      <a:endParaRPr lang="en-US" sz="110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A2540"/>
                          </a:solidFill>
                          <a:latin typeface="Malgun Gothic" pitchFamily="34" charset="0"/>
                          <a:ea typeface="Malgun Gothic" pitchFamily="34" charset="-122"/>
                          <a:cs typeface="Malgun Gothic" pitchFamily="34" charset="-120"/>
                        </a:rPr>
                        <a:t>리사이즈 없이 원본 해상도로 재export 후 재학습</a:t>
                      </a:r>
                      <a:endParaRPr lang="en-US" sz="110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ctr">
                        <a:buNone/>
                      </a:pPr>
                      <a:r>
                        <a:rPr lang="en-US" sz="1100" dirty="0">
                          <a:solidFill>
                            <a:srgbClr val="0A2540"/>
                          </a:solidFill>
                          <a:latin typeface="Malgun Gothic" pitchFamily="34" charset="0"/>
                          <a:ea typeface="Malgun Gothic" pitchFamily="34" charset="-122"/>
                          <a:cs typeface="Malgun Gothic" pitchFamily="34" charset="-120"/>
                        </a:rPr>
                        <a:t>2차</a:t>
                      </a:r>
                      <a:endParaRPr lang="en-US" sz="110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marL="0" indent="0" algn="l">
                        <a:buNone/>
                      </a:pPr>
                      <a:r>
                        <a:rPr lang="en-US" sz="1100" dirty="0">
                          <a:solidFill>
                            <a:srgbClr val="0A2540"/>
                          </a:solidFill>
                          <a:latin typeface="Malgun Gothic" pitchFamily="34" charset="0"/>
                          <a:ea typeface="Malgun Gothic" pitchFamily="34" charset="-122"/>
                          <a:cs typeface="Malgun Gothic" pitchFamily="34" charset="-120"/>
                        </a:rPr>
                        <a:t>선명해졌지만 다른 글자로 오인식</a:t>
                      </a:r>
                      <a:endParaRPr lang="en-US" sz="110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A2540"/>
                          </a:solidFill>
                          <a:latin typeface="Malgun Gothic" pitchFamily="34" charset="0"/>
                          <a:ea typeface="Malgun Gothic" pitchFamily="34" charset="-122"/>
                          <a:cs typeface="Malgun Gothic" pitchFamily="34" charset="-120"/>
                        </a:rPr>
                        <a:t>범용 OCR(EasyOCR)의 한계, 한 글자만 틀려도 패턴 검사 탈락</a:t>
                      </a:r>
                      <a:endParaRPr lang="en-US" sz="110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A2540"/>
                          </a:solidFill>
                          <a:latin typeface="Malgun Gothic" pitchFamily="34" charset="0"/>
                          <a:ea typeface="Malgun Gothic" pitchFamily="34" charset="-122"/>
                          <a:cs typeface="Malgun Gothic" pitchFamily="34" charset="-120"/>
                        </a:rPr>
                        <a:t>번호판 크롭 + 확대, 오인식 로그 분석 → 전용 CRNN 직접 학습</a:t>
                      </a:r>
                      <a:endParaRPr lang="en-US" sz="110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0080">
                <a:tc>
                  <a:txBody>
                    <a:bodyPr/>
                    <a:lstStyle/>
                    <a:p>
                      <a:pPr marL="0" indent="0" algn="ctr">
                        <a:buNone/>
                      </a:pPr>
                      <a:r>
                        <a:rPr lang="en-US" sz="1100" dirty="0">
                          <a:solidFill>
                            <a:srgbClr val="0A2540"/>
                          </a:solidFill>
                          <a:latin typeface="Malgun Gothic" pitchFamily="34" charset="0"/>
                          <a:ea typeface="Malgun Gothic" pitchFamily="34" charset="-122"/>
                          <a:cs typeface="Malgun Gothic" pitchFamily="34" charset="-120"/>
                        </a:rPr>
                        <a:t>3차</a:t>
                      </a:r>
                      <a:endParaRPr lang="en-US" sz="110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marL="0" indent="0" algn="l">
                        <a:buNone/>
                      </a:pPr>
                      <a:r>
                        <a:rPr lang="en-US" sz="1100" dirty="0">
                          <a:solidFill>
                            <a:srgbClr val="0A2540"/>
                          </a:solidFill>
                          <a:latin typeface="Malgun Gothic" pitchFamily="34" charset="0"/>
                          <a:ea typeface="Malgun Gothic" pitchFamily="34" charset="-122"/>
                          <a:cs typeface="Malgun Gothic" pitchFamily="34" charset="-120"/>
                        </a:rPr>
                        <a:t>학습 데이터 부족, 번호판 외 사각형 오탐</a:t>
                      </a:r>
                      <a:endParaRPr lang="en-US" sz="110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A2540"/>
                          </a:solidFill>
                          <a:latin typeface="Malgun Gothic" pitchFamily="34" charset="0"/>
                          <a:ea typeface="Malgun Gothic" pitchFamily="34" charset="-122"/>
                          <a:cs typeface="Malgun Gothic" pitchFamily="34" charset="-120"/>
                        </a:rPr>
                        <a:t>공개 데이터는 번호판 블라인드 처리, 화물차 사진 자체가 적음</a:t>
                      </a:r>
                      <a:endParaRPr lang="en-US" sz="110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A2540"/>
                          </a:solidFill>
                          <a:latin typeface="Malgun Gothic" pitchFamily="34" charset="0"/>
                          <a:ea typeface="Malgun Gothic" pitchFamily="34" charset="-122"/>
                          <a:cs typeface="Malgun Gothic" pitchFamily="34" charset="-120"/>
                        </a:rPr>
                        <a:t>인천신항 직접 촬영 · 검수 데이터 237장 추가, YOLO11 재학습</a:t>
                      </a:r>
                      <a:endParaRPr lang="en-US" sz="110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lgn="ctr">
                        <a:buNone/>
                      </a:pPr>
                      <a:r>
                        <a:rPr lang="en-US" sz="1100" dirty="0">
                          <a:solidFill>
                            <a:srgbClr val="0A2540"/>
                          </a:solidFill>
                          <a:latin typeface="Malgun Gothic" pitchFamily="34" charset="0"/>
                          <a:ea typeface="Malgun Gothic" pitchFamily="34" charset="-122"/>
                          <a:cs typeface="Malgun Gothic" pitchFamily="34" charset="-120"/>
                        </a:rPr>
                        <a:t>4차</a:t>
                      </a:r>
                      <a:endParaRPr lang="en-US" sz="110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marL="0" indent="0" algn="l">
                        <a:buNone/>
                      </a:pPr>
                      <a:r>
                        <a:rPr lang="en-US" sz="1100" dirty="0">
                          <a:solidFill>
                            <a:srgbClr val="0A2540"/>
                          </a:solidFill>
                          <a:latin typeface="Malgun Gothic" pitchFamily="34" charset="0"/>
                          <a:ea typeface="Malgun Gothic" pitchFamily="34" charset="-122"/>
                          <a:cs typeface="Malgun Gothic" pitchFamily="34" charset="-120"/>
                        </a:rPr>
                        <a:t>2줄 번호판 정확도 84.2%</a:t>
                      </a:r>
                      <a:endParaRPr lang="en-US" sz="110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A2540"/>
                          </a:solidFill>
                          <a:latin typeface="Malgun Gothic" pitchFamily="34" charset="0"/>
                          <a:ea typeface="Malgun Gothic" pitchFamily="34" charset="-122"/>
                          <a:cs typeface="Malgun Gothic" pitchFamily="34" charset="-120"/>
                        </a:rPr>
                        <a:t>767장 중 29장이 해상도 8배 · 노란 영업용 · 후면 촬영 (정확도 20.7%)</a:t>
                      </a:r>
                      <a:endParaRPr lang="en-US" sz="110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A2540"/>
                          </a:solidFill>
                          <a:latin typeface="Malgun Gothic" pitchFamily="34" charset="0"/>
                          <a:ea typeface="Malgun Gothic" pitchFamily="34" charset="-122"/>
                          <a:cs typeface="Malgun Gothic" pitchFamily="34" charset="-120"/>
                        </a:rPr>
                        <a:t>데이터 대표성 문제로 확정 → 추론 해상도 적응 코드, 재학습 대상 분류</a:t>
                      </a:r>
                      <a:endParaRPr lang="en-US" sz="110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40080">
                <a:tc>
                  <a:txBody>
                    <a:bodyPr/>
                    <a:lstStyle/>
                    <a:p>
                      <a:pPr marL="0" indent="0" algn="ctr">
                        <a:buNone/>
                      </a:pPr>
                      <a:r>
                        <a:rPr lang="en-US" sz="1100" dirty="0">
                          <a:solidFill>
                            <a:srgbClr val="0A2540"/>
                          </a:solidFill>
                          <a:latin typeface="Malgun Gothic" pitchFamily="34" charset="0"/>
                          <a:ea typeface="Malgun Gothic" pitchFamily="34" charset="-122"/>
                          <a:cs typeface="Malgun Gothic" pitchFamily="34" charset="-120"/>
                        </a:rPr>
                        <a:t>매칭</a:t>
                      </a:r>
                      <a:endParaRPr lang="en-US" sz="110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4F6F8"/>
                    </a:solidFill>
                  </a:tcPr>
                </a:tc>
                <a:tc>
                  <a:txBody>
                    <a:bodyPr/>
                    <a:lstStyle/>
                    <a:p>
                      <a:pPr marL="0" indent="0" algn="l">
                        <a:buNone/>
                      </a:pPr>
                      <a:r>
                        <a:rPr lang="en-US" sz="1100" dirty="0">
                          <a:solidFill>
                            <a:srgbClr val="0A2540"/>
                          </a:solidFill>
                          <a:latin typeface="Malgun Gothic" pitchFamily="34" charset="0"/>
                          <a:ea typeface="Malgun Gothic" pitchFamily="34" charset="-122"/>
                          <a:cs typeface="Malgun Gothic" pitchFamily="34" charset="-120"/>
                        </a:rPr>
                        <a:t>트레일러 번호판 인식 실패</a:t>
                      </a:r>
                      <a:endParaRPr lang="en-US" sz="110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A2540"/>
                          </a:solidFill>
                          <a:latin typeface="Malgun Gothic" pitchFamily="34" charset="0"/>
                          <a:ea typeface="Malgun Gothic" pitchFamily="34" charset="-122"/>
                          <a:cs typeface="Malgun Gothic" pitchFamily="34" charset="-120"/>
                        </a:rPr>
                        <a:t>트랙터 · 트레일러 번호판이 다르고 트레일러 번호판 상태 불량</a:t>
                      </a:r>
                      <a:endParaRPr lang="en-US" sz="110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A2540"/>
                          </a:solidFill>
                          <a:latin typeface="Malgun Gothic" pitchFamily="34" charset="0"/>
                          <a:ea typeface="Malgun Gothic" pitchFamily="34" charset="-122"/>
                          <a:cs typeface="Malgun Gothic" pitchFamily="34" charset="-120"/>
                        </a:rPr>
                        <a:t>화물차 뒷번호판 기준 대체 매칭으로 확정</a:t>
                      </a:r>
                      <a:endParaRPr lang="en-US" sz="1100" dirty="0">
                        <a:latin typeface="Malgun Gothic" charset="0"/>
                        <a:ea typeface="Malgun Gothic" charset="0"/>
                        <a:cs typeface="Malgun Gothic" charset="0"/>
                      </a:endParaRPr>
                    </a:p>
                  </a:txBody>
                  <a:tcPr anchor="ctr">
                    <a:lnL w="9525" cap="flat" cmpd="sng" algn="ctr">
                      <a:solidFill>
                        <a:srgbClr val="DCE3EA"/>
                      </a:solidFill>
                      <a:prstDash val="solid"/>
                      <a:round/>
                      <a:headEnd type="none" w="med" len="med"/>
                      <a:tailEnd type="none" w="med" len="med"/>
                    </a:lnL>
                    <a:lnR w="9525" cap="flat" cmpd="sng" algn="ctr">
                      <a:solidFill>
                        <a:srgbClr val="DCE3EA"/>
                      </a:solidFill>
                      <a:prstDash val="solid"/>
                      <a:round/>
                      <a:headEnd type="none" w="med" len="med"/>
                      <a:tailEnd type="none" w="med" len="med"/>
                    </a:lnR>
                    <a:lnT w="9525" cap="flat" cmpd="sng" algn="ctr">
                      <a:solidFill>
                        <a:srgbClr val="DCE3EA"/>
                      </a:solidFill>
                      <a:prstDash val="solid"/>
                      <a:round/>
                      <a:headEnd type="none" w="med" len="med"/>
                      <a:tailEnd type="none" w="med" len="med"/>
                    </a:lnT>
                    <a:lnB w="9525" cap="flat" cmpd="sng" algn="ctr">
                      <a:solidFill>
                        <a:srgbClr val="DCE3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Malgun Gothic" pitchFamily="34" charset="0"/>
                <a:ea typeface="Malgun Gothic" pitchFamily="34" charset="-122"/>
                <a:cs typeface="Malgun Gothic" pitchFamily="34" charset="-120"/>
              </a:rPr>
              <a:t>05  향후 계획</a:t>
            </a:r>
            <a:endParaRPr lang="en-US" sz="1100" dirty="0"/>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Malgun Gothic" pitchFamily="34" charset="0"/>
                <a:ea typeface="Malgun Gothic" pitchFamily="34" charset="-122"/>
                <a:cs typeface="Malgun Gothic" pitchFamily="34" charset="-120"/>
              </a:rPr>
              <a:t>성과와 한계</a:t>
            </a:r>
            <a:endParaRPr lang="en-US" sz="2600" dirty="0"/>
          </a:p>
        </p:txBody>
      </p:sp>
      <p:sp>
        <p:nvSpPr>
          <p:cNvPr id="4" name="Text 2"/>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Malgun Gothic" pitchFamily="34" charset="0"/>
                <a:ea typeface="Malgun Gothic" pitchFamily="34" charset="-122"/>
                <a:cs typeface="Malgun Gothic" pitchFamily="34" charset="-120"/>
              </a:rPr>
              <a:t>S Cargo  ·  못먹어도 S카고</a:t>
            </a:r>
            <a:endParaRPr lang="en-US" sz="900" dirty="0"/>
          </a:p>
        </p:txBody>
      </p:sp>
      <p:sp>
        <p:nvSpPr>
          <p:cNvPr id="5" name="Text 3"/>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Malgun Gothic" pitchFamily="34" charset="0"/>
                <a:ea typeface="Malgun Gothic" pitchFamily="34" charset="-122"/>
                <a:cs typeface="Malgun Gothic" pitchFamily="34" charset="-120"/>
              </a:rPr>
              <a:t>27</a:t>
            </a:r>
            <a:endParaRPr lang="en-US" sz="900" dirty="0"/>
          </a:p>
        </p:txBody>
      </p:sp>
      <p:sp>
        <p:nvSpPr>
          <p:cNvPr id="6" name="Text 4"/>
          <p:cNvSpPr txBox="1"/>
          <p:nvPr/>
        </p:nvSpPr>
        <p:spPr>
          <a:xfrm>
            <a:off x="502920" y="1371600"/>
            <a:ext cx="5486400" cy="365760"/>
          </a:xfrm>
          <a:prstGeom prst="rect">
            <a:avLst/>
          </a:prstGeom>
          <a:noFill/>
          <a:ln/>
        </p:spPr>
        <p:txBody>
          <a:bodyPr wrap="square" lIns="0" tIns="0" rIns="0" bIns="0" rtlCol="0" anchor="ctr"/>
          <a:lstStyle/>
          <a:p>
            <a:pPr marL="0" indent="0" algn="l">
              <a:buNone/>
            </a:pPr>
            <a:r>
              <a:rPr lang="en-US" sz="1700" b="1" dirty="0">
                <a:solidFill>
                  <a:srgbClr val="10B981"/>
                </a:solidFill>
                <a:latin typeface="Malgun Gothic" pitchFamily="34" charset="0"/>
                <a:ea typeface="Malgun Gothic" pitchFamily="34" charset="-122"/>
                <a:cs typeface="Malgun Gothic" pitchFamily="34" charset="-120"/>
              </a:rPr>
              <a:t>이번 1차에서 한 것</a:t>
            </a:r>
            <a:endParaRPr lang="en-US" sz="1700" dirty="0"/>
          </a:p>
        </p:txBody>
      </p:sp>
      <p:sp>
        <p:nvSpPr>
          <p:cNvPr id="7" name="Shape 5"/>
          <p:cNvSpPr/>
          <p:nvPr/>
        </p:nvSpPr>
        <p:spPr>
          <a:xfrm>
            <a:off x="502920" y="1874520"/>
            <a:ext cx="5486400" cy="658368"/>
          </a:xfrm>
          <a:prstGeom prst="roundRect">
            <a:avLst>
              <a:gd name="adj" fmla="val 8333"/>
            </a:avLst>
          </a:prstGeom>
          <a:solidFill>
            <a:srgbClr val="F4F6F8"/>
          </a:solidFill>
          <a:ln w="12700">
            <a:solidFill>
              <a:srgbClr val="F4F6F8"/>
            </a:solidFill>
            <a:prstDash val="solid"/>
          </a:ln>
        </p:spPr>
      </p:sp>
      <p:sp>
        <p:nvSpPr>
          <p:cNvPr id="8" name="Shape 6"/>
          <p:cNvSpPr/>
          <p:nvPr/>
        </p:nvSpPr>
        <p:spPr>
          <a:xfrm>
            <a:off x="502920" y="1874520"/>
            <a:ext cx="91440" cy="658368"/>
          </a:xfrm>
          <a:prstGeom prst="rect">
            <a:avLst/>
          </a:prstGeom>
          <a:solidFill>
            <a:srgbClr val="10B981"/>
          </a:solidFill>
          <a:ln w="12700">
            <a:solidFill>
              <a:srgbClr val="10B981"/>
            </a:solidFill>
            <a:prstDash val="solid"/>
          </a:ln>
        </p:spPr>
      </p:sp>
      <p:sp>
        <p:nvSpPr>
          <p:cNvPr id="9" name="Text 7"/>
          <p:cNvSpPr txBox="1"/>
          <p:nvPr/>
        </p:nvSpPr>
        <p:spPr>
          <a:xfrm>
            <a:off x="777240" y="1874520"/>
            <a:ext cx="5120640" cy="658368"/>
          </a:xfrm>
          <a:prstGeom prst="rect">
            <a:avLst/>
          </a:prstGeom>
          <a:noFill/>
          <a:ln/>
        </p:spPr>
        <p:txBody>
          <a:bodyPr wrap="square" lIns="0" tIns="0" rIns="0" bIns="0" rtlCol="0" anchor="ctr"/>
          <a:lstStyle/>
          <a:p>
            <a:pPr marL="0" indent="0" algn="l">
              <a:buNone/>
            </a:pPr>
            <a:r>
              <a:rPr lang="en-US" sz="1300" dirty="0">
                <a:solidFill>
                  <a:srgbClr val="0A2540"/>
                </a:solidFill>
                <a:latin typeface="Malgun Gothic" pitchFamily="34" charset="0"/>
                <a:ea typeface="Malgun Gothic" pitchFamily="34" charset="-122"/>
                <a:cs typeface="Malgun Gothic" pitchFamily="34" charset="-120"/>
              </a:rPr>
              <a:t>게이트 입출차를 번호판 OCR로 자동 처리 (입차 · 출차)</a:t>
            </a:r>
            <a:endParaRPr lang="en-US" sz="1300" dirty="0"/>
          </a:p>
        </p:txBody>
      </p:sp>
      <p:sp>
        <p:nvSpPr>
          <p:cNvPr id="10" name="Shape 8"/>
          <p:cNvSpPr/>
          <p:nvPr/>
        </p:nvSpPr>
        <p:spPr>
          <a:xfrm>
            <a:off x="502920" y="2660904"/>
            <a:ext cx="5486400" cy="658368"/>
          </a:xfrm>
          <a:prstGeom prst="roundRect">
            <a:avLst>
              <a:gd name="adj" fmla="val 8333"/>
            </a:avLst>
          </a:prstGeom>
          <a:solidFill>
            <a:srgbClr val="F4F6F8"/>
          </a:solidFill>
          <a:ln w="12700">
            <a:solidFill>
              <a:srgbClr val="F4F6F8"/>
            </a:solidFill>
            <a:prstDash val="solid"/>
          </a:ln>
        </p:spPr>
      </p:sp>
      <p:sp>
        <p:nvSpPr>
          <p:cNvPr id="11" name="Shape 9"/>
          <p:cNvSpPr/>
          <p:nvPr/>
        </p:nvSpPr>
        <p:spPr>
          <a:xfrm>
            <a:off x="502920" y="2660904"/>
            <a:ext cx="91440" cy="658368"/>
          </a:xfrm>
          <a:prstGeom prst="rect">
            <a:avLst/>
          </a:prstGeom>
          <a:solidFill>
            <a:srgbClr val="10B981"/>
          </a:solidFill>
          <a:ln w="12700">
            <a:solidFill>
              <a:srgbClr val="10B981"/>
            </a:solidFill>
            <a:prstDash val="solid"/>
          </a:ln>
        </p:spPr>
      </p:sp>
      <p:sp>
        <p:nvSpPr>
          <p:cNvPr id="12" name="Text 10"/>
          <p:cNvSpPr txBox="1"/>
          <p:nvPr/>
        </p:nvSpPr>
        <p:spPr>
          <a:xfrm>
            <a:off x="777240" y="2660904"/>
            <a:ext cx="5120640" cy="658368"/>
          </a:xfrm>
          <a:prstGeom prst="rect">
            <a:avLst/>
          </a:prstGeom>
          <a:noFill/>
          <a:ln/>
        </p:spPr>
        <p:txBody>
          <a:bodyPr wrap="square" lIns="0" tIns="0" rIns="0" bIns="0" rtlCol="0" anchor="ctr"/>
          <a:lstStyle/>
          <a:p>
            <a:pPr marL="0" indent="0" algn="l">
              <a:buNone/>
            </a:pPr>
            <a:r>
              <a:rPr lang="en-US" sz="1300" dirty="0">
                <a:solidFill>
                  <a:srgbClr val="0A2540"/>
                </a:solidFill>
                <a:latin typeface="Malgun Gothic" pitchFamily="34" charset="0"/>
                <a:ea typeface="Malgun Gothic" pitchFamily="34" charset="-122"/>
                <a:cs typeface="Malgun Gothic" pitchFamily="34" charset="-120"/>
              </a:rPr>
              <a:t>OCR 한 번으로 차량 · 적재기록 상태 자동 전환</a:t>
            </a:r>
            <a:endParaRPr lang="en-US" sz="1300" dirty="0"/>
          </a:p>
        </p:txBody>
      </p:sp>
      <p:sp>
        <p:nvSpPr>
          <p:cNvPr id="13" name="Shape 11"/>
          <p:cNvSpPr/>
          <p:nvPr/>
        </p:nvSpPr>
        <p:spPr>
          <a:xfrm>
            <a:off x="502920" y="3447288"/>
            <a:ext cx="5486400" cy="658368"/>
          </a:xfrm>
          <a:prstGeom prst="roundRect">
            <a:avLst>
              <a:gd name="adj" fmla="val 8333"/>
            </a:avLst>
          </a:prstGeom>
          <a:solidFill>
            <a:srgbClr val="F4F6F8"/>
          </a:solidFill>
          <a:ln w="12700">
            <a:solidFill>
              <a:srgbClr val="F4F6F8"/>
            </a:solidFill>
            <a:prstDash val="solid"/>
          </a:ln>
        </p:spPr>
      </p:sp>
      <p:sp>
        <p:nvSpPr>
          <p:cNvPr id="14" name="Shape 12"/>
          <p:cNvSpPr/>
          <p:nvPr/>
        </p:nvSpPr>
        <p:spPr>
          <a:xfrm>
            <a:off x="502920" y="3447288"/>
            <a:ext cx="91440" cy="658368"/>
          </a:xfrm>
          <a:prstGeom prst="rect">
            <a:avLst/>
          </a:prstGeom>
          <a:solidFill>
            <a:srgbClr val="10B981"/>
          </a:solidFill>
          <a:ln w="12700">
            <a:solidFill>
              <a:srgbClr val="10B981"/>
            </a:solidFill>
            <a:prstDash val="solid"/>
          </a:ln>
        </p:spPr>
      </p:sp>
      <p:sp>
        <p:nvSpPr>
          <p:cNvPr id="15" name="Text 13"/>
          <p:cNvSpPr txBox="1"/>
          <p:nvPr/>
        </p:nvSpPr>
        <p:spPr>
          <a:xfrm>
            <a:off x="777240" y="3447288"/>
            <a:ext cx="5120640" cy="658368"/>
          </a:xfrm>
          <a:prstGeom prst="rect">
            <a:avLst/>
          </a:prstGeom>
          <a:noFill/>
          <a:ln/>
        </p:spPr>
        <p:txBody>
          <a:bodyPr wrap="square" lIns="0" tIns="0" rIns="0" bIns="0" rtlCol="0" anchor="ctr"/>
          <a:lstStyle/>
          <a:p>
            <a:pPr marL="0" indent="0" algn="l">
              <a:buNone/>
            </a:pPr>
            <a:r>
              <a:rPr lang="en-US" sz="1300" dirty="0">
                <a:solidFill>
                  <a:srgbClr val="0A2540"/>
                </a:solidFill>
                <a:latin typeface="Malgun Gothic" pitchFamily="34" charset="0"/>
                <a:ea typeface="Malgun Gothic" pitchFamily="34" charset="-122"/>
                <a:cs typeface="Malgun Gothic" pitchFamily="34" charset="-120"/>
              </a:rPr>
              <a:t>검사소 축중 → 과적 판정 → 기록 · 알림까지 한 화면</a:t>
            </a:r>
            <a:endParaRPr lang="en-US" sz="1300" dirty="0"/>
          </a:p>
        </p:txBody>
      </p:sp>
      <p:sp>
        <p:nvSpPr>
          <p:cNvPr id="16" name="Shape 14"/>
          <p:cNvSpPr/>
          <p:nvPr/>
        </p:nvSpPr>
        <p:spPr>
          <a:xfrm>
            <a:off x="502920" y="4233672"/>
            <a:ext cx="5486400" cy="658368"/>
          </a:xfrm>
          <a:prstGeom prst="roundRect">
            <a:avLst>
              <a:gd name="adj" fmla="val 8333"/>
            </a:avLst>
          </a:prstGeom>
          <a:solidFill>
            <a:srgbClr val="F4F6F8"/>
          </a:solidFill>
          <a:ln w="12700">
            <a:solidFill>
              <a:srgbClr val="F4F6F8"/>
            </a:solidFill>
            <a:prstDash val="solid"/>
          </a:ln>
        </p:spPr>
      </p:sp>
      <p:sp>
        <p:nvSpPr>
          <p:cNvPr id="17" name="Shape 15"/>
          <p:cNvSpPr/>
          <p:nvPr/>
        </p:nvSpPr>
        <p:spPr>
          <a:xfrm>
            <a:off x="502920" y="4233672"/>
            <a:ext cx="91440" cy="658368"/>
          </a:xfrm>
          <a:prstGeom prst="rect">
            <a:avLst/>
          </a:prstGeom>
          <a:solidFill>
            <a:srgbClr val="10B981"/>
          </a:solidFill>
          <a:ln w="12700">
            <a:solidFill>
              <a:srgbClr val="10B981"/>
            </a:solidFill>
            <a:prstDash val="solid"/>
          </a:ln>
        </p:spPr>
      </p:sp>
      <p:sp>
        <p:nvSpPr>
          <p:cNvPr id="18" name="Text 16"/>
          <p:cNvSpPr txBox="1"/>
          <p:nvPr/>
        </p:nvSpPr>
        <p:spPr>
          <a:xfrm>
            <a:off x="777240" y="4233672"/>
            <a:ext cx="5120640" cy="658368"/>
          </a:xfrm>
          <a:prstGeom prst="rect">
            <a:avLst/>
          </a:prstGeom>
          <a:noFill/>
          <a:ln/>
        </p:spPr>
        <p:txBody>
          <a:bodyPr wrap="square" lIns="0" tIns="0" rIns="0" bIns="0" rtlCol="0" anchor="ctr"/>
          <a:lstStyle/>
          <a:p>
            <a:pPr marL="0" indent="0" algn="l">
              <a:buNone/>
            </a:pPr>
            <a:r>
              <a:rPr lang="en-US" sz="1300" dirty="0">
                <a:solidFill>
                  <a:srgbClr val="0A2540"/>
                </a:solidFill>
                <a:latin typeface="Malgun Gothic" pitchFamily="34" charset="0"/>
                <a:ea typeface="Malgun Gothic" pitchFamily="34" charset="-122"/>
                <a:cs typeface="Malgun Gothic" pitchFamily="34" charset="-120"/>
              </a:rPr>
              <a:t>관리자 · 운송사 · 기사 역할별 웹 화면 + 웹 알림</a:t>
            </a:r>
            <a:endParaRPr lang="en-US" sz="1300" dirty="0"/>
          </a:p>
        </p:txBody>
      </p:sp>
      <p:sp>
        <p:nvSpPr>
          <p:cNvPr id="19" name="Shape 17"/>
          <p:cNvSpPr/>
          <p:nvPr/>
        </p:nvSpPr>
        <p:spPr>
          <a:xfrm>
            <a:off x="502920" y="5020056"/>
            <a:ext cx="5486400" cy="658368"/>
          </a:xfrm>
          <a:prstGeom prst="roundRect">
            <a:avLst>
              <a:gd name="adj" fmla="val 8333"/>
            </a:avLst>
          </a:prstGeom>
          <a:solidFill>
            <a:srgbClr val="F4F6F8"/>
          </a:solidFill>
          <a:ln w="12700">
            <a:solidFill>
              <a:srgbClr val="F4F6F8"/>
            </a:solidFill>
            <a:prstDash val="solid"/>
          </a:ln>
        </p:spPr>
      </p:sp>
      <p:sp>
        <p:nvSpPr>
          <p:cNvPr id="20" name="Shape 18"/>
          <p:cNvSpPr/>
          <p:nvPr/>
        </p:nvSpPr>
        <p:spPr>
          <a:xfrm>
            <a:off x="502920" y="5020056"/>
            <a:ext cx="91440" cy="658368"/>
          </a:xfrm>
          <a:prstGeom prst="rect">
            <a:avLst/>
          </a:prstGeom>
          <a:solidFill>
            <a:srgbClr val="10B981"/>
          </a:solidFill>
          <a:ln w="12700">
            <a:solidFill>
              <a:srgbClr val="10B981"/>
            </a:solidFill>
            <a:prstDash val="solid"/>
          </a:ln>
        </p:spPr>
      </p:sp>
      <p:sp>
        <p:nvSpPr>
          <p:cNvPr id="21" name="Text 19"/>
          <p:cNvSpPr txBox="1"/>
          <p:nvPr/>
        </p:nvSpPr>
        <p:spPr>
          <a:xfrm>
            <a:off x="777240" y="5020056"/>
            <a:ext cx="5120640" cy="658368"/>
          </a:xfrm>
          <a:prstGeom prst="rect">
            <a:avLst/>
          </a:prstGeom>
          <a:noFill/>
          <a:ln/>
        </p:spPr>
        <p:txBody>
          <a:bodyPr wrap="square" lIns="0" tIns="0" rIns="0" bIns="0" rtlCol="0" anchor="ctr"/>
          <a:lstStyle/>
          <a:p>
            <a:pPr marL="0" indent="0" algn="l">
              <a:buNone/>
            </a:pPr>
            <a:r>
              <a:rPr lang="en-US" sz="1300" dirty="0">
                <a:solidFill>
                  <a:srgbClr val="0A2540"/>
                </a:solidFill>
                <a:latin typeface="Malgun Gothic" pitchFamily="34" charset="0"/>
                <a:ea typeface="Malgun Gothic" pitchFamily="34" charset="-122"/>
                <a:cs typeface="Malgun Gothic" pitchFamily="34" charset="-120"/>
              </a:rPr>
              <a:t>번호판 탐지 mAP50-95 0.70 → 0.87, 인식 정확도 89.3%</a:t>
            </a:r>
            <a:endParaRPr lang="en-US" sz="1300" dirty="0"/>
          </a:p>
        </p:txBody>
      </p:sp>
      <p:sp>
        <p:nvSpPr>
          <p:cNvPr id="22" name="Text 20"/>
          <p:cNvSpPr txBox="1"/>
          <p:nvPr/>
        </p:nvSpPr>
        <p:spPr>
          <a:xfrm>
            <a:off x="6263640" y="1371600"/>
            <a:ext cx="5486400" cy="365760"/>
          </a:xfrm>
          <a:prstGeom prst="rect">
            <a:avLst/>
          </a:prstGeom>
          <a:noFill/>
          <a:ln/>
        </p:spPr>
        <p:txBody>
          <a:bodyPr wrap="square" lIns="0" tIns="0" rIns="0" bIns="0" rtlCol="0" anchor="ctr"/>
          <a:lstStyle/>
          <a:p>
            <a:pPr marL="0" indent="0" algn="l">
              <a:buNone/>
            </a:pPr>
            <a:r>
              <a:rPr lang="en-US" sz="1700" b="1" dirty="0">
                <a:solidFill>
                  <a:srgbClr val="EF4444"/>
                </a:solidFill>
                <a:latin typeface="Malgun Gothic" pitchFamily="34" charset="0"/>
                <a:ea typeface="Malgun Gothic" pitchFamily="34" charset="-122"/>
                <a:cs typeface="Malgun Gothic" pitchFamily="34" charset="-120"/>
              </a:rPr>
              <a:t>남은 한계</a:t>
            </a:r>
            <a:endParaRPr lang="en-US" sz="1700" dirty="0"/>
          </a:p>
        </p:txBody>
      </p:sp>
      <p:sp>
        <p:nvSpPr>
          <p:cNvPr id="23" name="Shape 21"/>
          <p:cNvSpPr/>
          <p:nvPr/>
        </p:nvSpPr>
        <p:spPr>
          <a:xfrm>
            <a:off x="6263640" y="1874520"/>
            <a:ext cx="5440680" cy="658368"/>
          </a:xfrm>
          <a:prstGeom prst="roundRect">
            <a:avLst>
              <a:gd name="adj" fmla="val 8333"/>
            </a:avLst>
          </a:prstGeom>
          <a:solidFill>
            <a:srgbClr val="F4F6F8"/>
          </a:solidFill>
          <a:ln w="12700">
            <a:solidFill>
              <a:srgbClr val="F4F6F8"/>
            </a:solidFill>
            <a:prstDash val="solid"/>
          </a:ln>
        </p:spPr>
      </p:sp>
      <p:sp>
        <p:nvSpPr>
          <p:cNvPr id="24" name="Shape 22"/>
          <p:cNvSpPr/>
          <p:nvPr/>
        </p:nvSpPr>
        <p:spPr>
          <a:xfrm>
            <a:off x="6263640" y="1874520"/>
            <a:ext cx="91440" cy="658368"/>
          </a:xfrm>
          <a:prstGeom prst="rect">
            <a:avLst/>
          </a:prstGeom>
          <a:solidFill>
            <a:srgbClr val="EF4444"/>
          </a:solidFill>
          <a:ln w="12700">
            <a:solidFill>
              <a:srgbClr val="EF4444"/>
            </a:solidFill>
            <a:prstDash val="solid"/>
          </a:ln>
        </p:spPr>
      </p:sp>
      <p:sp>
        <p:nvSpPr>
          <p:cNvPr id="25" name="Text 23"/>
          <p:cNvSpPr txBox="1"/>
          <p:nvPr/>
        </p:nvSpPr>
        <p:spPr>
          <a:xfrm>
            <a:off x="6537960" y="1874520"/>
            <a:ext cx="5074920" cy="658368"/>
          </a:xfrm>
          <a:prstGeom prst="rect">
            <a:avLst/>
          </a:prstGeom>
          <a:noFill/>
          <a:ln/>
        </p:spPr>
        <p:txBody>
          <a:bodyPr wrap="square" lIns="0" tIns="0" rIns="0" bIns="0" rtlCol="0" anchor="ctr"/>
          <a:lstStyle/>
          <a:p>
            <a:pPr marL="0" indent="0" algn="l">
              <a:buNone/>
            </a:pPr>
            <a:r>
              <a:rPr lang="en-US" sz="1300" dirty="0">
                <a:solidFill>
                  <a:srgbClr val="0A2540"/>
                </a:solidFill>
                <a:latin typeface="Malgun Gothic" pitchFamily="34" charset="0"/>
                <a:ea typeface="Malgun Gothic" pitchFamily="34" charset="-122"/>
                <a:cs typeface="Malgun Gothic" pitchFamily="34" charset="-120"/>
              </a:rPr>
              <a:t>실제 축중기 · 게이트 카메라 미연동 (시뮬레이터 · 폴더 감시)</a:t>
            </a:r>
            <a:endParaRPr lang="en-US" sz="1300" dirty="0"/>
          </a:p>
        </p:txBody>
      </p:sp>
      <p:sp>
        <p:nvSpPr>
          <p:cNvPr id="26" name="Shape 24"/>
          <p:cNvSpPr/>
          <p:nvPr/>
        </p:nvSpPr>
        <p:spPr>
          <a:xfrm>
            <a:off x="6263640" y="2660904"/>
            <a:ext cx="5440680" cy="658368"/>
          </a:xfrm>
          <a:prstGeom prst="roundRect">
            <a:avLst>
              <a:gd name="adj" fmla="val 8333"/>
            </a:avLst>
          </a:prstGeom>
          <a:solidFill>
            <a:srgbClr val="F4F6F8"/>
          </a:solidFill>
          <a:ln w="12700">
            <a:solidFill>
              <a:srgbClr val="F4F6F8"/>
            </a:solidFill>
            <a:prstDash val="solid"/>
          </a:ln>
        </p:spPr>
      </p:sp>
      <p:sp>
        <p:nvSpPr>
          <p:cNvPr id="27" name="Shape 25"/>
          <p:cNvSpPr/>
          <p:nvPr/>
        </p:nvSpPr>
        <p:spPr>
          <a:xfrm>
            <a:off x="6263640" y="2660904"/>
            <a:ext cx="91440" cy="658368"/>
          </a:xfrm>
          <a:prstGeom prst="rect">
            <a:avLst/>
          </a:prstGeom>
          <a:solidFill>
            <a:srgbClr val="EF4444"/>
          </a:solidFill>
          <a:ln w="12700">
            <a:solidFill>
              <a:srgbClr val="EF4444"/>
            </a:solidFill>
            <a:prstDash val="solid"/>
          </a:ln>
        </p:spPr>
      </p:sp>
      <p:sp>
        <p:nvSpPr>
          <p:cNvPr id="28" name="Text 26"/>
          <p:cNvSpPr txBox="1"/>
          <p:nvPr/>
        </p:nvSpPr>
        <p:spPr>
          <a:xfrm>
            <a:off x="6537960" y="2660904"/>
            <a:ext cx="5074920" cy="658368"/>
          </a:xfrm>
          <a:prstGeom prst="rect">
            <a:avLst/>
          </a:prstGeom>
          <a:noFill/>
          <a:ln/>
        </p:spPr>
        <p:txBody>
          <a:bodyPr wrap="square" lIns="0" tIns="0" rIns="0" bIns="0" rtlCol="0" anchor="ctr"/>
          <a:lstStyle/>
          <a:p>
            <a:pPr marL="0" indent="0" algn="l">
              <a:buNone/>
            </a:pPr>
            <a:r>
              <a:rPr lang="en-US" sz="1300" dirty="0">
                <a:solidFill>
                  <a:srgbClr val="0A2540"/>
                </a:solidFill>
                <a:latin typeface="Malgun Gothic" pitchFamily="34" charset="0"/>
                <a:ea typeface="Malgun Gothic" pitchFamily="34" charset="-122"/>
                <a:cs typeface="Malgun Gothic" pitchFamily="34" charset="-120"/>
              </a:rPr>
              <a:t>노란 영업용 · 고해상도 번호판 학습 데이터 부족</a:t>
            </a:r>
            <a:endParaRPr lang="en-US" sz="1300" dirty="0"/>
          </a:p>
        </p:txBody>
      </p:sp>
      <p:sp>
        <p:nvSpPr>
          <p:cNvPr id="29" name="Shape 27"/>
          <p:cNvSpPr/>
          <p:nvPr/>
        </p:nvSpPr>
        <p:spPr>
          <a:xfrm>
            <a:off x="6263640" y="3447288"/>
            <a:ext cx="5440680" cy="658368"/>
          </a:xfrm>
          <a:prstGeom prst="roundRect">
            <a:avLst>
              <a:gd name="adj" fmla="val 8333"/>
            </a:avLst>
          </a:prstGeom>
          <a:solidFill>
            <a:srgbClr val="F4F6F8"/>
          </a:solidFill>
          <a:ln w="12700">
            <a:solidFill>
              <a:srgbClr val="F4F6F8"/>
            </a:solidFill>
            <a:prstDash val="solid"/>
          </a:ln>
        </p:spPr>
      </p:sp>
      <p:sp>
        <p:nvSpPr>
          <p:cNvPr id="30" name="Shape 28"/>
          <p:cNvSpPr/>
          <p:nvPr/>
        </p:nvSpPr>
        <p:spPr>
          <a:xfrm>
            <a:off x="6263640" y="3447288"/>
            <a:ext cx="91440" cy="658368"/>
          </a:xfrm>
          <a:prstGeom prst="rect">
            <a:avLst/>
          </a:prstGeom>
          <a:solidFill>
            <a:srgbClr val="EF4444"/>
          </a:solidFill>
          <a:ln w="12700">
            <a:solidFill>
              <a:srgbClr val="EF4444"/>
            </a:solidFill>
            <a:prstDash val="solid"/>
          </a:ln>
        </p:spPr>
      </p:sp>
      <p:sp>
        <p:nvSpPr>
          <p:cNvPr id="31" name="Text 29"/>
          <p:cNvSpPr txBox="1"/>
          <p:nvPr/>
        </p:nvSpPr>
        <p:spPr>
          <a:xfrm>
            <a:off x="6537960" y="3447288"/>
            <a:ext cx="5074920" cy="658368"/>
          </a:xfrm>
          <a:prstGeom prst="rect">
            <a:avLst/>
          </a:prstGeom>
          <a:noFill/>
          <a:ln/>
        </p:spPr>
        <p:txBody>
          <a:bodyPr wrap="square" lIns="0" tIns="0" rIns="0" bIns="0" rtlCol="0" anchor="ctr"/>
          <a:lstStyle/>
          <a:p>
            <a:pPr marL="0" indent="0" algn="l">
              <a:buNone/>
            </a:pPr>
            <a:r>
              <a:rPr lang="en-US" sz="1300" dirty="0">
                <a:solidFill>
                  <a:srgbClr val="0A2540"/>
                </a:solidFill>
                <a:latin typeface="Malgun Gothic" pitchFamily="34" charset="0"/>
                <a:ea typeface="Malgun Gothic" pitchFamily="34" charset="-122"/>
                <a:cs typeface="Malgun Gothic" pitchFamily="34" charset="-120"/>
              </a:rPr>
              <a:t>두 줄 번호판 · 트레일러 번호판은 정확도 개선 필요</a:t>
            </a:r>
            <a:endParaRPr lang="en-US" sz="1300" dirty="0"/>
          </a:p>
        </p:txBody>
      </p:sp>
      <p:sp>
        <p:nvSpPr>
          <p:cNvPr id="32" name="Shape 30"/>
          <p:cNvSpPr/>
          <p:nvPr/>
        </p:nvSpPr>
        <p:spPr>
          <a:xfrm>
            <a:off x="6263640" y="4233672"/>
            <a:ext cx="5440680" cy="658368"/>
          </a:xfrm>
          <a:prstGeom prst="roundRect">
            <a:avLst>
              <a:gd name="adj" fmla="val 8333"/>
            </a:avLst>
          </a:prstGeom>
          <a:solidFill>
            <a:srgbClr val="F4F6F8"/>
          </a:solidFill>
          <a:ln w="12700">
            <a:solidFill>
              <a:srgbClr val="F4F6F8"/>
            </a:solidFill>
            <a:prstDash val="solid"/>
          </a:ln>
        </p:spPr>
      </p:sp>
      <p:sp>
        <p:nvSpPr>
          <p:cNvPr id="33" name="Shape 31"/>
          <p:cNvSpPr/>
          <p:nvPr/>
        </p:nvSpPr>
        <p:spPr>
          <a:xfrm>
            <a:off x="6263640" y="4233672"/>
            <a:ext cx="91440" cy="658368"/>
          </a:xfrm>
          <a:prstGeom prst="rect">
            <a:avLst/>
          </a:prstGeom>
          <a:solidFill>
            <a:srgbClr val="EF4444"/>
          </a:solidFill>
          <a:ln w="12700">
            <a:solidFill>
              <a:srgbClr val="EF4444"/>
            </a:solidFill>
            <a:prstDash val="solid"/>
          </a:ln>
        </p:spPr>
      </p:sp>
      <p:sp>
        <p:nvSpPr>
          <p:cNvPr id="34" name="Text 32"/>
          <p:cNvSpPr txBox="1"/>
          <p:nvPr/>
        </p:nvSpPr>
        <p:spPr>
          <a:xfrm>
            <a:off x="6537960" y="4233672"/>
            <a:ext cx="5074920" cy="658368"/>
          </a:xfrm>
          <a:prstGeom prst="rect">
            <a:avLst/>
          </a:prstGeom>
          <a:noFill/>
          <a:ln/>
        </p:spPr>
        <p:txBody>
          <a:bodyPr wrap="square" lIns="0" tIns="0" rIns="0" bIns="0" rtlCol="0" anchor="ctr"/>
          <a:lstStyle/>
          <a:p>
            <a:pPr marL="0" indent="0" algn="l">
              <a:buNone/>
            </a:pPr>
            <a:r>
              <a:rPr lang="en-US" sz="1300" dirty="0">
                <a:solidFill>
                  <a:srgbClr val="0A2540"/>
                </a:solidFill>
                <a:latin typeface="Malgun Gothic" pitchFamily="34" charset="0"/>
                <a:ea typeface="Malgun Gothic" pitchFamily="34" charset="-122"/>
                <a:cs typeface="Malgun Gothic" pitchFamily="34" charset="-120"/>
              </a:rPr>
              <a:t>운임 데이터가 없어 기사 정산은 완료 건수만 표시</a:t>
            </a:r>
            <a:endParaRPr lang="en-US" sz="1300" dirty="0"/>
          </a:p>
        </p:txBody>
      </p:sp>
      <p:sp>
        <p:nvSpPr>
          <p:cNvPr id="35" name="Shape 33"/>
          <p:cNvSpPr/>
          <p:nvPr/>
        </p:nvSpPr>
        <p:spPr>
          <a:xfrm>
            <a:off x="6263640" y="5020056"/>
            <a:ext cx="5440680" cy="658368"/>
          </a:xfrm>
          <a:prstGeom prst="roundRect">
            <a:avLst>
              <a:gd name="adj" fmla="val 8333"/>
            </a:avLst>
          </a:prstGeom>
          <a:solidFill>
            <a:srgbClr val="F4F6F8"/>
          </a:solidFill>
          <a:ln w="12700">
            <a:solidFill>
              <a:srgbClr val="F4F6F8"/>
            </a:solidFill>
            <a:prstDash val="solid"/>
          </a:ln>
        </p:spPr>
      </p:sp>
      <p:sp>
        <p:nvSpPr>
          <p:cNvPr id="36" name="Shape 34"/>
          <p:cNvSpPr/>
          <p:nvPr/>
        </p:nvSpPr>
        <p:spPr>
          <a:xfrm>
            <a:off x="6263640" y="5020056"/>
            <a:ext cx="91440" cy="658368"/>
          </a:xfrm>
          <a:prstGeom prst="rect">
            <a:avLst/>
          </a:prstGeom>
          <a:solidFill>
            <a:srgbClr val="EF4444"/>
          </a:solidFill>
          <a:ln w="12700">
            <a:solidFill>
              <a:srgbClr val="EF4444"/>
            </a:solidFill>
            <a:prstDash val="solid"/>
          </a:ln>
        </p:spPr>
      </p:sp>
      <p:sp>
        <p:nvSpPr>
          <p:cNvPr id="37" name="Text 35"/>
          <p:cNvSpPr txBox="1"/>
          <p:nvPr/>
        </p:nvSpPr>
        <p:spPr>
          <a:xfrm>
            <a:off x="6537960" y="5020056"/>
            <a:ext cx="5074920" cy="658368"/>
          </a:xfrm>
          <a:prstGeom prst="rect">
            <a:avLst/>
          </a:prstGeom>
          <a:noFill/>
          <a:ln/>
        </p:spPr>
        <p:txBody>
          <a:bodyPr wrap="square" lIns="0" tIns="0" rIns="0" bIns="0" rtlCol="0" anchor="ctr"/>
          <a:lstStyle/>
          <a:p>
            <a:pPr marL="0" indent="0" algn="l">
              <a:buNone/>
            </a:pPr>
            <a:r>
              <a:rPr lang="en-US" sz="1300" dirty="0">
                <a:solidFill>
                  <a:srgbClr val="0A2540"/>
                </a:solidFill>
                <a:latin typeface="Malgun Gothic" pitchFamily="34" charset="0"/>
                <a:ea typeface="Malgun Gothic" pitchFamily="34" charset="-122"/>
                <a:cs typeface="Malgun Gothic" pitchFamily="34" charset="-120"/>
              </a:rPr>
              <a:t>기사 화면은 PC 웹 기준 (현장 모바일 사용성 미흡)</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56032"/>
          </a:xfrm>
          <a:prstGeom prst="rect">
            <a:avLst/>
          </a:prstGeom>
          <a:noFill/>
          <a:ln/>
        </p:spPr>
        <p:txBody>
          <a:bodyPr wrap="square" lIns="0" tIns="0" rIns="0" bIns="0" rtlCol="0" anchor="ctr"/>
          <a:lstStyle/>
          <a:p>
            <a:pPr marL="0" indent="0" algn="l">
              <a:buNone/>
            </a:pPr>
            <a:r>
              <a:rPr lang="en-US" sz="1100" b="1" kern="0" spc="100" dirty="0">
                <a:solidFill>
                  <a:srgbClr val="FF6B00"/>
                </a:solidFill>
                <a:latin typeface="Malgun Gothic" pitchFamily="34" charset="0"/>
                <a:ea typeface="Malgun Gothic" pitchFamily="34" charset="-122"/>
                <a:cs typeface="Malgun Gothic" pitchFamily="34" charset="-120"/>
              </a:rPr>
              <a:t>05  향후 계획</a:t>
            </a:r>
            <a:endParaRPr lang="en-US" sz="1100" dirty="0"/>
          </a:p>
        </p:txBody>
      </p:sp>
      <p:sp>
        <p:nvSpPr>
          <p:cNvPr id="3" name="Text 1"/>
          <p:cNvSpPr txBox="1"/>
          <p:nvPr/>
        </p:nvSpPr>
        <p:spPr>
          <a:xfrm>
            <a:off x="548640" y="603504"/>
            <a:ext cx="10515600" cy="548640"/>
          </a:xfrm>
          <a:prstGeom prst="rect">
            <a:avLst/>
          </a:prstGeom>
          <a:noFill/>
          <a:ln/>
        </p:spPr>
        <p:txBody>
          <a:bodyPr wrap="square" lIns="0" tIns="0" rIns="0" bIns="0" rtlCol="0" anchor="ctr"/>
          <a:lstStyle/>
          <a:p>
            <a:pPr marL="0" indent="0" algn="l">
              <a:buNone/>
            </a:pPr>
            <a:r>
              <a:rPr lang="en-US" sz="2600" b="1" dirty="0">
                <a:solidFill>
                  <a:srgbClr val="0A2540"/>
                </a:solidFill>
                <a:latin typeface="Malgun Gothic" pitchFamily="34" charset="0"/>
                <a:ea typeface="Malgun Gothic" pitchFamily="34" charset="-122"/>
                <a:cs typeface="Malgun Gothic" pitchFamily="34" charset="-120"/>
              </a:rPr>
              <a:t>2차(최종평가) 확장 계획</a:t>
            </a:r>
            <a:endParaRPr lang="en-US" sz="2600" dirty="0"/>
          </a:p>
        </p:txBody>
      </p:sp>
      <p:sp>
        <p:nvSpPr>
          <p:cNvPr id="4" name="Text 2"/>
          <p:cNvSpPr txBox="1"/>
          <p:nvPr/>
        </p:nvSpPr>
        <p:spPr>
          <a:xfrm>
            <a:off x="548640" y="1143000"/>
            <a:ext cx="10972800" cy="320040"/>
          </a:xfrm>
          <a:prstGeom prst="rect">
            <a:avLst/>
          </a:prstGeom>
          <a:noFill/>
          <a:ln/>
        </p:spPr>
        <p:txBody>
          <a:bodyPr wrap="square" lIns="0" tIns="0" rIns="0" bIns="0" rtlCol="0" anchor="ctr"/>
          <a:lstStyle/>
          <a:p>
            <a:pPr marL="0" indent="0" algn="l">
              <a:buNone/>
            </a:pPr>
            <a:r>
              <a:rPr lang="en-US" sz="1300" dirty="0">
                <a:solidFill>
                  <a:srgbClr val="5B6B7F"/>
                </a:solidFill>
                <a:latin typeface="Malgun Gothic" pitchFamily="34" charset="0"/>
                <a:ea typeface="Malgun Gothic" pitchFamily="34" charset="-122"/>
                <a:cs typeface="Malgun Gothic" pitchFamily="34" charset="-120"/>
              </a:rPr>
              <a:t>항만 내부 → 물류센터 · 전국 단위로 확장</a:t>
            </a:r>
            <a:endParaRPr lang="en-US" sz="1300" dirty="0"/>
          </a:p>
        </p:txBody>
      </p:sp>
      <p:sp>
        <p:nvSpPr>
          <p:cNvPr id="5" name="Text 3"/>
          <p:cNvSpPr txBox="1"/>
          <p:nvPr/>
        </p:nvSpPr>
        <p:spPr>
          <a:xfrm>
            <a:off x="548640" y="6446520"/>
            <a:ext cx="3657600" cy="274320"/>
          </a:xfrm>
          <a:prstGeom prst="rect">
            <a:avLst/>
          </a:prstGeom>
          <a:noFill/>
          <a:ln/>
        </p:spPr>
        <p:txBody>
          <a:bodyPr wrap="square" lIns="0" tIns="0" rIns="0" bIns="0" rtlCol="0" anchor="ctr"/>
          <a:lstStyle/>
          <a:p>
            <a:pPr marL="0" indent="0" algn="l">
              <a:buNone/>
            </a:pPr>
            <a:r>
              <a:rPr lang="en-US" sz="900" b="1" dirty="0">
                <a:solidFill>
                  <a:srgbClr val="9AA8B8"/>
                </a:solidFill>
                <a:latin typeface="Malgun Gothic" pitchFamily="34" charset="0"/>
                <a:ea typeface="Malgun Gothic" pitchFamily="34" charset="-122"/>
                <a:cs typeface="Malgun Gothic" pitchFamily="34" charset="-120"/>
              </a:rPr>
              <a:t>S Cargo  ·  못먹어도 S카고</a:t>
            </a:r>
            <a:endParaRPr lang="en-US" sz="900" dirty="0"/>
          </a:p>
        </p:txBody>
      </p:sp>
      <p:sp>
        <p:nvSpPr>
          <p:cNvPr id="6" name="Text 4"/>
          <p:cNvSpPr txBox="1"/>
          <p:nvPr/>
        </p:nvSpPr>
        <p:spPr>
          <a:xfrm>
            <a:off x="11064240" y="6446520"/>
            <a:ext cx="685800" cy="274320"/>
          </a:xfrm>
          <a:prstGeom prst="rect">
            <a:avLst/>
          </a:prstGeom>
          <a:noFill/>
          <a:ln/>
        </p:spPr>
        <p:txBody>
          <a:bodyPr wrap="square" lIns="508" tIns="508" rIns="508" bIns="508" rtlCol="0" anchor="ctr"/>
          <a:lstStyle/>
          <a:p>
            <a:pPr marL="0" indent="0" algn="r">
              <a:buNone/>
            </a:pPr>
            <a:r>
              <a:rPr lang="en-US" sz="900" dirty="0">
                <a:solidFill>
                  <a:srgbClr val="9AA8B8"/>
                </a:solidFill>
                <a:latin typeface="Malgun Gothic" pitchFamily="34" charset="0"/>
                <a:ea typeface="Malgun Gothic" pitchFamily="34" charset="-122"/>
                <a:cs typeface="Malgun Gothic" pitchFamily="34" charset="-120"/>
              </a:rPr>
              <a:t>28</a:t>
            </a:r>
            <a:endParaRPr lang="en-US" sz="900" dirty="0"/>
          </a:p>
        </p:txBody>
      </p:sp>
      <p:sp>
        <p:nvSpPr>
          <p:cNvPr id="7" name="Shape 5"/>
          <p:cNvSpPr/>
          <p:nvPr/>
        </p:nvSpPr>
        <p:spPr>
          <a:xfrm>
            <a:off x="502920" y="1600200"/>
            <a:ext cx="2651760" cy="4206240"/>
          </a:xfrm>
          <a:prstGeom prst="roundRect">
            <a:avLst>
              <a:gd name="adj" fmla="val 2069"/>
            </a:avLst>
          </a:prstGeom>
          <a:solidFill>
            <a:srgbClr val="F4F6F8"/>
          </a:solidFill>
          <a:ln w="12700">
            <a:solidFill>
              <a:srgbClr val="F4F6F8"/>
            </a:solidFill>
            <a:prstDash val="solid"/>
          </a:ln>
        </p:spPr>
      </p:sp>
      <p:sp>
        <p:nvSpPr>
          <p:cNvPr id="8" name="Text 6"/>
          <p:cNvSpPr txBox="1"/>
          <p:nvPr/>
        </p:nvSpPr>
        <p:spPr>
          <a:xfrm>
            <a:off x="731520" y="1737360"/>
            <a:ext cx="2286000" cy="365760"/>
          </a:xfrm>
          <a:prstGeom prst="rect">
            <a:avLst/>
          </a:prstGeom>
          <a:noFill/>
          <a:ln/>
        </p:spPr>
        <p:txBody>
          <a:bodyPr wrap="square" lIns="0" tIns="0" rIns="0" bIns="0" rtlCol="0" anchor="ctr"/>
          <a:lstStyle/>
          <a:p>
            <a:pPr marL="0" indent="0" algn="l">
              <a:buNone/>
            </a:pPr>
            <a:r>
              <a:rPr lang="en-US" sz="1600" b="1" dirty="0">
                <a:solidFill>
                  <a:srgbClr val="0A2540"/>
                </a:solidFill>
                <a:latin typeface="Malgun Gothic" pitchFamily="34" charset="0"/>
                <a:ea typeface="Malgun Gothic" pitchFamily="34" charset="-122"/>
                <a:cs typeface="Malgun Gothic" pitchFamily="34" charset="-120"/>
              </a:rPr>
              <a:t>1차 (현재)</a:t>
            </a:r>
            <a:endParaRPr lang="en-US" sz="1600" dirty="0"/>
          </a:p>
        </p:txBody>
      </p:sp>
      <p:sp>
        <p:nvSpPr>
          <p:cNvPr id="9" name="Text 7"/>
          <p:cNvSpPr txBox="1"/>
          <p:nvPr/>
        </p:nvSpPr>
        <p:spPr>
          <a:xfrm>
            <a:off x="731520" y="2240280"/>
            <a:ext cx="2286000" cy="2286000"/>
          </a:xfrm>
          <a:prstGeom prst="rect">
            <a:avLst/>
          </a:prstGeom>
          <a:noFill/>
          <a:ln/>
        </p:spPr>
        <p:txBody>
          <a:bodyPr wrap="square" lIns="0" tIns="0" rIns="0" bIns="0" rtlCol="0" anchor="t"/>
          <a:lstStyle/>
          <a:p>
            <a:pPr marL="152400" indent="-152400">
              <a:spcAft>
                <a:spcPts val="900"/>
              </a:spcAft>
              <a:buSzPct val="100000"/>
              <a:buChar char="•"/>
            </a:pPr>
            <a:r>
              <a:rPr lang="en-US" sz="1300" dirty="0">
                <a:solidFill>
                  <a:srgbClr val="0A2540"/>
                </a:solidFill>
                <a:latin typeface="Malgun Gothic" pitchFamily="34" charset="0"/>
                <a:ea typeface="Malgun Gothic" pitchFamily="34" charset="-122"/>
                <a:cs typeface="Malgun Gothic" pitchFamily="34" charset="-120"/>
              </a:rPr>
              <a:t>인천항 내부 이동</a:t>
            </a:r>
            <a:endParaRPr lang="en-US" sz="1300" dirty="0"/>
          </a:p>
          <a:p>
            <a:pPr marL="152400" indent="-152400">
              <a:spcAft>
                <a:spcPts val="900"/>
              </a:spcAft>
              <a:buSzPct val="100000"/>
              <a:buChar char="•"/>
            </a:pPr>
            <a:r>
              <a:rPr lang="en-US" sz="1300" dirty="0">
                <a:solidFill>
                  <a:srgbClr val="0A2540"/>
                </a:solidFill>
                <a:latin typeface="Malgun Gothic" pitchFamily="34" charset="0"/>
                <a:ea typeface="Malgun Gothic" pitchFamily="34" charset="-122"/>
                <a:cs typeface="Malgun Gothic" pitchFamily="34" charset="-120"/>
              </a:rPr>
              <a:t>검사소 1곳</a:t>
            </a:r>
            <a:endParaRPr lang="en-US" sz="1300" dirty="0"/>
          </a:p>
          <a:p>
            <a:pPr marL="152400" indent="-152400">
              <a:spcAft>
                <a:spcPts val="900"/>
              </a:spcAft>
              <a:buSzPct val="100000"/>
              <a:buChar char="•"/>
            </a:pPr>
            <a:r>
              <a:rPr lang="ko-KR" altLang="en-US" sz="1300" dirty="0">
                <a:solidFill>
                  <a:srgbClr val="0A2540"/>
                </a:solidFill>
                <a:latin typeface="Malgun Gothic" pitchFamily="34" charset="0"/>
                <a:ea typeface="Malgun Gothic" pitchFamily="34" charset="-122"/>
                <a:cs typeface="Malgun Gothic" pitchFamily="34" charset="-120"/>
              </a:rPr>
              <a:t>화물 차량</a:t>
            </a:r>
            <a:r>
              <a:rPr lang="en-US" sz="1300" dirty="0">
                <a:solidFill>
                  <a:srgbClr val="0A2540"/>
                </a:solidFill>
                <a:latin typeface="Malgun Gothic" pitchFamily="34" charset="0"/>
                <a:ea typeface="Malgun Gothic" pitchFamily="34" charset="-122"/>
                <a:cs typeface="Malgun Gothic" pitchFamily="34" charset="-120"/>
              </a:rPr>
              <a:t> 번호판 중심</a:t>
            </a:r>
            <a:endParaRPr lang="en-US" sz="1300" dirty="0"/>
          </a:p>
          <a:p>
            <a:pPr marL="152400" indent="-152400">
              <a:spcAft>
                <a:spcPts val="900"/>
              </a:spcAft>
              <a:buSzPct val="100000"/>
              <a:buChar char="•"/>
            </a:pPr>
            <a:r>
              <a:rPr lang="en-US" sz="1300" dirty="0">
                <a:solidFill>
                  <a:srgbClr val="0A2540"/>
                </a:solidFill>
                <a:latin typeface="Malgun Gothic" pitchFamily="34" charset="0"/>
                <a:ea typeface="Malgun Gothic" pitchFamily="34" charset="-122"/>
                <a:cs typeface="Malgun Gothic" pitchFamily="34" charset="-120"/>
              </a:rPr>
              <a:t>PC 웹 화면</a:t>
            </a:r>
            <a:endParaRPr lang="en-US" sz="1300" dirty="0"/>
          </a:p>
        </p:txBody>
      </p:sp>
      <p:sp>
        <p:nvSpPr>
          <p:cNvPr id="10" name="Shape 8"/>
          <p:cNvSpPr/>
          <p:nvPr/>
        </p:nvSpPr>
        <p:spPr>
          <a:xfrm>
            <a:off x="3246120" y="3703320"/>
            <a:ext cx="365760" cy="0"/>
          </a:xfrm>
          <a:prstGeom prst="line">
            <a:avLst/>
          </a:prstGeom>
          <a:noFill/>
          <a:ln w="38100">
            <a:solidFill>
              <a:srgbClr val="FF6B00"/>
            </a:solidFill>
            <a:prstDash val="solid"/>
            <a:tailEnd type="triangle"/>
          </a:ln>
        </p:spPr>
      </p:sp>
      <p:sp>
        <p:nvSpPr>
          <p:cNvPr id="11" name="Shape 9"/>
          <p:cNvSpPr/>
          <p:nvPr/>
        </p:nvSpPr>
        <p:spPr>
          <a:xfrm>
            <a:off x="3749040" y="1600200"/>
            <a:ext cx="3840480" cy="1965960"/>
          </a:xfrm>
          <a:prstGeom prst="roundRect">
            <a:avLst>
              <a:gd name="adj" fmla="val 2791"/>
            </a:avLst>
          </a:prstGeom>
          <a:solidFill>
            <a:srgbClr val="FFFFFF"/>
          </a:solidFill>
          <a:ln w="12700">
            <a:solidFill>
              <a:srgbClr val="DCE3EA"/>
            </a:solidFill>
            <a:prstDash val="solid"/>
          </a:ln>
        </p:spPr>
      </p:sp>
      <p:sp>
        <p:nvSpPr>
          <p:cNvPr id="12" name="Shape 10"/>
          <p:cNvSpPr/>
          <p:nvPr/>
        </p:nvSpPr>
        <p:spPr>
          <a:xfrm>
            <a:off x="3977640" y="1828800"/>
            <a:ext cx="548640" cy="548640"/>
          </a:xfrm>
          <a:prstGeom prst="ellipse">
            <a:avLst/>
          </a:prstGeom>
          <a:solidFill>
            <a:srgbClr val="FF6B00"/>
          </a:solidFill>
          <a:ln w="12700">
            <a:solidFill>
              <a:srgbClr val="FF6B00"/>
            </a:solidFill>
            <a:prstDash val="solid"/>
          </a:ln>
        </p:spPr>
      </p:sp>
      <p:pic>
        <p:nvPicPr>
          <p:cNvPr id="13" name="Image 0" descr="preencoded.png"/>
          <p:cNvPicPr>
            <a:picLocks noChangeAspect="1"/>
          </p:cNvPicPr>
          <p:nvPr/>
        </p:nvPicPr>
        <p:blipFill>
          <a:blip r:embed="rId3"/>
          <a:stretch>
            <a:fillRect/>
          </a:stretch>
        </p:blipFill>
        <p:spPr>
          <a:xfrm>
            <a:off x="4114800" y="1965960"/>
            <a:ext cx="274320" cy="274320"/>
          </a:xfrm>
          <a:prstGeom prst="rect">
            <a:avLst/>
          </a:prstGeom>
        </p:spPr>
      </p:pic>
      <p:sp>
        <p:nvSpPr>
          <p:cNvPr id="14" name="Text 11"/>
          <p:cNvSpPr txBox="1"/>
          <p:nvPr/>
        </p:nvSpPr>
        <p:spPr>
          <a:xfrm>
            <a:off x="4663440" y="1856232"/>
            <a:ext cx="2834640" cy="457200"/>
          </a:xfrm>
          <a:prstGeom prst="rect">
            <a:avLst/>
          </a:prstGeom>
          <a:noFill/>
          <a:ln/>
        </p:spPr>
        <p:txBody>
          <a:bodyPr wrap="square" lIns="0" tIns="0" rIns="0" bIns="0" rtlCol="0" anchor="ctr"/>
          <a:lstStyle/>
          <a:p>
            <a:pPr marL="0" indent="0" algn="l">
              <a:buNone/>
            </a:pPr>
            <a:r>
              <a:rPr lang="en-US" sz="1500" b="1" dirty="0" err="1">
                <a:solidFill>
                  <a:srgbClr val="0A2540"/>
                </a:solidFill>
                <a:latin typeface="Malgun Gothic" pitchFamily="34" charset="0"/>
                <a:ea typeface="Malgun Gothic" pitchFamily="34" charset="-122"/>
                <a:cs typeface="Malgun Gothic" pitchFamily="34" charset="-120"/>
              </a:rPr>
              <a:t>기사</a:t>
            </a:r>
            <a:r>
              <a:rPr lang="en-US" sz="1500" b="1" dirty="0">
                <a:solidFill>
                  <a:srgbClr val="0A2540"/>
                </a:solidFill>
                <a:latin typeface="Malgun Gothic" pitchFamily="34" charset="0"/>
                <a:ea typeface="Malgun Gothic" pitchFamily="34" charset="-122"/>
                <a:cs typeface="Malgun Gothic" pitchFamily="34" charset="-120"/>
              </a:rPr>
              <a:t> </a:t>
            </a:r>
            <a:r>
              <a:rPr lang="en-US" sz="1500" b="1" dirty="0" err="1">
                <a:solidFill>
                  <a:srgbClr val="0A2540"/>
                </a:solidFill>
                <a:latin typeface="Malgun Gothic" pitchFamily="34" charset="0"/>
                <a:ea typeface="Malgun Gothic" pitchFamily="34" charset="-122"/>
                <a:cs typeface="Malgun Gothic" pitchFamily="34" charset="-120"/>
              </a:rPr>
              <a:t>모바일</a:t>
            </a:r>
            <a:r>
              <a:rPr lang="en-US" sz="1500" b="1" dirty="0">
                <a:solidFill>
                  <a:srgbClr val="0A2540"/>
                </a:solidFill>
                <a:latin typeface="Malgun Gothic" pitchFamily="34" charset="0"/>
                <a:ea typeface="Malgun Gothic" pitchFamily="34" charset="-122"/>
                <a:cs typeface="Malgun Gothic" pitchFamily="34" charset="-120"/>
              </a:rPr>
              <a:t> </a:t>
            </a:r>
            <a:r>
              <a:rPr lang="ko-KR" altLang="en-US" sz="1500" b="1" dirty="0">
                <a:solidFill>
                  <a:srgbClr val="0A2540"/>
                </a:solidFill>
                <a:latin typeface="Malgun Gothic" pitchFamily="34" charset="0"/>
                <a:ea typeface="Malgun Gothic" pitchFamily="34" charset="-122"/>
                <a:cs typeface="Malgun Gothic" pitchFamily="34" charset="-120"/>
              </a:rPr>
              <a:t>웹</a:t>
            </a:r>
            <a:endParaRPr lang="en-US" sz="1500" dirty="0"/>
          </a:p>
        </p:txBody>
      </p:sp>
      <p:sp>
        <p:nvSpPr>
          <p:cNvPr id="15" name="Text 12"/>
          <p:cNvSpPr txBox="1"/>
          <p:nvPr/>
        </p:nvSpPr>
        <p:spPr>
          <a:xfrm>
            <a:off x="3977640" y="2514600"/>
            <a:ext cx="3474720" cy="960120"/>
          </a:xfrm>
          <a:prstGeom prst="rect">
            <a:avLst/>
          </a:prstGeom>
          <a:noFill/>
          <a:ln/>
        </p:spPr>
        <p:txBody>
          <a:bodyPr wrap="square" lIns="0" tIns="0" rIns="0" bIns="0" rtlCol="0" anchor="t"/>
          <a:lstStyle/>
          <a:p>
            <a:pPr marL="0" indent="0" algn="l">
              <a:lnSpc>
                <a:spcPct val="110000"/>
              </a:lnSpc>
              <a:buNone/>
            </a:pPr>
            <a:r>
              <a:rPr lang="ko-KR" altLang="en-US" sz="1150" dirty="0">
                <a:solidFill>
                  <a:srgbClr val="5B6B7F"/>
                </a:solidFill>
                <a:latin typeface="Malgun Gothic" pitchFamily="34" charset="0"/>
                <a:ea typeface="Malgun Gothic" pitchFamily="34" charset="-122"/>
                <a:cs typeface="Malgun Gothic" pitchFamily="34" charset="-120"/>
              </a:rPr>
              <a:t>모바일 전용 화면에 맞게 구현 예정</a:t>
            </a:r>
            <a:endParaRPr lang="en-US" altLang="ko-KR" sz="1150" dirty="0">
              <a:solidFill>
                <a:srgbClr val="5B6B7F"/>
              </a:solidFill>
            </a:endParaRPr>
          </a:p>
        </p:txBody>
      </p:sp>
      <p:sp>
        <p:nvSpPr>
          <p:cNvPr id="16" name="Shape 13"/>
          <p:cNvSpPr/>
          <p:nvPr/>
        </p:nvSpPr>
        <p:spPr>
          <a:xfrm>
            <a:off x="7772400" y="1600200"/>
            <a:ext cx="3840480" cy="1965960"/>
          </a:xfrm>
          <a:prstGeom prst="roundRect">
            <a:avLst>
              <a:gd name="adj" fmla="val 2791"/>
            </a:avLst>
          </a:prstGeom>
          <a:solidFill>
            <a:srgbClr val="FFFFFF"/>
          </a:solidFill>
          <a:ln w="12700">
            <a:solidFill>
              <a:srgbClr val="DCE3EA"/>
            </a:solidFill>
            <a:prstDash val="solid"/>
          </a:ln>
        </p:spPr>
      </p:sp>
      <p:sp>
        <p:nvSpPr>
          <p:cNvPr id="17" name="Shape 14"/>
          <p:cNvSpPr/>
          <p:nvPr/>
        </p:nvSpPr>
        <p:spPr>
          <a:xfrm>
            <a:off x="8001000" y="1828800"/>
            <a:ext cx="548640" cy="548640"/>
          </a:xfrm>
          <a:prstGeom prst="ellipse">
            <a:avLst/>
          </a:prstGeom>
          <a:solidFill>
            <a:srgbClr val="0A2540"/>
          </a:solidFill>
          <a:ln w="12700">
            <a:solidFill>
              <a:srgbClr val="0A2540"/>
            </a:solidFill>
            <a:prstDash val="solid"/>
          </a:ln>
        </p:spPr>
      </p:sp>
      <p:pic>
        <p:nvPicPr>
          <p:cNvPr id="18" name="Image 1" descr="preencoded.png"/>
          <p:cNvPicPr>
            <a:picLocks noChangeAspect="1"/>
          </p:cNvPicPr>
          <p:nvPr/>
        </p:nvPicPr>
        <p:blipFill>
          <a:blip r:embed="rId4"/>
          <a:stretch>
            <a:fillRect/>
          </a:stretch>
        </p:blipFill>
        <p:spPr>
          <a:xfrm>
            <a:off x="8138160" y="1965960"/>
            <a:ext cx="274320" cy="274320"/>
          </a:xfrm>
          <a:prstGeom prst="rect">
            <a:avLst/>
          </a:prstGeom>
        </p:spPr>
      </p:pic>
      <p:sp>
        <p:nvSpPr>
          <p:cNvPr id="19" name="Text 15"/>
          <p:cNvSpPr txBox="1"/>
          <p:nvPr/>
        </p:nvSpPr>
        <p:spPr>
          <a:xfrm>
            <a:off x="8686800" y="1856232"/>
            <a:ext cx="2834640" cy="457200"/>
          </a:xfrm>
          <a:prstGeom prst="rect">
            <a:avLst/>
          </a:prstGeom>
          <a:noFill/>
          <a:ln/>
        </p:spPr>
        <p:txBody>
          <a:bodyPr wrap="square" lIns="0" tIns="0" rIns="0" bIns="0" rtlCol="0" anchor="ctr"/>
          <a:lstStyle/>
          <a:p>
            <a:pPr marL="0" indent="0" algn="l">
              <a:buNone/>
            </a:pPr>
            <a:r>
              <a:rPr lang="en-US" sz="1500" b="1" dirty="0">
                <a:solidFill>
                  <a:srgbClr val="0A2540"/>
                </a:solidFill>
                <a:latin typeface="Malgun Gothic" pitchFamily="34" charset="0"/>
                <a:ea typeface="Malgun Gothic" pitchFamily="34" charset="-122"/>
                <a:cs typeface="Malgun Gothic" pitchFamily="34" charset="-120"/>
              </a:rPr>
              <a:t>물류센터 · 경로</a:t>
            </a:r>
            <a:endParaRPr lang="en-US" sz="1500" dirty="0"/>
          </a:p>
        </p:txBody>
      </p:sp>
      <p:sp>
        <p:nvSpPr>
          <p:cNvPr id="20" name="Text 16"/>
          <p:cNvSpPr txBox="1"/>
          <p:nvPr/>
        </p:nvSpPr>
        <p:spPr>
          <a:xfrm>
            <a:off x="8001000" y="2514600"/>
            <a:ext cx="3474720" cy="960120"/>
          </a:xfrm>
          <a:prstGeom prst="rect">
            <a:avLst/>
          </a:prstGeom>
          <a:noFill/>
          <a:ln/>
        </p:spPr>
        <p:txBody>
          <a:bodyPr wrap="square" lIns="0" tIns="0" rIns="0" bIns="0" rtlCol="0" anchor="t"/>
          <a:lstStyle/>
          <a:p>
            <a:pPr marL="0" indent="0" algn="l">
              <a:lnSpc>
                <a:spcPct val="115000"/>
              </a:lnSpc>
              <a:buNone/>
            </a:pPr>
            <a:r>
              <a:rPr lang="en-US" sz="1150" dirty="0">
                <a:solidFill>
                  <a:srgbClr val="5B6B7F"/>
                </a:solidFill>
                <a:latin typeface="Malgun Gothic" pitchFamily="34" charset="0"/>
                <a:ea typeface="Malgun Gothic" pitchFamily="34" charset="-122"/>
                <a:cs typeface="Malgun Gothic" pitchFamily="34" charset="-120"/>
              </a:rPr>
              <a:t>가상 물류센터(전국 HUB) 도입, 화물차 경로 엔진 턴바이턴 </a:t>
            </a:r>
            <a:r>
              <a:rPr lang="en-US" sz="1150" dirty="0" err="1">
                <a:solidFill>
                  <a:srgbClr val="5B6B7F"/>
                </a:solidFill>
                <a:latin typeface="Malgun Gothic" pitchFamily="34" charset="0"/>
                <a:ea typeface="Malgun Gothic" pitchFamily="34" charset="-122"/>
                <a:cs typeface="Malgun Gothic" pitchFamily="34" charset="-120"/>
              </a:rPr>
              <a:t>음성</a:t>
            </a:r>
            <a:r>
              <a:rPr lang="en-US" sz="1150" dirty="0">
                <a:solidFill>
                  <a:srgbClr val="5B6B7F"/>
                </a:solidFill>
                <a:latin typeface="Malgun Gothic" pitchFamily="34" charset="0"/>
                <a:ea typeface="Malgun Gothic" pitchFamily="34" charset="-122"/>
                <a:cs typeface="Malgun Gothic" pitchFamily="34" charset="-120"/>
              </a:rPr>
              <a:t> </a:t>
            </a:r>
            <a:r>
              <a:rPr lang="en-US" sz="1150" dirty="0" err="1">
                <a:solidFill>
                  <a:srgbClr val="5B6B7F"/>
                </a:solidFill>
                <a:latin typeface="Malgun Gothic" pitchFamily="34" charset="0"/>
                <a:ea typeface="Malgun Gothic" pitchFamily="34" charset="-122"/>
                <a:cs typeface="Malgun Gothic" pitchFamily="34" charset="-120"/>
              </a:rPr>
              <a:t>안내</a:t>
            </a:r>
            <a:endParaRPr lang="en-US" sz="1150" dirty="0"/>
          </a:p>
        </p:txBody>
      </p:sp>
      <p:sp>
        <p:nvSpPr>
          <p:cNvPr id="21" name="Shape 17"/>
          <p:cNvSpPr/>
          <p:nvPr/>
        </p:nvSpPr>
        <p:spPr>
          <a:xfrm>
            <a:off x="3749040" y="3749040"/>
            <a:ext cx="3840480" cy="1965960"/>
          </a:xfrm>
          <a:prstGeom prst="roundRect">
            <a:avLst>
              <a:gd name="adj" fmla="val 2791"/>
            </a:avLst>
          </a:prstGeom>
          <a:solidFill>
            <a:srgbClr val="FFFFFF"/>
          </a:solidFill>
          <a:ln w="12700">
            <a:solidFill>
              <a:srgbClr val="DCE3EA"/>
            </a:solidFill>
            <a:prstDash val="solid"/>
          </a:ln>
        </p:spPr>
      </p:sp>
      <p:sp>
        <p:nvSpPr>
          <p:cNvPr id="22" name="Shape 18"/>
          <p:cNvSpPr/>
          <p:nvPr/>
        </p:nvSpPr>
        <p:spPr>
          <a:xfrm>
            <a:off x="3977640" y="3977640"/>
            <a:ext cx="548640" cy="548640"/>
          </a:xfrm>
          <a:prstGeom prst="ellipse">
            <a:avLst/>
          </a:prstGeom>
          <a:solidFill>
            <a:srgbClr val="0A2540"/>
          </a:solidFill>
          <a:ln w="12700">
            <a:solidFill>
              <a:srgbClr val="0A2540"/>
            </a:solidFill>
            <a:prstDash val="solid"/>
          </a:ln>
        </p:spPr>
      </p:sp>
      <p:pic>
        <p:nvPicPr>
          <p:cNvPr id="23" name="Image 2" descr="preencoded.png"/>
          <p:cNvPicPr>
            <a:picLocks noChangeAspect="1"/>
          </p:cNvPicPr>
          <p:nvPr/>
        </p:nvPicPr>
        <p:blipFill>
          <a:blip r:embed="rId5"/>
          <a:stretch>
            <a:fillRect/>
          </a:stretch>
        </p:blipFill>
        <p:spPr>
          <a:xfrm>
            <a:off x="4114800" y="4114800"/>
            <a:ext cx="274320" cy="274320"/>
          </a:xfrm>
          <a:prstGeom prst="rect">
            <a:avLst/>
          </a:prstGeom>
        </p:spPr>
      </p:pic>
      <p:sp>
        <p:nvSpPr>
          <p:cNvPr id="24" name="Text 19"/>
          <p:cNvSpPr txBox="1"/>
          <p:nvPr/>
        </p:nvSpPr>
        <p:spPr>
          <a:xfrm>
            <a:off x="4663440" y="4005072"/>
            <a:ext cx="2834640" cy="457200"/>
          </a:xfrm>
          <a:prstGeom prst="rect">
            <a:avLst/>
          </a:prstGeom>
          <a:noFill/>
          <a:ln/>
        </p:spPr>
        <p:txBody>
          <a:bodyPr wrap="square" lIns="0" tIns="0" rIns="0" bIns="0" rtlCol="0" anchor="ctr"/>
          <a:lstStyle/>
          <a:p>
            <a:pPr marL="0" indent="0" algn="l">
              <a:buNone/>
            </a:pPr>
            <a:r>
              <a:rPr lang="en-US" sz="1500" b="1" dirty="0">
                <a:solidFill>
                  <a:srgbClr val="0A2540"/>
                </a:solidFill>
                <a:latin typeface="Malgun Gothic" pitchFamily="34" charset="0"/>
                <a:ea typeface="Malgun Gothic" pitchFamily="34" charset="-122"/>
                <a:cs typeface="Malgun Gothic" pitchFamily="34" charset="-120"/>
              </a:rPr>
              <a:t>운행 안전 경고</a:t>
            </a:r>
            <a:endParaRPr lang="en-US" sz="1500" dirty="0"/>
          </a:p>
        </p:txBody>
      </p:sp>
      <p:sp>
        <p:nvSpPr>
          <p:cNvPr id="25" name="Text 20"/>
          <p:cNvSpPr txBox="1"/>
          <p:nvPr/>
        </p:nvSpPr>
        <p:spPr>
          <a:xfrm>
            <a:off x="3977640" y="4663440"/>
            <a:ext cx="3474720" cy="960120"/>
          </a:xfrm>
          <a:prstGeom prst="rect">
            <a:avLst/>
          </a:prstGeom>
          <a:noFill/>
          <a:ln/>
        </p:spPr>
        <p:txBody>
          <a:bodyPr wrap="square" lIns="0" tIns="0" rIns="0" bIns="0" rtlCol="0" anchor="t"/>
          <a:lstStyle/>
          <a:p>
            <a:pPr marL="0" indent="0" algn="l">
              <a:lnSpc>
                <a:spcPct val="115000"/>
              </a:lnSpc>
              <a:buNone/>
            </a:pPr>
            <a:r>
              <a:rPr lang="en-US" sz="1150" dirty="0">
                <a:solidFill>
                  <a:srgbClr val="5B6B7F"/>
                </a:solidFill>
                <a:latin typeface="Malgun Gothic" pitchFamily="34" charset="0"/>
                <a:ea typeface="Malgun Gothic" pitchFamily="34" charset="-122"/>
                <a:cs typeface="Malgun Gothic" pitchFamily="34" charset="-120"/>
              </a:rPr>
              <a:t>적재 높이보다 낮은 터널 · 지하차도, 과적 검문소 접근 시 음성 경고, 검사소 5곳 확장</a:t>
            </a:r>
            <a:endParaRPr lang="en-US" sz="1150" dirty="0"/>
          </a:p>
        </p:txBody>
      </p:sp>
      <p:sp>
        <p:nvSpPr>
          <p:cNvPr id="26" name="Shape 21"/>
          <p:cNvSpPr/>
          <p:nvPr/>
        </p:nvSpPr>
        <p:spPr>
          <a:xfrm>
            <a:off x="7772400" y="3749040"/>
            <a:ext cx="3840480" cy="1965960"/>
          </a:xfrm>
          <a:prstGeom prst="roundRect">
            <a:avLst>
              <a:gd name="adj" fmla="val 2791"/>
            </a:avLst>
          </a:prstGeom>
          <a:solidFill>
            <a:srgbClr val="FFFFFF"/>
          </a:solidFill>
          <a:ln w="12700">
            <a:solidFill>
              <a:srgbClr val="DCE3EA"/>
            </a:solidFill>
            <a:prstDash val="solid"/>
          </a:ln>
        </p:spPr>
      </p:sp>
      <p:sp>
        <p:nvSpPr>
          <p:cNvPr id="27" name="Shape 22"/>
          <p:cNvSpPr/>
          <p:nvPr/>
        </p:nvSpPr>
        <p:spPr>
          <a:xfrm>
            <a:off x="8001000" y="3977640"/>
            <a:ext cx="548640" cy="548640"/>
          </a:xfrm>
          <a:prstGeom prst="ellipse">
            <a:avLst/>
          </a:prstGeom>
          <a:solidFill>
            <a:srgbClr val="0A2540"/>
          </a:solidFill>
          <a:ln w="12700">
            <a:solidFill>
              <a:srgbClr val="0A2540"/>
            </a:solidFill>
            <a:prstDash val="solid"/>
          </a:ln>
        </p:spPr>
      </p:sp>
      <p:pic>
        <p:nvPicPr>
          <p:cNvPr id="28" name="Image 3" descr="preencoded.png"/>
          <p:cNvPicPr>
            <a:picLocks noChangeAspect="1"/>
          </p:cNvPicPr>
          <p:nvPr/>
        </p:nvPicPr>
        <p:blipFill>
          <a:blip r:embed="rId6"/>
          <a:stretch>
            <a:fillRect/>
          </a:stretch>
        </p:blipFill>
        <p:spPr>
          <a:xfrm>
            <a:off x="8138160" y="4114800"/>
            <a:ext cx="274320" cy="274320"/>
          </a:xfrm>
          <a:prstGeom prst="rect">
            <a:avLst/>
          </a:prstGeom>
        </p:spPr>
      </p:pic>
      <p:sp>
        <p:nvSpPr>
          <p:cNvPr id="29" name="Text 23"/>
          <p:cNvSpPr txBox="1"/>
          <p:nvPr/>
        </p:nvSpPr>
        <p:spPr>
          <a:xfrm>
            <a:off x="8686800" y="4005072"/>
            <a:ext cx="2834640" cy="457200"/>
          </a:xfrm>
          <a:prstGeom prst="rect">
            <a:avLst/>
          </a:prstGeom>
          <a:noFill/>
          <a:ln/>
        </p:spPr>
        <p:txBody>
          <a:bodyPr wrap="square" lIns="0" tIns="0" rIns="0" bIns="0" rtlCol="0" anchor="ctr"/>
          <a:lstStyle/>
          <a:p>
            <a:pPr marL="0" indent="0" algn="l">
              <a:buNone/>
            </a:pPr>
            <a:r>
              <a:rPr lang="en-US" sz="1500" b="1" dirty="0">
                <a:solidFill>
                  <a:srgbClr val="0A2540"/>
                </a:solidFill>
                <a:latin typeface="Malgun Gothic" pitchFamily="34" charset="0"/>
                <a:ea typeface="Malgun Gothic" pitchFamily="34" charset="-122"/>
                <a:cs typeface="Malgun Gothic" pitchFamily="34" charset="-120"/>
              </a:rPr>
              <a:t>두 줄 번호판 · 예지보전</a:t>
            </a:r>
            <a:endParaRPr lang="en-US" sz="1500" dirty="0"/>
          </a:p>
        </p:txBody>
      </p:sp>
      <p:sp>
        <p:nvSpPr>
          <p:cNvPr id="30" name="Text 24"/>
          <p:cNvSpPr txBox="1"/>
          <p:nvPr/>
        </p:nvSpPr>
        <p:spPr>
          <a:xfrm>
            <a:off x="8001000" y="4663440"/>
            <a:ext cx="3474720" cy="960120"/>
          </a:xfrm>
          <a:prstGeom prst="rect">
            <a:avLst/>
          </a:prstGeom>
          <a:noFill/>
          <a:ln/>
        </p:spPr>
        <p:txBody>
          <a:bodyPr wrap="square" lIns="0" tIns="0" rIns="0" bIns="0" rtlCol="0" anchor="t"/>
          <a:lstStyle/>
          <a:p>
            <a:pPr marL="0" indent="0" algn="l">
              <a:lnSpc>
                <a:spcPct val="115000"/>
              </a:lnSpc>
              <a:buNone/>
            </a:pPr>
            <a:r>
              <a:rPr lang="en-US" sz="1150" dirty="0">
                <a:solidFill>
                  <a:srgbClr val="5B6B7F"/>
                </a:solidFill>
                <a:latin typeface="Malgun Gothic" pitchFamily="34" charset="0"/>
                <a:ea typeface="Malgun Gothic" pitchFamily="34" charset="-122"/>
                <a:cs typeface="Malgun Gothic" pitchFamily="34" charset="-120"/>
              </a:rPr>
              <a:t>영업용 번호판 데이터 보강 재학습, 검사 장비 · 차량 점검 알림</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2">
    <p:bg>
      <p:bgPr>
        <a:solidFill>
          <a:srgbClr val="0A2540"/>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3" y="716428"/>
            <a:ext cx="12191695" cy="5377750"/>
          </a:xfrm>
          <a:prstGeom prst="rect">
            <a:avLst/>
          </a:prstGeom>
        </p:spPr>
      </p:pic>
      <p:pic>
        <p:nvPicPr>
          <p:cNvPr id="3" name="Image 1" descr="/home/claude/v3/img/logo_w.png"/>
          <p:cNvPicPr>
            <a:picLocks noChangeAspect="1"/>
          </p:cNvPicPr>
          <p:nvPr/>
        </p:nvPicPr>
        <p:blipFill>
          <a:blip r:embed="rId4"/>
          <a:stretch>
            <a:fillRect/>
          </a:stretch>
        </p:blipFill>
        <p:spPr>
          <a:xfrm>
            <a:off x="0" y="677620"/>
            <a:ext cx="2743200" cy="942174"/>
          </a:xfrm>
          <a:prstGeom prst="rect">
            <a:avLst/>
          </a:prstGeom>
        </p:spPr>
      </p:pic>
      <p:sp>
        <p:nvSpPr>
          <p:cNvPr id="5" name="Text 1"/>
          <p:cNvSpPr txBox="1"/>
          <p:nvPr/>
        </p:nvSpPr>
        <p:spPr>
          <a:xfrm>
            <a:off x="915847" y="2258779"/>
            <a:ext cx="2589456" cy="457200"/>
          </a:xfrm>
          <a:prstGeom prst="rect">
            <a:avLst/>
          </a:prstGeom>
          <a:noFill/>
          <a:ln/>
        </p:spPr>
        <p:txBody>
          <a:bodyPr wrap="square" lIns="0" tIns="0" rIns="0" bIns="0" rtlCol="0" anchor="ctr"/>
          <a:lstStyle/>
          <a:p>
            <a:pPr marL="0" indent="0" algn="ctr">
              <a:buNone/>
            </a:pPr>
            <a:r>
              <a:rPr lang="en-US" sz="3600" b="1" kern="0" spc="300" dirty="0">
                <a:solidFill>
                  <a:srgbClr val="FFB27A"/>
                </a:solidFill>
                <a:latin typeface="Malgun Gothic" pitchFamily="34" charset="0"/>
                <a:ea typeface="Malgun Gothic" pitchFamily="34" charset="-122"/>
                <a:cs typeface="Malgun Gothic" pitchFamily="34" charset="-120"/>
              </a:rPr>
              <a:t>Q &amp; A</a:t>
            </a:r>
            <a:endParaRPr lang="en-US" sz="3600" dirty="0"/>
          </a:p>
        </p:txBody>
      </p:sp>
      <p:sp>
        <p:nvSpPr>
          <p:cNvPr id="6" name="Text 2"/>
          <p:cNvSpPr txBox="1"/>
          <p:nvPr/>
        </p:nvSpPr>
        <p:spPr>
          <a:xfrm>
            <a:off x="1286933" y="4357825"/>
            <a:ext cx="3149600" cy="365760"/>
          </a:xfrm>
          <a:prstGeom prst="rect">
            <a:avLst/>
          </a:prstGeom>
          <a:noFill/>
          <a:ln/>
        </p:spPr>
        <p:txBody>
          <a:bodyPr wrap="square" lIns="0" tIns="0" rIns="0" bIns="0" rtlCol="0" anchor="ctr"/>
          <a:lstStyle/>
          <a:p>
            <a:pPr marL="0" indent="0" algn="ctr">
              <a:buNone/>
            </a:pPr>
            <a:r>
              <a:rPr lang="en-US" sz="2000" dirty="0">
                <a:solidFill>
                  <a:schemeClr val="bg1"/>
                </a:solidFill>
                <a:latin typeface="Malgun Gothic" pitchFamily="34" charset="0"/>
                <a:ea typeface="Malgun Gothic" pitchFamily="34" charset="-122"/>
                <a:cs typeface="Malgun Gothic" pitchFamily="34" charset="-120"/>
              </a:rPr>
              <a:t>1조  못먹어도 S카고</a:t>
            </a:r>
            <a:endParaRPr lang="en-US" sz="2000" dirty="0">
              <a:solidFill>
                <a:schemeClr val="bg1"/>
              </a:solidFill>
            </a:endParaRPr>
          </a:p>
        </p:txBody>
      </p:sp>
      <p:pic>
        <p:nvPicPr>
          <p:cNvPr id="8" name="그림 7">
            <a:extLst>
              <a:ext uri="{FF2B5EF4-FFF2-40B4-BE49-F238E27FC236}">
                <a16:creationId xmlns:a16="http://schemas.microsoft.com/office/drawing/2014/main" id="{6D9B27DC-D9B8-B609-B71C-D0DFEFB4EEEB}"/>
              </a:ext>
            </a:extLst>
          </p:cNvPr>
          <p:cNvPicPr>
            <a:picLocks noChangeAspect="1"/>
          </p:cNvPicPr>
          <p:nvPr/>
        </p:nvPicPr>
        <p:blipFill>
          <a:blip r:embed="rId5"/>
          <a:stretch>
            <a:fillRect/>
          </a:stretch>
        </p:blipFill>
        <p:spPr>
          <a:xfrm>
            <a:off x="401901" y="3510770"/>
            <a:ext cx="1027893" cy="567113"/>
          </a:xfrm>
          <a:prstGeom prst="rect">
            <a:avLst/>
          </a:prstGeom>
        </p:spPr>
      </p:pic>
      <p:pic>
        <p:nvPicPr>
          <p:cNvPr id="9" name="그림 8">
            <a:extLst>
              <a:ext uri="{FF2B5EF4-FFF2-40B4-BE49-F238E27FC236}">
                <a16:creationId xmlns:a16="http://schemas.microsoft.com/office/drawing/2014/main" id="{AAB8A6A7-6F36-88B5-9074-C4F6B60B14A1}"/>
              </a:ext>
            </a:extLst>
          </p:cNvPr>
          <p:cNvPicPr>
            <a:picLocks noChangeAspect="1"/>
          </p:cNvPicPr>
          <p:nvPr/>
        </p:nvPicPr>
        <p:blipFill>
          <a:blip r:embed="rId6"/>
          <a:stretch>
            <a:fillRect/>
          </a:stretch>
        </p:blipFill>
        <p:spPr>
          <a:xfrm>
            <a:off x="1429794" y="3558485"/>
            <a:ext cx="1720706" cy="427505"/>
          </a:xfrm>
          <a:prstGeom prst="rect">
            <a:avLst/>
          </a:prstGeom>
        </p:spPr>
      </p:pic>
      <p:pic>
        <p:nvPicPr>
          <p:cNvPr id="10" name="그림 9">
            <a:extLst>
              <a:ext uri="{FF2B5EF4-FFF2-40B4-BE49-F238E27FC236}">
                <a16:creationId xmlns:a16="http://schemas.microsoft.com/office/drawing/2014/main" id="{579CD23B-E38A-DDD0-1A49-8759EE8CF853}"/>
              </a:ext>
            </a:extLst>
          </p:cNvPr>
          <p:cNvPicPr>
            <a:picLocks noChangeAspect="1"/>
          </p:cNvPicPr>
          <p:nvPr/>
        </p:nvPicPr>
        <p:blipFill>
          <a:blip r:embed="rId7"/>
          <a:stretch>
            <a:fillRect/>
          </a:stretch>
        </p:blipFill>
        <p:spPr>
          <a:xfrm>
            <a:off x="3167434" y="3558485"/>
            <a:ext cx="2010102" cy="52123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379</TotalTime>
  <Words>3767</Words>
  <Application>Microsoft Office PowerPoint</Application>
  <PresentationFormat>와이드스크린</PresentationFormat>
  <Paragraphs>544</Paragraphs>
  <Slides>29</Slides>
  <Notes>29</Notes>
  <HiddenSlides>0</HiddenSlides>
  <MMClips>1</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29</vt:i4>
      </vt:variant>
    </vt:vector>
  </HeadingPairs>
  <TitlesOfParts>
    <vt:vector size="34" baseType="lpstr">
      <vt:lpstr>맑은 고딕</vt: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인천항 화물차 게이트 관제 시스템 - 못먹어도 S카고</dc:title>
  <dc:subject>PptxGenJS Presentation</dc:subject>
  <dc:creator>PptxGenJS</dc:creator>
  <cp:lastModifiedBy>KY</cp:lastModifiedBy>
  <cp:revision>32</cp:revision>
  <dcterms:created xsi:type="dcterms:W3CDTF">2026-10-05T03:08:37Z</dcterms:created>
  <dcterms:modified xsi:type="dcterms:W3CDTF">2026-10-06T06:15:08Z</dcterms:modified>
</cp:coreProperties>
</file>