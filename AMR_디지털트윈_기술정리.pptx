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b62c7675-248d-79f1-e5df-24bf28667054}">
          <p14:sldIdLst>
            <p14:sldId id="256"/>
            <p14:sldId id="257"/>
            <p14:sldId id="258"/>
          </p14:sldIdLst>
        </p14:section>
        <p14:section name="3D 구현" id="{9b79d6f3-9dd1-21b7-7cad-a594e00bdffe}">
          <p14:sldIdLst>
            <p14:sldId id="259"/>
            <p14:sldId id="260"/>
            <p14:sldId id="261"/>
            <p14:sldId id="262"/>
            <p14:sldId id="263"/>
          </p14:sldIdLst>
        </p14:section>
        <p14:section name="실시간 처리" id="{e18a3848-cd29-fa4d-dcdb-747947ece634}">
          <p14:sldIdLst>
            <p14:sldId id="264"/>
            <p14:sldId id="265"/>
            <p14:sldId id="266"/>
            <p14:sldId id="267"/>
          </p14:sldIdLst>
        </p14:section>
        <p14:section name="데이터 · DB" id="{c1a9e52a-c941-0aa1-4ccf-298ae9117373}">
          <p14:sldIdLst>
            <p14:sldId id="268"/>
            <p14:sldId id="269"/>
            <p14:sldId id="270"/>
            <p14:sldId id="271"/>
          </p14:sldIdLst>
        </p14:section>
        <p14:section name="예지보전" id="{61dae7c6-a1cf-3597-6e90-ca053864d8b0}">
          <p14:sldIdLst>
            <p14:sldId id="272"/>
            <p14:sldId id="273"/>
            <p14:sldId id="274"/>
            <p14:sldId id="275"/>
          </p14:sldIdLst>
        </p14:section>
        <p14:section name="AMR 경로" id="{bafa3cd4-025b-f35b-813b-f0278606ff62}">
          <p14:sldIdLst>
            <p14:sldId id="276"/>
            <p14:sldId id="277"/>
            <p14:sldId id="278"/>
            <p14:sldId id="279"/>
          </p14:sldIdLst>
        </p14:section>
        <p14:section name="마무리" id="{ce563935-b6c1-59f4-183e-c3dc9dfea82b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333"/>
                </a:solidFill>
                <a:latin typeface="+mn-lt"/>
              </a:rPr>
              <a:t>한 프레임 그리기 호출(draw call) 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한 프레임 그리기 호출 수</c:v>
                </c:pt>
              </c:strCache>
            </c:strRef>
          </c:tx>
          <c:spPr>
            <a:solidFill>
              <a:srgbClr val="5B6B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8F8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최적화 전</c:v>
                  </c:pt>
                  <c:pt idx="1">
                    <c:v>일반 모드</c:v>
                  </c:pt>
                  <c:pt idx="2">
                    <c:v>저사양 모드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3225</c:v>
                </c:pt>
                <c:pt idx="1">
                  <c:v>1219</c:v>
                </c:pt>
                <c:pt idx="2">
                  <c:v>711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333"/>
                </a:solidFill>
                <a:latin typeface="+mn-lt"/>
              </a:rPr>
              <a:t>시뮬레이션 실제 출력 — AMR-03 진동 (0~32초)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AMR-03 진동 (mm/s)</c:v>
                </c:pt>
              </c:strCache>
            </c:strRef>
          </c:tx>
          <c:spPr>
            <a:solidFill>
              <a:srgbClr val="6B4FA0"/>
            </a:solidFill>
            <a:ln w="25400" cap="flat">
              <a:solidFill>
                <a:srgbClr val="6B4F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4FA0"/>
              </a:solidFill>
              <a:ln w="9525" cap="flat">
                <a:solidFill>
                  <a:srgbClr val="6B4F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0초</c:v>
                  </c:pt>
                  <c:pt idx="8">
                    <c:v>5초</c:v>
                  </c:pt>
                  <c:pt idx="17">
                    <c:v>10초</c:v>
                  </c:pt>
                  <c:pt idx="25">
                    <c:v>15초</c:v>
                  </c:pt>
                  <c:pt idx="33">
                    <c:v>20초</c:v>
                  </c:pt>
                  <c:pt idx="42">
                    <c:v>25초</c:v>
                  </c:pt>
                  <c:pt idx="50">
                    <c:v>30초</c:v>
                  </c:pt>
                </c:lvl>
              </c:multiLvlStrCache>
            </c:multiLvl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1.65</c:v>
                </c:pt>
                <c:pt idx="1">
                  <c:v>1.4</c:v>
                </c:pt>
                <c:pt idx="2">
                  <c:v>1.39</c:v>
                </c:pt>
                <c:pt idx="3">
                  <c:v>1.45</c:v>
                </c:pt>
                <c:pt idx="4">
                  <c:v>1.4</c:v>
                </c:pt>
                <c:pt idx="5">
                  <c:v>1.63</c:v>
                </c:pt>
                <c:pt idx="6">
                  <c:v>1.63</c:v>
                </c:pt>
                <c:pt idx="7">
                  <c:v>1.73</c:v>
                </c:pt>
                <c:pt idx="8">
                  <c:v>1.8</c:v>
                </c:pt>
                <c:pt idx="9">
                  <c:v>1.6</c:v>
                </c:pt>
                <c:pt idx="10">
                  <c:v>1.47</c:v>
                </c:pt>
                <c:pt idx="11">
                  <c:v>1.45</c:v>
                </c:pt>
                <c:pt idx="12">
                  <c:v>1.44</c:v>
                </c:pt>
                <c:pt idx="13">
                  <c:v>1.57</c:v>
                </c:pt>
                <c:pt idx="14">
                  <c:v>1.75</c:v>
                </c:pt>
                <c:pt idx="15">
                  <c:v>1.84</c:v>
                </c:pt>
                <c:pt idx="16">
                  <c:v>1.97</c:v>
                </c:pt>
                <c:pt idx="17">
                  <c:v>1.76</c:v>
                </c:pt>
                <c:pt idx="18">
                  <c:v>1.83</c:v>
                </c:pt>
                <c:pt idx="19">
                  <c:v>1.88</c:v>
                </c:pt>
                <c:pt idx="20">
                  <c:v>2.29</c:v>
                </c:pt>
                <c:pt idx="21">
                  <c:v>2.51</c:v>
                </c:pt>
                <c:pt idx="22">
                  <c:v>2.93</c:v>
                </c:pt>
                <c:pt idx="23">
                  <c:v>3.13</c:v>
                </c:pt>
                <c:pt idx="24">
                  <c:v>3.2</c:v>
                </c:pt>
                <c:pt idx="25">
                  <c:v>3.26</c:v>
                </c:pt>
                <c:pt idx="26">
                  <c:v>3.39</c:v>
                </c:pt>
                <c:pt idx="27">
                  <c:v>3.49</c:v>
                </c:pt>
                <c:pt idx="28">
                  <c:v>3.57</c:v>
                </c:pt>
                <c:pt idx="29">
                  <c:v>3.96</c:v>
                </c:pt>
                <c:pt idx="30">
                  <c:v>3.91</c:v>
                </c:pt>
                <c:pt idx="31">
                  <c:v>4.27</c:v>
                </c:pt>
                <c:pt idx="32">
                  <c:v>4.48</c:v>
                </c:pt>
                <c:pt idx="33">
                  <c:v>4.64</c:v>
                </c:pt>
                <c:pt idx="34">
                  <c:v>4.57</c:v>
                </c:pt>
                <c:pt idx="35">
                  <c:v>4.7</c:v>
                </c:pt>
                <c:pt idx="36">
                  <c:v>4.83</c:v>
                </c:pt>
                <c:pt idx="37">
                  <c:v>5.07</c:v>
                </c:pt>
                <c:pt idx="38">
                  <c:v>5.39</c:v>
                </c:pt>
                <c:pt idx="39">
                  <c:v>5.62</c:v>
                </c:pt>
                <c:pt idx="40">
                  <c:v>5.76</c:v>
                </c:pt>
                <c:pt idx="41">
                  <c:v>5.81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예측 추세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0초</c:v>
                  </c:pt>
                  <c:pt idx="8">
                    <c:v>5초</c:v>
                  </c:pt>
                  <c:pt idx="17">
                    <c:v>10초</c:v>
                  </c:pt>
                  <c:pt idx="25">
                    <c:v>15초</c:v>
                  </c:pt>
                  <c:pt idx="33">
                    <c:v>20초</c:v>
                  </c:pt>
                  <c:pt idx="42">
                    <c:v>25초</c:v>
                  </c:pt>
                  <c:pt idx="50">
                    <c:v>30초</c:v>
                  </c:pt>
                </c:lvl>
              </c:multiLvlStrCache>
            </c:multiLvlStrRef>
          </c:cat>
          <c:val>
            <c:numRef>
              <c:f>Sheet1!$C$2:$C$54</c:f>
              <c:numCache>
                <c:formatCode>General</c:formatCode>
                <c:ptCount val="53"/>
                <c:pt idx="31">
                  <c:v>4.12</c:v>
                </c:pt>
                <c:pt idx="32">
                  <c:v>4.25</c:v>
                </c:pt>
                <c:pt idx="33">
                  <c:v>4.38</c:v>
                </c:pt>
                <c:pt idx="34">
                  <c:v>4.51</c:v>
                </c:pt>
                <c:pt idx="35">
                  <c:v>4.64</c:v>
                </c:pt>
                <c:pt idx="36">
                  <c:v>4.77</c:v>
                </c:pt>
                <c:pt idx="37">
                  <c:v>4.9</c:v>
                </c:pt>
                <c:pt idx="38">
                  <c:v>5.03</c:v>
                </c:pt>
                <c:pt idx="39">
                  <c:v>5.16</c:v>
                </c:pt>
                <c:pt idx="40">
                  <c:v>5.29</c:v>
                </c:pt>
                <c:pt idx="41">
                  <c:v>5.42</c:v>
                </c:pt>
                <c:pt idx="42">
                  <c:v>5.55</c:v>
                </c:pt>
                <c:pt idx="43">
                  <c:v>5.68</c:v>
                </c:pt>
                <c:pt idx="44">
                  <c:v>5.82</c:v>
                </c:pt>
                <c:pt idx="45">
                  <c:v>5.95</c:v>
                </c:pt>
                <c:pt idx="46">
                  <c:v>6.08</c:v>
                </c:pt>
                <c:pt idx="47">
                  <c:v>6.21</c:v>
                </c:pt>
                <c:pt idx="48">
                  <c:v>6.34</c:v>
                </c:pt>
                <c:pt idx="49">
                  <c:v>6.47</c:v>
                </c:pt>
                <c:pt idx="50">
                  <c:v>6.6</c:v>
                </c:pt>
                <c:pt idx="51">
                  <c:v>6.73</c:v>
                </c:pt>
                <c:pt idx="52">
                  <c:v>6.86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주의 4.5</c:v>
                </c:pt>
              </c:strCache>
            </c:strRef>
          </c:tx>
          <c:spPr>
            <a:solidFill>
              <a:srgbClr val="F28C28"/>
            </a:solidFill>
            <a:ln w="254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0초</c:v>
                  </c:pt>
                  <c:pt idx="8">
                    <c:v>5초</c:v>
                  </c:pt>
                  <c:pt idx="17">
                    <c:v>10초</c:v>
                  </c:pt>
                  <c:pt idx="25">
                    <c:v>15초</c:v>
                  </c:pt>
                  <c:pt idx="33">
                    <c:v>20초</c:v>
                  </c:pt>
                  <c:pt idx="42">
                    <c:v>25초</c:v>
                  </c:pt>
                  <c:pt idx="50">
                    <c:v>30초</c:v>
                  </c:pt>
                </c:lvl>
              </c:multiLvlStrCache>
            </c:multiLvlStrRef>
          </c:cat>
          <c:val>
            <c:numRef>
              <c:f>Sheet1!$D$2:$D$54</c:f>
              <c:numCache>
                <c:formatCode>General</c:formatCode>
                <c:ptCount val="53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  <c:pt idx="6">
                  <c:v>4.5</c:v>
                </c:pt>
                <c:pt idx="7">
                  <c:v>4.5</c:v>
                </c:pt>
                <c:pt idx="8">
                  <c:v>4.5</c:v>
                </c:pt>
                <c:pt idx="9">
                  <c:v>4.5</c:v>
                </c:pt>
                <c:pt idx="10">
                  <c:v>4.5</c:v>
                </c:pt>
                <c:pt idx="11">
                  <c:v>4.5</c:v>
                </c:pt>
                <c:pt idx="12">
                  <c:v>4.5</c:v>
                </c:pt>
                <c:pt idx="13">
                  <c:v>4.5</c:v>
                </c:pt>
                <c:pt idx="14">
                  <c:v>4.5</c:v>
                </c:pt>
                <c:pt idx="15">
                  <c:v>4.5</c:v>
                </c:pt>
                <c:pt idx="16">
                  <c:v>4.5</c:v>
                </c:pt>
                <c:pt idx="17">
                  <c:v>4.5</c:v>
                </c:pt>
                <c:pt idx="18">
                  <c:v>4.5</c:v>
                </c:pt>
                <c:pt idx="19">
                  <c:v>4.5</c:v>
                </c:pt>
                <c:pt idx="20">
                  <c:v>4.5</c:v>
                </c:pt>
                <c:pt idx="21">
                  <c:v>4.5</c:v>
                </c:pt>
                <c:pt idx="22">
                  <c:v>4.5</c:v>
                </c:pt>
                <c:pt idx="23">
                  <c:v>4.5</c:v>
                </c:pt>
                <c:pt idx="24">
                  <c:v>4.5</c:v>
                </c:pt>
                <c:pt idx="25">
                  <c:v>4.5</c:v>
                </c:pt>
                <c:pt idx="26">
                  <c:v>4.5</c:v>
                </c:pt>
                <c:pt idx="27">
                  <c:v>4.5</c:v>
                </c:pt>
                <c:pt idx="28">
                  <c:v>4.5</c:v>
                </c:pt>
                <c:pt idx="29">
                  <c:v>4.5</c:v>
                </c:pt>
                <c:pt idx="30">
                  <c:v>4.5</c:v>
                </c:pt>
                <c:pt idx="31">
                  <c:v>4.5</c:v>
                </c:pt>
                <c:pt idx="32">
                  <c:v>4.5</c:v>
                </c:pt>
                <c:pt idx="33">
                  <c:v>4.5</c:v>
                </c:pt>
                <c:pt idx="34">
                  <c:v>4.5</c:v>
                </c:pt>
                <c:pt idx="35">
                  <c:v>4.5</c:v>
                </c:pt>
                <c:pt idx="36">
                  <c:v>4.5</c:v>
                </c:pt>
                <c:pt idx="37">
                  <c:v>4.5</c:v>
                </c:pt>
                <c:pt idx="38">
                  <c:v>4.5</c:v>
                </c:pt>
                <c:pt idx="39">
                  <c:v>4.5</c:v>
                </c:pt>
                <c:pt idx="40">
                  <c:v>4.5</c:v>
                </c:pt>
                <c:pt idx="41">
                  <c:v>4.5</c:v>
                </c:pt>
                <c:pt idx="42">
                  <c:v>4.5</c:v>
                </c:pt>
                <c:pt idx="43">
                  <c:v>4.5</c:v>
                </c:pt>
                <c:pt idx="44">
                  <c:v>4.5</c:v>
                </c:pt>
                <c:pt idx="45">
                  <c:v>4.5</c:v>
                </c:pt>
                <c:pt idx="46">
                  <c:v>4.5</c:v>
                </c:pt>
                <c:pt idx="47">
                  <c:v>4.5</c:v>
                </c:pt>
                <c:pt idx="48">
                  <c:v>4.5</c:v>
                </c:pt>
                <c:pt idx="49">
                  <c:v>4.5</c:v>
                </c:pt>
                <c:pt idx="50">
                  <c:v>4.5</c:v>
                </c:pt>
                <c:pt idx="51">
                  <c:v>4.5</c:v>
                </c:pt>
                <c:pt idx="52">
                  <c:v>4.5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고장 7.1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0초</c:v>
                  </c:pt>
                  <c:pt idx="8">
                    <c:v>5초</c:v>
                  </c:pt>
                  <c:pt idx="17">
                    <c:v>10초</c:v>
                  </c:pt>
                  <c:pt idx="25">
                    <c:v>15초</c:v>
                  </c:pt>
                  <c:pt idx="33">
                    <c:v>20초</c:v>
                  </c:pt>
                  <c:pt idx="42">
                    <c:v>25초</c:v>
                  </c:pt>
                  <c:pt idx="50">
                    <c:v>30초</c:v>
                  </c:pt>
                </c:lvl>
              </c:multiLvlStrCache>
            </c:multiLvlStrRef>
          </c:cat>
          <c:val>
            <c:numRef>
              <c:f>Sheet1!$E$2:$E$54</c:f>
              <c:numCache>
                <c:formatCode>General</c:formatCode>
                <c:ptCount val="53"/>
                <c:pt idx="0">
                  <c:v>7.1</c:v>
                </c:pt>
                <c:pt idx="1">
                  <c:v>7.1</c:v>
                </c:pt>
                <c:pt idx="2">
                  <c:v>7.1</c:v>
                </c:pt>
                <c:pt idx="3">
                  <c:v>7.1</c:v>
                </c:pt>
                <c:pt idx="4">
                  <c:v>7.1</c:v>
                </c:pt>
                <c:pt idx="5">
                  <c:v>7.1</c:v>
                </c:pt>
                <c:pt idx="6">
                  <c:v>7.1</c:v>
                </c:pt>
                <c:pt idx="7">
                  <c:v>7.1</c:v>
                </c:pt>
                <c:pt idx="8">
                  <c:v>7.1</c:v>
                </c:pt>
                <c:pt idx="9">
                  <c:v>7.1</c:v>
                </c:pt>
                <c:pt idx="10">
                  <c:v>7.1</c:v>
                </c:pt>
                <c:pt idx="11">
                  <c:v>7.1</c:v>
                </c:pt>
                <c:pt idx="12">
                  <c:v>7.1</c:v>
                </c:pt>
                <c:pt idx="13">
                  <c:v>7.1</c:v>
                </c:pt>
                <c:pt idx="14">
                  <c:v>7.1</c:v>
                </c:pt>
                <c:pt idx="15">
                  <c:v>7.1</c:v>
                </c:pt>
                <c:pt idx="16">
                  <c:v>7.1</c:v>
                </c:pt>
                <c:pt idx="17">
                  <c:v>7.1</c:v>
                </c:pt>
                <c:pt idx="18">
                  <c:v>7.1</c:v>
                </c:pt>
                <c:pt idx="19">
                  <c:v>7.1</c:v>
                </c:pt>
                <c:pt idx="20">
                  <c:v>7.1</c:v>
                </c:pt>
                <c:pt idx="21">
                  <c:v>7.1</c:v>
                </c:pt>
                <c:pt idx="22">
                  <c:v>7.1</c:v>
                </c:pt>
                <c:pt idx="23">
                  <c:v>7.1</c:v>
                </c:pt>
                <c:pt idx="24">
                  <c:v>7.1</c:v>
                </c:pt>
                <c:pt idx="25">
                  <c:v>7.1</c:v>
                </c:pt>
                <c:pt idx="26">
                  <c:v>7.1</c:v>
                </c:pt>
                <c:pt idx="27">
                  <c:v>7.1</c:v>
                </c:pt>
                <c:pt idx="28">
                  <c:v>7.1</c:v>
                </c:pt>
                <c:pt idx="29">
                  <c:v>7.1</c:v>
                </c:pt>
                <c:pt idx="30">
                  <c:v>7.1</c:v>
                </c:pt>
                <c:pt idx="31">
                  <c:v>7.1</c:v>
                </c:pt>
                <c:pt idx="32">
                  <c:v>7.1</c:v>
                </c:pt>
                <c:pt idx="33">
                  <c:v>7.1</c:v>
                </c:pt>
                <c:pt idx="34">
                  <c:v>7.1</c:v>
                </c:pt>
                <c:pt idx="35">
                  <c:v>7.1</c:v>
                </c:pt>
                <c:pt idx="36">
                  <c:v>7.1</c:v>
                </c:pt>
                <c:pt idx="37">
                  <c:v>7.1</c:v>
                </c:pt>
                <c:pt idx="38">
                  <c:v>7.1</c:v>
                </c:pt>
                <c:pt idx="39">
                  <c:v>7.1</c:v>
                </c:pt>
                <c:pt idx="40">
                  <c:v>7.1</c:v>
                </c:pt>
                <c:pt idx="41">
                  <c:v>7.1</c:v>
                </c:pt>
                <c:pt idx="42">
                  <c:v>7.1</c:v>
                </c:pt>
                <c:pt idx="43">
                  <c:v>7.1</c:v>
                </c:pt>
                <c:pt idx="44">
                  <c:v>7.1</c:v>
                </c:pt>
                <c:pt idx="45">
                  <c:v>7.1</c:v>
                </c:pt>
                <c:pt idx="46">
                  <c:v>7.1</c:v>
                </c:pt>
                <c:pt idx="47">
                  <c:v>7.1</c:v>
                </c:pt>
                <c:pt idx="48">
                  <c:v>7.1</c:v>
                </c:pt>
                <c:pt idx="49">
                  <c:v>7.1</c:v>
                </c:pt>
                <c:pt idx="50">
                  <c:v>7.1</c:v>
                </c:pt>
                <c:pt idx="51">
                  <c:v>7.1</c:v>
                </c:pt>
                <c:pt idx="52">
                  <c:v>7.1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문서는 관리자 화면 "물류센터 AMR 관제"(/admin/amr-twin)의 동작 원리를 정리한 기술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</a:rPr>
              <a:t>SafeCargo  ·  못먹어도 S카고  ·  2차 프로젝트 물류센터 AMR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8C4D9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물류센터 AMR 예지보전 · 3D 디지털 트윈 기술 정리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3D 구현  ·  실시간 처리  ·  데이터와 DB  ·  예지보전 방식  ·  AMR 경로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한눈에 보기 — 관리자 화면 "물류센터 AMR 관제"</a:t>
            </a:r>
            <a:endParaRPr lang="en-US" sz="2600" dirty="0"/>
          </a:p>
        </p:txBody>
      </p:sp>
      <p:sp>
        <p:nvSpPr>
          <p:cNvPr id="3" name="chip-1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" name="chip-t-2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개요</a:t>
            </a:r>
            <a:endParaRPr lang="en-US" sz="1200" dirty="0"/>
          </a:p>
        </p:txBody>
      </p:sp>
      <p:pic>
        <p:nvPicPr>
          <p:cNvPr id="5" name="img-3" descr="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7680960" cy="4320540"/>
          </a:xfrm>
          <a:prstGeom prst="rect">
            <a:avLst/>
          </a:prstGeom>
        </p:spPr>
      </p:pic>
      <p:sp>
        <p:nvSpPr>
          <p:cNvPr id="6" name="cap-4"/>
          <p:cNvSpPr txBox="1"/>
          <p:nvPr/>
        </p:nvSpPr>
        <p:spPr>
          <a:xfrm>
            <a:off x="502920" y="5486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STEP 03 · AI 고장 예측 시점 화면 (1920×1080)</a:t>
            </a:r>
            <a:endParaRPr lang="en-US" sz="1100" dirty="0"/>
          </a:p>
        </p:txBody>
      </p:sp>
      <p:sp>
        <p:nvSpPr>
          <p:cNvPr id="7" name="box-5"/>
          <p:cNvSpPr/>
          <p:nvPr/>
        </p:nvSpPr>
        <p:spPr>
          <a:xfrm>
            <a:off x="8458200" y="10972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dot-6"/>
          <p:cNvSpPr/>
          <p:nvPr/>
        </p:nvSpPr>
        <p:spPr>
          <a:xfrm>
            <a:off x="8613648" y="1280160"/>
            <a:ext cx="201168" cy="201168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9" name="h-7"/>
          <p:cNvSpPr txBox="1"/>
          <p:nvPr/>
        </p:nvSpPr>
        <p:spPr>
          <a:xfrm>
            <a:off x="8915400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왼쪽 · 로봇 상태</a:t>
            </a:r>
            <a:endParaRPr lang="en-US" sz="1400" dirty="0"/>
          </a:p>
        </p:txBody>
      </p:sp>
      <p:sp>
        <p:nvSpPr>
          <p:cNvPr id="10" name="d-8"/>
          <p:cNvSpPr txBox="1"/>
          <p:nvPr/>
        </p:nvSpPr>
        <p:spPr>
          <a:xfrm>
            <a:off x="8613648" y="153619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AMR 5대 + 무인 지게차 1대 목록, 선택 로봇의 센서 6종 · 진동 그래프 · 이벤트 로그</a:t>
            </a:r>
            <a:endParaRPr lang="en-US" sz="1100" dirty="0"/>
          </a:p>
        </p:txBody>
      </p:sp>
      <p:sp>
        <p:nvSpPr>
          <p:cNvPr id="11" name="box-9"/>
          <p:cNvSpPr/>
          <p:nvPr/>
        </p:nvSpPr>
        <p:spPr>
          <a:xfrm>
            <a:off x="8458200" y="21945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dot-10"/>
          <p:cNvSpPr/>
          <p:nvPr/>
        </p:nvSpPr>
        <p:spPr>
          <a:xfrm>
            <a:off x="8613648" y="2377440"/>
            <a:ext cx="201168" cy="20116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h-11"/>
          <p:cNvSpPr txBox="1"/>
          <p:nvPr/>
        </p:nvSpPr>
        <p:spPr>
          <a:xfrm>
            <a:off x="891540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가운데 · 3D 트윈</a:t>
            </a:r>
            <a:endParaRPr lang="en-US" sz="1400" dirty="0"/>
          </a:p>
        </p:txBody>
      </p:sp>
      <p:sp>
        <p:nvSpPr>
          <p:cNvPr id="14" name="d-12"/>
          <p:cNvSpPr txBox="1"/>
          <p:nvPr/>
        </p:nvSpPr>
        <p:spPr>
          <a:xfrm>
            <a:off x="8613648" y="263347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Three.js로 그린 42m × 32m 물류센터. 드래그 회전 · 휠 확대 · 클릭 선택</a:t>
            </a:r>
            <a:endParaRPr lang="en-US" sz="1100" dirty="0"/>
          </a:p>
        </p:txBody>
      </p:sp>
      <p:sp>
        <p:nvSpPr>
          <p:cNvPr id="15" name="box-13"/>
          <p:cNvSpPr/>
          <p:nvPr/>
        </p:nvSpPr>
        <p:spPr>
          <a:xfrm>
            <a:off x="8458200" y="32918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dot-14"/>
          <p:cNvSpPr/>
          <p:nvPr/>
        </p:nvSpPr>
        <p:spPr>
          <a:xfrm>
            <a:off x="8613648" y="3474720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h-15"/>
          <p:cNvSpPr txBox="1"/>
          <p:nvPr/>
        </p:nvSpPr>
        <p:spPr>
          <a:xfrm>
            <a:off x="891540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오른쪽 · 화물</a:t>
            </a:r>
            <a:endParaRPr lang="en-US" sz="1400" dirty="0"/>
          </a:p>
        </p:txBody>
      </p:sp>
      <p:sp>
        <p:nvSpPr>
          <p:cNvPr id="18" name="d-16"/>
          <p:cNvSpPr txBox="1"/>
          <p:nvPr/>
        </p:nvSpPr>
        <p:spPr>
          <a:xfrm>
            <a:off x="8613648" y="373075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처리 건수 · 허브별 출고 · 보관 현황(바닥 칸/위 단) · 화물 정보 · 운송장 OCR</a:t>
            </a:r>
            <a:endParaRPr lang="en-US" sz="1100" dirty="0"/>
          </a:p>
        </p:txBody>
      </p:sp>
      <p:sp>
        <p:nvSpPr>
          <p:cNvPr id="19" name="box-17"/>
          <p:cNvSpPr/>
          <p:nvPr/>
        </p:nvSpPr>
        <p:spPr>
          <a:xfrm>
            <a:off x="8458200" y="43891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dot-18"/>
          <p:cNvSpPr/>
          <p:nvPr/>
        </p:nvSpPr>
        <p:spPr>
          <a:xfrm>
            <a:off x="8613648" y="4572000"/>
            <a:ext cx="201168" cy="201168"/>
          </a:xfrm>
          <a:prstGeom prst="ellipse">
            <a:avLst/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21" name="h-19"/>
          <p:cNvSpPr txBox="1"/>
          <p:nvPr/>
        </p:nvSpPr>
        <p:spPr>
          <a:xfrm>
            <a:off x="8915400" y="4480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상단 · 시나리오</a:t>
            </a:r>
            <a:endParaRPr lang="en-US" sz="1400" dirty="0"/>
          </a:p>
        </p:txBody>
      </p:sp>
      <p:sp>
        <p:nvSpPr>
          <p:cNvPr id="22" name="d-20"/>
          <p:cNvSpPr txBox="1"/>
          <p:nvPr/>
        </p:nvSpPr>
        <p:spPr>
          <a:xfrm>
            <a:off x="8613648" y="482803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STEP 01~05 예지보전 단계, 1·2·4배속, 일반/저사양 화질, 현장 음향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구성 파일과 역할 — 그리기와 계산을 분리</a:t>
            </a:r>
            <a:endParaRPr lang="en-US" sz="2600" dirty="0"/>
          </a:p>
        </p:txBody>
      </p:sp>
      <p:sp>
        <p:nvSpPr>
          <p:cNvPr id="3" name="chip-21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" name="chip-t-22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구조</a:t>
            </a:r>
            <a:endParaRPr lang="en-US" sz="1200" dirty="0"/>
          </a:p>
        </p:txBody>
      </p:sp>
      <p:sp>
        <p:nvSpPr>
          <p:cNvPr id="5" name="sub-2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frontend/src/components/amr/ 아래 모듈 5개 + 화면 1개. 시뮬레이션은 그리기를 모르고, 3D는 시뮬레이션 상태를 읽기만 한다</a:t>
            </a:r>
            <a:endParaRPr lang="en-US" sz="1400" dirty="0"/>
          </a:p>
        </p:txBody>
      </p:sp>
      <p:graphicFrame>
        <p:nvGraphicFramePr>
          <p:cNvPr id="4" name="tbl-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6675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파일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amrSim.js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시뮬레이션 코어 (계산만)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AMR · 지게차 상태 머신, 경로 계산, 작업 배정, 센서값 생성, 예지보전 시나리오, 화물 · 랙 · 도크 상태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amrScene3d.js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3D 렌더러 (Three.js)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평면도 좌표 → 미터 변환, 창고 · 랙 · 트럭 · 로봇 · 냉장 창고 모델, 조명 · 효과, 화질 모드, 클릭 선택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amrSound.js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현장 음향 (Web Audio)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음원 파일 없이 합성: 모터 · OCR 삑 · 리프트 · 셔터 · 트럭 · 경보, 카메라 기준 3D 입체음향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amrTwinApp.js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화면 조립 · 루프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실시간 루프(requestAnimationFrame), 패널 갱신, 진동 차트, 재생 · 배속 · 화질 · 소리 버튼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amrTwin.css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관제 화면 스타일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.amr-twin 아래로 한정(관리자 전역 스타일과 분리), 한 화면 3단 레이아웃, 저해상도 대응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AdminAmrTwin.vue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Vue 화면 (라우트)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/admin/amr-twin · onMounted에서 mountAmrTwin(), 화면을 떠나면 destroy()로 GPU · 오디오 정리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note-25"/>
          <p:cNvSpPr txBox="1"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FA0"/>
                </a:solidFill>
              </a:rPr>
              <a:t>의존성: three@0.160 (npm) 하나뿐. 이미지 · 3D 모델 · 음원 파일은 0개 — 모든 텍스처와 소리를 코드로 만든다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01  3D 구현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</a:rPr>
              <a:t>Three.js(WebGL)로 평면도 좌표를 실제 크기의 창고로 — 조명 · 재질 · 효과 · 최적화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3D 기술 스택</a:t>
            </a:r>
            <a:endParaRPr lang="en-US" sz="2600" dirty="0"/>
          </a:p>
        </p:txBody>
      </p:sp>
      <p:sp>
        <p:nvSpPr>
          <p:cNvPr id="3" name="chip-26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chip-t-27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3D</a:t>
            </a:r>
            <a:endParaRPr lang="en-US" sz="1200" dirty="0"/>
          </a:p>
        </p:txBody>
      </p:sp>
      <p:graphicFrame>
        <p:nvGraphicFramePr>
          <p:cNvPr id="6" name="tbl-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0"/>
                <a:gridCol w="55321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구성 요소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사용 기술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어디에 쓰나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렌더러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WebGLRenderer · ACES 톤매핑 · 노출 0.92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실내 조명 밝기를 사진처럼 압축 (흰 박스가 하얗게 날아가지 않게)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그림자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PCFSoft 그림자맵 2048² · 방향광 1개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랙 · 박스 · 로봇의 접지감. 저사양 모드에서 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반사 환경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RoomEnvironment → PMREM (반사 세기 0.55)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금속 · 비닐 랩의 은은한 반사. 실내라 일부러 약하게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후처리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EffectComposer + UnrealBloom(임계 1.3) + OutputPass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LED · 경광등 · 모니터 빛 번짐. 저사양에선 후처리 단계 통째로 생략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라벨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CSS2DRenderer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AMR 번호 · OCR 결과 · 고장 예측 말풍선을 HTML로 3D 위치에 고정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카메라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OrbitControls + 시점 3종(자동 연출 · 전체 · 따라가기)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자동 연출은 STEP 2~4 동안 AMR-03을 부드럽게 추적(lerp)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대량 객체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InstancedMesh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랙 기둥 · 빔 · 차선 도색 · 조명 · 위 단 재고를 각각 한 번에 그림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텍스처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CanvasTexture (코드로 그림)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골판지 · 운송장 · 스티커 · 번호판 · 바닥 마모 · 표지판 — 이미지 파일 없음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좌표계와 장면 구성 — 평면도 1px = 0.05m</a:t>
            </a:r>
            <a:endParaRPr lang="en-US" sz="2600" dirty="0"/>
          </a:p>
        </p:txBody>
      </p:sp>
      <p:sp>
        <p:nvSpPr>
          <p:cNvPr id="3" name="chip-29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chip-t-30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3D</a:t>
            </a:r>
            <a:endParaRPr lang="en-US" sz="1200" dirty="0"/>
          </a:p>
        </p:txBody>
      </p:sp>
      <p:pic>
        <p:nvPicPr>
          <p:cNvPr id="5" name="img-31" descr="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806440" cy="4343400"/>
          </a:xfrm>
          <a:prstGeom prst="rect">
            <a:avLst/>
          </a:prstGeom>
        </p:spPr>
      </p:pic>
      <p:sp>
        <p:nvSpPr>
          <p:cNvPr id="6" name="cap-32"/>
          <p:cNvSpPr txBox="1"/>
          <p:nvPr/>
        </p:nvSpPr>
        <p:spPr>
          <a:xfrm>
            <a:off x="502920" y="553212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전체 보기 시점: 위쪽이 냉장 · 냉동 창고, 왼쪽 입고 도크, 오른쪽 허브별 출고 도크</a:t>
            </a:r>
            <a:endParaRPr lang="en-US" sz="1100" dirty="0"/>
          </a:p>
        </p:txBody>
      </p:sp>
      <p:sp>
        <p:nvSpPr>
          <p:cNvPr id="7" name="formula-33"/>
          <p:cNvSpPr txBox="1"/>
          <p:nvPr/>
        </p:nvSpPr>
        <p:spPr>
          <a:xfrm>
            <a:off x="658368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</a:rPr>
              <a:t>변환식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X(x) = (x − 500) × 0.05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Z(y) = (y − 320) × 0.05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</a:rPr>
              <a:t>시뮬레이션은 1000 × 640 평면도(px)에서 계산하고, 3D는 이 식으로 미터로 바꿔 그린다</a:t>
            </a:r>
            <a:endParaRPr lang="en-US" sz="1400" dirty="0"/>
          </a:p>
        </p:txBody>
      </p:sp>
      <p:graphicFrame>
        <p:nvGraphicFramePr>
          <p:cNvPr id="7" name="tbl-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606040"/>
          <a:ext cx="51206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520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객체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실제 크기 · 수량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건물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42m × 32m, 벽 높이 7.2m (지붕은 컷어웨이)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4줄 × 9칸, 높이 6.6m · 빔 3단 1.75 / 3.45 / 5.15m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냉장 · 냉동 창고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23.3m × 4.4m × 7m, 고속 셔터 2개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도크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입고 D1~D3(세미 트레일러) · 출고 D4~D6(허브 택배차)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AMR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5대, 1.25 × 0.95m 리프트형 · 차선 오프셋 0.7m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무인 지게차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1대, 2단 마스트 · 포크 1.15m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기타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작업자 4명 · 충전기 5 · 정비 스테이션 · 롤테이너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실사 표현 기법 — 모든 질감을 코드로 그린다</a:t>
            </a:r>
            <a:endParaRPr lang="en-US" sz="2600" dirty="0"/>
          </a:p>
        </p:txBody>
      </p:sp>
      <p:sp>
        <p:nvSpPr>
          <p:cNvPr id="3" name="chip-35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chip-t-36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3D</a:t>
            </a:r>
            <a:endParaRPr lang="en-US" sz="1200" dirty="0"/>
          </a:p>
        </p:txBody>
      </p:sp>
      <p:pic>
        <p:nvPicPr>
          <p:cNvPr id="5" name="img-37" descr="f_b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3566160" cy="2082976"/>
          </a:xfrm>
          <a:prstGeom prst="rect">
            <a:avLst/>
          </a:prstGeom>
        </p:spPr>
      </p:pic>
      <p:sp>
        <p:nvSpPr>
          <p:cNvPr id="6" name="card-38"/>
          <p:cNvSpPr/>
          <p:nvPr/>
        </p:nvSpPr>
        <p:spPr>
          <a:xfrm>
            <a:off x="502920" y="3317416"/>
            <a:ext cx="3566160" cy="2854784"/>
          </a:xfrm>
          <a:prstGeom prst="roundRect">
            <a:avLst>
              <a:gd name="adj" fmla="val 256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card-h-39"/>
          <p:cNvSpPr txBox="1"/>
          <p:nvPr/>
        </p:nvSpPr>
        <p:spPr>
          <a:xfrm>
            <a:off x="704088" y="34637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박스 · 취급 스티커</a:t>
            </a:r>
            <a:endParaRPr lang="en-US" sz="1500" dirty="0"/>
          </a:p>
        </p:txBody>
      </p:sp>
      <p:sp>
        <p:nvSpPr>
          <p:cNvPr id="8" name="card-b-40"/>
          <p:cNvSpPr txBox="1"/>
          <p:nvPr/>
        </p:nvSpPr>
        <p:spPr>
          <a:xfrm>
            <a:off x="704088" y="3884344"/>
            <a:ext cx="3163824" cy="2168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크기 × 취급표시별 면 텍스처를 한 번만 그려 공유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박스마다 다른 운송장(번호 · 허브 · 무게 · 바코드)은 작은 라벨판으로 부착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면 비율이 달라도 글자가 안 찌그러지게 mm 좌표로 그림</a:t>
            </a:r>
            <a:endParaRPr lang="en-US" sz="1350" dirty="0"/>
          </a:p>
        </p:txBody>
      </p:sp>
      <p:pic>
        <p:nvPicPr>
          <p:cNvPr id="9" name="img-41" descr="fork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25112" y="1097280"/>
            <a:ext cx="3566160" cy="2331720"/>
          </a:xfrm>
          <a:prstGeom prst="rect">
            <a:avLst/>
          </a:prstGeom>
        </p:spPr>
      </p:pic>
      <p:sp>
        <p:nvSpPr>
          <p:cNvPr id="10" name="card-42"/>
          <p:cNvSpPr/>
          <p:nvPr/>
        </p:nvSpPr>
        <p:spPr>
          <a:xfrm>
            <a:off x="4325112" y="35661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card-h-43"/>
          <p:cNvSpPr txBox="1"/>
          <p:nvPr/>
        </p:nvSpPr>
        <p:spPr>
          <a:xfrm>
            <a:off x="4526280" y="37124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무인 지게차 · 랙</a:t>
            </a:r>
            <a:endParaRPr lang="en-US" sz="1500" dirty="0"/>
          </a:p>
        </p:txBody>
      </p:sp>
      <p:sp>
        <p:nvSpPr>
          <p:cNvPr id="12" name="card-b-44"/>
          <p:cNvSpPr txBox="1"/>
          <p:nvPr/>
        </p:nvSpPr>
        <p:spPr>
          <a:xfrm>
            <a:off x="4526280" y="4133088"/>
            <a:ext cx="3163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포크 높이만큼 안쪽 마스트 · 캐리지가 올라가는 2단 마스트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랙 빔마다 위치 라벨, 바닥에 바퀴 자국 · 진행 방향 화살표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경광등 점멸 · 파란 안전등은 이동할 때만</a:t>
            </a:r>
            <a:endParaRPr lang="en-US" sz="1350" dirty="0"/>
          </a:p>
        </p:txBody>
      </p:sp>
      <p:pic>
        <p:nvPicPr>
          <p:cNvPr id="13" name="img-45" descr="col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47304" y="1097280"/>
            <a:ext cx="3566160" cy="2331720"/>
          </a:xfrm>
          <a:prstGeom prst="rect">
            <a:avLst/>
          </a:prstGeom>
        </p:spPr>
      </p:pic>
      <p:sp>
        <p:nvSpPr>
          <p:cNvPr id="14" name="card-46"/>
          <p:cNvSpPr/>
          <p:nvPr/>
        </p:nvSpPr>
        <p:spPr>
          <a:xfrm>
            <a:off x="8147304" y="35661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card-h-47"/>
          <p:cNvSpPr txBox="1"/>
          <p:nvPr/>
        </p:nvSpPr>
        <p:spPr>
          <a:xfrm>
            <a:off x="8348472" y="37124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냉장 · 냉동 창고</a:t>
            </a:r>
            <a:endParaRPr lang="en-US" sz="1500" dirty="0"/>
          </a:p>
        </p:txBody>
      </p:sp>
      <p:sp>
        <p:nvSpPr>
          <p:cNvPr id="16" name="card-b-48"/>
          <p:cNvSpPr txBox="1"/>
          <p:nvPr/>
        </p:nvSpPr>
        <p:spPr>
          <a:xfrm>
            <a:off x="8348472" y="4133088"/>
            <a:ext cx="3163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단열 패널 텍스처, 남쪽 벽만 반투명 컷어웨이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냉각기에서 내려오는 찬 공기(파티클) · 바닥 성에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문 열림 시간에 따라 내부 온도 표시판이 오르내림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성능 최적화와 화질 모드</a:t>
            </a:r>
            <a:endParaRPr lang="en-US" sz="2600" dirty="0"/>
          </a:p>
        </p:txBody>
      </p:sp>
      <p:sp>
        <p:nvSpPr>
          <p:cNvPr id="3" name="chip-49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chip-t-50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3D</a:t>
            </a:r>
            <a:endParaRPr lang="en-US" sz="1200" dirty="0"/>
          </a:p>
        </p:txBody>
      </p:sp>
      <p:graphicFrame>
        <p:nvGraphicFramePr>
          <p:cNvPr id="5" name="chart-51" descr=""/>
          <p:cNvGraphicFramePr/>
          <p:nvPr/>
        </p:nvGraphicFramePr>
        <p:xfrm>
          <a:off x="502920" y="109728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p-52"/>
          <p:cNvSpPr txBox="1"/>
          <p:nvPr/>
        </p:nvSpPr>
        <p:spPr>
          <a:xfrm>
            <a:off x="502920" y="5212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측정: 1366×768 화면, renderer.info 기준 (그림자 패스 포함)</a:t>
            </a:r>
            <a:endParaRPr lang="en-US" sz="1100" dirty="0"/>
          </a:p>
        </p:txBody>
      </p:sp>
      <p:graphicFrame>
        <p:nvGraphicFramePr>
          <p:cNvPr id="9" name="tbl-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5760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069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최적화 기법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효과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InstancedMesh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차선 도색 · 조명 · 빔 · 커튼 · 위 단 재고를 재질별 1회 호출로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지오메트리 병합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팔레트(상판+받침 3개) → 1개, 운송장 라벨 3장 → 1개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면 그룹 압축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박스 6면 → 같은 재질끼리 3그룹 (호출 6 → 3)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텍스처 캐시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(크기 × 취급표시) 조합마다 1회 생성 후 공유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저사양 모드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그림자 · 빛 번짐 · 빛 기둥 · 먼지 · 냉기 끄기, 해상도 1배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자동 전환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첫 실행 3초 뒤 4초간 재서 초당 22장 미만이면 저사양으로 1회 전환 · 선택은 브라우저에 저장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02  실시간 처리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</a:rPr>
              <a:t>고정 간격 시뮬레이션 + 화면 갱신 루프, 그리고 실제 센서와 연결할 때의 구조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실시간 루프 — 매 프레임 무엇이 도는가</a:t>
            </a:r>
            <a:endParaRPr lang="en-US" sz="2600" dirty="0"/>
          </a:p>
        </p:txBody>
      </p:sp>
      <p:sp>
        <p:nvSpPr>
          <p:cNvPr id="3" name="chip-54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4" name="chip-t-55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실시간</a:t>
            </a:r>
            <a:endParaRPr lang="en-US" sz="1200" dirty="0"/>
          </a:p>
        </p:txBody>
      </p:sp>
      <p:sp>
        <p:nvSpPr>
          <p:cNvPr id="5" name="step-56"/>
          <p:cNvSpPr/>
          <p:nvPr/>
        </p:nvSpPr>
        <p:spPr>
          <a:xfrm>
            <a:off x="502920" y="1234440"/>
            <a:ext cx="1623060" cy="960120"/>
          </a:xfrm>
          <a:prstGeom prst="roundRect">
            <a:avLst>
              <a:gd name="adj" fmla="val 7619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6" name="step-t-57"/>
          <p:cNvSpPr txBox="1"/>
          <p:nvPr/>
        </p:nvSpPr>
        <p:spPr>
          <a:xfrm>
            <a:off x="557784" y="1234440"/>
            <a:ext cx="15133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requestAnimationFrame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모니터 주기(보통 60Hz)</a:t>
            </a:r>
            <a:endParaRPr lang="en-US" sz="1300" dirty="0"/>
          </a:p>
        </p:txBody>
      </p:sp>
      <p:sp>
        <p:nvSpPr>
          <p:cNvPr id="7" name="arr-58"/>
          <p:cNvSpPr txBox="1"/>
          <p:nvPr/>
        </p:nvSpPr>
        <p:spPr>
          <a:xfrm>
            <a:off x="2125980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tep-n-59"/>
          <p:cNvSpPr txBox="1"/>
          <p:nvPr/>
        </p:nvSpPr>
        <p:spPr>
          <a:xfrm>
            <a:off x="502920" y="2267712"/>
            <a:ext cx="16230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브라우저가 다음 화면을 그릴 때마다 호출</a:t>
            </a:r>
            <a:endParaRPr lang="en-US" sz="1150" dirty="0"/>
          </a:p>
        </p:txBody>
      </p:sp>
      <p:sp>
        <p:nvSpPr>
          <p:cNvPr id="9" name="step-60"/>
          <p:cNvSpPr/>
          <p:nvPr/>
        </p:nvSpPr>
        <p:spPr>
          <a:xfrm>
            <a:off x="2418588" y="1234440"/>
            <a:ext cx="1623060" cy="960120"/>
          </a:xfrm>
          <a:prstGeom prst="roundRect">
            <a:avLst>
              <a:gd name="adj" fmla="val 7619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10" name="step-t-61"/>
          <p:cNvSpPr txBox="1"/>
          <p:nvPr/>
        </p:nvSpPr>
        <p:spPr>
          <a:xfrm>
            <a:off x="2473452" y="1234440"/>
            <a:ext cx="15133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dt 계산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최대 0.05초로 제한</a:t>
            </a:r>
            <a:endParaRPr lang="en-US" sz="1300" dirty="0"/>
          </a:p>
        </p:txBody>
      </p:sp>
      <p:sp>
        <p:nvSpPr>
          <p:cNvPr id="11" name="arr-62"/>
          <p:cNvSpPr txBox="1"/>
          <p:nvPr/>
        </p:nvSpPr>
        <p:spPr>
          <a:xfrm>
            <a:off x="4041648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tep-n-63"/>
          <p:cNvSpPr txBox="1"/>
          <p:nvPr/>
        </p:nvSpPr>
        <p:spPr>
          <a:xfrm>
            <a:off x="2418588" y="2267712"/>
            <a:ext cx="16230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탭 전환 후 돌아와도 순간이동 없음</a:t>
            </a:r>
            <a:endParaRPr lang="en-US" sz="1150" dirty="0"/>
          </a:p>
        </p:txBody>
      </p:sp>
      <p:sp>
        <p:nvSpPr>
          <p:cNvPr id="13" name="step-64"/>
          <p:cNvSpPr/>
          <p:nvPr/>
        </p:nvSpPr>
        <p:spPr>
          <a:xfrm>
            <a:off x="4334256" y="1234440"/>
            <a:ext cx="1623060" cy="960120"/>
          </a:xfrm>
          <a:prstGeom prst="roundRect">
            <a:avLst>
              <a:gd name="adj" fmla="val 7619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4" name="step-t-65"/>
          <p:cNvSpPr txBox="1"/>
          <p:nvPr/>
        </p:nvSpPr>
        <p:spPr>
          <a:xfrm>
            <a:off x="4389120" y="1234440"/>
            <a:ext cx="15133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sim.step × 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0.025초 고정 간격</a:t>
            </a:r>
            <a:endParaRPr lang="en-US" sz="1300" dirty="0"/>
          </a:p>
        </p:txBody>
      </p:sp>
      <p:sp>
        <p:nvSpPr>
          <p:cNvPr id="15" name="arr-66"/>
          <p:cNvSpPr txBox="1"/>
          <p:nvPr/>
        </p:nvSpPr>
        <p:spPr>
          <a:xfrm>
            <a:off x="5957316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tep-n-67"/>
          <p:cNvSpPr txBox="1"/>
          <p:nvPr/>
        </p:nvSpPr>
        <p:spPr>
          <a:xfrm>
            <a:off x="4334256" y="2267712"/>
            <a:ext cx="16230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dt × 배속(1·2·4)을 잘게 쪼개 반복 → 배속이 커도 충돌 판정 정확</a:t>
            </a:r>
            <a:endParaRPr lang="en-US" sz="1150" dirty="0"/>
          </a:p>
        </p:txBody>
      </p:sp>
      <p:sp>
        <p:nvSpPr>
          <p:cNvPr id="17" name="step-68"/>
          <p:cNvSpPr/>
          <p:nvPr/>
        </p:nvSpPr>
        <p:spPr>
          <a:xfrm>
            <a:off x="6249924" y="1234440"/>
            <a:ext cx="1623060" cy="960120"/>
          </a:xfrm>
          <a:prstGeom prst="roundRect">
            <a:avLst>
              <a:gd name="adj" fmla="val 7619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8" name="step-t-69"/>
          <p:cNvSpPr txBox="1"/>
          <p:nvPr/>
        </p:nvSpPr>
        <p:spPr>
          <a:xfrm>
            <a:off x="6304788" y="1234440"/>
            <a:ext cx="15133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scene.update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3D 위치 · 애니메이션</a:t>
            </a:r>
            <a:endParaRPr lang="en-US" sz="1300" dirty="0"/>
          </a:p>
        </p:txBody>
      </p:sp>
      <p:sp>
        <p:nvSpPr>
          <p:cNvPr id="19" name="arr-70"/>
          <p:cNvSpPr txBox="1"/>
          <p:nvPr/>
        </p:nvSpPr>
        <p:spPr>
          <a:xfrm>
            <a:off x="7872984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tep-n-71"/>
          <p:cNvSpPr txBox="1"/>
          <p:nvPr/>
        </p:nvSpPr>
        <p:spPr>
          <a:xfrm>
            <a:off x="6249924" y="2267712"/>
            <a:ext cx="16230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로봇 · 화물 · 문 · 지게차 포크 · 효과</a:t>
            </a:r>
            <a:endParaRPr lang="en-US" sz="1150" dirty="0"/>
          </a:p>
        </p:txBody>
      </p:sp>
      <p:sp>
        <p:nvSpPr>
          <p:cNvPr id="21" name="step-72"/>
          <p:cNvSpPr/>
          <p:nvPr/>
        </p:nvSpPr>
        <p:spPr>
          <a:xfrm>
            <a:off x="8165592" y="1234440"/>
            <a:ext cx="1623060" cy="960120"/>
          </a:xfrm>
          <a:prstGeom prst="roundRect">
            <a:avLst>
              <a:gd name="adj" fmla="val 7619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step-t-73"/>
          <p:cNvSpPr txBox="1"/>
          <p:nvPr/>
        </p:nvSpPr>
        <p:spPr>
          <a:xfrm>
            <a:off x="8220456" y="1234440"/>
            <a:ext cx="15133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render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3D + 라벨</a:t>
            </a:r>
            <a:endParaRPr lang="en-US" sz="1300" dirty="0"/>
          </a:p>
        </p:txBody>
      </p:sp>
      <p:sp>
        <p:nvSpPr>
          <p:cNvPr id="23" name="arr-74"/>
          <p:cNvSpPr txBox="1"/>
          <p:nvPr/>
        </p:nvSpPr>
        <p:spPr>
          <a:xfrm>
            <a:off x="9788652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tep-n-75"/>
          <p:cNvSpPr txBox="1"/>
          <p:nvPr/>
        </p:nvSpPr>
        <p:spPr>
          <a:xfrm>
            <a:off x="8165592" y="2267712"/>
            <a:ext cx="16230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일반: 후처리 포함 / 저사양: 바로 그리기</a:t>
            </a:r>
            <a:endParaRPr lang="en-US" sz="1150" dirty="0"/>
          </a:p>
        </p:txBody>
      </p:sp>
      <p:sp>
        <p:nvSpPr>
          <p:cNvPr id="25" name="step-76"/>
          <p:cNvSpPr/>
          <p:nvPr/>
        </p:nvSpPr>
        <p:spPr>
          <a:xfrm>
            <a:off x="10081260" y="1234440"/>
            <a:ext cx="1623060" cy="960120"/>
          </a:xfrm>
          <a:prstGeom prst="roundRect">
            <a:avLst>
              <a:gd name="adj" fmla="val 761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step-t-77"/>
          <p:cNvSpPr txBox="1"/>
          <p:nvPr/>
        </p:nvSpPr>
        <p:spPr>
          <a:xfrm>
            <a:off x="10136124" y="1234440"/>
            <a:ext cx="15133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sound.update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상태 변화 → 소리</a:t>
            </a:r>
            <a:endParaRPr lang="en-US" sz="1300" dirty="0"/>
          </a:p>
        </p:txBody>
      </p:sp>
      <p:sp>
        <p:nvSpPr>
          <p:cNvPr id="27" name="step-n-78"/>
          <p:cNvSpPr txBox="1"/>
          <p:nvPr/>
        </p:nvSpPr>
        <p:spPr>
          <a:xfrm>
            <a:off x="10081260" y="2267712"/>
            <a:ext cx="16230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이전 프레임과 비교해 이벤트 감지</a:t>
            </a:r>
            <a:endParaRPr lang="en-US" sz="1150" dirty="0"/>
          </a:p>
        </p:txBody>
      </p:sp>
      <p:graphicFrame>
        <p:nvGraphicFramePr>
          <p:cNvPr id="11" name="tbl-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738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주기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하는 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0.025초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시뮬레이션 한 스텝: 이동 · 충돌 · 작업 · 도크 · 시나리오 판정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0.2초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AMR · 지게차 진동 샘플을 이력(최근 150개 = 30초)에 저장 → 차트 · 예측의 원본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0.9초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로봇마다 센서 패킷 1개 → 엣지 게이트웨이로 날아가는 점으로 표시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0.15초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좌 · 우 패널(로봇 목록 · 센서 수치 · 보관 현황 · 화물 정보) 다시 그림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1초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냉장 창고 온도 표시판 갱신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상태 머신 — 로봇은 정해진 상태 사이만 오간다</a:t>
            </a:r>
            <a:endParaRPr lang="en-US" sz="2600" dirty="0"/>
          </a:p>
        </p:txBody>
      </p:sp>
      <p:sp>
        <p:nvSpPr>
          <p:cNvPr id="3" name="chip-80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4" name="chip-t-81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실시간</a:t>
            </a:r>
            <a:endParaRPr lang="en-US" sz="1200" dirty="0"/>
          </a:p>
        </p:txBody>
      </p:sp>
      <p:sp>
        <p:nvSpPr>
          <p:cNvPr id="5" name="h-82"/>
          <p:cNvSpPr txBox="1"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FA0"/>
                </a:solidFill>
              </a:rPr>
              <a:t>AMR (5대)</a:t>
            </a:r>
            <a:endParaRPr lang="en-US" sz="1600" dirty="0"/>
          </a:p>
        </p:txBody>
      </p:sp>
      <p:sp>
        <p:nvSpPr>
          <p:cNvPr id="6" name="step-83"/>
          <p:cNvSpPr/>
          <p:nvPr/>
        </p:nvSpPr>
        <p:spPr>
          <a:xfrm>
            <a:off x="502920" y="155448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5B6B84"/>
          </a:solidFill>
          <a:ln w="12700">
            <a:solidFill>
              <a:srgbClr val="5B6B84"/>
            </a:solidFill>
            <a:prstDash val="solid"/>
          </a:ln>
        </p:spPr>
      </p:sp>
      <p:sp>
        <p:nvSpPr>
          <p:cNvPr id="7" name="step-t-84"/>
          <p:cNvSpPr txBox="1"/>
          <p:nvPr/>
        </p:nvSpPr>
        <p:spPr>
          <a:xfrm>
            <a:off x="557784" y="1554480"/>
            <a:ext cx="1513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대기 idle</a:t>
            </a:r>
            <a:endParaRPr lang="en-US" sz="1350" dirty="0"/>
          </a:p>
        </p:txBody>
      </p:sp>
      <p:sp>
        <p:nvSpPr>
          <p:cNvPr id="8" name="arr-85"/>
          <p:cNvSpPr txBox="1"/>
          <p:nvPr/>
        </p:nvSpPr>
        <p:spPr>
          <a:xfrm>
            <a:off x="2125980" y="15544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tep-86"/>
          <p:cNvSpPr/>
          <p:nvPr/>
        </p:nvSpPr>
        <p:spPr>
          <a:xfrm>
            <a:off x="2418588" y="155448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0" name="step-t-87"/>
          <p:cNvSpPr txBox="1"/>
          <p:nvPr/>
        </p:nvSpPr>
        <p:spPr>
          <a:xfrm>
            <a:off x="2473452" y="1554480"/>
            <a:ext cx="1513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픽업 이동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toPick</a:t>
            </a:r>
            <a:endParaRPr lang="en-US" sz="1350" dirty="0"/>
          </a:p>
        </p:txBody>
      </p:sp>
      <p:sp>
        <p:nvSpPr>
          <p:cNvPr id="11" name="arr-88"/>
          <p:cNvSpPr txBox="1"/>
          <p:nvPr/>
        </p:nvSpPr>
        <p:spPr>
          <a:xfrm>
            <a:off x="4041648" y="15544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tep-89"/>
          <p:cNvSpPr/>
          <p:nvPr/>
        </p:nvSpPr>
        <p:spPr>
          <a:xfrm>
            <a:off x="4334256" y="155448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3" name="step-t-90"/>
          <p:cNvSpPr txBox="1"/>
          <p:nvPr/>
        </p:nvSpPr>
        <p:spPr>
          <a:xfrm>
            <a:off x="4389120" y="1554480"/>
            <a:ext cx="1513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적재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load 0.9~1.4s</a:t>
            </a:r>
            <a:endParaRPr lang="en-US" sz="1350" dirty="0"/>
          </a:p>
        </p:txBody>
      </p:sp>
      <p:sp>
        <p:nvSpPr>
          <p:cNvPr id="14" name="arr-91"/>
          <p:cNvSpPr txBox="1"/>
          <p:nvPr/>
        </p:nvSpPr>
        <p:spPr>
          <a:xfrm>
            <a:off x="5957316" y="15544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tep-92"/>
          <p:cNvSpPr/>
          <p:nvPr/>
        </p:nvSpPr>
        <p:spPr>
          <a:xfrm>
            <a:off x="6249924" y="155448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6" name="step-t-93"/>
          <p:cNvSpPr txBox="1"/>
          <p:nvPr/>
        </p:nvSpPr>
        <p:spPr>
          <a:xfrm>
            <a:off x="6304788" y="1554480"/>
            <a:ext cx="1513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운반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toDrop</a:t>
            </a:r>
            <a:endParaRPr lang="en-US" sz="1350" dirty="0"/>
          </a:p>
        </p:txBody>
      </p:sp>
      <p:sp>
        <p:nvSpPr>
          <p:cNvPr id="17" name="arr-94"/>
          <p:cNvSpPr txBox="1"/>
          <p:nvPr/>
        </p:nvSpPr>
        <p:spPr>
          <a:xfrm>
            <a:off x="7872984" y="15544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tep-95"/>
          <p:cNvSpPr/>
          <p:nvPr/>
        </p:nvSpPr>
        <p:spPr>
          <a:xfrm>
            <a:off x="8165592" y="155448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9" name="step-t-96"/>
          <p:cNvSpPr txBox="1"/>
          <p:nvPr/>
        </p:nvSpPr>
        <p:spPr>
          <a:xfrm>
            <a:off x="8220456" y="1554480"/>
            <a:ext cx="1513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하역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unload 0.9s</a:t>
            </a:r>
            <a:endParaRPr lang="en-US" sz="1350" dirty="0"/>
          </a:p>
        </p:txBody>
      </p:sp>
      <p:sp>
        <p:nvSpPr>
          <p:cNvPr id="20" name="arr-97"/>
          <p:cNvSpPr txBox="1"/>
          <p:nvPr/>
        </p:nvSpPr>
        <p:spPr>
          <a:xfrm>
            <a:off x="9788652" y="15544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tep-98"/>
          <p:cNvSpPr/>
          <p:nvPr/>
        </p:nvSpPr>
        <p:spPr>
          <a:xfrm>
            <a:off x="10081260" y="155448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5B6B84"/>
          </a:solidFill>
          <a:ln w="12700">
            <a:solidFill>
              <a:srgbClr val="5B6B84"/>
            </a:solidFill>
            <a:prstDash val="solid"/>
          </a:ln>
        </p:spPr>
      </p:sp>
      <p:sp>
        <p:nvSpPr>
          <p:cNvPr id="22" name="step-t-99"/>
          <p:cNvSpPr txBox="1"/>
          <p:nvPr/>
        </p:nvSpPr>
        <p:spPr>
          <a:xfrm>
            <a:off x="10136124" y="1554480"/>
            <a:ext cx="15133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다음 작업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없으면 복귀</a:t>
            </a:r>
            <a:endParaRPr lang="en-US" sz="1350" dirty="0"/>
          </a:p>
        </p:txBody>
      </p:sp>
      <p:sp>
        <p:nvSpPr>
          <p:cNvPr id="23" name="card-100"/>
          <p:cNvSpPr/>
          <p:nvPr/>
        </p:nvSpPr>
        <p:spPr>
          <a:xfrm>
            <a:off x="502920" y="25603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card-h-101"/>
          <p:cNvSpPr txBox="1"/>
          <p:nvPr/>
        </p:nvSpPr>
        <p:spPr>
          <a:xfrm>
            <a:off x="704088" y="270662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정비 분기</a:t>
            </a:r>
            <a:endParaRPr lang="en-US" sz="1500" dirty="0"/>
          </a:p>
        </p:txBody>
      </p:sp>
      <p:sp>
        <p:nvSpPr>
          <p:cNvPr id="25" name="card-b-102"/>
          <p:cNvSpPr txBox="1"/>
          <p:nvPr/>
        </p:nvSpPr>
        <p:spPr>
          <a:xfrm>
            <a:off x="704088" y="3127248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</a:rPr>
              <a:t>정비 예약(maintFlag) → 하던 작업만 끝내고 정비소 이동(toMaint) → 정비 7초(maint) → 복귀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</a:rPr>
              <a:t>예비기 AMR-05는 정비 예약 순간 active로 바뀌어 작업 배정에 들어감</a:t>
            </a:r>
            <a:endParaRPr lang="en-US" sz="1250" dirty="0"/>
          </a:p>
        </p:txBody>
      </p:sp>
      <p:sp>
        <p:nvSpPr>
          <p:cNvPr id="26" name="card-103"/>
          <p:cNvSpPr/>
          <p:nvPr/>
        </p:nvSpPr>
        <p:spPr>
          <a:xfrm>
            <a:off x="6217920" y="25603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7" name="card-h-104"/>
          <p:cNvSpPr txBox="1"/>
          <p:nvPr/>
        </p:nvSpPr>
        <p:spPr>
          <a:xfrm>
            <a:off x="6419088" y="270662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입고 적재 중에는</a:t>
            </a:r>
            <a:endParaRPr lang="en-US" sz="1500" dirty="0"/>
          </a:p>
        </p:txBody>
      </p:sp>
      <p:sp>
        <p:nvSpPr>
          <p:cNvPr id="28" name="card-b-105"/>
          <p:cNvSpPr txBox="1"/>
          <p:nvPr/>
        </p:nvSpPr>
        <p:spPr>
          <a:xfrm>
            <a:off x="6419088" y="3127248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</a:rPr>
              <a:t>운송장 OCR 스캔(1.4초): 60% 지점에서 판독 완료 → 허브 색으로 표시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</a:rPr>
              <a:t>스캔 결과가 오른쪽 "운송장 OCR" 목록에 쌓인다</a:t>
            </a:r>
            <a:endParaRPr lang="en-US" sz="1250" dirty="0"/>
          </a:p>
        </p:txBody>
      </p:sp>
      <p:sp>
        <p:nvSpPr>
          <p:cNvPr id="29" name="h-106"/>
          <p:cNvSpPr txBox="1"/>
          <p:nvPr/>
        </p:nvSpPr>
        <p:spPr>
          <a:xfrm>
            <a:off x="5029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무인 지게차 FL-01</a:t>
            </a:r>
            <a:endParaRPr lang="en-US" sz="1600" dirty="0"/>
          </a:p>
        </p:txBody>
      </p:sp>
      <p:sp>
        <p:nvSpPr>
          <p:cNvPr id="30" name="step-107"/>
          <p:cNvSpPr/>
          <p:nvPr/>
        </p:nvSpPr>
        <p:spPr>
          <a:xfrm>
            <a:off x="502920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1" name="step-t-108"/>
          <p:cNvSpPr txBox="1"/>
          <p:nvPr/>
        </p:nvSpPr>
        <p:spPr>
          <a:xfrm>
            <a:off x="557784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회전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랙 쪽 0.7s</a:t>
            </a:r>
            <a:endParaRPr lang="en-US" sz="1300" dirty="0"/>
          </a:p>
        </p:txBody>
      </p:sp>
      <p:sp>
        <p:nvSpPr>
          <p:cNvPr id="32" name="arr-109"/>
          <p:cNvSpPr txBox="1"/>
          <p:nvPr/>
        </p:nvSpPr>
        <p:spPr>
          <a:xfrm>
            <a:off x="1727073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33" name="step-110"/>
          <p:cNvSpPr/>
          <p:nvPr/>
        </p:nvSpPr>
        <p:spPr>
          <a:xfrm>
            <a:off x="1928241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step-t-111"/>
          <p:cNvSpPr txBox="1"/>
          <p:nvPr/>
        </p:nvSpPr>
        <p:spPr>
          <a:xfrm>
            <a:off x="1983105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포크 상승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0.9m/s</a:t>
            </a:r>
            <a:endParaRPr lang="en-US" sz="1300" dirty="0"/>
          </a:p>
        </p:txBody>
      </p:sp>
      <p:sp>
        <p:nvSpPr>
          <p:cNvPr id="35" name="arr-112"/>
          <p:cNvSpPr txBox="1"/>
          <p:nvPr/>
        </p:nvSpPr>
        <p:spPr>
          <a:xfrm>
            <a:off x="3152394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tep-113"/>
          <p:cNvSpPr/>
          <p:nvPr/>
        </p:nvSpPr>
        <p:spPr>
          <a:xfrm>
            <a:off x="3353562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7" name="step-t-114"/>
          <p:cNvSpPr txBox="1"/>
          <p:nvPr/>
        </p:nvSpPr>
        <p:spPr>
          <a:xfrm>
            <a:off x="3408426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진입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0.7s</a:t>
            </a:r>
            <a:endParaRPr lang="en-US" sz="1300" dirty="0"/>
          </a:p>
        </p:txBody>
      </p:sp>
      <p:sp>
        <p:nvSpPr>
          <p:cNvPr id="38" name="arr-115"/>
          <p:cNvSpPr txBox="1"/>
          <p:nvPr/>
        </p:nvSpPr>
        <p:spPr>
          <a:xfrm>
            <a:off x="4577715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39" name="step-116"/>
          <p:cNvSpPr/>
          <p:nvPr/>
        </p:nvSpPr>
        <p:spPr>
          <a:xfrm>
            <a:off x="4778883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0" name="step-t-117"/>
          <p:cNvSpPr txBox="1"/>
          <p:nvPr/>
        </p:nvSpPr>
        <p:spPr>
          <a:xfrm>
            <a:off x="4833747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들기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0.5s</a:t>
            </a:r>
            <a:endParaRPr lang="en-US" sz="1300" dirty="0"/>
          </a:p>
        </p:txBody>
      </p:sp>
      <p:sp>
        <p:nvSpPr>
          <p:cNvPr id="41" name="arr-118"/>
          <p:cNvSpPr txBox="1"/>
          <p:nvPr/>
        </p:nvSpPr>
        <p:spPr>
          <a:xfrm>
            <a:off x="6003036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42" name="step-119"/>
          <p:cNvSpPr/>
          <p:nvPr/>
        </p:nvSpPr>
        <p:spPr>
          <a:xfrm>
            <a:off x="6204204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3" name="step-t-120"/>
          <p:cNvSpPr txBox="1"/>
          <p:nvPr/>
        </p:nvSpPr>
        <p:spPr>
          <a:xfrm>
            <a:off x="6259068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후진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0.7s</a:t>
            </a:r>
            <a:endParaRPr lang="en-US" sz="1300" dirty="0"/>
          </a:p>
        </p:txBody>
      </p:sp>
      <p:sp>
        <p:nvSpPr>
          <p:cNvPr id="44" name="arr-121"/>
          <p:cNvSpPr txBox="1"/>
          <p:nvPr/>
        </p:nvSpPr>
        <p:spPr>
          <a:xfrm>
            <a:off x="7428357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45" name="step-122"/>
          <p:cNvSpPr/>
          <p:nvPr/>
        </p:nvSpPr>
        <p:spPr>
          <a:xfrm>
            <a:off x="7629525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6" name="step-t-123"/>
          <p:cNvSpPr txBox="1"/>
          <p:nvPr/>
        </p:nvSpPr>
        <p:spPr>
          <a:xfrm>
            <a:off x="7684389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포크 하강</a:t>
            </a:r>
            <a:endParaRPr lang="en-US" sz="1300" dirty="0"/>
          </a:p>
        </p:txBody>
      </p:sp>
      <p:sp>
        <p:nvSpPr>
          <p:cNvPr id="47" name="arr-124"/>
          <p:cNvSpPr txBox="1"/>
          <p:nvPr/>
        </p:nvSpPr>
        <p:spPr>
          <a:xfrm>
            <a:off x="8853678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48" name="step-125"/>
          <p:cNvSpPr/>
          <p:nvPr/>
        </p:nvSpPr>
        <p:spPr>
          <a:xfrm>
            <a:off x="9054846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9" name="step-t-126"/>
          <p:cNvSpPr txBox="1"/>
          <p:nvPr/>
        </p:nvSpPr>
        <p:spPr>
          <a:xfrm>
            <a:off x="9109710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진입 · 놓기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바닥 칸</a:t>
            </a:r>
            <a:endParaRPr lang="en-US" sz="1300" dirty="0"/>
          </a:p>
        </p:txBody>
      </p:sp>
      <p:sp>
        <p:nvSpPr>
          <p:cNvPr id="50" name="arr-127"/>
          <p:cNvSpPr txBox="1"/>
          <p:nvPr/>
        </p:nvSpPr>
        <p:spPr>
          <a:xfrm>
            <a:off x="10278999" y="457200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51" name="step-128"/>
          <p:cNvSpPr/>
          <p:nvPr/>
        </p:nvSpPr>
        <p:spPr>
          <a:xfrm>
            <a:off x="10480167" y="4572000"/>
            <a:ext cx="1224153" cy="777240"/>
          </a:xfrm>
          <a:prstGeom prst="roundRect">
            <a:avLst>
              <a:gd name="adj" fmla="val 941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2" name="step-t-129"/>
          <p:cNvSpPr txBox="1"/>
          <p:nvPr/>
        </p:nvSpPr>
        <p:spPr>
          <a:xfrm>
            <a:off x="10535031" y="4572000"/>
            <a:ext cx="11144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후진</a:t>
            </a:r>
            <a:endParaRPr lang="en-US" sz="1300" dirty="0"/>
          </a:p>
        </p:txBody>
      </p:sp>
      <p:sp>
        <p:nvSpPr>
          <p:cNvPr id="53" name="cap-130"/>
          <p:cNvSpPr txBox="1"/>
          <p:nvPr/>
        </p:nvSpPr>
        <p:spPr>
          <a:xfrm>
            <a:off x="502920" y="55321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</a:rPr>
              <a:t>보충(위 단 → 바닥) 순서. 적치(바닥 → 위 단)는 들기 후 포크를 올려 놓고 내려온다. 각 단계 시간은 높이에 따라 자동 계산 (5.15m 단 = 상승 5.7초)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실제 센서와 연결할 때 — 1차 OCR과 같은 구조</a:t>
            </a:r>
            <a:endParaRPr lang="en-US" sz="2600" dirty="0"/>
          </a:p>
        </p:txBody>
      </p:sp>
      <p:sp>
        <p:nvSpPr>
          <p:cNvPr id="3" name="chip-131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4" name="chip-t-132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실시간</a:t>
            </a:r>
            <a:endParaRPr lang="en-US" sz="1200" dirty="0"/>
          </a:p>
        </p:txBody>
      </p:sp>
      <p:sp>
        <p:nvSpPr>
          <p:cNvPr id="5" name="sub-13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지금은 브라우저 안 시뮬레이션이 센서값을 만든다. 실제로는 아래 경로로 바꾸면 화면 코드는 거의 그대로 쓴다</a:t>
            </a:r>
            <a:endParaRPr lang="en-US" sz="1400" dirty="0"/>
          </a:p>
        </p:txBody>
      </p:sp>
      <p:sp>
        <p:nvSpPr>
          <p:cNvPr id="6" name="step-134"/>
          <p:cNvSpPr/>
          <p:nvPr/>
        </p:nvSpPr>
        <p:spPr>
          <a:xfrm>
            <a:off x="502920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step-t-135"/>
          <p:cNvSpPr txBox="1"/>
          <p:nvPr/>
        </p:nvSpPr>
        <p:spPr>
          <a:xfrm>
            <a:off x="557784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AMR · 지게차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진동 · 온도 · 위치</a:t>
            </a:r>
            <a:endParaRPr lang="en-US" sz="1300" dirty="0"/>
          </a:p>
        </p:txBody>
      </p:sp>
      <p:sp>
        <p:nvSpPr>
          <p:cNvPr id="8" name="arr-136"/>
          <p:cNvSpPr txBox="1"/>
          <p:nvPr/>
        </p:nvSpPr>
        <p:spPr>
          <a:xfrm>
            <a:off x="1743075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tep-n-137"/>
          <p:cNvSpPr txBox="1"/>
          <p:nvPr/>
        </p:nvSpPr>
        <p:spPr>
          <a:xfrm>
            <a:off x="502920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0.2초마다 측정</a:t>
            </a:r>
            <a:endParaRPr lang="en-US" sz="1150" dirty="0"/>
          </a:p>
        </p:txBody>
      </p:sp>
      <p:sp>
        <p:nvSpPr>
          <p:cNvPr id="10" name="step-138"/>
          <p:cNvSpPr/>
          <p:nvPr/>
        </p:nvSpPr>
        <p:spPr>
          <a:xfrm>
            <a:off x="1925955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11" name="step-t-139"/>
          <p:cNvSpPr txBox="1"/>
          <p:nvPr/>
        </p:nvSpPr>
        <p:spPr>
          <a:xfrm>
            <a:off x="1980819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MQTT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경량 메시지</a:t>
            </a:r>
            <a:endParaRPr lang="en-US" sz="1300" dirty="0"/>
          </a:p>
        </p:txBody>
      </p:sp>
      <p:sp>
        <p:nvSpPr>
          <p:cNvPr id="12" name="arr-140"/>
          <p:cNvSpPr txBox="1"/>
          <p:nvPr/>
        </p:nvSpPr>
        <p:spPr>
          <a:xfrm>
            <a:off x="3166110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tep-n-141"/>
          <p:cNvSpPr txBox="1"/>
          <p:nvPr/>
        </p:nvSpPr>
        <p:spPr>
          <a:xfrm>
            <a:off x="1925955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amr/{id}/sensor 토픽</a:t>
            </a:r>
            <a:endParaRPr lang="en-US" sz="1150" dirty="0"/>
          </a:p>
        </p:txBody>
      </p:sp>
      <p:sp>
        <p:nvSpPr>
          <p:cNvPr id="14" name="step-142"/>
          <p:cNvSpPr/>
          <p:nvPr/>
        </p:nvSpPr>
        <p:spPr>
          <a:xfrm>
            <a:off x="3348990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15" name="step-t-143"/>
          <p:cNvSpPr txBox="1"/>
          <p:nvPr/>
        </p:nvSpPr>
        <p:spPr>
          <a:xfrm>
            <a:off x="3403854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엣지 게이트웨이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1초 묶음 전송</a:t>
            </a:r>
            <a:endParaRPr lang="en-US" sz="1300" dirty="0"/>
          </a:p>
        </p:txBody>
      </p:sp>
      <p:sp>
        <p:nvSpPr>
          <p:cNvPr id="16" name="arr-144"/>
          <p:cNvSpPr txBox="1"/>
          <p:nvPr/>
        </p:nvSpPr>
        <p:spPr>
          <a:xfrm>
            <a:off x="4589145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tep-n-145"/>
          <p:cNvSpPr txBox="1"/>
          <p:nvPr/>
        </p:nvSpPr>
        <p:spPr>
          <a:xfrm>
            <a:off x="3348990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끊김 시 로컬 버퍼</a:t>
            </a:r>
            <a:endParaRPr lang="en-US" sz="1150" dirty="0"/>
          </a:p>
        </p:txBody>
      </p:sp>
      <p:sp>
        <p:nvSpPr>
          <p:cNvPr id="18" name="step-146"/>
          <p:cNvSpPr/>
          <p:nvPr/>
        </p:nvSpPr>
        <p:spPr>
          <a:xfrm>
            <a:off x="4772025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9" name="step-t-147"/>
          <p:cNvSpPr txBox="1"/>
          <p:nvPr/>
        </p:nvSpPr>
        <p:spPr>
          <a:xfrm>
            <a:off x="4826889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수집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:8001</a:t>
            </a:r>
            <a:endParaRPr lang="en-US" sz="1300" dirty="0"/>
          </a:p>
        </p:txBody>
      </p:sp>
      <p:sp>
        <p:nvSpPr>
          <p:cNvPr id="20" name="arr-148"/>
          <p:cNvSpPr txBox="1"/>
          <p:nvPr/>
        </p:nvSpPr>
        <p:spPr>
          <a:xfrm>
            <a:off x="6012180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tep-n-149"/>
          <p:cNvSpPr txBox="1"/>
          <p:nvPr/>
        </p:nvSpPr>
        <p:spPr>
          <a:xfrm>
            <a:off x="4772025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검증 · 이상값 1차 거름</a:t>
            </a:r>
            <a:endParaRPr lang="en-US" sz="1150" dirty="0"/>
          </a:p>
        </p:txBody>
      </p:sp>
      <p:sp>
        <p:nvSpPr>
          <p:cNvPr id="22" name="step-150"/>
          <p:cNvSpPr/>
          <p:nvPr/>
        </p:nvSpPr>
        <p:spPr>
          <a:xfrm>
            <a:off x="6195060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3" name="step-t-151"/>
          <p:cNvSpPr txBox="1"/>
          <p:nvPr/>
        </p:nvSpPr>
        <p:spPr>
          <a:xfrm>
            <a:off x="6249924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scargo DB</a:t>
            </a:r>
            <a:endParaRPr lang="en-US" sz="1300" dirty="0"/>
          </a:p>
        </p:txBody>
      </p:sp>
      <p:sp>
        <p:nvSpPr>
          <p:cNvPr id="24" name="arr-152"/>
          <p:cNvSpPr txBox="1"/>
          <p:nvPr/>
        </p:nvSpPr>
        <p:spPr>
          <a:xfrm>
            <a:off x="7435215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tep-n-153"/>
          <p:cNvSpPr txBox="1"/>
          <p:nvPr/>
        </p:nvSpPr>
        <p:spPr>
          <a:xfrm>
            <a:off x="6195060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시계열 + 작업 · 화물</a:t>
            </a:r>
            <a:endParaRPr lang="en-US" sz="1150" dirty="0"/>
          </a:p>
        </p:txBody>
      </p:sp>
      <p:sp>
        <p:nvSpPr>
          <p:cNvPr id="26" name="step-154"/>
          <p:cNvSpPr/>
          <p:nvPr/>
        </p:nvSpPr>
        <p:spPr>
          <a:xfrm>
            <a:off x="7618095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7" name="step-t-155"/>
          <p:cNvSpPr txBox="1"/>
          <p:nvPr/>
        </p:nvSpPr>
        <p:spPr>
          <a:xfrm>
            <a:off x="7672959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Spring Boot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:8080</a:t>
            </a:r>
            <a:endParaRPr lang="en-US" sz="1300" dirty="0"/>
          </a:p>
        </p:txBody>
      </p:sp>
      <p:sp>
        <p:nvSpPr>
          <p:cNvPr id="28" name="arr-156"/>
          <p:cNvSpPr txBox="1"/>
          <p:nvPr/>
        </p:nvSpPr>
        <p:spPr>
          <a:xfrm>
            <a:off x="8858250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tep-n-157"/>
          <p:cNvSpPr txBox="1"/>
          <p:nvPr/>
        </p:nvSpPr>
        <p:spPr>
          <a:xfrm>
            <a:off x="7618095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AI 예측 호출 · 정비 예약</a:t>
            </a:r>
            <a:endParaRPr lang="en-US" sz="1150" dirty="0"/>
          </a:p>
        </p:txBody>
      </p:sp>
      <p:sp>
        <p:nvSpPr>
          <p:cNvPr id="30" name="step-158"/>
          <p:cNvSpPr/>
          <p:nvPr/>
        </p:nvSpPr>
        <p:spPr>
          <a:xfrm>
            <a:off x="9041130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1" name="step-t-159"/>
          <p:cNvSpPr txBox="1"/>
          <p:nvPr/>
        </p:nvSpPr>
        <p:spPr>
          <a:xfrm>
            <a:off x="9095994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WebSocket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STOMP 푸시</a:t>
            </a:r>
            <a:endParaRPr lang="en-US" sz="1300" dirty="0"/>
          </a:p>
        </p:txBody>
      </p:sp>
      <p:sp>
        <p:nvSpPr>
          <p:cNvPr id="32" name="arr-160"/>
          <p:cNvSpPr txBox="1"/>
          <p:nvPr/>
        </p:nvSpPr>
        <p:spPr>
          <a:xfrm>
            <a:off x="10281285" y="160020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33" name="step-n-161"/>
          <p:cNvSpPr txBox="1"/>
          <p:nvPr/>
        </p:nvSpPr>
        <p:spPr>
          <a:xfrm>
            <a:off x="9041130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변화만 화면으로</a:t>
            </a:r>
            <a:endParaRPr lang="en-US" sz="1150" dirty="0"/>
          </a:p>
        </p:txBody>
      </p:sp>
      <p:sp>
        <p:nvSpPr>
          <p:cNvPr id="34" name="step-162"/>
          <p:cNvSpPr/>
          <p:nvPr/>
        </p:nvSpPr>
        <p:spPr>
          <a:xfrm>
            <a:off x="10464165" y="1600200"/>
            <a:ext cx="1240155" cy="91440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step-t-163"/>
          <p:cNvSpPr txBox="1"/>
          <p:nvPr/>
        </p:nvSpPr>
        <p:spPr>
          <a:xfrm>
            <a:off x="10519029" y="1600200"/>
            <a:ext cx="1130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Vue 관제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3D 트윈</a:t>
            </a:r>
            <a:endParaRPr lang="en-US" sz="1300" dirty="0"/>
          </a:p>
        </p:txBody>
      </p:sp>
      <p:sp>
        <p:nvSpPr>
          <p:cNvPr id="36" name="step-n-164"/>
          <p:cNvSpPr txBox="1"/>
          <p:nvPr/>
        </p:nvSpPr>
        <p:spPr>
          <a:xfrm>
            <a:off x="10464165" y="2587752"/>
            <a:ext cx="12401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sim.step 대신 수신값 반영</a:t>
            </a:r>
            <a:endParaRPr lang="en-US" sz="1150" dirty="0"/>
          </a:p>
        </p:txBody>
      </p:sp>
      <p:graphicFrame>
        <p:nvGraphicFramePr>
          <p:cNvPr id="13" name="tbl-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846320"/>
                <a:gridCol w="4892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지금 (시연용)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실제 연동 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센서값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sensors(): 속도 · 적재 · 열화(deg)로 계산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MQTT로 받은 측정값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위치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경로 계산 결과로 이동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AMR 관제 서버(FMS)의 좌표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갱신 방식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브라우저가 0.025초마다 계산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서버가 WebSocket으로 변경분 푸시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예측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브라우저에서 기울기 계산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서버(FastAPI)에서 모델 실행 → 결과 저장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공통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3D 화면 · 패널 · 차트 · 소리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그대로 사용 (데이터 출처만 교체)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03  데이터와 DB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</a:rPr>
              <a:t>시뮬레이션이 들고 있는 데이터 구조와, scargo DB(PostgreSQL)에 넣을 때의 테이블 설계안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시뮬레이션 데이터 모델 — 지금 화면이 쓰는 값</a:t>
            </a:r>
            <a:endParaRPr lang="en-US" sz="2600" dirty="0"/>
          </a:p>
        </p:txBody>
      </p:sp>
      <p:sp>
        <p:nvSpPr>
          <p:cNvPr id="3" name="chip-166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chip-t-167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</a:t>
            </a:r>
            <a:endParaRPr lang="en-US" sz="1200" dirty="0"/>
          </a:p>
        </p:txBody>
      </p:sp>
      <p:graphicFrame>
        <p:nvGraphicFramePr>
          <p:cNvPr id="15" name="tbl-1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480560"/>
                <a:gridCol w="51206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객체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주요 필드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화물 cargo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id(SC-24001~) · hub · cat · w · size · handle · loc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허브 3곳(호남 · 강원 · 영남), 크기 S/M/L는 무게로 결정, 취급 5종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취급 handle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일반 · 파손주의 · 취급주의 · 중량물(20kg↑) · 냉장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냉장 → 냉장 창고 보관, 파손 60 / 취급 · 중량 72 px/s로 감속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위치 loc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inTruck · slot · upper · amr · outTruck · gone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화물은 항상 정확히 한 곳에 있음 (중복 검사로 확인)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바닥 칸 slots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[줄 4][면 2][칸 9] → st · box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st: -1 미사용 · 0 빈칸 · 1 보관 · 2 입고예약 · 3 출고예약 · 4 보충예약 · 5 적치예약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위 단 upper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[줄][면][칸][단 3] → box · res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무인 지게차 전용 보충 재고, 바뀔 때마다 upperVer 증가 → 3D 다시 배치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로봇 amrs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state · path · task · box · vib · temp · batt · health · cumKg · hist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AMR 5 + 지게차 1 (kind: amr / fl), hist = 최근 30초 진동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도크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inDocks · outDocks → state · off · cargo/boxes · cap 4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docked → leaving → empty → arriving 순환, 출고차는 4건 차면 출발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시나리오 sc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phase · degrading · slope · rul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예지보전 STEP 1~5 진행 상태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DB 설계안 — scargo(PostgreSQL)에 붙일 테이블</a:t>
            </a:r>
            <a:endParaRPr lang="en-US" sz="2600" dirty="0"/>
          </a:p>
        </p:txBody>
      </p:sp>
      <p:sp>
        <p:nvSpPr>
          <p:cNvPr id="3" name="chip-169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chip-t-170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DB</a:t>
            </a:r>
            <a:endParaRPr lang="en-US" sz="1200" dirty="0"/>
          </a:p>
        </p:txBody>
      </p:sp>
      <p:sp>
        <p:nvSpPr>
          <p:cNvPr id="5" name="sub-171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기존 규칙 그대로: BIGSERIAL PK · snake_case · TIMESTAMP WITH TIME ZONE · CHECK 제약. 아직 구현 전인 설계안</a:t>
            </a:r>
            <a:endParaRPr lang="en-US" sz="1400" dirty="0"/>
          </a:p>
        </p:txBody>
      </p:sp>
      <p:graphicFrame>
        <p:nvGraphicFramePr>
          <p:cNvPr id="16" name="tbl-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897880"/>
                <a:gridCol w="3063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컬럼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연결 · 용도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amr_units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amr_id, unit_name(AMR-01 · FL-01), unit_type(AMR/FORKLIFT), role(ACTIVE/SPARE), status, cum_load_kg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로봇 마스터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amr_sensor_readings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amr_id, measured_at, vibration_mm_s, motor_temp_c, battery_pct, pos_x, pos_y, health_score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시계열 · (amr_id, measured_at) 인덱스, 월 단위 파티션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rack_locations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location_id, zone(D/A/B/C), row_no, side_no, slot_no, level_no(0=바닥), is_cold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바닥 칸 + 위 단 3단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cargo_items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cargo_id(SC-…), dest_hub, category, weight_kg, size_class, handling, location_id, status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기존 trucks.vehicle_no 로 입고차 연결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waybill_scans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scan_id, cargo_id, dock_no, scanned_at, ocr_text, confidence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운송장 OCR 결과 (1차 gate_logs 와 같은 방식)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amr_tasks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task_id, amr_id, task_type(IN/OUT/REPLENISH/PUTAWAY), cargo_id, from/to_location_id, started_at, finished_at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작업 이력 · 처리량 KPI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maintenance_predictions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pred_id, amr_id, predicted_at, slope, rul_hours, model_ver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AI 예측 결과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maintenance_orders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order_id, amr_id, pred_id, reason, spare_amr_id, started_at, done_at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</a:rPr>
                        <a:t>정비 예약 · 완료 → notifications(신규 유형 AMR_MAINTENANCE)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화물 한 건의 흐름 — 어느 테이블이 바뀌는가</a:t>
            </a:r>
            <a:endParaRPr lang="en-US" sz="2600" dirty="0"/>
          </a:p>
        </p:txBody>
      </p:sp>
      <p:sp>
        <p:nvSpPr>
          <p:cNvPr id="3" name="chip-173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chip-t-174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DB</a:t>
            </a:r>
            <a:endParaRPr lang="en-US" sz="1200" dirty="0"/>
          </a:p>
        </p:txBody>
      </p:sp>
      <p:sp>
        <p:nvSpPr>
          <p:cNvPr id="5" name="step-175"/>
          <p:cNvSpPr/>
          <p:nvPr/>
        </p:nvSpPr>
        <p:spPr>
          <a:xfrm>
            <a:off x="502920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6" name="step-t-176"/>
          <p:cNvSpPr txBox="1"/>
          <p:nvPr/>
        </p:nvSpPr>
        <p:spPr>
          <a:xfrm>
            <a:off x="557784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입고 트럭 도착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D1~D3</a:t>
            </a:r>
            <a:endParaRPr lang="en-US" sz="1300" dirty="0"/>
          </a:p>
        </p:txBody>
      </p:sp>
      <p:sp>
        <p:nvSpPr>
          <p:cNvPr id="7" name="arr-177"/>
          <p:cNvSpPr txBox="1"/>
          <p:nvPr/>
        </p:nvSpPr>
        <p:spPr>
          <a:xfrm>
            <a:off x="1930690" y="146304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tep-n-178"/>
          <p:cNvSpPr txBox="1"/>
          <p:nvPr/>
        </p:nvSpPr>
        <p:spPr>
          <a:xfrm>
            <a:off x="502920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trucks.status = INSIDE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cargo_items INSERT (inTruck)</a:t>
            </a:r>
            <a:endParaRPr lang="en-US" sz="1150" dirty="0"/>
          </a:p>
        </p:txBody>
      </p:sp>
      <p:sp>
        <p:nvSpPr>
          <p:cNvPr id="9" name="step-179"/>
          <p:cNvSpPr/>
          <p:nvPr/>
        </p:nvSpPr>
        <p:spPr>
          <a:xfrm>
            <a:off x="2131858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0" name="step-t-180"/>
          <p:cNvSpPr txBox="1"/>
          <p:nvPr/>
        </p:nvSpPr>
        <p:spPr>
          <a:xfrm>
            <a:off x="2186722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운송장 OCR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1.4초 스캔</a:t>
            </a:r>
            <a:endParaRPr lang="en-US" sz="1300" dirty="0"/>
          </a:p>
        </p:txBody>
      </p:sp>
      <p:sp>
        <p:nvSpPr>
          <p:cNvPr id="11" name="arr-181"/>
          <p:cNvSpPr txBox="1"/>
          <p:nvPr/>
        </p:nvSpPr>
        <p:spPr>
          <a:xfrm>
            <a:off x="3559629" y="146304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tep-n-182"/>
          <p:cNvSpPr txBox="1"/>
          <p:nvPr/>
        </p:nvSpPr>
        <p:spPr>
          <a:xfrm>
            <a:off x="2131858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waybill_scans INSERT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목적지 허브 확정</a:t>
            </a:r>
            <a:endParaRPr lang="en-US" sz="1150" dirty="0"/>
          </a:p>
        </p:txBody>
      </p:sp>
      <p:sp>
        <p:nvSpPr>
          <p:cNvPr id="13" name="step-183"/>
          <p:cNvSpPr/>
          <p:nvPr/>
        </p:nvSpPr>
        <p:spPr>
          <a:xfrm>
            <a:off x="3760797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4" name="step-t-184"/>
          <p:cNvSpPr txBox="1"/>
          <p:nvPr/>
        </p:nvSpPr>
        <p:spPr>
          <a:xfrm>
            <a:off x="3815661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AMR 입고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바닥 칸 보관</a:t>
            </a:r>
            <a:endParaRPr lang="en-US" sz="1300" dirty="0"/>
          </a:p>
        </p:txBody>
      </p:sp>
      <p:sp>
        <p:nvSpPr>
          <p:cNvPr id="15" name="arr-185"/>
          <p:cNvSpPr txBox="1"/>
          <p:nvPr/>
        </p:nvSpPr>
        <p:spPr>
          <a:xfrm>
            <a:off x="5188567" y="146304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tep-n-186"/>
          <p:cNvSpPr txBox="1"/>
          <p:nvPr/>
        </p:nvSpPr>
        <p:spPr>
          <a:xfrm>
            <a:off x="3760797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amr_tasks(IN)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cargo.location = 바닥 칸</a:t>
            </a:r>
            <a:endParaRPr lang="en-US" sz="1150" dirty="0"/>
          </a:p>
        </p:txBody>
      </p:sp>
      <p:sp>
        <p:nvSpPr>
          <p:cNvPr id="17" name="step-187"/>
          <p:cNvSpPr/>
          <p:nvPr/>
        </p:nvSpPr>
        <p:spPr>
          <a:xfrm>
            <a:off x="5389735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step-t-188"/>
          <p:cNvSpPr txBox="1"/>
          <p:nvPr/>
        </p:nvSpPr>
        <p:spPr>
          <a:xfrm>
            <a:off x="5444599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지게차 적치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바닥 꽉 참</a:t>
            </a:r>
            <a:endParaRPr lang="en-US" sz="1300" dirty="0"/>
          </a:p>
        </p:txBody>
      </p:sp>
      <p:sp>
        <p:nvSpPr>
          <p:cNvPr id="19" name="arr-189"/>
          <p:cNvSpPr txBox="1"/>
          <p:nvPr/>
        </p:nvSpPr>
        <p:spPr>
          <a:xfrm>
            <a:off x="6817505" y="146304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tep-n-190"/>
          <p:cNvSpPr txBox="1"/>
          <p:nvPr/>
        </p:nvSpPr>
        <p:spPr>
          <a:xfrm>
            <a:off x="5389735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amr_tasks(PUTAWAY)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location = 위 단</a:t>
            </a:r>
            <a:endParaRPr lang="en-US" sz="1150" dirty="0"/>
          </a:p>
        </p:txBody>
      </p:sp>
      <p:sp>
        <p:nvSpPr>
          <p:cNvPr id="21" name="step-191"/>
          <p:cNvSpPr/>
          <p:nvPr/>
        </p:nvSpPr>
        <p:spPr>
          <a:xfrm>
            <a:off x="7018673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step-t-192"/>
          <p:cNvSpPr txBox="1"/>
          <p:nvPr/>
        </p:nvSpPr>
        <p:spPr>
          <a:xfrm>
            <a:off x="7073537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지게차 보충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바닥 비어감</a:t>
            </a:r>
            <a:endParaRPr lang="en-US" sz="1300" dirty="0"/>
          </a:p>
        </p:txBody>
      </p:sp>
      <p:sp>
        <p:nvSpPr>
          <p:cNvPr id="23" name="arr-193"/>
          <p:cNvSpPr txBox="1"/>
          <p:nvPr/>
        </p:nvSpPr>
        <p:spPr>
          <a:xfrm>
            <a:off x="8446443" y="146304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tep-n-194"/>
          <p:cNvSpPr txBox="1"/>
          <p:nvPr/>
        </p:nvSpPr>
        <p:spPr>
          <a:xfrm>
            <a:off x="7018673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amr_tasks(REPLENISH)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location = 바닥 칸</a:t>
            </a:r>
            <a:endParaRPr lang="en-US" sz="1150" dirty="0"/>
          </a:p>
        </p:txBody>
      </p:sp>
      <p:sp>
        <p:nvSpPr>
          <p:cNvPr id="25" name="step-195"/>
          <p:cNvSpPr/>
          <p:nvPr/>
        </p:nvSpPr>
        <p:spPr>
          <a:xfrm>
            <a:off x="8647611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6" name="step-t-196"/>
          <p:cNvSpPr txBox="1"/>
          <p:nvPr/>
        </p:nvSpPr>
        <p:spPr>
          <a:xfrm>
            <a:off x="8702475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AMR 출고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허브 택배차</a:t>
            </a:r>
            <a:endParaRPr lang="en-US" sz="1300" dirty="0"/>
          </a:p>
        </p:txBody>
      </p:sp>
      <p:sp>
        <p:nvSpPr>
          <p:cNvPr id="27" name="arr-197"/>
          <p:cNvSpPr txBox="1"/>
          <p:nvPr/>
        </p:nvSpPr>
        <p:spPr>
          <a:xfrm>
            <a:off x="10075382" y="146304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tep-n-198"/>
          <p:cNvSpPr txBox="1"/>
          <p:nvPr/>
        </p:nvSpPr>
        <p:spPr>
          <a:xfrm>
            <a:off x="8647611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amr_tasks(OUT)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status = 출고 대기</a:t>
            </a:r>
            <a:endParaRPr lang="en-US" sz="1150" dirty="0"/>
          </a:p>
        </p:txBody>
      </p:sp>
      <p:sp>
        <p:nvSpPr>
          <p:cNvPr id="29" name="step-199"/>
          <p:cNvSpPr/>
          <p:nvPr/>
        </p:nvSpPr>
        <p:spPr>
          <a:xfrm>
            <a:off x="10276550" y="1463040"/>
            <a:ext cx="1427770" cy="960120"/>
          </a:xfrm>
          <a:prstGeom prst="roundRect">
            <a:avLst>
              <a:gd name="adj" fmla="val 761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step-t-200"/>
          <p:cNvSpPr txBox="1"/>
          <p:nvPr/>
        </p:nvSpPr>
        <p:spPr>
          <a:xfrm>
            <a:off x="10331414" y="1463040"/>
            <a:ext cx="1318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택배차 출발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4건 적재 시</a:t>
            </a:r>
            <a:endParaRPr lang="en-US" sz="1300" dirty="0"/>
          </a:p>
        </p:txBody>
      </p:sp>
      <p:sp>
        <p:nvSpPr>
          <p:cNvPr id="31" name="step-n-201"/>
          <p:cNvSpPr txBox="1"/>
          <p:nvPr/>
        </p:nvSpPr>
        <p:spPr>
          <a:xfrm>
            <a:off x="10276550" y="2496312"/>
            <a:ext cx="1427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status = SHIPPED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허브별 출고 집계</a:t>
            </a:r>
            <a:endParaRPr lang="en-US" sz="1150" dirty="0"/>
          </a:p>
        </p:txBody>
      </p:sp>
      <p:sp>
        <p:nvSpPr>
          <p:cNvPr id="32" name="card-202"/>
          <p:cNvSpPr/>
          <p:nvPr/>
        </p:nvSpPr>
        <p:spPr>
          <a:xfrm>
            <a:off x="502920" y="3611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3" name="card-h-203"/>
          <p:cNvSpPr txBox="1"/>
          <p:nvPr/>
        </p:nvSpPr>
        <p:spPr>
          <a:xfrm>
            <a:off x="704088" y="37581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왜 이렇게 나누나</a:t>
            </a:r>
            <a:endParaRPr lang="en-US" sz="1500" dirty="0"/>
          </a:p>
        </p:txBody>
      </p:sp>
      <p:sp>
        <p:nvSpPr>
          <p:cNvPr id="34" name="card-b-204"/>
          <p:cNvSpPr txBox="1"/>
          <p:nvPr/>
        </p:nvSpPr>
        <p:spPr>
          <a:xfrm>
            <a:off x="704088" y="4178808"/>
            <a:ext cx="5084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화물 위치는 cargo_items 한 컬럼만 갱신 → "지금 어디 있나"는 한 번에 조회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이동 기록은 amr_tasks에 쌓여서 "누가 언제 옮겼나" 추적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센서는 양이 많아 별도 시계열 테이블 · 인덱스 · 파티션</a:t>
            </a:r>
            <a:endParaRPr lang="en-US" sz="1400" dirty="0"/>
          </a:p>
        </p:txBody>
      </p:sp>
      <p:sp>
        <p:nvSpPr>
          <p:cNvPr id="35" name="card-205"/>
          <p:cNvSpPr/>
          <p:nvPr/>
        </p:nvSpPr>
        <p:spPr>
          <a:xfrm>
            <a:off x="6217920" y="3611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card-h-206"/>
          <p:cNvSpPr txBox="1"/>
          <p:nvPr/>
        </p:nvSpPr>
        <p:spPr>
          <a:xfrm>
            <a:off x="6419088" y="37581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1차와 이어지는 점</a:t>
            </a:r>
            <a:endParaRPr lang="en-US" sz="1500" dirty="0"/>
          </a:p>
        </p:txBody>
      </p:sp>
      <p:sp>
        <p:nvSpPr>
          <p:cNvPr id="37" name="card-b-207"/>
          <p:cNvSpPr txBox="1"/>
          <p:nvPr/>
        </p:nvSpPr>
        <p:spPr>
          <a:xfrm>
            <a:off x="6419088" y="4178808"/>
            <a:ext cx="5084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입고 트럭 = 기존 trucks 테이블 (번호판 OCR로 들어온 차)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운송장 OCR = 번호판 OCR과 같은 FastAPI 파이프라인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정비 알림 = 기존 notifications 테이블 재사용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04  예지보전 방식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</a:rPr>
              <a:t>진동 추세로 남은 수명(RUL)을 계산하고, 고장 전에 예비기로 교대해 정비한다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센서와 판단 기준</a:t>
            </a:r>
            <a:endParaRPr lang="en-US" sz="2600" dirty="0"/>
          </a:p>
        </p:txBody>
      </p:sp>
      <p:sp>
        <p:nvSpPr>
          <p:cNvPr id="3" name="chip-208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" name="chip-t-209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예지보전</a:t>
            </a:r>
            <a:endParaRPr lang="en-US" sz="1200" dirty="0"/>
          </a:p>
        </p:txBody>
      </p:sp>
      <p:graphicFrame>
        <p:nvGraphicFramePr>
          <p:cNvPr id="19" name="tbl-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06324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센서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잡아내는 고장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기준 (데모)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값이 정해지는 방식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진동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구동모터 베어링 · 감속기 마모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4.5 주의 · 7.1 고장 mm/s (ISO 10816 구간)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기본 1.45 + 흔들림 + 주행 0.15 + 적재 무게 × 0.012 + 열화량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모터 온도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과부하 · 윤활 불량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58 주의 · 70 위험 °C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43 + 주행 3 + 적재 × 6 + 열화 × 7 로 서서히 수렴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누적 운반 중량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무거운 화물 반복 → 마모 가속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12t 이상 주의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하역할 때마다 화물 무게 누적, 정비 시 0으로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배터리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배터리 열화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35% 하한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주행 중 감소(적재 시 더 빨리), 대기 중 충전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</a:rPr>
                        <a:t>건강 점수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종합 지표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80 주의 · 50 위험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</a:rPr>
                        <a:t>100 − (진동−1.9)×15 − (온도−55)×0.7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-211"/>
          <p:cNvSpPr/>
          <p:nvPr/>
        </p:nvSpPr>
        <p:spPr>
          <a:xfrm>
            <a:off x="502920" y="46177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card-h-212"/>
          <p:cNvSpPr txBox="1"/>
          <p:nvPr/>
        </p:nvSpPr>
        <p:spPr>
          <a:xfrm>
            <a:off x="704088" y="4764024"/>
            <a:ext cx="1079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왜 AMR-03인가</a:t>
            </a:r>
            <a:endParaRPr lang="en-US" sz="1500" dirty="0"/>
          </a:p>
        </p:txBody>
      </p:sp>
      <p:sp>
        <p:nvSpPr>
          <p:cNvPr id="8" name="card-b-213"/>
          <p:cNvSpPr txBox="1"/>
          <p:nvPr/>
        </p:nvSpPr>
        <p:spPr>
          <a:xfrm>
            <a:off x="704088" y="5184648"/>
            <a:ext cx="1079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플릿에서 누적 운반 중량이 가장 많은 기체(12.4t) → 시나리오 9초 후부터 열화량(deg)이 초당 0.27씩 증가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진동이 평소 범위(1.2~2.0 mm/s)를 벗어나면 이상 감지 → 이 데이터로 고장 시점을 예측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고장 예측 방식 — 진동 기울기로 남은 수명 계산</a:t>
            </a:r>
            <a:endParaRPr lang="en-US" sz="2600" dirty="0"/>
          </a:p>
        </p:txBody>
      </p:sp>
      <p:sp>
        <p:nvSpPr>
          <p:cNvPr id="3" name="chip-214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" name="chip-t-215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예지보전</a:t>
            </a:r>
            <a:endParaRPr lang="en-US" sz="1200" dirty="0"/>
          </a:p>
        </p:txBody>
      </p:sp>
      <p:graphicFrame>
        <p:nvGraphicFramePr>
          <p:cNvPr id="5" name="chart-216" descr=""/>
          <p:cNvGraphicFramePr/>
          <p:nvPr/>
        </p:nvGraphicFramePr>
        <p:xfrm>
          <a:off x="502920" y="10972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p-217"/>
          <p:cNvSpPr txBox="1"/>
          <p:nvPr/>
        </p:nvSpPr>
        <p:spPr>
          <a:xfrm>
            <a:off x="502920" y="5623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13.4초 이상 감지 → 18.4초 예측 · 정비 예약 → 24.8초 정비 시작(정지, 0.2) → 31.7초 정상 복귀</a:t>
            </a:r>
            <a:endParaRPr lang="en-US" sz="1100" dirty="0"/>
          </a:p>
        </p:txBody>
      </p:sp>
      <p:sp>
        <p:nvSpPr>
          <p:cNvPr id="7" name="box-218"/>
          <p:cNvSpPr/>
          <p:nvPr/>
        </p:nvSpPr>
        <p:spPr>
          <a:xfrm>
            <a:off x="7726680" y="1097280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h-219"/>
          <p:cNvSpPr txBox="1"/>
          <p:nvPr/>
        </p:nvSpPr>
        <p:spPr>
          <a:xfrm>
            <a:off x="790956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</a:rPr>
              <a:t>① 샘플 모으기</a:t>
            </a:r>
            <a:endParaRPr lang="en-US" sz="1400" dirty="0"/>
          </a:p>
        </p:txBody>
      </p:sp>
      <p:sp>
        <p:nvSpPr>
          <p:cNvPr id="9" name="d-220"/>
          <p:cNvSpPr txBox="1"/>
          <p:nvPr/>
        </p:nvSpPr>
        <p:spPr>
          <a:xfrm>
            <a:off x="7909560" y="15179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</a:rPr>
              <a:t>0.2초마다 진동을 이력에 저장 (최근 150개 = 30초)</a:t>
            </a:r>
            <a:endParaRPr lang="en-US" sz="1150" dirty="0"/>
          </a:p>
        </p:txBody>
      </p:sp>
      <p:sp>
        <p:nvSpPr>
          <p:cNvPr id="10" name="box-221"/>
          <p:cNvSpPr/>
          <p:nvPr/>
        </p:nvSpPr>
        <p:spPr>
          <a:xfrm>
            <a:off x="7726680" y="2267712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h-222"/>
          <p:cNvSpPr txBox="1"/>
          <p:nvPr/>
        </p:nvSpPr>
        <p:spPr>
          <a:xfrm>
            <a:off x="7909560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</a:rPr>
              <a:t>② 추세 기울기</a:t>
            </a:r>
            <a:endParaRPr lang="en-US" sz="1400" dirty="0"/>
          </a:p>
        </p:txBody>
      </p:sp>
      <p:sp>
        <p:nvSpPr>
          <p:cNvPr id="12" name="d-223"/>
          <p:cNvSpPr txBox="1"/>
          <p:nvPr/>
        </p:nvSpPr>
        <p:spPr>
          <a:xfrm>
            <a:off x="7909560" y="2688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</a:rPr>
              <a:t>최근 20개(4초) 선형회귀 → 초당 진동 증가량. 18.3초 시점 0.218 mm/s/s</a:t>
            </a:r>
            <a:endParaRPr lang="en-US" sz="1150" dirty="0"/>
          </a:p>
        </p:txBody>
      </p:sp>
      <p:sp>
        <p:nvSpPr>
          <p:cNvPr id="13" name="box-224"/>
          <p:cNvSpPr/>
          <p:nvPr/>
        </p:nvSpPr>
        <p:spPr>
          <a:xfrm>
            <a:off x="7726680" y="3438144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h-225"/>
          <p:cNvSpPr txBox="1"/>
          <p:nvPr/>
        </p:nvSpPr>
        <p:spPr>
          <a:xfrm>
            <a:off x="7909560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</a:rPr>
              <a:t>③ 남은 수명(RUL)</a:t>
            </a:r>
            <a:endParaRPr lang="en-US" sz="1400" dirty="0"/>
          </a:p>
        </p:txBody>
      </p:sp>
      <p:sp>
        <p:nvSpPr>
          <p:cNvPr id="15" name="d-226"/>
          <p:cNvSpPr txBox="1"/>
          <p:nvPr/>
        </p:nvSpPr>
        <p:spPr>
          <a:xfrm>
            <a:off x="7909560" y="3858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</a:rPr>
              <a:t>(7.1 − 현재 진동) ÷ 기울기 × 4  →  (7.1 − 4.05) ÷ 0.218 × 4 ≈ 55시간</a:t>
            </a:r>
            <a:endParaRPr lang="en-US" sz="1150" dirty="0"/>
          </a:p>
        </p:txBody>
      </p:sp>
      <p:sp>
        <p:nvSpPr>
          <p:cNvPr id="16" name="box-227"/>
          <p:cNvSpPr/>
          <p:nvPr/>
        </p:nvSpPr>
        <p:spPr>
          <a:xfrm>
            <a:off x="7726680" y="4608576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h-228"/>
          <p:cNvSpPr txBox="1"/>
          <p:nvPr/>
        </p:nvSpPr>
        <p:spPr>
          <a:xfrm>
            <a:off x="7909560" y="47000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</a:rPr>
              <a:t>④ 판단</a:t>
            </a:r>
            <a:endParaRPr lang="en-US" sz="1400" dirty="0"/>
          </a:p>
        </p:txBody>
      </p:sp>
      <p:sp>
        <p:nvSpPr>
          <p:cNvPr id="18" name="d-229"/>
          <p:cNvSpPr txBox="1"/>
          <p:nvPr/>
        </p:nvSpPr>
        <p:spPr>
          <a:xfrm>
            <a:off x="7909560" y="502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</a:rPr>
              <a:t>열화량 2.5 초과 시 예측 실행 → 정비 예약 + 예비기 AMR-05 투입</a:t>
            </a:r>
            <a:endParaRPr lang="en-US" sz="1150" dirty="0"/>
          </a:p>
        </p:txBody>
      </p:sp>
      <p:sp>
        <p:nvSpPr>
          <p:cNvPr id="19" name="cap-230"/>
          <p:cNvSpPr txBox="1"/>
          <p:nvPr/>
        </p:nvSpPr>
        <p:spPr>
          <a:xfrm>
            <a:off x="7726680" y="5806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× 4 = 화면 1초를 실제 약 4시간으로 환산한 데모 값. 화면에는 계속 갱신된 값(예: 43시간)이 표시된다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5단계 시나리오 — 고장 나기 전에 교대한다</a:t>
            </a:r>
            <a:endParaRPr lang="en-US" sz="2600" dirty="0"/>
          </a:p>
        </p:txBody>
      </p:sp>
      <p:sp>
        <p:nvSpPr>
          <p:cNvPr id="3" name="chip-231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" name="chip-t-232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예지보전</a:t>
            </a:r>
            <a:endParaRPr lang="en-US" sz="1200" dirty="0"/>
          </a:p>
        </p:txBody>
      </p:sp>
      <p:sp>
        <p:nvSpPr>
          <p:cNvPr id="5" name="step-233"/>
          <p:cNvSpPr/>
          <p:nvPr/>
        </p:nvSpPr>
        <p:spPr>
          <a:xfrm>
            <a:off x="502920" y="1234440"/>
            <a:ext cx="2006194" cy="914400"/>
          </a:xfrm>
          <a:prstGeom prst="roundRect">
            <a:avLst>
              <a:gd name="adj" fmla="val 8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6" name="step-t-234"/>
          <p:cNvSpPr txBox="1"/>
          <p:nvPr/>
        </p:nvSpPr>
        <p:spPr>
          <a:xfrm>
            <a:off x="557784" y="1234440"/>
            <a:ext cx="1896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01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정상 운영</a:t>
            </a:r>
            <a:endParaRPr lang="en-US" sz="1500" dirty="0"/>
          </a:p>
        </p:txBody>
      </p:sp>
      <p:sp>
        <p:nvSpPr>
          <p:cNvPr id="7" name="arr-235"/>
          <p:cNvSpPr txBox="1"/>
          <p:nvPr/>
        </p:nvSpPr>
        <p:spPr>
          <a:xfrm>
            <a:off x="2509114" y="12344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tep-n-236"/>
          <p:cNvSpPr txBox="1"/>
          <p:nvPr/>
        </p:nvSpPr>
        <p:spPr>
          <a:xfrm>
            <a:off x="502920" y="2221992"/>
            <a:ext cx="2006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0초~ · 9초 후 AMR-03 열화 시작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(deg +0.27/초)</a:t>
            </a:r>
            <a:endParaRPr lang="en-US" sz="1150" dirty="0"/>
          </a:p>
        </p:txBody>
      </p:sp>
      <p:sp>
        <p:nvSpPr>
          <p:cNvPr id="9" name="step-237"/>
          <p:cNvSpPr/>
          <p:nvPr/>
        </p:nvSpPr>
        <p:spPr>
          <a:xfrm>
            <a:off x="2801722" y="1234440"/>
            <a:ext cx="2006194" cy="91440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tep-t-238"/>
          <p:cNvSpPr txBox="1"/>
          <p:nvPr/>
        </p:nvSpPr>
        <p:spPr>
          <a:xfrm>
            <a:off x="2856586" y="1234440"/>
            <a:ext cx="1896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02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이상 징후 감지</a:t>
            </a:r>
            <a:endParaRPr lang="en-US" sz="1500" dirty="0"/>
          </a:p>
        </p:txBody>
      </p:sp>
      <p:sp>
        <p:nvSpPr>
          <p:cNvPr id="11" name="arr-239"/>
          <p:cNvSpPr txBox="1"/>
          <p:nvPr/>
        </p:nvSpPr>
        <p:spPr>
          <a:xfrm>
            <a:off x="4807915" y="12344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tep-n-240"/>
          <p:cNvSpPr txBox="1"/>
          <p:nvPr/>
        </p:nvSpPr>
        <p:spPr>
          <a:xfrm>
            <a:off x="2801722" y="2221992"/>
            <a:ext cx="2006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13.4초 · deg &gt; 1.2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진동 평소 대비 약 +80% 로그</a:t>
            </a:r>
            <a:endParaRPr lang="en-US" sz="1150" dirty="0"/>
          </a:p>
        </p:txBody>
      </p:sp>
      <p:sp>
        <p:nvSpPr>
          <p:cNvPr id="13" name="step-241"/>
          <p:cNvSpPr/>
          <p:nvPr/>
        </p:nvSpPr>
        <p:spPr>
          <a:xfrm>
            <a:off x="5100523" y="1234440"/>
            <a:ext cx="2006194" cy="91440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tep-t-242"/>
          <p:cNvSpPr txBox="1"/>
          <p:nvPr/>
        </p:nvSpPr>
        <p:spPr>
          <a:xfrm>
            <a:off x="5155387" y="1234440"/>
            <a:ext cx="1896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03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AI 고장 예측</a:t>
            </a:r>
            <a:endParaRPr lang="en-US" sz="1500" dirty="0"/>
          </a:p>
        </p:txBody>
      </p:sp>
      <p:sp>
        <p:nvSpPr>
          <p:cNvPr id="15" name="arr-243"/>
          <p:cNvSpPr txBox="1"/>
          <p:nvPr/>
        </p:nvSpPr>
        <p:spPr>
          <a:xfrm>
            <a:off x="7106717" y="12344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tep-n-244"/>
          <p:cNvSpPr txBox="1"/>
          <p:nvPr/>
        </p:nvSpPr>
        <p:spPr>
          <a:xfrm>
            <a:off x="5100523" y="2221992"/>
            <a:ext cx="2006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18.4초 · deg &gt; 2.5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RUL 계산 · 정비 예약 · AMR-05 투입</a:t>
            </a:r>
            <a:endParaRPr lang="en-US" sz="1150" dirty="0"/>
          </a:p>
        </p:txBody>
      </p:sp>
      <p:sp>
        <p:nvSpPr>
          <p:cNvPr id="17" name="step-245"/>
          <p:cNvSpPr/>
          <p:nvPr/>
        </p:nvSpPr>
        <p:spPr>
          <a:xfrm>
            <a:off x="7399325" y="1234440"/>
            <a:ext cx="2006194" cy="914400"/>
          </a:xfrm>
          <a:prstGeom prst="roundRect">
            <a:avLst>
              <a:gd name="adj" fmla="val 8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step-t-246"/>
          <p:cNvSpPr txBox="1"/>
          <p:nvPr/>
        </p:nvSpPr>
        <p:spPr>
          <a:xfrm>
            <a:off x="7454189" y="1234440"/>
            <a:ext cx="1896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04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교대 · 계획 정비</a:t>
            </a:r>
            <a:endParaRPr lang="en-US" sz="1500" dirty="0"/>
          </a:p>
        </p:txBody>
      </p:sp>
      <p:sp>
        <p:nvSpPr>
          <p:cNvPr id="19" name="arr-247"/>
          <p:cNvSpPr txBox="1"/>
          <p:nvPr/>
        </p:nvSpPr>
        <p:spPr>
          <a:xfrm>
            <a:off x="9405518" y="12344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tep-n-248"/>
          <p:cNvSpPr txBox="1"/>
          <p:nvPr/>
        </p:nvSpPr>
        <p:spPr>
          <a:xfrm>
            <a:off x="7399325" y="2221992"/>
            <a:ext cx="2006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24.8초 · 작업 마치고 정비소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베어링 교체 7초</a:t>
            </a:r>
            <a:endParaRPr lang="en-US" sz="1150" dirty="0"/>
          </a:p>
        </p:txBody>
      </p:sp>
      <p:sp>
        <p:nvSpPr>
          <p:cNvPr id="21" name="step-249"/>
          <p:cNvSpPr/>
          <p:nvPr/>
        </p:nvSpPr>
        <p:spPr>
          <a:xfrm>
            <a:off x="9698126" y="1234440"/>
            <a:ext cx="2006194" cy="9144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step-t-250"/>
          <p:cNvSpPr txBox="1"/>
          <p:nvPr/>
        </p:nvSpPr>
        <p:spPr>
          <a:xfrm>
            <a:off x="9752990" y="1234440"/>
            <a:ext cx="18964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05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정상 복귀</a:t>
            </a:r>
            <a:endParaRPr lang="en-US" sz="1500" dirty="0"/>
          </a:p>
        </p:txBody>
      </p:sp>
      <p:sp>
        <p:nvSpPr>
          <p:cNvPr id="23" name="step-n-251"/>
          <p:cNvSpPr txBox="1"/>
          <p:nvPr/>
        </p:nvSpPr>
        <p:spPr>
          <a:xfrm>
            <a:off x="9698126" y="2221992"/>
            <a:ext cx="2006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31.7초 · 진동 정상 · 누적 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9초 후 다시 STEP 01</a:t>
            </a:r>
            <a:endParaRPr lang="en-US" sz="1150" dirty="0"/>
          </a:p>
        </p:txBody>
      </p:sp>
      <p:sp>
        <p:nvSpPr>
          <p:cNvPr id="24" name="box-252"/>
          <p:cNvSpPr/>
          <p:nvPr/>
        </p:nvSpPr>
        <p:spPr>
          <a:xfrm>
            <a:off x="50292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25" name="t-253"/>
          <p:cNvSpPr txBox="1"/>
          <p:nvPr/>
        </p:nvSpPr>
        <p:spPr>
          <a:xfrm>
            <a:off x="731520" y="3520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</a:rPr>
              <a:t>사후 정비였다면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고장 → 통로 한가운데 정지 → 뒤 AMR 줄줄이 대기 → 긴급 수리 → 허브 출고 지연</a:t>
            </a:r>
            <a:endParaRPr lang="en-US" sz="1600" dirty="0"/>
          </a:p>
        </p:txBody>
      </p:sp>
      <p:sp>
        <p:nvSpPr>
          <p:cNvPr id="26" name="box-254"/>
          <p:cNvSpPr/>
          <p:nvPr/>
        </p:nvSpPr>
        <p:spPr>
          <a:xfrm>
            <a:off x="626364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7" name="t-255"/>
          <p:cNvSpPr txBox="1"/>
          <p:nvPr/>
        </p:nvSpPr>
        <p:spPr>
          <a:xfrm>
            <a:off x="6492240" y="3520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</a:rPr>
              <a:t>예지보전으로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하던 작업은 마치고 이동 → 예비기가 즉시 이어받음 → 비계획 정지 0, 허브 출고 유지</a:t>
            </a:r>
            <a:endParaRPr lang="en-US" sz="1600" dirty="0"/>
          </a:p>
        </p:txBody>
      </p:sp>
      <p:sp>
        <p:nvSpPr>
          <p:cNvPr id="28" name="box-256"/>
          <p:cNvSpPr/>
          <p:nvPr/>
        </p:nvSpPr>
        <p:spPr>
          <a:xfrm>
            <a:off x="502920" y="4983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v-257"/>
          <p:cNvSpPr txBox="1"/>
          <p:nvPr/>
        </p:nvSpPr>
        <p:spPr>
          <a:xfrm>
            <a:off x="68580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8C28"/>
                </a:solidFill>
              </a:rPr>
              <a:t>5.0초</a:t>
            </a:r>
            <a:endParaRPr lang="en-US" sz="2800" dirty="0"/>
          </a:p>
        </p:txBody>
      </p:sp>
      <p:sp>
        <p:nvSpPr>
          <p:cNvPr id="30" name="l-258"/>
          <p:cNvSpPr txBox="1"/>
          <p:nvPr/>
        </p:nvSpPr>
        <p:spPr>
          <a:xfrm>
            <a:off x="68580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이상 감지 → AI 예측</a:t>
            </a:r>
            <a:endParaRPr lang="en-US" sz="1150" dirty="0"/>
          </a:p>
        </p:txBody>
      </p:sp>
      <p:sp>
        <p:nvSpPr>
          <p:cNvPr id="31" name="box-259"/>
          <p:cNvSpPr/>
          <p:nvPr/>
        </p:nvSpPr>
        <p:spPr>
          <a:xfrm>
            <a:off x="3337560" y="4983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2" name="v-260"/>
          <p:cNvSpPr txBox="1"/>
          <p:nvPr/>
        </p:nvSpPr>
        <p:spPr>
          <a:xfrm>
            <a:off x="35204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</a:rPr>
              <a:t>6.4초</a:t>
            </a:r>
            <a:endParaRPr lang="en-US" sz="2800" dirty="0"/>
          </a:p>
        </p:txBody>
      </p:sp>
      <p:sp>
        <p:nvSpPr>
          <p:cNvPr id="33" name="l-261"/>
          <p:cNvSpPr txBox="1"/>
          <p:nvPr/>
        </p:nvSpPr>
        <p:spPr>
          <a:xfrm>
            <a:off x="352044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예측 → 정비 시작 (작업 마무리 포함)</a:t>
            </a:r>
            <a:endParaRPr lang="en-US" sz="1150" dirty="0"/>
          </a:p>
        </p:txBody>
      </p:sp>
      <p:sp>
        <p:nvSpPr>
          <p:cNvPr id="34" name="box-262"/>
          <p:cNvSpPr/>
          <p:nvPr/>
        </p:nvSpPr>
        <p:spPr>
          <a:xfrm>
            <a:off x="6172200" y="4983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5" name="v-263"/>
          <p:cNvSpPr txBox="1"/>
          <p:nvPr/>
        </p:nvSpPr>
        <p:spPr>
          <a:xfrm>
            <a:off x="635508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B57"/>
                </a:solidFill>
              </a:rPr>
              <a:t>0회</a:t>
            </a:r>
            <a:endParaRPr lang="en-US" sz="2800" dirty="0"/>
          </a:p>
        </p:txBody>
      </p:sp>
      <p:sp>
        <p:nvSpPr>
          <p:cNvPr id="36" name="l-264"/>
          <p:cNvSpPr txBox="1"/>
          <p:nvPr/>
        </p:nvSpPr>
        <p:spPr>
          <a:xfrm>
            <a:off x="635508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비계획 정지 (화면 왼쪽 위 표시)</a:t>
            </a:r>
            <a:endParaRPr lang="en-US" sz="1150" dirty="0"/>
          </a:p>
        </p:txBody>
      </p:sp>
      <p:sp>
        <p:nvSpPr>
          <p:cNvPr id="37" name="box-265"/>
          <p:cNvSpPr/>
          <p:nvPr/>
        </p:nvSpPr>
        <p:spPr>
          <a:xfrm>
            <a:off x="9006840" y="4983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8" name="v-266"/>
          <p:cNvSpPr txBox="1"/>
          <p:nvPr/>
        </p:nvSpPr>
        <p:spPr>
          <a:xfrm>
            <a:off x="918972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4FA0"/>
                </a:solidFill>
              </a:rPr>
              <a:t>7초</a:t>
            </a:r>
            <a:endParaRPr lang="en-US" sz="2800" dirty="0"/>
          </a:p>
        </p:txBody>
      </p:sp>
      <p:sp>
        <p:nvSpPr>
          <p:cNvPr id="39" name="l-267"/>
          <p:cNvSpPr txBox="1"/>
          <p:nvPr/>
        </p:nvSpPr>
        <p:spPr>
          <a:xfrm>
            <a:off x="918972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베어링 교체 정비 시간 (데모)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05  AMR 경로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</a:rPr>
              <a:t>통로 → 간선 → 통로 격자 경로, 우측 통행 · 가감속 · 간격 유지, 작업 배정 규칙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경로 계산 — 통로 → 간선 → 통로</a:t>
            </a:r>
            <a:endParaRPr lang="en-US" sz="2600" dirty="0"/>
          </a:p>
        </p:txBody>
      </p:sp>
      <p:sp>
        <p:nvSpPr>
          <p:cNvPr id="3" name="chip-268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chip-t-269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경로</a:t>
            </a:r>
            <a:endParaRPr lang="en-US" sz="1200" dirty="0"/>
          </a:p>
        </p:txBody>
      </p:sp>
      <p:sp>
        <p:nvSpPr>
          <p:cNvPr id="5" name="bldg-270"/>
          <p:cNvSpPr/>
          <p:nvPr/>
        </p:nvSpPr>
        <p:spPr>
          <a:xfrm>
            <a:off x="502920" y="1143000"/>
            <a:ext cx="5299862" cy="4037990"/>
          </a:xfrm>
          <a:prstGeom prst="rect">
            <a:avLst/>
          </a:prstGeom>
          <a:solidFill>
            <a:srgbClr val="F7F9FC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6" name="cold-271"/>
          <p:cNvSpPr/>
          <p:nvPr/>
        </p:nvSpPr>
        <p:spPr>
          <a:xfrm>
            <a:off x="1398849" y="1344900"/>
            <a:ext cx="2940162" cy="555224"/>
          </a:xfrm>
          <a:prstGeom prst="rect">
            <a:avLst/>
          </a:prstGeom>
          <a:solidFill>
            <a:srgbClr val="E3F1FB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lbl-272"/>
          <p:cNvSpPr txBox="1"/>
          <p:nvPr/>
        </p:nvSpPr>
        <p:spPr>
          <a:xfrm>
            <a:off x="2521915" y="1357518"/>
            <a:ext cx="1640434" cy="13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6FB2"/>
                </a:solidFill>
              </a:rPr>
              <a:t>냉장 · 냉동 창고 (고속 셔터 2)</a:t>
            </a:r>
            <a:endParaRPr lang="en-US" sz="900" dirty="0"/>
          </a:p>
        </p:txBody>
      </p:sp>
      <p:sp>
        <p:nvSpPr>
          <p:cNvPr id="8" name="rack-273"/>
          <p:cNvSpPr/>
          <p:nvPr/>
        </p:nvSpPr>
        <p:spPr>
          <a:xfrm>
            <a:off x="1487180" y="1723461"/>
            <a:ext cx="2801356" cy="157734"/>
          </a:xfrm>
          <a:prstGeom prst="rect">
            <a:avLst/>
          </a:prstGeom>
          <a:solidFill>
            <a:srgbClr val="D5DCE8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9" name="lbl-274"/>
          <p:cNvSpPr txBox="1"/>
          <p:nvPr/>
        </p:nvSpPr>
        <p:spPr>
          <a:xfrm>
            <a:off x="1487180" y="1723461"/>
            <a:ext cx="2801356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33"/>
                </a:solidFill>
              </a:rPr>
              <a:t>D 냉장</a:t>
            </a:r>
            <a:endParaRPr lang="en-US" sz="1000" dirty="0"/>
          </a:p>
        </p:txBody>
      </p:sp>
      <p:sp>
        <p:nvSpPr>
          <p:cNvPr id="10" name="rack-275"/>
          <p:cNvSpPr/>
          <p:nvPr/>
        </p:nvSpPr>
        <p:spPr>
          <a:xfrm>
            <a:off x="1487180" y="2467966"/>
            <a:ext cx="2801356" cy="315468"/>
          </a:xfrm>
          <a:prstGeom prst="rect">
            <a:avLst/>
          </a:prstGeom>
          <a:solidFill>
            <a:srgbClr val="D5DCE8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1" name="lbl-276"/>
          <p:cNvSpPr txBox="1"/>
          <p:nvPr/>
        </p:nvSpPr>
        <p:spPr>
          <a:xfrm>
            <a:off x="1487180" y="2467966"/>
            <a:ext cx="28013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33"/>
                </a:solidFill>
              </a:rPr>
              <a:t>A 호남</a:t>
            </a:r>
            <a:endParaRPr lang="en-US" sz="1000" dirty="0"/>
          </a:p>
        </p:txBody>
      </p:sp>
      <p:sp>
        <p:nvSpPr>
          <p:cNvPr id="12" name="rack-277"/>
          <p:cNvSpPr/>
          <p:nvPr/>
        </p:nvSpPr>
        <p:spPr>
          <a:xfrm>
            <a:off x="1487180" y="3225089"/>
            <a:ext cx="2801356" cy="315468"/>
          </a:xfrm>
          <a:prstGeom prst="rect">
            <a:avLst/>
          </a:prstGeom>
          <a:solidFill>
            <a:srgbClr val="D5DCE8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3" name="lbl-278"/>
          <p:cNvSpPr txBox="1"/>
          <p:nvPr/>
        </p:nvSpPr>
        <p:spPr>
          <a:xfrm>
            <a:off x="1487180" y="3225089"/>
            <a:ext cx="28013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33"/>
                </a:solidFill>
              </a:rPr>
              <a:t>B 강원</a:t>
            </a:r>
            <a:endParaRPr lang="en-US" sz="1000" dirty="0"/>
          </a:p>
        </p:txBody>
      </p:sp>
      <p:sp>
        <p:nvSpPr>
          <p:cNvPr id="14" name="rack-279"/>
          <p:cNvSpPr/>
          <p:nvPr/>
        </p:nvSpPr>
        <p:spPr>
          <a:xfrm>
            <a:off x="1487180" y="3982212"/>
            <a:ext cx="2801356" cy="315468"/>
          </a:xfrm>
          <a:prstGeom prst="rect">
            <a:avLst/>
          </a:prstGeom>
          <a:solidFill>
            <a:srgbClr val="D5DCE8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5" name="lbl-280"/>
          <p:cNvSpPr txBox="1"/>
          <p:nvPr/>
        </p:nvSpPr>
        <p:spPr>
          <a:xfrm>
            <a:off x="1487180" y="3982212"/>
            <a:ext cx="28013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33"/>
                </a:solidFill>
              </a:rPr>
              <a:t>C 영남</a:t>
            </a:r>
            <a:endParaRPr lang="en-US" sz="1000" dirty="0"/>
          </a:p>
        </p:txBody>
      </p:sp>
      <p:sp>
        <p:nvSpPr>
          <p:cNvPr id="16" name="aisle-281"/>
          <p:cNvSpPr/>
          <p:nvPr/>
        </p:nvSpPr>
        <p:spPr>
          <a:xfrm>
            <a:off x="1165403" y="1534180"/>
            <a:ext cx="3375508" cy="0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</p:sp>
      <p:sp>
        <p:nvSpPr>
          <p:cNvPr id="17" name="aisle-282"/>
          <p:cNvSpPr/>
          <p:nvPr/>
        </p:nvSpPr>
        <p:spPr>
          <a:xfrm>
            <a:off x="1165403" y="2247138"/>
            <a:ext cx="3375508" cy="0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</p:sp>
      <p:sp>
        <p:nvSpPr>
          <p:cNvPr id="18" name="aisle-283"/>
          <p:cNvSpPr/>
          <p:nvPr/>
        </p:nvSpPr>
        <p:spPr>
          <a:xfrm>
            <a:off x="1165403" y="3004261"/>
            <a:ext cx="3375508" cy="0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</p:sp>
      <p:sp>
        <p:nvSpPr>
          <p:cNvPr id="19" name="aisle-284"/>
          <p:cNvSpPr/>
          <p:nvPr/>
        </p:nvSpPr>
        <p:spPr>
          <a:xfrm>
            <a:off x="1165403" y="3761384"/>
            <a:ext cx="3375508" cy="0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</p:sp>
      <p:sp>
        <p:nvSpPr>
          <p:cNvPr id="20" name="aisle-285"/>
          <p:cNvSpPr/>
          <p:nvPr/>
        </p:nvSpPr>
        <p:spPr>
          <a:xfrm>
            <a:off x="1165403" y="4550054"/>
            <a:ext cx="3375508" cy="0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</p:sp>
      <p:sp>
        <p:nvSpPr>
          <p:cNvPr id="21" name="hwy-286"/>
          <p:cNvSpPr/>
          <p:nvPr/>
        </p:nvSpPr>
        <p:spPr>
          <a:xfrm>
            <a:off x="1165403" y="1395374"/>
            <a:ext cx="0" cy="3280867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</a:ln>
        </p:spPr>
      </p:sp>
      <p:sp>
        <p:nvSpPr>
          <p:cNvPr id="22" name="hwy-287"/>
          <p:cNvSpPr/>
          <p:nvPr/>
        </p:nvSpPr>
        <p:spPr>
          <a:xfrm>
            <a:off x="4540910" y="1395374"/>
            <a:ext cx="0" cy="3280867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</a:ln>
        </p:spPr>
      </p:sp>
      <p:sp>
        <p:nvSpPr>
          <p:cNvPr id="23" name="lbl-288"/>
          <p:cNvSpPr txBox="1"/>
          <p:nvPr/>
        </p:nvSpPr>
        <p:spPr>
          <a:xfrm>
            <a:off x="944575" y="4676242"/>
            <a:ext cx="441655" cy="13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간선 HXL</a:t>
            </a:r>
            <a:endParaRPr lang="en-US" sz="900" dirty="0"/>
          </a:p>
        </p:txBody>
      </p:sp>
      <p:sp>
        <p:nvSpPr>
          <p:cNvPr id="24" name="lbl-289"/>
          <p:cNvSpPr txBox="1"/>
          <p:nvPr/>
        </p:nvSpPr>
        <p:spPr>
          <a:xfrm>
            <a:off x="4320083" y="4676242"/>
            <a:ext cx="441655" cy="13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간선 HXR</a:t>
            </a:r>
            <a:endParaRPr lang="en-US" sz="900" dirty="0"/>
          </a:p>
        </p:txBody>
      </p:sp>
      <p:sp>
        <p:nvSpPr>
          <p:cNvPr id="25" name="dock-290"/>
          <p:cNvSpPr/>
          <p:nvPr/>
        </p:nvSpPr>
        <p:spPr>
          <a:xfrm>
            <a:off x="502920" y="1824411"/>
            <a:ext cx="189281" cy="277612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lbl-291"/>
          <p:cNvSpPr txBox="1"/>
          <p:nvPr/>
        </p:nvSpPr>
        <p:spPr>
          <a:xfrm>
            <a:off x="502920" y="1824411"/>
            <a:ext cx="189281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D1</a:t>
            </a:r>
            <a:endParaRPr lang="en-US" sz="900" dirty="0"/>
          </a:p>
        </p:txBody>
      </p:sp>
      <p:sp>
        <p:nvSpPr>
          <p:cNvPr id="27" name="dock-292"/>
          <p:cNvSpPr/>
          <p:nvPr/>
        </p:nvSpPr>
        <p:spPr>
          <a:xfrm>
            <a:off x="5613502" y="1824411"/>
            <a:ext cx="189281" cy="277612"/>
          </a:xfrm>
          <a:prstGeom prst="rect">
            <a:avLst/>
          </a:prstGeom>
          <a:solidFill>
            <a:srgbClr val="8E6CC9"/>
          </a:solidFill>
          <a:ln w="12700">
            <a:solidFill>
              <a:srgbClr val="8E6CC9"/>
            </a:solidFill>
            <a:prstDash val="solid"/>
          </a:ln>
        </p:spPr>
      </p:sp>
      <p:sp>
        <p:nvSpPr>
          <p:cNvPr id="28" name="lbl-293"/>
          <p:cNvSpPr txBox="1"/>
          <p:nvPr/>
        </p:nvSpPr>
        <p:spPr>
          <a:xfrm>
            <a:off x="5613502" y="1824411"/>
            <a:ext cx="189281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D4</a:t>
            </a:r>
            <a:endParaRPr lang="en-US" sz="900" dirty="0"/>
          </a:p>
        </p:txBody>
      </p:sp>
      <p:sp>
        <p:nvSpPr>
          <p:cNvPr id="29" name="dock-294"/>
          <p:cNvSpPr/>
          <p:nvPr/>
        </p:nvSpPr>
        <p:spPr>
          <a:xfrm>
            <a:off x="502920" y="2897002"/>
            <a:ext cx="189281" cy="277612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0" name="lbl-295"/>
          <p:cNvSpPr txBox="1"/>
          <p:nvPr/>
        </p:nvSpPr>
        <p:spPr>
          <a:xfrm>
            <a:off x="502920" y="2897002"/>
            <a:ext cx="189281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D2</a:t>
            </a:r>
            <a:endParaRPr lang="en-US" sz="900" dirty="0"/>
          </a:p>
        </p:txBody>
      </p:sp>
      <p:sp>
        <p:nvSpPr>
          <p:cNvPr id="31" name="dock-296"/>
          <p:cNvSpPr/>
          <p:nvPr/>
        </p:nvSpPr>
        <p:spPr>
          <a:xfrm>
            <a:off x="5613502" y="2897002"/>
            <a:ext cx="189281" cy="277612"/>
          </a:xfrm>
          <a:prstGeom prst="rect">
            <a:avLst/>
          </a:prstGeom>
          <a:solidFill>
            <a:srgbClr val="4B8FDB"/>
          </a:solidFill>
          <a:ln w="12700">
            <a:solidFill>
              <a:srgbClr val="4B8FDB"/>
            </a:solidFill>
            <a:prstDash val="solid"/>
          </a:ln>
        </p:spPr>
      </p:sp>
      <p:sp>
        <p:nvSpPr>
          <p:cNvPr id="32" name="lbl-297"/>
          <p:cNvSpPr txBox="1"/>
          <p:nvPr/>
        </p:nvSpPr>
        <p:spPr>
          <a:xfrm>
            <a:off x="5613502" y="2897002"/>
            <a:ext cx="189281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D5</a:t>
            </a:r>
            <a:endParaRPr lang="en-US" sz="900" dirty="0"/>
          </a:p>
        </p:txBody>
      </p:sp>
      <p:sp>
        <p:nvSpPr>
          <p:cNvPr id="33" name="dock-298"/>
          <p:cNvSpPr/>
          <p:nvPr/>
        </p:nvSpPr>
        <p:spPr>
          <a:xfrm>
            <a:off x="502920" y="3969593"/>
            <a:ext cx="189281" cy="277612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4" name="lbl-299"/>
          <p:cNvSpPr txBox="1"/>
          <p:nvPr/>
        </p:nvSpPr>
        <p:spPr>
          <a:xfrm>
            <a:off x="502920" y="3969593"/>
            <a:ext cx="189281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D3</a:t>
            </a:r>
            <a:endParaRPr lang="en-US" sz="900" dirty="0"/>
          </a:p>
        </p:txBody>
      </p:sp>
      <p:sp>
        <p:nvSpPr>
          <p:cNvPr id="35" name="dock-300"/>
          <p:cNvSpPr/>
          <p:nvPr/>
        </p:nvSpPr>
        <p:spPr>
          <a:xfrm>
            <a:off x="5613502" y="3969593"/>
            <a:ext cx="189281" cy="277612"/>
          </a:xfrm>
          <a:prstGeom prst="rect">
            <a:avLst/>
          </a:prstGeom>
          <a:solidFill>
            <a:srgbClr val="E06A9A"/>
          </a:solidFill>
          <a:ln w="12700">
            <a:solidFill>
              <a:srgbClr val="E06A9A"/>
            </a:solidFill>
            <a:prstDash val="solid"/>
          </a:ln>
        </p:spPr>
      </p:sp>
      <p:sp>
        <p:nvSpPr>
          <p:cNvPr id="36" name="lbl-301"/>
          <p:cNvSpPr txBox="1"/>
          <p:nvPr/>
        </p:nvSpPr>
        <p:spPr>
          <a:xfrm>
            <a:off x="5613502" y="3969593"/>
            <a:ext cx="189281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sp>
        <p:nvSpPr>
          <p:cNvPr id="37" name="chg-302"/>
          <p:cNvSpPr/>
          <p:nvPr/>
        </p:nvSpPr>
        <p:spPr>
          <a:xfrm>
            <a:off x="1575511" y="4852904"/>
            <a:ext cx="151425" cy="151425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chg-303"/>
          <p:cNvSpPr/>
          <p:nvPr/>
        </p:nvSpPr>
        <p:spPr>
          <a:xfrm>
            <a:off x="1884670" y="4852904"/>
            <a:ext cx="151425" cy="151425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chg-304"/>
          <p:cNvSpPr/>
          <p:nvPr/>
        </p:nvSpPr>
        <p:spPr>
          <a:xfrm>
            <a:off x="2193828" y="4852904"/>
            <a:ext cx="151425" cy="151425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chg-305"/>
          <p:cNvSpPr/>
          <p:nvPr/>
        </p:nvSpPr>
        <p:spPr>
          <a:xfrm>
            <a:off x="2502987" y="4852904"/>
            <a:ext cx="151425" cy="151425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chg-306"/>
          <p:cNvSpPr/>
          <p:nvPr/>
        </p:nvSpPr>
        <p:spPr>
          <a:xfrm>
            <a:off x="2812146" y="4852904"/>
            <a:ext cx="151425" cy="151425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bay-307"/>
          <p:cNvSpPr/>
          <p:nvPr/>
        </p:nvSpPr>
        <p:spPr>
          <a:xfrm>
            <a:off x="3708075" y="4852904"/>
            <a:ext cx="151425" cy="151425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3" name="flh-308"/>
          <p:cNvSpPr/>
          <p:nvPr/>
        </p:nvSpPr>
        <p:spPr>
          <a:xfrm>
            <a:off x="4086636" y="4852904"/>
            <a:ext cx="151425" cy="151425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4" name="lbl-309"/>
          <p:cNvSpPr txBox="1"/>
          <p:nvPr/>
        </p:nvSpPr>
        <p:spPr>
          <a:xfrm>
            <a:off x="1575511" y="5023256"/>
            <a:ext cx="2776118" cy="13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충전 C1~C5 · 정비 · 지게차 대기</a:t>
            </a:r>
            <a:endParaRPr lang="en-US" sz="900" dirty="0"/>
          </a:p>
        </p:txBody>
      </p:sp>
      <p:sp>
        <p:nvSpPr>
          <p:cNvPr id="45" name="route-310"/>
          <p:cNvSpPr/>
          <p:nvPr/>
        </p:nvSpPr>
        <p:spPr>
          <a:xfrm>
            <a:off x="723748" y="3035808"/>
            <a:ext cx="441655" cy="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</a:ln>
        </p:spPr>
      </p:sp>
      <p:sp>
        <p:nvSpPr>
          <p:cNvPr id="46" name="route-311"/>
          <p:cNvSpPr/>
          <p:nvPr/>
        </p:nvSpPr>
        <p:spPr>
          <a:xfrm>
            <a:off x="1165403" y="2247138"/>
            <a:ext cx="0" cy="78867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</a:ln>
        </p:spPr>
      </p:sp>
      <p:sp>
        <p:nvSpPr>
          <p:cNvPr id="47" name="route-312"/>
          <p:cNvSpPr/>
          <p:nvPr/>
        </p:nvSpPr>
        <p:spPr>
          <a:xfrm>
            <a:off x="1165403" y="2247138"/>
            <a:ext cx="1722455" cy="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</a:ln>
        </p:spPr>
      </p:sp>
      <p:sp>
        <p:nvSpPr>
          <p:cNvPr id="48" name="route-313"/>
          <p:cNvSpPr/>
          <p:nvPr/>
        </p:nvSpPr>
        <p:spPr>
          <a:xfrm>
            <a:off x="2887858" y="2272375"/>
            <a:ext cx="1653052" cy="0"/>
          </a:xfrm>
          <a:prstGeom prst="line">
            <a:avLst/>
          </a:prstGeom>
          <a:noFill/>
          <a:ln w="44450">
            <a:solidFill>
              <a:srgbClr val="6B4FA0"/>
            </a:solidFill>
            <a:prstDash val="solid"/>
          </a:ln>
        </p:spPr>
      </p:sp>
      <p:sp>
        <p:nvSpPr>
          <p:cNvPr id="49" name="route-314"/>
          <p:cNvSpPr/>
          <p:nvPr/>
        </p:nvSpPr>
        <p:spPr>
          <a:xfrm>
            <a:off x="4540910" y="1963217"/>
            <a:ext cx="0" cy="309159"/>
          </a:xfrm>
          <a:prstGeom prst="line">
            <a:avLst/>
          </a:prstGeom>
          <a:noFill/>
          <a:ln w="44450">
            <a:solidFill>
              <a:srgbClr val="6B4FA0"/>
            </a:solidFill>
            <a:prstDash val="solid"/>
          </a:ln>
        </p:spPr>
      </p:sp>
      <p:sp>
        <p:nvSpPr>
          <p:cNvPr id="50" name="route-315"/>
          <p:cNvSpPr/>
          <p:nvPr/>
        </p:nvSpPr>
        <p:spPr>
          <a:xfrm>
            <a:off x="4540910" y="1963217"/>
            <a:ext cx="1041044" cy="0"/>
          </a:xfrm>
          <a:prstGeom prst="line">
            <a:avLst/>
          </a:prstGeom>
          <a:noFill/>
          <a:ln w="44450">
            <a:solidFill>
              <a:srgbClr val="6B4FA0"/>
            </a:solidFill>
            <a:prstDash val="solid"/>
          </a:ln>
        </p:spPr>
      </p:sp>
      <p:sp>
        <p:nvSpPr>
          <p:cNvPr id="51" name="pt-316"/>
          <p:cNvSpPr/>
          <p:nvPr/>
        </p:nvSpPr>
        <p:spPr>
          <a:xfrm>
            <a:off x="2805562" y="2164842"/>
            <a:ext cx="164592" cy="164592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rules-317"/>
          <p:cNvSpPr txBox="1"/>
          <p:nvPr/>
        </p:nvSpPr>
        <p:spPr>
          <a:xfrm>
            <a:off x="7178040" y="1143000"/>
            <a:ext cx="45262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route(P, 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① 출발점에서 자기 통로(가로줄)로 나간다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② 통로가 다르면 간선(세로줄)을 타고 목적 통로로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③ 목적 통로를 따라가 목적지 칸 앞에서 멈춘다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333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간선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입고 도크가 낀 이동 → 왼쪽 HXL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출고 도크가 낀 이동 → 오른쪽 HXR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그 외 → 두 지점에서 가까운 쪽 간선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333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그림 예시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주황: 입고 D2 → A 호남 5번 칸 (HXL)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보라: A 호남 5번 칸 → D4 호남 택배차 (HXR)</a:t>
            </a:r>
            <a:endParaRPr lang="en-US" sz="1400" dirty="0"/>
          </a:p>
        </p:txBody>
      </p:sp>
      <p:sp>
        <p:nvSpPr>
          <p:cNvPr id="53" name="cap-318"/>
          <p:cNvSpPr txBox="1"/>
          <p:nvPr/>
        </p:nvSpPr>
        <p:spPr>
          <a:xfrm>
            <a:off x="50292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평면도 1000 × 640px 축척 그대로. 점선 = 통로(가로 5줄), 굵은 선 = 간선(세로 2줄)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주행 규칙 — 서로 부딪히지 않고 자연스럽게</a:t>
            </a:r>
            <a:endParaRPr lang="en-US" sz="2600" dirty="0"/>
          </a:p>
        </p:txBody>
      </p:sp>
      <p:sp>
        <p:nvSpPr>
          <p:cNvPr id="3" name="chip-319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chip-t-320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경로</a:t>
            </a:r>
            <a:endParaRPr lang="en-US" sz="1200" dirty="0"/>
          </a:p>
        </p:txBody>
      </p:sp>
      <p:graphicFrame>
        <p:nvGraphicFramePr>
          <p:cNvPr id="24" name="tbl-3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400800"/>
                <a:gridCol w="28803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규칙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우측 통행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이동 방향의 오른쪽 차선으로 비켜 주행, 멈추면 통로 중앙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차선 오프셋 0.7m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가감속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목표 속도까지 가속, 감속은 1.6배 강하게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최대 84 px/s · 가속 150 px/s²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코너 · 도착 감속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꺾이기 직전 감속, 남은 거리 40px 안에서 거리 비례 감속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코너 38 · 최저 14 px/s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취급별 감속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실은 화물의 취급표시에 따라 최고 속도 제한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파손 60 · 취급/중량 72 px/s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앞차 간격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진행 방향 앞 34px · 좌우 9px 안에 멈춘 차나 같은 방향 차가 있으면 정지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지게차 관련은 44px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교착 해소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서로 마주 보고 2초 넘게 막히면 한쪽이 양보하고 지나감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2초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지게차 작업 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랙 쪽 차선을 쓰는 AMR만 대기, 반대 차선은 비켜 지나감 (교착 해소 미적용)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최대 대기 약 7초 (10분 시험)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</a:rPr>
                        <a:t>방향 전환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움직일 때만 진행 방향으로 부드럽게 회전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초당 9배 비율 보간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cap-322"/>
          <p:cNvSpPr txBox="1"/>
          <p:nvPr/>
        </p:nvSpPr>
        <p:spPr>
          <a:xfrm>
            <a:off x="502920" y="59893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px 단위는 평면도 기준(1px = 0.05m). 84 px/s ≈ 4.2 m/s는 시연용으로 빠르게 돌린 값 (실제 AMR은 보통 1~2 m/s)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작업 배정 — 누가 무엇을 옮길까</a:t>
            </a:r>
            <a:endParaRPr lang="en-US" sz="2600" dirty="0"/>
          </a:p>
        </p:txBody>
      </p:sp>
      <p:sp>
        <p:nvSpPr>
          <p:cNvPr id="3" name="chip-323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chip-t-324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경로</a:t>
            </a:r>
            <a:endParaRPr lang="en-US" sz="1200" dirty="0"/>
          </a:p>
        </p:txBody>
      </p:sp>
      <p:sp>
        <p:nvSpPr>
          <p:cNvPr id="5" name="card-325"/>
          <p:cNvSpPr/>
          <p:nvPr/>
        </p:nvSpPr>
        <p:spPr>
          <a:xfrm>
            <a:off x="502920" y="109728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card-h-326"/>
          <p:cNvSpPr txBox="1"/>
          <p:nvPr/>
        </p:nvSpPr>
        <p:spPr>
          <a:xfrm>
            <a:off x="704088" y="12435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AMR: 입고 · 출고 (바닥 칸)</a:t>
            </a:r>
            <a:endParaRPr lang="en-US" sz="1500" dirty="0"/>
          </a:p>
        </p:txBody>
      </p:sp>
      <p:sp>
        <p:nvSpPr>
          <p:cNvPr id="7" name="card-b-327"/>
          <p:cNvSpPr txBox="1"/>
          <p:nvPr/>
        </p:nvSpPr>
        <p:spPr>
          <a:xfrm>
            <a:off x="704088" y="1664208"/>
            <a:ext cx="50840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입고: 도착한 트럭 화물 중 → 그 화물 구역(허브 / 냉장)의 빈 바닥 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출고: 택배차에 자리가 남은 허브 → 그 허브 화물이 있는 바닥 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평소엔 입고 · 출고를 번갈아, 바닥 70% 이상 차면 출고 우선, 25% 미만이면 입고 우선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후보 칸은 가까운 순 4개 중 무작위 → 한 칸에 몰리지 않게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칸을 예약(st 2·3)해서 두 대가 같은 칸을 노리지 않음</a:t>
            </a:r>
            <a:endParaRPr lang="en-US" sz="1300" dirty="0"/>
          </a:p>
        </p:txBody>
      </p:sp>
      <p:sp>
        <p:nvSpPr>
          <p:cNvPr id="8" name="card-328"/>
          <p:cNvSpPr/>
          <p:nvPr/>
        </p:nvSpPr>
        <p:spPr>
          <a:xfrm>
            <a:off x="6217920" y="109728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card-h-329"/>
          <p:cNvSpPr txBox="1"/>
          <p:nvPr/>
        </p:nvSpPr>
        <p:spPr>
          <a:xfrm>
            <a:off x="6419088" y="12435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무인 지게차: 보충 · 적치 (위 단)</a:t>
            </a:r>
            <a:endParaRPr lang="en-US" sz="1500" dirty="0"/>
          </a:p>
        </p:txBody>
      </p:sp>
      <p:sp>
        <p:nvSpPr>
          <p:cNvPr id="10" name="card-b-330"/>
          <p:cNvSpPr txBox="1"/>
          <p:nvPr/>
        </p:nvSpPr>
        <p:spPr>
          <a:xfrm>
            <a:off x="6419088" y="1664208"/>
            <a:ext cx="50840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보충: 바닥이 50% 이하로 빈 줄부터 → 빈 바닥 칸 위의 재고를 내림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적치: 바닥이 75% 이상 찬 줄 → 바닥 화물을 빈 위 단으로 올려 입고 자리 확보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할 일이 없으면 대기 위치로 복귀, 1.2초마다 다시 확인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333"/>
                </a:solidFill>
              </a:rPr>
              <a:t>10분 시험: 보충 18회 · 적치 3회, 화물 중복 0건</a:t>
            </a:r>
            <a:endParaRPr lang="en-US" sz="1350" dirty="0"/>
          </a:p>
        </p:txBody>
      </p:sp>
      <p:sp>
        <p:nvSpPr>
          <p:cNvPr id="11" name="h-331"/>
          <p:cNvSpPr txBox="1"/>
          <p:nvPr/>
        </p:nvSpPr>
        <p:spPr>
          <a:xfrm>
            <a:off x="50292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</a:rPr>
              <a:t>10분(시뮬레이션 600초) 무인 시험 결과</a:t>
            </a:r>
            <a:endParaRPr lang="en-US" sz="1500" dirty="0"/>
          </a:p>
        </p:txBody>
      </p:sp>
      <p:sp>
        <p:nvSpPr>
          <p:cNvPr id="12" name="box-332"/>
          <p:cNvSpPr/>
          <p:nvPr/>
        </p:nvSpPr>
        <p:spPr>
          <a:xfrm>
            <a:off x="502920" y="4709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v-333"/>
          <p:cNvSpPr txBox="1"/>
          <p:nvPr/>
        </p:nvSpPr>
        <p:spPr>
          <a:xfrm>
            <a:off x="68580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A0"/>
                </a:solidFill>
              </a:rPr>
              <a:t>129건</a:t>
            </a:r>
            <a:endParaRPr lang="en-US" sz="3000" dirty="0"/>
          </a:p>
        </p:txBody>
      </p:sp>
      <p:sp>
        <p:nvSpPr>
          <p:cNvPr id="14" name="l-334"/>
          <p:cNvSpPr txBox="1"/>
          <p:nvPr/>
        </p:nvSpPr>
        <p:spPr>
          <a:xfrm>
            <a:off x="68580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처리 화물</a:t>
            </a:r>
            <a:endParaRPr lang="en-US" sz="1150" dirty="0"/>
          </a:p>
        </p:txBody>
      </p:sp>
      <p:sp>
        <p:nvSpPr>
          <p:cNvPr id="15" name="box-335"/>
          <p:cNvSpPr/>
          <p:nvPr/>
        </p:nvSpPr>
        <p:spPr>
          <a:xfrm>
            <a:off x="3337560" y="4709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v-336"/>
          <p:cNvSpPr txBox="1"/>
          <p:nvPr/>
        </p:nvSpPr>
        <p:spPr>
          <a:xfrm>
            <a:off x="352044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A0"/>
                </a:solidFill>
              </a:rPr>
              <a:t>64건</a:t>
            </a:r>
            <a:endParaRPr lang="en-US" sz="3000" dirty="0"/>
          </a:p>
        </p:txBody>
      </p:sp>
      <p:sp>
        <p:nvSpPr>
          <p:cNvPr id="17" name="l-337"/>
          <p:cNvSpPr txBox="1"/>
          <p:nvPr/>
        </p:nvSpPr>
        <p:spPr>
          <a:xfrm>
            <a:off x="352044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허브 출고 (호남 20 · 강원 16 · 영남 28)</a:t>
            </a:r>
            <a:endParaRPr lang="en-US" sz="1150" dirty="0"/>
          </a:p>
        </p:txBody>
      </p:sp>
      <p:sp>
        <p:nvSpPr>
          <p:cNvPr id="18" name="box-338"/>
          <p:cNvSpPr/>
          <p:nvPr/>
        </p:nvSpPr>
        <p:spPr>
          <a:xfrm>
            <a:off x="6172200" y="4709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v-339"/>
          <p:cNvSpPr txBox="1"/>
          <p:nvPr/>
        </p:nvSpPr>
        <p:spPr>
          <a:xfrm>
            <a:off x="635508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A0"/>
                </a:solidFill>
              </a:rPr>
              <a:t>0건</a:t>
            </a:r>
            <a:endParaRPr lang="en-US" sz="3000" dirty="0"/>
          </a:p>
        </p:txBody>
      </p:sp>
      <p:sp>
        <p:nvSpPr>
          <p:cNvPr id="20" name="l-340"/>
          <p:cNvSpPr txBox="1"/>
          <p:nvPr/>
        </p:nvSpPr>
        <p:spPr>
          <a:xfrm>
            <a:off x="635508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허브 잘못 실림</a:t>
            </a:r>
            <a:endParaRPr lang="en-US" sz="1150" dirty="0"/>
          </a:p>
        </p:txBody>
      </p:sp>
      <p:sp>
        <p:nvSpPr>
          <p:cNvPr id="21" name="box-341"/>
          <p:cNvSpPr/>
          <p:nvPr/>
        </p:nvSpPr>
        <p:spPr>
          <a:xfrm>
            <a:off x="9006840" y="4709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v-342"/>
          <p:cNvSpPr txBox="1"/>
          <p:nvPr/>
        </p:nvSpPr>
        <p:spPr>
          <a:xfrm>
            <a:off x="918972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FA0"/>
                </a:solidFill>
              </a:rPr>
              <a:t>5/5</a:t>
            </a:r>
            <a:endParaRPr lang="en-US" sz="3000" dirty="0"/>
          </a:p>
        </p:txBody>
      </p:sp>
      <p:sp>
        <p:nvSpPr>
          <p:cNvPr id="23" name="l-343"/>
          <p:cNvSpPr txBox="1"/>
          <p:nvPr/>
        </p:nvSpPr>
        <p:spPr>
          <a:xfrm>
            <a:off x="918972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예지보전 단계 모두 통과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한계와 다음 단계</a:t>
            </a:r>
            <a:endParaRPr lang="en-US" sz="2600" dirty="0"/>
          </a:p>
        </p:txBody>
      </p:sp>
      <p:sp>
        <p:nvSpPr>
          <p:cNvPr id="3" name="chip-344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" name="chip-t-345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정리</a:t>
            </a:r>
            <a:endParaRPr lang="en-US" sz="1200" dirty="0"/>
          </a:p>
        </p:txBody>
      </p:sp>
      <p:sp>
        <p:nvSpPr>
          <p:cNvPr id="5" name="card-346"/>
          <p:cNvSpPr/>
          <p:nvPr/>
        </p:nvSpPr>
        <p:spPr>
          <a:xfrm>
            <a:off x="502920" y="10972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card-h-347"/>
          <p:cNvSpPr txBox="1"/>
          <p:nvPr/>
        </p:nvSpPr>
        <p:spPr>
          <a:xfrm>
            <a:off x="704088" y="12435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지금의 한계 (시연용)</a:t>
            </a:r>
            <a:endParaRPr lang="en-US" sz="1500" dirty="0"/>
          </a:p>
        </p:txBody>
      </p:sp>
      <p:sp>
        <p:nvSpPr>
          <p:cNvPr id="7" name="card-b-348"/>
          <p:cNvSpPr txBox="1"/>
          <p:nvPr/>
        </p:nvSpPr>
        <p:spPr>
          <a:xfrm>
            <a:off x="704088" y="1664208"/>
            <a:ext cx="5084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센서값 · 위치는 브라우저 안 시뮬레이션이 만든 값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예측은 선형 기울기 하나 — 실제 진동은 주파수(FFT) 분석이 필요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경로는 격자 규칙 기반, 다수 로봇 최적 경로 계획은 없음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DB 테이블은 설계안 단계 (scargo에 미생성)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시간 환산(화면 1초 = 약 4시간) · 속도는 시연용으로 과장</a:t>
            </a:r>
            <a:endParaRPr lang="en-US" sz="1500" dirty="0"/>
          </a:p>
        </p:txBody>
      </p:sp>
      <p:sp>
        <p:nvSpPr>
          <p:cNvPr id="8" name="card-349"/>
          <p:cNvSpPr/>
          <p:nvPr/>
        </p:nvSpPr>
        <p:spPr>
          <a:xfrm>
            <a:off x="6217920" y="10972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card-h-350"/>
          <p:cNvSpPr txBox="1"/>
          <p:nvPr/>
        </p:nvSpPr>
        <p:spPr>
          <a:xfrm>
            <a:off x="6419088" y="12435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다음 단계</a:t>
            </a:r>
            <a:endParaRPr lang="en-US" sz="1500" dirty="0"/>
          </a:p>
        </p:txBody>
      </p:sp>
      <p:sp>
        <p:nvSpPr>
          <p:cNvPr id="10" name="card-b-351"/>
          <p:cNvSpPr txBox="1"/>
          <p:nvPr/>
        </p:nvSpPr>
        <p:spPr>
          <a:xfrm>
            <a:off x="6419088" y="1664208"/>
            <a:ext cx="5084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MQTT → FastAPI 수집 → PostgreSQL 저장 → WebSocket 푸시로 실제 데이터 연결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진동 스펙트럼(FFT) + 온도 · 전류를 함께 보는 예측 모델로 교체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교차로 예약 · A* 경로로 다수 로봇 교통 관제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지게차 유압 · 마스트 센서까지 예지보전 대상 확대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</a:rPr>
              <a:t>1차 게이트 OCR · 과적 검사와 한 화면에서 연결 (항만 → 물류센터 → 허브)</a:t>
            </a:r>
            <a:endParaRPr lang="en-US" sz="1500" dirty="0"/>
          </a:p>
        </p:txBody>
      </p:sp>
      <p:sp>
        <p:nvSpPr>
          <p:cNvPr id="11" name="msg-352"/>
          <p:cNvSpPr/>
          <p:nvPr/>
        </p:nvSpPr>
        <p:spPr>
          <a:xfrm>
            <a:off x="502920" y="46177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12" name="msg-t-353"/>
          <p:cNvSpPr txBox="1"/>
          <p:nvPr/>
        </p:nvSpPr>
        <p:spPr>
          <a:xfrm>
            <a:off x="777240" y="47091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</a:rPr>
              <a:t>핵심 한 줄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고장 나기 전에 알고, 멈추기 전에 교대한다 — 그래서 물류는 멈추지 않는다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rgo Tech">
  <a:themeElements>
    <a:clrScheme name="SCargo Tech">
      <a:dk1>
        <a:srgbClr val="1B2333"/>
      </a:dk1>
      <a:lt1>
        <a:srgbClr val="FFFFFF"/>
      </a:lt1>
      <a:dk2>
        <a:srgbClr val="5B6B84"/>
      </a:dk2>
      <a:lt2>
        <a:srgbClr val="EEF2F8"/>
      </a:lt2>
      <a:accent1>
        <a:srgbClr val="6B4FA0"/>
      </a:accent1>
      <a:accent2>
        <a:srgbClr val="F28C28"/>
      </a:accent2>
      <a:accent3>
        <a:srgbClr val="1F6FB2"/>
      </a:accent3>
      <a:accent4>
        <a:srgbClr val="2E8B57"/>
      </a:accent4>
      <a:accent5>
        <a:srgbClr val="D64545"/>
      </a:accent5>
      <a:accent6>
        <a:srgbClr val="178F83"/>
      </a:accent6>
      <a:hlink>
        <a:srgbClr val="1F6FB2"/>
      </a:hlink>
      <a:folHlink>
        <a:srgbClr val="6B4FA0"/>
      </a:folHlink>
    </a:clrScheme>
    <a:fontScheme name="SCargo Tech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물류센터 AMR 예지보전 · 3D 디지털 트윈 기술 정리</dc:title>
  <dc:subject>PptxGenJS Presentation</dc:subject>
  <dc:creator>못먹어도 S카고</dc:creator>
  <cp:lastModifiedBy>못먹어도 S카고</cp:lastModifiedBy>
  <cp:revision>1</cp:revision>
  <dcterms:created xsi:type="dcterms:W3CDTF">2026-10-09T03:55:33Z</dcterms:created>
  <dcterms:modified xsi:type="dcterms:W3CDTF">2026-10-09T03:55:33Z</dcterms:modified>
</cp:coreProperties>
</file>