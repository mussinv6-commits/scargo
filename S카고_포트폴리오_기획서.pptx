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0d578a18-b70c-9f95-675f-ca3b6dd28c6e}">
          <p14:sldIdLst>
            <p14:sldId id="256"/>
            <p14:sldId id="257"/>
            <p14:sldId id="258"/>
          </p14:sldIdLst>
        </p14:section>
        <p14:section name="시스템 구조" id="{8417f994-075b-db8e-7663-36595aa66175}">
          <p14:sldIdLst>
            <p14:sldId id="259"/>
            <p14:sldId id="260"/>
          </p14:sldIdLst>
        </p14:section>
        <p14:section name="구간별 기획" id="{cc0e3915-7e58-6f28-ae41-a881d8a07119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내 담당" id="{8d9b1582-840a-c2eb-bfcb-0580d4232ed1}">
          <p14:sldIdLst>
            <p14:sldId id="268"/>
            <p14:sldId id="269"/>
          </p14:sldIdLst>
        </p14:section>
        <p14:section name="기술 · 계획" id="{f714bb96-633c-0070-53e4-5b2b556cc518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 프로젝트 포트폴리오 기획서. 컨트롤타워(전 구간)와 AMR 관제(물류센터 내부)로 역할을 나눈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</a:rPr>
              <a:t>S-CARGO  ·  못먹어도 S카고  ·  2차 프로젝트 포트폴리오 기획서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8C4D9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화물 물류 컨트롤타워 · AMR 관제 시스템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포트폴리오 기획서  —  항만에서 허브까지 판단·지시하고, 물류센터 현장은 실시간으로 지킨다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기획 배경 — 화물이 멈추는 지점들</a:t>
            </a:r>
            <a:endParaRPr lang="en-US" sz="2600" dirty="0"/>
          </a:p>
        </p:txBody>
      </p:sp>
      <p:sp>
        <p:nvSpPr>
          <p:cNvPr id="3" name="chip-1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" name="chip-t-2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배경</a:t>
            </a:r>
            <a:endParaRPr lang="en-US" sz="1200" dirty="0"/>
          </a:p>
        </p:txBody>
      </p:sp>
      <p:sp>
        <p:nvSpPr>
          <p:cNvPr id="5" name="sub-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항만에서 허브까지 화물차가 지나는 구간마다 정체 · 위험 · 정지 요인이 따로 존재한다</a:t>
            </a:r>
            <a:endParaRPr lang="en-US" sz="1400" dirty="0"/>
          </a:p>
        </p:txBody>
      </p:sp>
      <p:sp>
        <p:nvSpPr>
          <p:cNvPr id="6" name="card-4"/>
          <p:cNvSpPr/>
          <p:nvPr/>
        </p:nvSpPr>
        <p:spPr>
          <a:xfrm>
            <a:off x="502920" y="15544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card-h-5"/>
          <p:cNvSpPr txBox="1"/>
          <p:nvPr/>
        </p:nvSpPr>
        <p:spPr>
          <a:xfrm>
            <a:off x="704088" y="1700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도로 · 검문</a:t>
            </a:r>
            <a:endParaRPr lang="en-US" sz="1500" dirty="0"/>
          </a:p>
        </p:txBody>
      </p:sp>
      <p:sp>
        <p:nvSpPr>
          <p:cNvPr id="8" name="card-b-6"/>
          <p:cNvSpPr txBox="1"/>
          <p:nvPr/>
        </p:nvSpPr>
        <p:spPr>
          <a:xfrm>
            <a:off x="704088" y="2121408"/>
            <a:ext cx="5129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과적 차량은 사고 위험과 도로 파손의 원인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검문 때마다 정차 · 대기 → 물류 지연</a:t>
            </a:r>
            <a:endParaRPr lang="en-US" sz="1400" dirty="0"/>
          </a:p>
        </p:txBody>
      </p:sp>
      <p:sp>
        <p:nvSpPr>
          <p:cNvPr id="9" name="card-7"/>
          <p:cNvSpPr/>
          <p:nvPr/>
        </p:nvSpPr>
        <p:spPr>
          <a:xfrm>
            <a:off x="6172200" y="15544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card-h-8"/>
          <p:cNvSpPr txBox="1"/>
          <p:nvPr/>
        </p:nvSpPr>
        <p:spPr>
          <a:xfrm>
            <a:off x="6373368" y="170078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톨게이트</a:t>
            </a:r>
            <a:endParaRPr lang="en-US" sz="1500" dirty="0"/>
          </a:p>
        </p:txBody>
      </p:sp>
      <p:sp>
        <p:nvSpPr>
          <p:cNvPr id="11" name="card-b-9"/>
          <p:cNvSpPr txBox="1"/>
          <p:nvPr/>
        </p:nvSpPr>
        <p:spPr>
          <a:xfrm>
            <a:off x="6373368" y="2121408"/>
            <a:ext cx="5129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정부가 번호판 인식 무정차 방식(스마트톨링)을 시범 운영 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후불 정산 방식은 미납 문제가 함께 제기됨</a:t>
            </a:r>
            <a:endParaRPr lang="en-US" sz="1400" dirty="0"/>
          </a:p>
        </p:txBody>
      </p:sp>
      <p:sp>
        <p:nvSpPr>
          <p:cNvPr id="12" name="card-10"/>
          <p:cNvSpPr/>
          <p:nvPr/>
        </p:nvSpPr>
        <p:spPr>
          <a:xfrm>
            <a:off x="502920" y="3703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card-h-11"/>
          <p:cNvSpPr txBox="1"/>
          <p:nvPr/>
        </p:nvSpPr>
        <p:spPr>
          <a:xfrm>
            <a:off x="704088" y="384962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물류센터</a:t>
            </a:r>
            <a:endParaRPr lang="en-US" sz="1500" dirty="0"/>
          </a:p>
        </p:txBody>
      </p:sp>
      <p:sp>
        <p:nvSpPr>
          <p:cNvPr id="14" name="card-b-12"/>
          <p:cNvSpPr txBox="1"/>
          <p:nvPr/>
        </p:nvSpPr>
        <p:spPr>
          <a:xfrm>
            <a:off x="704088" y="4270248"/>
            <a:ext cx="5129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AMR(자율이동로봇)이 고장 나서 멈추면 분류 · 출고가 같이 멈춤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고장 난 뒤 고치는 방식은 비계획 정지를 막지 못함</a:t>
            </a:r>
            <a:endParaRPr lang="en-US" sz="1400" dirty="0"/>
          </a:p>
        </p:txBody>
      </p:sp>
      <p:sp>
        <p:nvSpPr>
          <p:cNvPr id="15" name="card-13"/>
          <p:cNvSpPr/>
          <p:nvPr/>
        </p:nvSpPr>
        <p:spPr>
          <a:xfrm>
            <a:off x="6172200" y="3703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card-h-14"/>
          <p:cNvSpPr txBox="1"/>
          <p:nvPr/>
        </p:nvSpPr>
        <p:spPr>
          <a:xfrm>
            <a:off x="6373368" y="384962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</a:rPr>
              <a:t>구간 사이</a:t>
            </a:r>
            <a:endParaRPr lang="en-US" sz="1500" dirty="0"/>
          </a:p>
        </p:txBody>
      </p:sp>
      <p:sp>
        <p:nvSpPr>
          <p:cNvPr id="17" name="card-b-15"/>
          <p:cNvSpPr txBox="1"/>
          <p:nvPr/>
        </p:nvSpPr>
        <p:spPr>
          <a:xfrm>
            <a:off x="6373368" y="4270248"/>
            <a:ext cx="5129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구간별 정보가 따로 놀아 다음 구간이 미리 준비하지 못함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도착 예정 · 도크 배정 · 출발 지시가 사람 손에 의존</a:t>
            </a:r>
            <a:endParaRPr lang="en-US" sz="1400" dirty="0"/>
          </a:p>
        </p:txBody>
      </p:sp>
      <p:sp>
        <p:nvSpPr>
          <p:cNvPr id="18" name="kw-16"/>
          <p:cNvSpPr txBox="1"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0"/>
                </a:solidFill>
              </a:rPr>
              <a:t>핵심 키워드  효율성 — 얼마나 안전하고 빠르게 처리해서 물류 속도를 올리는가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프로젝트 목표</a:t>
            </a:r>
            <a:endParaRPr lang="en-US" sz="2600" dirty="0"/>
          </a:p>
        </p:txBody>
      </p:sp>
      <p:sp>
        <p:nvSpPr>
          <p:cNvPr id="3" name="chip-17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" name="chip-t-18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목표</a:t>
            </a:r>
            <a:endParaRPr lang="en-US" sz="1200" dirty="0"/>
          </a:p>
        </p:txBody>
      </p:sp>
      <p:sp>
        <p:nvSpPr>
          <p:cNvPr id="5" name="g-19"/>
          <p:cNvSpPr/>
          <p:nvPr/>
        </p:nvSpPr>
        <p:spPr>
          <a:xfrm>
            <a:off x="502920" y="137160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gn-20"/>
          <p:cNvSpPr txBox="1"/>
          <p:nvPr/>
        </p:nvSpPr>
        <p:spPr>
          <a:xfrm>
            <a:off x="777240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B2"/>
                </a:solidFill>
              </a:rPr>
              <a:t>01</a:t>
            </a:r>
            <a:endParaRPr lang="en-US" sz="4000" dirty="0"/>
          </a:p>
        </p:txBody>
      </p:sp>
      <p:sp>
        <p:nvSpPr>
          <p:cNvPr id="7" name="gh-21"/>
          <p:cNvSpPr txBox="1"/>
          <p:nvPr/>
        </p:nvSpPr>
        <p:spPr>
          <a:xfrm>
            <a:off x="77724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333"/>
                </a:solidFill>
              </a:rPr>
              <a:t>멈추지 않는 흐름</a:t>
            </a:r>
            <a:endParaRPr lang="en-US" sz="2100" dirty="0"/>
          </a:p>
        </p:txBody>
      </p:sp>
      <p:sp>
        <p:nvSpPr>
          <p:cNvPr id="8" name="gd-22"/>
          <p:cNvSpPr txBox="1"/>
          <p:nvPr/>
        </p:nvSpPr>
        <p:spPr>
          <a:xfrm>
            <a:off x="77724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4"/>
                </a:solidFill>
              </a:rPr>
              <a:t>구간을 잇는 컨트롤타워가 앞 구간 결과로 다음 구간에 미리 지시</a:t>
            </a:r>
            <a:endParaRPr lang="en-US" sz="1500" dirty="0"/>
          </a:p>
        </p:txBody>
      </p:sp>
      <p:sp>
        <p:nvSpPr>
          <p:cNvPr id="9" name="g-23"/>
          <p:cNvSpPr/>
          <p:nvPr/>
        </p:nvSpPr>
        <p:spPr>
          <a:xfrm>
            <a:off x="4325112" y="137160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gn-24"/>
          <p:cNvSpPr txBox="1"/>
          <p:nvPr/>
        </p:nvSpPr>
        <p:spPr>
          <a:xfrm>
            <a:off x="4599432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</a:rPr>
              <a:t>02</a:t>
            </a:r>
            <a:endParaRPr lang="en-US" sz="4000" dirty="0"/>
          </a:p>
        </p:txBody>
      </p:sp>
      <p:sp>
        <p:nvSpPr>
          <p:cNvPr id="11" name="gh-25"/>
          <p:cNvSpPr txBox="1"/>
          <p:nvPr/>
        </p:nvSpPr>
        <p:spPr>
          <a:xfrm>
            <a:off x="4599432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333"/>
                </a:solidFill>
              </a:rPr>
              <a:t>정차 없는 검사 · 통과</a:t>
            </a:r>
            <a:endParaRPr lang="en-US" sz="2100" dirty="0"/>
          </a:p>
        </p:txBody>
      </p:sp>
      <p:sp>
        <p:nvSpPr>
          <p:cNvPr id="12" name="gd-26"/>
          <p:cNvSpPr txBox="1"/>
          <p:nvPr/>
        </p:nvSpPr>
        <p:spPr>
          <a:xfrm>
            <a:off x="4599432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4"/>
                </a:solidFill>
              </a:rPr>
              <a:t>번호판 인식 · 축중 · 이미지 분석으로 달리면서 판별, 의심 차량만 정밀 검사</a:t>
            </a:r>
            <a:endParaRPr lang="en-US" sz="1500" dirty="0"/>
          </a:p>
        </p:txBody>
      </p:sp>
      <p:sp>
        <p:nvSpPr>
          <p:cNvPr id="13" name="g-27"/>
          <p:cNvSpPr/>
          <p:nvPr/>
        </p:nvSpPr>
        <p:spPr>
          <a:xfrm>
            <a:off x="8147304" y="137160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gn-28"/>
          <p:cNvSpPr txBox="1"/>
          <p:nvPr/>
        </p:nvSpPr>
        <p:spPr>
          <a:xfrm>
            <a:off x="8421624" y="1600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4FA0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gh-29"/>
          <p:cNvSpPr txBox="1"/>
          <p:nvPr/>
        </p:nvSpPr>
        <p:spPr>
          <a:xfrm>
            <a:off x="8421624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333"/>
                </a:solidFill>
              </a:rPr>
              <a:t>고장 전에 교대</a:t>
            </a:r>
            <a:endParaRPr lang="en-US" sz="2100" dirty="0"/>
          </a:p>
        </p:txBody>
      </p:sp>
      <p:sp>
        <p:nvSpPr>
          <p:cNvPr id="16" name="gd-30"/>
          <p:cNvSpPr txBox="1"/>
          <p:nvPr/>
        </p:nvSpPr>
        <p:spPr>
          <a:xfrm>
            <a:off x="8421624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4"/>
                </a:solidFill>
              </a:rPr>
              <a:t>AMR 센서 추세로 남은 수명을 예측해 계획 정비 · 예비기 투입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시스템 구조 — 컨트롤타워와 관제를 나눈 이유</a:t>
            </a:r>
            <a:endParaRPr lang="en-US" sz="2600" dirty="0"/>
          </a:p>
        </p:txBody>
      </p:sp>
      <p:sp>
        <p:nvSpPr>
          <p:cNvPr id="3" name="chip-31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chip-t-32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구조</a:t>
            </a:r>
            <a:endParaRPr lang="en-US" sz="1200" dirty="0"/>
          </a:p>
        </p:txBody>
      </p:sp>
      <p:sp>
        <p:nvSpPr>
          <p:cNvPr id="5" name="sub-33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컨트롤타워는 무엇을 할지 정하는 곳, 관제는 지금 제대로 돌아가는지 보고 바로 대응하는 곳</a:t>
            </a:r>
            <a:endParaRPr lang="en-US" sz="1400" dirty="0"/>
          </a:p>
        </p:txBody>
      </p:sp>
      <p:graphicFrame>
        <p:nvGraphicFramePr>
          <p:cNvPr id="5" name="tbl-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5262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컨트롤타워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AMR 관제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B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</a:rPr>
                        <a:t>범위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항만 → 톨게이트 → 검사소 2곳 → 물류센터 도착 → 택배차 출발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물류센터 내부 (AMR 5대 + 무인 지게차 1대)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</a:rPr>
                        <a:t>역할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판단 · 지시 (재검사 지시, 도크 배정, 입고 지연, 출발 지시)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감시 · 이상 감지 (위치, 센서, 예지보전)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</a:rPr>
                        <a:t>시간 단위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분 · 시간 (도착 예정, 배차)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초 (센서, 위치)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</a:rPr>
                        <a:t>화면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지도 + KPI + 경보 · 지시 패널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3D 디지털 트윈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</a:rPr>
                        <a:t>주고받는 데이터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차량번호 · 도착 예정 · 배정 도크 · 화물 목록 → 관제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</a:rPr>
                        <a:t>하적 완료 · 분류 결과 · AMR 가동 대수 · 정비 예약 → 컨트롤타워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sg-35"/>
          <p:cNvSpPr/>
          <p:nvPr/>
        </p:nvSpPr>
        <p:spPr>
          <a:xfrm>
            <a:off x="502920" y="539496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1B2333"/>
          </a:solidFill>
          <a:ln w="12700">
            <a:solidFill>
              <a:srgbClr val="1B2333"/>
            </a:solidFill>
            <a:prstDash val="solid"/>
          </a:ln>
        </p:spPr>
      </p:sp>
      <p:sp>
        <p:nvSpPr>
          <p:cNvPr id="8" name="msg-t-36"/>
          <p:cNvSpPr txBox="1"/>
          <p:nvPr/>
        </p:nvSpPr>
        <p:spPr>
          <a:xfrm>
            <a:off x="77724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관제는 현장 상태를 위로 올리고, 컨트롤타워는 그걸 보고 판단해서 아래로 지시한다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전체 흐름 — 항만에서 허브까지</a:t>
            </a:r>
            <a:endParaRPr lang="en-US" sz="2600" dirty="0"/>
          </a:p>
        </p:txBody>
      </p:sp>
      <p:sp>
        <p:nvSpPr>
          <p:cNvPr id="3" name="chip-37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" name="chip-t-38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흐름</a:t>
            </a:r>
            <a:endParaRPr lang="en-US" sz="1200" dirty="0"/>
          </a:p>
        </p:txBody>
      </p:sp>
      <p:pic>
        <p:nvPicPr>
          <p:cNvPr id="5" name="img-39" descr="pf/ct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card-40"/>
          <p:cNvSpPr/>
          <p:nvPr/>
        </p:nvSpPr>
        <p:spPr>
          <a:xfrm>
            <a:off x="8686800" y="1097280"/>
            <a:ext cx="3017520" cy="4500563"/>
          </a:xfrm>
          <a:prstGeom prst="roundRect">
            <a:avLst>
              <a:gd name="adj" fmla="val 24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card-h-41"/>
          <p:cNvSpPr txBox="1"/>
          <p:nvPr/>
        </p:nvSpPr>
        <p:spPr>
          <a:xfrm>
            <a:off x="8887968" y="124358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</a:rPr>
              <a:t>구간 7개</a:t>
            </a:r>
            <a:endParaRPr lang="en-US" sz="1500" dirty="0"/>
          </a:p>
        </p:txBody>
      </p:sp>
      <p:sp>
        <p:nvSpPr>
          <p:cNvPr id="8" name="card-b-42"/>
          <p:cNvSpPr txBox="1"/>
          <p:nvPr/>
        </p:nvSpPr>
        <p:spPr>
          <a:xfrm>
            <a:off x="8887968" y="1664208"/>
            <a:ext cx="2615184" cy="3814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① 항만 게이트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② 톨게이트 IN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③ 검사소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④ 검사소 2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⑤ 톨게이트 OUT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⑥ 물류센터 도착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⑦ 택배차 출발</a:t>
            </a:r>
            <a:endParaRPr lang="en-US" sz="1400" dirty="0"/>
          </a:p>
        </p:txBody>
      </p:sp>
      <p:sp>
        <p:nvSpPr>
          <p:cNvPr id="9" name="cap-43"/>
          <p:cNvSpPr txBox="1"/>
          <p:nvPr/>
        </p:nvSpPr>
        <p:spPr>
          <a:xfrm>
            <a:off x="502920" y="57150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4"/>
                </a:solidFill>
              </a:rPr>
              <a:t>물류센터 내부(보라색 영역)는 AMR 관제가 맡고, 나머지 전 구간은 컨트롤타워가 판단 · 지시한다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① 항만 게이트 — 번호판 OCR로 출차 허가</a:t>
            </a:r>
            <a:endParaRPr lang="en-US" sz="2600" dirty="0"/>
          </a:p>
        </p:txBody>
      </p:sp>
      <p:sp>
        <p:nvSpPr>
          <p:cNvPr id="3" name="chip-44"/>
          <p:cNvSpPr/>
          <p:nvPr/>
        </p:nvSpPr>
        <p:spPr>
          <a:xfrm>
            <a:off x="10058400" y="411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chip-t-45"/>
          <p:cNvSpPr txBox="1"/>
          <p:nvPr/>
        </p:nvSpPr>
        <p:spPr>
          <a:xfrm>
            <a:off x="1005840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1차 구현</a:t>
            </a:r>
            <a:endParaRPr lang="en-US" sz="1200" dirty="0"/>
          </a:p>
        </p:txBody>
      </p:sp>
      <p:pic>
        <p:nvPicPr>
          <p:cNvPr id="5" name="img-46" descr="pf/ct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box-47"/>
          <p:cNvSpPr/>
          <p:nvPr/>
        </p:nvSpPr>
        <p:spPr>
          <a:xfrm>
            <a:off x="8686800" y="1097280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bh-48"/>
          <p:cNvSpPr txBox="1"/>
          <p:nvPr/>
        </p:nvSpPr>
        <p:spPr>
          <a:xfrm>
            <a:off x="8869680" y="1207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기술</a:t>
            </a:r>
            <a:endParaRPr lang="en-US" sz="1300" dirty="0"/>
          </a:p>
        </p:txBody>
      </p:sp>
      <p:sp>
        <p:nvSpPr>
          <p:cNvPr id="8" name="bd-49"/>
          <p:cNvSpPr txBox="1"/>
          <p:nvPr/>
        </p:nvSpPr>
        <p:spPr>
          <a:xfrm>
            <a:off x="88696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YOLO 검출 + OCR 인식 (번호판 · 컨테이너 번호)</a:t>
            </a:r>
            <a:endParaRPr lang="en-US" sz="1300" dirty="0"/>
          </a:p>
        </p:txBody>
      </p:sp>
      <p:sp>
        <p:nvSpPr>
          <p:cNvPr id="9" name="box-50"/>
          <p:cNvSpPr/>
          <p:nvPr/>
        </p:nvSpPr>
        <p:spPr>
          <a:xfrm>
            <a:off x="8686800" y="2633472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bh-51"/>
          <p:cNvSpPr txBox="1"/>
          <p:nvPr/>
        </p:nvSpPr>
        <p:spPr>
          <a:xfrm>
            <a:off x="8869680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데이터</a:t>
            </a:r>
            <a:endParaRPr lang="en-US" sz="1300" dirty="0"/>
          </a:p>
        </p:txBody>
      </p:sp>
      <p:sp>
        <p:nvSpPr>
          <p:cNvPr id="11" name="bd-52"/>
          <p:cNvSpPr txBox="1"/>
          <p:nvPr/>
        </p:nvSpPr>
        <p:spPr>
          <a:xfrm>
            <a:off x="886968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사전 예약 차량 목록과 대조</a:t>
            </a:r>
            <a:endParaRPr lang="en-US" sz="1300" dirty="0"/>
          </a:p>
        </p:txBody>
      </p:sp>
      <p:sp>
        <p:nvSpPr>
          <p:cNvPr id="12" name="box-53"/>
          <p:cNvSpPr/>
          <p:nvPr/>
        </p:nvSpPr>
        <p:spPr>
          <a:xfrm>
            <a:off x="8686800" y="4169664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bh-54"/>
          <p:cNvSpPr txBox="1"/>
          <p:nvPr/>
        </p:nvSpPr>
        <p:spPr>
          <a:xfrm>
            <a:off x="886968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결과</a:t>
            </a:r>
            <a:endParaRPr lang="en-US" sz="1300" dirty="0"/>
          </a:p>
        </p:txBody>
      </p:sp>
      <p:sp>
        <p:nvSpPr>
          <p:cNvPr id="14" name="bd-55"/>
          <p:cNvSpPr txBox="1"/>
          <p:nvPr/>
        </p:nvSpPr>
        <p:spPr>
          <a:xfrm>
            <a:off x="8869680" y="46268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허가 → 차단기 개방 / 미허가 → 출차 보류 · 알림</a:t>
            </a:r>
            <a:endParaRPr lang="en-US" sz="1300" dirty="0"/>
          </a:p>
        </p:txBody>
      </p:sp>
      <p:sp>
        <p:nvSpPr>
          <p:cNvPr id="15" name="cap-56"/>
          <p:cNvSpPr txBox="1"/>
          <p:nvPr/>
        </p:nvSpPr>
        <p:spPr>
          <a:xfrm>
            <a:off x="502920" y="57150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이미지 속 차량번호 · 운송사 · 시각 · 금액은 설명용 예시값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② 톨게이트 IN — 스마트톨링 무정차 통과</a:t>
            </a:r>
            <a:endParaRPr lang="en-US" sz="2600" dirty="0"/>
          </a:p>
        </p:txBody>
      </p:sp>
      <p:sp>
        <p:nvSpPr>
          <p:cNvPr id="3" name="chip-57"/>
          <p:cNvSpPr/>
          <p:nvPr/>
        </p:nvSpPr>
        <p:spPr>
          <a:xfrm>
            <a:off x="10058400" y="411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chip-t-58"/>
          <p:cNvSpPr txBox="1"/>
          <p:nvPr/>
        </p:nvSpPr>
        <p:spPr>
          <a:xfrm>
            <a:off x="1005840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2차 계획</a:t>
            </a:r>
            <a:endParaRPr lang="en-US" sz="1200" dirty="0"/>
          </a:p>
        </p:txBody>
      </p:sp>
      <p:pic>
        <p:nvPicPr>
          <p:cNvPr id="5" name="img-59" descr="pf/ct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box-60"/>
          <p:cNvSpPr/>
          <p:nvPr/>
        </p:nvSpPr>
        <p:spPr>
          <a:xfrm>
            <a:off x="8686800" y="1097280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bh-61"/>
          <p:cNvSpPr txBox="1"/>
          <p:nvPr/>
        </p:nvSpPr>
        <p:spPr>
          <a:xfrm>
            <a:off x="8869680" y="1207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기술</a:t>
            </a:r>
            <a:endParaRPr lang="en-US" sz="1300" dirty="0"/>
          </a:p>
        </p:txBody>
      </p:sp>
      <p:sp>
        <p:nvSpPr>
          <p:cNvPr id="8" name="bd-62"/>
          <p:cNvSpPr txBox="1"/>
          <p:nvPr/>
        </p:nvSpPr>
        <p:spPr>
          <a:xfrm>
            <a:off x="88696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번호판 인식 재사용 + 차종 · 축 수 판별</a:t>
            </a:r>
            <a:endParaRPr lang="en-US" sz="1300" dirty="0"/>
          </a:p>
        </p:txBody>
      </p:sp>
      <p:sp>
        <p:nvSpPr>
          <p:cNvPr id="9" name="box-63"/>
          <p:cNvSpPr/>
          <p:nvPr/>
        </p:nvSpPr>
        <p:spPr>
          <a:xfrm>
            <a:off x="8686800" y="2633472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bh-64"/>
          <p:cNvSpPr txBox="1"/>
          <p:nvPr/>
        </p:nvSpPr>
        <p:spPr>
          <a:xfrm>
            <a:off x="8869680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데이터</a:t>
            </a:r>
            <a:endParaRPr lang="en-US" sz="1300" dirty="0"/>
          </a:p>
        </p:txBody>
      </p:sp>
      <p:sp>
        <p:nvSpPr>
          <p:cNvPr id="11" name="bd-65"/>
          <p:cNvSpPr txBox="1"/>
          <p:nvPr/>
        </p:nvSpPr>
        <p:spPr>
          <a:xfrm>
            <a:off x="886968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통과 시각 · 속도 → 도착 예정 시간 계산</a:t>
            </a:r>
            <a:endParaRPr lang="en-US" sz="1300" dirty="0"/>
          </a:p>
        </p:txBody>
      </p:sp>
      <p:sp>
        <p:nvSpPr>
          <p:cNvPr id="12" name="box-66"/>
          <p:cNvSpPr/>
          <p:nvPr/>
        </p:nvSpPr>
        <p:spPr>
          <a:xfrm>
            <a:off x="8686800" y="4169664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bh-67"/>
          <p:cNvSpPr txBox="1"/>
          <p:nvPr/>
        </p:nvSpPr>
        <p:spPr>
          <a:xfrm>
            <a:off x="886968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4" name="bd-68"/>
          <p:cNvSpPr txBox="1"/>
          <p:nvPr/>
        </p:nvSpPr>
        <p:spPr>
          <a:xfrm>
            <a:off x="8869680" y="46268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정부 스마트톨링 방향에 맞춤, 하이패스는 보조</a:t>
            </a:r>
            <a:endParaRPr lang="en-US" sz="1300" dirty="0"/>
          </a:p>
        </p:txBody>
      </p:sp>
      <p:sp>
        <p:nvSpPr>
          <p:cNvPr id="15" name="cap-69"/>
          <p:cNvSpPr txBox="1"/>
          <p:nvPr/>
        </p:nvSpPr>
        <p:spPr>
          <a:xfrm>
            <a:off x="502920" y="57150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이미지 속 차량번호 · 운송사 · 시각 · 금액은 설명용 예시값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③ 검사소 1 — 과적 · 적재 불안정 1차 탐지</a:t>
            </a:r>
            <a:endParaRPr lang="en-US" sz="2600" dirty="0"/>
          </a:p>
        </p:txBody>
      </p:sp>
      <p:sp>
        <p:nvSpPr>
          <p:cNvPr id="3" name="chip-70"/>
          <p:cNvSpPr/>
          <p:nvPr/>
        </p:nvSpPr>
        <p:spPr>
          <a:xfrm>
            <a:off x="10058400" y="411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chip-t-71"/>
          <p:cNvSpPr txBox="1"/>
          <p:nvPr/>
        </p:nvSpPr>
        <p:spPr>
          <a:xfrm>
            <a:off x="1005840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1차 구현 (모의)</a:t>
            </a:r>
            <a:endParaRPr lang="en-US" sz="1200" dirty="0"/>
          </a:p>
        </p:txBody>
      </p:sp>
      <p:pic>
        <p:nvPicPr>
          <p:cNvPr id="5" name="img-72" descr="pf/ct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box-73"/>
          <p:cNvSpPr/>
          <p:nvPr/>
        </p:nvSpPr>
        <p:spPr>
          <a:xfrm>
            <a:off x="8686800" y="1097280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bh-74"/>
          <p:cNvSpPr txBox="1"/>
          <p:nvPr/>
        </p:nvSpPr>
        <p:spPr>
          <a:xfrm>
            <a:off x="8869680" y="1207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기술</a:t>
            </a:r>
            <a:endParaRPr lang="en-US" sz="1300" dirty="0"/>
          </a:p>
        </p:txBody>
      </p:sp>
      <p:sp>
        <p:nvSpPr>
          <p:cNvPr id="8" name="bd-75"/>
          <p:cNvSpPr txBox="1"/>
          <p:nvPr/>
        </p:nvSpPr>
        <p:spPr>
          <a:xfrm>
            <a:off x="88696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카메라 이미지로 적재 불안정 추정</a:t>
            </a:r>
            <a:endParaRPr lang="en-US" sz="1300" dirty="0"/>
          </a:p>
        </p:txBody>
      </p:sp>
      <p:sp>
        <p:nvSpPr>
          <p:cNvPr id="9" name="box-76"/>
          <p:cNvSpPr/>
          <p:nvPr/>
        </p:nvSpPr>
        <p:spPr>
          <a:xfrm>
            <a:off x="8686800" y="2633472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bh-77"/>
          <p:cNvSpPr txBox="1"/>
          <p:nvPr/>
        </p:nvSpPr>
        <p:spPr>
          <a:xfrm>
            <a:off x="8869680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데이터</a:t>
            </a:r>
            <a:endParaRPr lang="en-US" sz="1300" dirty="0"/>
          </a:p>
        </p:txBody>
      </p:sp>
      <p:sp>
        <p:nvSpPr>
          <p:cNvPr id="11" name="bd-78"/>
          <p:cNvSpPr txBox="1"/>
          <p:nvPr/>
        </p:nvSpPr>
        <p:spPr>
          <a:xfrm>
            <a:off x="886968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축중(WIM) · 총중량은 모의 데이터</a:t>
            </a:r>
            <a:endParaRPr lang="en-US" sz="1300" dirty="0"/>
          </a:p>
        </p:txBody>
      </p:sp>
      <p:sp>
        <p:nvSpPr>
          <p:cNvPr id="12" name="box-79"/>
          <p:cNvSpPr/>
          <p:nvPr/>
        </p:nvSpPr>
        <p:spPr>
          <a:xfrm>
            <a:off x="8686800" y="4169664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bh-80"/>
          <p:cNvSpPr txBox="1"/>
          <p:nvPr/>
        </p:nvSpPr>
        <p:spPr>
          <a:xfrm>
            <a:off x="886968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결과</a:t>
            </a:r>
            <a:endParaRPr lang="en-US" sz="1300" dirty="0"/>
          </a:p>
        </p:txBody>
      </p:sp>
      <p:sp>
        <p:nvSpPr>
          <p:cNvPr id="14" name="bd-81"/>
          <p:cNvSpPr txBox="1"/>
          <p:nvPr/>
        </p:nvSpPr>
        <p:spPr>
          <a:xfrm>
            <a:off x="8869680" y="46268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의심 차량만 검사소 2에 재검사 지시</a:t>
            </a:r>
            <a:endParaRPr lang="en-US" sz="1300" dirty="0"/>
          </a:p>
        </p:txBody>
      </p:sp>
      <p:sp>
        <p:nvSpPr>
          <p:cNvPr id="15" name="cap-82"/>
          <p:cNvSpPr txBox="1"/>
          <p:nvPr/>
        </p:nvSpPr>
        <p:spPr>
          <a:xfrm>
            <a:off x="502920" y="57150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이미지 속 차량번호 · 운송사 · 시각 · 금액은 설명용 예시값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④ 검사소 2 — 정밀 재검사 · 관리자 승인</a:t>
            </a:r>
            <a:endParaRPr lang="en-US" sz="2600" dirty="0"/>
          </a:p>
        </p:txBody>
      </p:sp>
      <p:sp>
        <p:nvSpPr>
          <p:cNvPr id="3" name="chip-83"/>
          <p:cNvSpPr/>
          <p:nvPr/>
        </p:nvSpPr>
        <p:spPr>
          <a:xfrm>
            <a:off x="10058400" y="411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chip-t-84"/>
          <p:cNvSpPr txBox="1"/>
          <p:nvPr/>
        </p:nvSpPr>
        <p:spPr>
          <a:xfrm>
            <a:off x="1005840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1차 구현</a:t>
            </a:r>
            <a:endParaRPr lang="en-US" sz="1200" dirty="0"/>
          </a:p>
        </p:txBody>
      </p:sp>
      <p:pic>
        <p:nvPicPr>
          <p:cNvPr id="5" name="img-85" descr="pf/ct_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box-86"/>
          <p:cNvSpPr/>
          <p:nvPr/>
        </p:nvSpPr>
        <p:spPr>
          <a:xfrm>
            <a:off x="8686800" y="1097280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bh-87"/>
          <p:cNvSpPr txBox="1"/>
          <p:nvPr/>
        </p:nvSpPr>
        <p:spPr>
          <a:xfrm>
            <a:off x="8869680" y="1207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기술</a:t>
            </a:r>
            <a:endParaRPr lang="en-US" sz="1300" dirty="0"/>
          </a:p>
        </p:txBody>
      </p:sp>
      <p:sp>
        <p:nvSpPr>
          <p:cNvPr id="8" name="bd-88"/>
          <p:cNvSpPr txBox="1"/>
          <p:nvPr/>
        </p:nvSpPr>
        <p:spPr>
          <a:xfrm>
            <a:off x="88696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관리자 대시보드 승인 · 이력 기록</a:t>
            </a:r>
            <a:endParaRPr lang="en-US" sz="1300" dirty="0"/>
          </a:p>
        </p:txBody>
      </p:sp>
      <p:sp>
        <p:nvSpPr>
          <p:cNvPr id="9" name="box-89"/>
          <p:cNvSpPr/>
          <p:nvPr/>
        </p:nvSpPr>
        <p:spPr>
          <a:xfrm>
            <a:off x="8686800" y="2633472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bh-90"/>
          <p:cNvSpPr txBox="1"/>
          <p:nvPr/>
        </p:nvSpPr>
        <p:spPr>
          <a:xfrm>
            <a:off x="8869680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기준</a:t>
            </a:r>
            <a:endParaRPr lang="en-US" sz="1300" dirty="0"/>
          </a:p>
        </p:txBody>
      </p:sp>
      <p:sp>
        <p:nvSpPr>
          <p:cNvPr id="11" name="bd-91"/>
          <p:cNvSpPr txBox="1"/>
          <p:nvPr/>
        </p:nvSpPr>
        <p:spPr>
          <a:xfrm>
            <a:off x="886968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3회 이상 초과 시 통과 불가 (임시 기준)</a:t>
            </a:r>
            <a:endParaRPr lang="en-US" sz="1300" dirty="0"/>
          </a:p>
        </p:txBody>
      </p:sp>
      <p:sp>
        <p:nvSpPr>
          <p:cNvPr id="12" name="box-92"/>
          <p:cNvSpPr/>
          <p:nvPr/>
        </p:nvSpPr>
        <p:spPr>
          <a:xfrm>
            <a:off x="8686800" y="4169664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bh-93"/>
          <p:cNvSpPr txBox="1"/>
          <p:nvPr/>
        </p:nvSpPr>
        <p:spPr>
          <a:xfrm>
            <a:off x="886968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결과</a:t>
            </a:r>
            <a:endParaRPr lang="en-US" sz="1300" dirty="0"/>
          </a:p>
        </p:txBody>
      </p:sp>
      <p:sp>
        <p:nvSpPr>
          <p:cNvPr id="14" name="bd-94"/>
          <p:cNvSpPr txBox="1"/>
          <p:nvPr/>
        </p:nvSpPr>
        <p:spPr>
          <a:xfrm>
            <a:off x="8869680" y="46268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재검사 결과를 물류센터 입고 일정에 반영</a:t>
            </a:r>
            <a:endParaRPr lang="en-US" sz="1300" dirty="0"/>
          </a:p>
        </p:txBody>
      </p:sp>
      <p:sp>
        <p:nvSpPr>
          <p:cNvPr id="15" name="cap-95"/>
          <p:cNvSpPr txBox="1"/>
          <p:nvPr/>
        </p:nvSpPr>
        <p:spPr>
          <a:xfrm>
            <a:off x="502920" y="57150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이미지 속 차량번호 · 운송사 · 시각 · 금액은 설명용 예시값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⑤ 톨게이트 OUT — 자동 청구 · 도착 예고</a:t>
            </a:r>
            <a:endParaRPr lang="en-US" sz="2600" dirty="0"/>
          </a:p>
        </p:txBody>
      </p:sp>
      <p:sp>
        <p:nvSpPr>
          <p:cNvPr id="3" name="chip-96"/>
          <p:cNvSpPr/>
          <p:nvPr/>
        </p:nvSpPr>
        <p:spPr>
          <a:xfrm>
            <a:off x="10058400" y="411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chip-t-97"/>
          <p:cNvSpPr txBox="1"/>
          <p:nvPr/>
        </p:nvSpPr>
        <p:spPr>
          <a:xfrm>
            <a:off x="1005840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2차 계획</a:t>
            </a:r>
            <a:endParaRPr lang="en-US" sz="1200" dirty="0"/>
          </a:p>
        </p:txBody>
      </p:sp>
      <p:pic>
        <p:nvPicPr>
          <p:cNvPr id="5" name="img-98" descr="pf/ct_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box-99"/>
          <p:cNvSpPr/>
          <p:nvPr/>
        </p:nvSpPr>
        <p:spPr>
          <a:xfrm>
            <a:off x="8686800" y="1097280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bh-100"/>
          <p:cNvSpPr txBox="1"/>
          <p:nvPr/>
        </p:nvSpPr>
        <p:spPr>
          <a:xfrm>
            <a:off x="8869680" y="1207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기술</a:t>
            </a:r>
            <a:endParaRPr lang="en-US" sz="1300" dirty="0"/>
          </a:p>
        </p:txBody>
      </p:sp>
      <p:sp>
        <p:nvSpPr>
          <p:cNvPr id="8" name="bd-101"/>
          <p:cNvSpPr txBox="1"/>
          <p:nvPr/>
        </p:nvSpPr>
        <p:spPr>
          <a:xfrm>
            <a:off x="88696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운송사 자동 청구 (PG 테스트 결제 연동 검토)</a:t>
            </a:r>
            <a:endParaRPr lang="en-US" sz="1300" dirty="0"/>
          </a:p>
        </p:txBody>
      </p:sp>
      <p:sp>
        <p:nvSpPr>
          <p:cNvPr id="9" name="box-102"/>
          <p:cNvSpPr/>
          <p:nvPr/>
        </p:nvSpPr>
        <p:spPr>
          <a:xfrm>
            <a:off x="8686800" y="2633472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bh-103"/>
          <p:cNvSpPr txBox="1"/>
          <p:nvPr/>
        </p:nvSpPr>
        <p:spPr>
          <a:xfrm>
            <a:off x="8869680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1" name="bd-104"/>
          <p:cNvSpPr txBox="1"/>
          <p:nvPr/>
        </p:nvSpPr>
        <p:spPr>
          <a:xfrm>
            <a:off x="886968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항만 사전 등록 차량이라 청구 대상이 명확 → 미납 차단</a:t>
            </a:r>
            <a:endParaRPr lang="en-US" sz="1300" dirty="0"/>
          </a:p>
        </p:txBody>
      </p:sp>
      <p:sp>
        <p:nvSpPr>
          <p:cNvPr id="12" name="box-105"/>
          <p:cNvSpPr/>
          <p:nvPr/>
        </p:nvSpPr>
        <p:spPr>
          <a:xfrm>
            <a:off x="8686800" y="4169664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bh-106"/>
          <p:cNvSpPr txBox="1"/>
          <p:nvPr/>
        </p:nvSpPr>
        <p:spPr>
          <a:xfrm>
            <a:off x="886968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결과</a:t>
            </a:r>
            <a:endParaRPr lang="en-US" sz="1300" dirty="0"/>
          </a:p>
        </p:txBody>
      </p:sp>
      <p:sp>
        <p:nvSpPr>
          <p:cNvPr id="14" name="bd-107"/>
          <p:cNvSpPr txBox="1"/>
          <p:nvPr/>
        </p:nvSpPr>
        <p:spPr>
          <a:xfrm>
            <a:off x="8869680" y="46268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물류센터에 도착 예고 · 입고 도크 사전 배정</a:t>
            </a:r>
            <a:endParaRPr lang="en-US" sz="1300" dirty="0"/>
          </a:p>
        </p:txBody>
      </p:sp>
      <p:sp>
        <p:nvSpPr>
          <p:cNvPr id="15" name="cap-108"/>
          <p:cNvSpPr txBox="1"/>
          <p:nvPr/>
        </p:nvSpPr>
        <p:spPr>
          <a:xfrm>
            <a:off x="502920" y="57150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이미지 속 차량번호 · 운송사 · 시각 · 금액은 설명용 예시값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⑥ 물류센터 도착 — 배정 도크 입고 → AMR 관제 이관</a:t>
            </a:r>
            <a:endParaRPr lang="en-US" sz="2600" dirty="0"/>
          </a:p>
        </p:txBody>
      </p:sp>
      <p:sp>
        <p:nvSpPr>
          <p:cNvPr id="3" name="chip-109"/>
          <p:cNvSpPr/>
          <p:nvPr/>
        </p:nvSpPr>
        <p:spPr>
          <a:xfrm>
            <a:off x="10058400" y="411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" name="chip-t-110"/>
          <p:cNvSpPr txBox="1"/>
          <p:nvPr/>
        </p:nvSpPr>
        <p:spPr>
          <a:xfrm>
            <a:off x="1005840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연동 설계</a:t>
            </a:r>
            <a:endParaRPr lang="en-US" sz="1200" dirty="0"/>
          </a:p>
        </p:txBody>
      </p:sp>
      <p:pic>
        <p:nvPicPr>
          <p:cNvPr id="5" name="img-111" descr="pf/ct_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box-112"/>
          <p:cNvSpPr/>
          <p:nvPr/>
        </p:nvSpPr>
        <p:spPr>
          <a:xfrm>
            <a:off x="8686800" y="1097280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bh-113"/>
          <p:cNvSpPr txBox="1"/>
          <p:nvPr/>
        </p:nvSpPr>
        <p:spPr>
          <a:xfrm>
            <a:off x="8869680" y="1207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연동</a:t>
            </a:r>
            <a:endParaRPr lang="en-US" sz="1300" dirty="0"/>
          </a:p>
        </p:txBody>
      </p:sp>
      <p:sp>
        <p:nvSpPr>
          <p:cNvPr id="8" name="bd-114"/>
          <p:cNvSpPr txBox="1"/>
          <p:nvPr/>
        </p:nvSpPr>
        <p:spPr>
          <a:xfrm>
            <a:off x="88696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운송장(화물 목록)을 AMR 관제로 전달</a:t>
            </a:r>
            <a:endParaRPr lang="en-US" sz="1300" dirty="0"/>
          </a:p>
        </p:txBody>
      </p:sp>
      <p:sp>
        <p:nvSpPr>
          <p:cNvPr id="9" name="box-115"/>
          <p:cNvSpPr/>
          <p:nvPr/>
        </p:nvSpPr>
        <p:spPr>
          <a:xfrm>
            <a:off x="8686800" y="2633472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bh-116"/>
          <p:cNvSpPr txBox="1"/>
          <p:nvPr/>
        </p:nvSpPr>
        <p:spPr>
          <a:xfrm>
            <a:off x="8869680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보고</a:t>
            </a:r>
            <a:endParaRPr lang="en-US" sz="1300" dirty="0"/>
          </a:p>
        </p:txBody>
      </p:sp>
      <p:sp>
        <p:nvSpPr>
          <p:cNvPr id="11" name="bd-117"/>
          <p:cNvSpPr txBox="1"/>
          <p:nvPr/>
        </p:nvSpPr>
        <p:spPr>
          <a:xfrm>
            <a:off x="886968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AMR 정비 · 처리량 감소 → 컨트롤타워</a:t>
            </a:r>
            <a:endParaRPr lang="en-US" sz="1300" dirty="0"/>
          </a:p>
        </p:txBody>
      </p:sp>
      <p:sp>
        <p:nvSpPr>
          <p:cNvPr id="12" name="box-118"/>
          <p:cNvSpPr/>
          <p:nvPr/>
        </p:nvSpPr>
        <p:spPr>
          <a:xfrm>
            <a:off x="8686800" y="4169664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bh-119"/>
          <p:cNvSpPr txBox="1"/>
          <p:nvPr/>
        </p:nvSpPr>
        <p:spPr>
          <a:xfrm>
            <a:off x="886968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지시</a:t>
            </a:r>
            <a:endParaRPr lang="en-US" sz="1300" dirty="0"/>
          </a:p>
        </p:txBody>
      </p:sp>
      <p:sp>
        <p:nvSpPr>
          <p:cNvPr id="14" name="bd-120"/>
          <p:cNvSpPr txBox="1"/>
          <p:nvPr/>
        </p:nvSpPr>
        <p:spPr>
          <a:xfrm>
            <a:off x="8869680" y="46268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처리량이 줄면 다음 입고 지연</a:t>
            </a:r>
            <a:endParaRPr lang="en-US" sz="1300" dirty="0"/>
          </a:p>
        </p:txBody>
      </p:sp>
      <p:sp>
        <p:nvSpPr>
          <p:cNvPr id="15" name="cap-121"/>
          <p:cNvSpPr txBox="1"/>
          <p:nvPr/>
        </p:nvSpPr>
        <p:spPr>
          <a:xfrm>
            <a:off x="502920" y="57150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이미지 속 차량번호 · 운송사 · 시각 · 금액은 설명용 예시값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⑦ 택배차 출발 — 허브별 출발 지시</a:t>
            </a:r>
            <a:endParaRPr lang="en-US" sz="2600" dirty="0"/>
          </a:p>
        </p:txBody>
      </p:sp>
      <p:sp>
        <p:nvSpPr>
          <p:cNvPr id="3" name="chip-122"/>
          <p:cNvSpPr/>
          <p:nvPr/>
        </p:nvSpPr>
        <p:spPr>
          <a:xfrm>
            <a:off x="10058400" y="4114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chip-t-123"/>
          <p:cNvSpPr txBox="1"/>
          <p:nvPr/>
        </p:nvSpPr>
        <p:spPr>
          <a:xfrm>
            <a:off x="1005840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2차 계획</a:t>
            </a:r>
            <a:endParaRPr lang="en-US" sz="1200" dirty="0"/>
          </a:p>
        </p:txBody>
      </p:sp>
      <p:pic>
        <p:nvPicPr>
          <p:cNvPr id="5" name="img-124" descr="pf/ct_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box-125"/>
          <p:cNvSpPr/>
          <p:nvPr/>
        </p:nvSpPr>
        <p:spPr>
          <a:xfrm>
            <a:off x="8686800" y="1097280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bh-126"/>
          <p:cNvSpPr txBox="1"/>
          <p:nvPr/>
        </p:nvSpPr>
        <p:spPr>
          <a:xfrm>
            <a:off x="8869680" y="12070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데이터</a:t>
            </a:r>
            <a:endParaRPr lang="en-US" sz="1300" dirty="0"/>
          </a:p>
        </p:txBody>
      </p:sp>
      <p:sp>
        <p:nvSpPr>
          <p:cNvPr id="8" name="bd-127"/>
          <p:cNvSpPr txBox="1"/>
          <p:nvPr/>
        </p:nvSpPr>
        <p:spPr>
          <a:xfrm>
            <a:off x="88696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허브별 적재량 (호남 · 강원 · 영남 · 냉장)</a:t>
            </a:r>
            <a:endParaRPr lang="en-US" sz="1300" dirty="0"/>
          </a:p>
        </p:txBody>
      </p:sp>
      <p:sp>
        <p:nvSpPr>
          <p:cNvPr id="9" name="box-128"/>
          <p:cNvSpPr/>
          <p:nvPr/>
        </p:nvSpPr>
        <p:spPr>
          <a:xfrm>
            <a:off x="8686800" y="2633472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bh-129"/>
          <p:cNvSpPr txBox="1"/>
          <p:nvPr/>
        </p:nvSpPr>
        <p:spPr>
          <a:xfrm>
            <a:off x="8869680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지시</a:t>
            </a:r>
            <a:endParaRPr lang="en-US" sz="1300" dirty="0"/>
          </a:p>
        </p:txBody>
      </p:sp>
      <p:sp>
        <p:nvSpPr>
          <p:cNvPr id="11" name="bd-130"/>
          <p:cNvSpPr txBox="1"/>
          <p:nvPr/>
        </p:nvSpPr>
        <p:spPr>
          <a:xfrm>
            <a:off x="886968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적재 완료 → 출발 지시</a:t>
            </a:r>
            <a:endParaRPr lang="en-US" sz="1300" dirty="0"/>
          </a:p>
        </p:txBody>
      </p:sp>
      <p:sp>
        <p:nvSpPr>
          <p:cNvPr id="12" name="box-131"/>
          <p:cNvSpPr/>
          <p:nvPr/>
        </p:nvSpPr>
        <p:spPr>
          <a:xfrm>
            <a:off x="8686800" y="4169664"/>
            <a:ext cx="3017520" cy="1389888"/>
          </a:xfrm>
          <a:prstGeom prst="roundRect">
            <a:avLst>
              <a:gd name="adj" fmla="val 526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bh-132"/>
          <p:cNvSpPr txBox="1"/>
          <p:nvPr/>
        </p:nvSpPr>
        <p:spPr>
          <a:xfrm>
            <a:off x="8869680" y="4279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B2"/>
                </a:solidFill>
              </a:rPr>
              <a:t>결과</a:t>
            </a:r>
            <a:endParaRPr lang="en-US" sz="1300" dirty="0"/>
          </a:p>
        </p:txBody>
      </p:sp>
      <p:sp>
        <p:nvSpPr>
          <p:cNvPr id="14" name="bd-133"/>
          <p:cNvSpPr txBox="1"/>
          <p:nvPr/>
        </p:nvSpPr>
        <p:spPr>
          <a:xfrm>
            <a:off x="8869680" y="46268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</a:rPr>
              <a:t>다음 허브 도착 예정 계산 · 인계</a:t>
            </a:r>
            <a:endParaRPr lang="en-US" sz="1300" dirty="0"/>
          </a:p>
        </p:txBody>
      </p:sp>
      <p:sp>
        <p:nvSpPr>
          <p:cNvPr id="15" name="cap-134"/>
          <p:cNvSpPr txBox="1"/>
          <p:nvPr/>
        </p:nvSpPr>
        <p:spPr>
          <a:xfrm>
            <a:off x="502920" y="57150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이미지 속 차량번호 · 운송사 · 시각 · 금액은 설명용 예시값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AMR 관제 — 3D 디지털 트윈 · 예지보전 (본인 담당)</a:t>
            </a:r>
            <a:endParaRPr lang="en-US" sz="2600" dirty="0"/>
          </a:p>
        </p:txBody>
      </p:sp>
      <p:sp>
        <p:nvSpPr>
          <p:cNvPr id="3" name="chip-135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" name="chip-t-136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핵심</a:t>
            </a:r>
            <a:endParaRPr lang="en-US" sz="1200" dirty="0"/>
          </a:p>
        </p:txBody>
      </p:sp>
      <p:pic>
        <p:nvPicPr>
          <p:cNvPr id="5" name="img-137" descr="pf/d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001000" cy="4500563"/>
          </a:xfrm>
          <a:prstGeom prst="rect">
            <a:avLst/>
          </a:prstGeom>
        </p:spPr>
      </p:pic>
      <p:sp>
        <p:nvSpPr>
          <p:cNvPr id="6" name="card-138"/>
          <p:cNvSpPr/>
          <p:nvPr/>
        </p:nvSpPr>
        <p:spPr>
          <a:xfrm>
            <a:off x="8686800" y="1097280"/>
            <a:ext cx="3017520" cy="4500563"/>
          </a:xfrm>
          <a:prstGeom prst="roundRect">
            <a:avLst>
              <a:gd name="adj" fmla="val 242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card-h-139"/>
          <p:cNvSpPr txBox="1"/>
          <p:nvPr/>
        </p:nvSpPr>
        <p:spPr>
          <a:xfrm>
            <a:off x="8887968" y="124358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구현 완료</a:t>
            </a:r>
            <a:endParaRPr lang="en-US" sz="1500" dirty="0"/>
          </a:p>
        </p:txBody>
      </p:sp>
      <p:sp>
        <p:nvSpPr>
          <p:cNvPr id="8" name="card-b-140"/>
          <p:cNvSpPr txBox="1"/>
          <p:nvPr/>
        </p:nvSpPr>
        <p:spPr>
          <a:xfrm>
            <a:off x="8887968" y="1664208"/>
            <a:ext cx="2615184" cy="3814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Three.js 3D 트윈 (42m × 32m 물류센터)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AMR 5대 + 무인 지게차 경로 · 작업 시뮬레이션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예지보전: 진동 추세로 남은 수명 예측 → 계획 정비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냉장 · 냉동 창고 분리, 현장 음향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일반 / 저사양 화질 모드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</a:rPr>
              <a:t>관리자 웹(Vue) · 모바일 앱(APK)</a:t>
            </a:r>
            <a:endParaRPr lang="en-US" sz="1300" dirty="0"/>
          </a:p>
        </p:txBody>
      </p:sp>
      <p:sp>
        <p:nvSpPr>
          <p:cNvPr id="9" name="cap-141"/>
          <p:cNvSpPr txBox="1"/>
          <p:nvPr/>
        </p:nvSpPr>
        <p:spPr>
          <a:xfrm>
            <a:off x="502920" y="57150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FA0"/>
                </a:solidFill>
              </a:rPr>
              <a:t>산출물: 관제 웹 화면 · 관리자 앱 · 76초 소개영상 · 기술정리 PPT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담당 범위와 역할</a:t>
            </a:r>
            <a:endParaRPr lang="en-US" sz="2600" dirty="0"/>
          </a:p>
        </p:txBody>
      </p:sp>
      <p:sp>
        <p:nvSpPr>
          <p:cNvPr id="3" name="chip-142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" name="chip-t-143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역할</a:t>
            </a:r>
            <a:endParaRPr lang="en-US" sz="1200" dirty="0"/>
          </a:p>
        </p:txBody>
      </p:sp>
      <p:graphicFrame>
        <p:nvGraphicFramePr>
          <p:cNvPr id="15" name="tbl-1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201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886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결과물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팀장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일정 · 범위 관리, 컨트롤타워 / 관제 구조 설계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기획서 · WBS · 발표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AMR 관제 (전담)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3D 트윈, 시뮬레이션, 예지보전 로직, 화면 · 앱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/admin/amr-twin, 관리자 앱, 소개영상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게이트 OCR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YOLO + OCR 번호판 인식, FastAPI 연동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항만 게이트 출차 허가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검사소 (과적)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과적 판정 · 관리자 재검사 흐름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검사소 1 · 2 처리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컨트롤타워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구간별 판단 · 지시 기획, 3D 설명 이미지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구간별 기획 · 이미지 8장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기술 스택</a:t>
            </a:r>
            <a:endParaRPr lang="en-US" sz="2600" dirty="0"/>
          </a:p>
        </p:txBody>
      </p:sp>
      <p:sp>
        <p:nvSpPr>
          <p:cNvPr id="3" name="chip-145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4" name="chip-t-146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기술</a:t>
            </a:r>
            <a:endParaRPr lang="en-US" sz="1200" dirty="0"/>
          </a:p>
        </p:txBody>
      </p:sp>
      <p:graphicFrame>
        <p:nvGraphicFramePr>
          <p:cNvPr id="16" name="tbl-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201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5897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쓰는 곳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F8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프론트엔드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Vue 3 + Vite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관리자 · 업체 · 기사 대시보드, 컨트롤타워 화면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3D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Three.js (WebGL)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AMR 디지털 트윈, 구간 설명 이미지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백엔드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Spring Boot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회원 · 차량 · 예약 · 이벤트 API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AI 서버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FastAPI + YOLO + OCR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번호판 · 컨테이너 번호 인식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DB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PostgreSQL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차량 · 예약 · 통과 기록 · 검사 이력 · AMR 센서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지도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OpenStreetMap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컨트롤타워 전 구간 지도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모바일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Capacitor (Android)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화물차 기사 앱, AMR 관리자 앱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</a:rPr>
                        <a:t>실시간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WebSocket (계획)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</a:rPr>
                        <a:t>서버 → 화면 실시간 갱신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개발 계획 — 컨트롤타워</a:t>
            </a:r>
            <a:endParaRPr lang="en-US" sz="2600" dirty="0"/>
          </a:p>
        </p:txBody>
      </p:sp>
      <p:sp>
        <p:nvSpPr>
          <p:cNvPr id="3" name="chip-148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4" name="chip-t-149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계획</a:t>
            </a:r>
            <a:endParaRPr lang="en-US" sz="1200" dirty="0"/>
          </a:p>
        </p:txBody>
      </p:sp>
      <p:sp>
        <p:nvSpPr>
          <p:cNvPr id="5" name="sub-150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3D는 현장(AMR 관제)에만 쓰고, 컨트롤타워는 지도 기반 실시간 화면으로 만든다</a:t>
            </a:r>
            <a:endParaRPr lang="en-US" sz="1400" dirty="0"/>
          </a:p>
        </p:txBody>
      </p:sp>
      <p:sp>
        <p:nvSpPr>
          <p:cNvPr id="6" name="step-151"/>
          <p:cNvSpPr/>
          <p:nvPr/>
        </p:nvSpPr>
        <p:spPr>
          <a:xfrm>
            <a:off x="502920" y="1691640"/>
            <a:ext cx="2580894" cy="1097280"/>
          </a:xfrm>
          <a:prstGeom prst="roundRect">
            <a:avLst>
              <a:gd name="adj" fmla="val 6667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step-t-152"/>
          <p:cNvSpPr txBox="1"/>
          <p:nvPr/>
        </p:nvSpPr>
        <p:spPr>
          <a:xfrm>
            <a:off x="557784" y="1691640"/>
            <a:ext cx="24711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1단계</a:t>
            </a:r>
            <a:endParaRPr lang="en-US" sz="17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이동 시뮬레이션</a:t>
            </a:r>
            <a:endParaRPr lang="en-US" sz="1700" dirty="0"/>
          </a:p>
        </p:txBody>
      </p:sp>
      <p:sp>
        <p:nvSpPr>
          <p:cNvPr id="8" name="arr-153"/>
          <p:cNvSpPr txBox="1"/>
          <p:nvPr/>
        </p:nvSpPr>
        <p:spPr>
          <a:xfrm>
            <a:off x="3083814" y="1691640"/>
            <a:ext cx="292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tep-n-154"/>
          <p:cNvSpPr txBox="1"/>
          <p:nvPr/>
        </p:nvSpPr>
        <p:spPr>
          <a:xfrm>
            <a:off x="502920" y="2862072"/>
            <a:ext cx="25808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지도 위 화물차 이동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구간 통과 이벤트 생성</a:t>
            </a:r>
            <a:endParaRPr lang="en-US" sz="1150" dirty="0"/>
          </a:p>
        </p:txBody>
      </p:sp>
      <p:sp>
        <p:nvSpPr>
          <p:cNvPr id="10" name="step-155"/>
          <p:cNvSpPr/>
          <p:nvPr/>
        </p:nvSpPr>
        <p:spPr>
          <a:xfrm>
            <a:off x="3376422" y="1691640"/>
            <a:ext cx="2580894" cy="1097280"/>
          </a:xfrm>
          <a:prstGeom prst="roundRect">
            <a:avLst>
              <a:gd name="adj" fmla="val 666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step-t-156"/>
          <p:cNvSpPr txBox="1"/>
          <p:nvPr/>
        </p:nvSpPr>
        <p:spPr>
          <a:xfrm>
            <a:off x="3431286" y="1691640"/>
            <a:ext cx="24711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2단계</a:t>
            </a:r>
            <a:endParaRPr lang="en-US" sz="17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경보 · 지시</a:t>
            </a:r>
            <a:endParaRPr lang="en-US" sz="1700" dirty="0"/>
          </a:p>
        </p:txBody>
      </p:sp>
      <p:sp>
        <p:nvSpPr>
          <p:cNvPr id="12" name="arr-157"/>
          <p:cNvSpPr txBox="1"/>
          <p:nvPr/>
        </p:nvSpPr>
        <p:spPr>
          <a:xfrm>
            <a:off x="5957316" y="1691640"/>
            <a:ext cx="292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tep-n-158"/>
          <p:cNvSpPr txBox="1"/>
          <p:nvPr/>
        </p:nvSpPr>
        <p:spPr>
          <a:xfrm>
            <a:off x="3376422" y="2862072"/>
            <a:ext cx="25808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재검사 · 입고 지연 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출발 지시 버튼</a:t>
            </a:r>
            <a:endParaRPr lang="en-US" sz="1150" dirty="0"/>
          </a:p>
        </p:txBody>
      </p:sp>
      <p:sp>
        <p:nvSpPr>
          <p:cNvPr id="14" name="step-159"/>
          <p:cNvSpPr/>
          <p:nvPr/>
        </p:nvSpPr>
        <p:spPr>
          <a:xfrm>
            <a:off x="6249924" y="1691640"/>
            <a:ext cx="2580894" cy="1097280"/>
          </a:xfrm>
          <a:prstGeom prst="roundRect">
            <a:avLst>
              <a:gd name="adj" fmla="val 6667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5" name="step-t-160"/>
          <p:cNvSpPr txBox="1"/>
          <p:nvPr/>
        </p:nvSpPr>
        <p:spPr>
          <a:xfrm>
            <a:off x="6304788" y="1691640"/>
            <a:ext cx="24711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3단계</a:t>
            </a:r>
            <a:endParaRPr lang="en-US" sz="17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AMR 관제 연동</a:t>
            </a:r>
            <a:endParaRPr lang="en-US" sz="1700" dirty="0"/>
          </a:p>
        </p:txBody>
      </p:sp>
      <p:sp>
        <p:nvSpPr>
          <p:cNvPr id="16" name="arr-161"/>
          <p:cNvSpPr txBox="1"/>
          <p:nvPr/>
        </p:nvSpPr>
        <p:spPr>
          <a:xfrm>
            <a:off x="8830818" y="1691640"/>
            <a:ext cx="292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4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tep-n-162"/>
          <p:cNvSpPr txBox="1"/>
          <p:nvPr/>
        </p:nvSpPr>
        <p:spPr>
          <a:xfrm>
            <a:off x="6249924" y="2862072"/>
            <a:ext cx="25808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물류센터 클릭 → 3D 관제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처리량 보고 반영</a:t>
            </a:r>
            <a:endParaRPr lang="en-US" sz="1150" dirty="0"/>
          </a:p>
        </p:txBody>
      </p:sp>
      <p:sp>
        <p:nvSpPr>
          <p:cNvPr id="18" name="step-163"/>
          <p:cNvSpPr/>
          <p:nvPr/>
        </p:nvSpPr>
        <p:spPr>
          <a:xfrm>
            <a:off x="9123426" y="1691640"/>
            <a:ext cx="2580894" cy="1097280"/>
          </a:xfrm>
          <a:prstGeom prst="roundRect">
            <a:avLst>
              <a:gd name="adj" fmla="val 6667"/>
            </a:avLst>
          </a:prstGeom>
          <a:solidFill>
            <a:srgbClr val="178F83"/>
          </a:solidFill>
          <a:ln w="12700">
            <a:solidFill>
              <a:srgbClr val="178F83"/>
            </a:solidFill>
            <a:prstDash val="solid"/>
          </a:ln>
        </p:spPr>
      </p:sp>
      <p:sp>
        <p:nvSpPr>
          <p:cNvPr id="19" name="step-t-164"/>
          <p:cNvSpPr txBox="1"/>
          <p:nvPr/>
        </p:nvSpPr>
        <p:spPr>
          <a:xfrm>
            <a:off x="9178290" y="1691640"/>
            <a:ext cx="24711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4단계</a:t>
            </a:r>
            <a:endParaRPr lang="en-US" sz="17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백엔드 연결</a:t>
            </a:r>
            <a:endParaRPr lang="en-US" sz="1700" dirty="0"/>
          </a:p>
        </p:txBody>
      </p:sp>
      <p:sp>
        <p:nvSpPr>
          <p:cNvPr id="20" name="step-n-165"/>
          <p:cNvSpPr txBox="1"/>
          <p:nvPr/>
        </p:nvSpPr>
        <p:spPr>
          <a:xfrm>
            <a:off x="9123426" y="2862072"/>
            <a:ext cx="25808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Spring · FastAPI 데이터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84"/>
                </a:solidFill>
              </a:rPr>
              <a:t>WebSocket 실시간 갱신</a:t>
            </a:r>
            <a:endParaRPr lang="en-US" sz="1150" dirty="0"/>
          </a:p>
        </p:txBody>
      </p:sp>
      <p:sp>
        <p:nvSpPr>
          <p:cNvPr id="21" name="card-166"/>
          <p:cNvSpPr/>
          <p:nvPr/>
        </p:nvSpPr>
        <p:spPr>
          <a:xfrm>
            <a:off x="502920" y="3886200"/>
            <a:ext cx="11201400" cy="2148840"/>
          </a:xfrm>
          <a:prstGeom prst="roundRect">
            <a:avLst>
              <a:gd name="adj" fmla="val 340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card-h-167"/>
          <p:cNvSpPr txBox="1"/>
          <p:nvPr/>
        </p:nvSpPr>
        <p:spPr>
          <a:xfrm>
            <a:off x="704088" y="4032504"/>
            <a:ext cx="1079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F83"/>
                </a:solidFill>
              </a:rPr>
              <a:t>실시간처럼 보이게 하는 요소</a:t>
            </a:r>
            <a:endParaRPr lang="en-US" sz="1500" dirty="0"/>
          </a:p>
        </p:txBody>
      </p:sp>
      <p:sp>
        <p:nvSpPr>
          <p:cNvPr id="23" name="card-b-168"/>
          <p:cNvSpPr txBox="1"/>
          <p:nvPr/>
        </p:nvSpPr>
        <p:spPr>
          <a:xfrm>
            <a:off x="704088" y="4453128"/>
            <a:ext cx="10799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움직임: 화물차 아이콘이 경로를 따라 이동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바뀌는 숫자: 통과 대수 · 과적 적발 · 평균 소요시간 실시간 갱신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쌓이는 이벤트: 시각이 붙은 경보 로그 (예: 13:58:21 검사소1 과적 의심)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포트폴리오 어필 포인트 · 면접 대비</a:t>
            </a:r>
            <a:endParaRPr lang="en-US" sz="2600" dirty="0"/>
          </a:p>
        </p:txBody>
      </p:sp>
      <p:sp>
        <p:nvSpPr>
          <p:cNvPr id="3" name="chip-169"/>
          <p:cNvSpPr/>
          <p:nvPr/>
        </p:nvSpPr>
        <p:spPr>
          <a:xfrm>
            <a:off x="10561320" y="411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4" name="chip-t-170"/>
          <p:cNvSpPr txBox="1"/>
          <p:nvPr/>
        </p:nvSpPr>
        <p:spPr>
          <a:xfrm>
            <a:off x="10561320" y="411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정리</a:t>
            </a:r>
            <a:endParaRPr lang="en-US" sz="1200" dirty="0"/>
          </a:p>
        </p:txBody>
      </p:sp>
      <p:sp>
        <p:nvSpPr>
          <p:cNvPr id="5" name="card-171"/>
          <p:cNvSpPr/>
          <p:nvPr/>
        </p:nvSpPr>
        <p:spPr>
          <a:xfrm>
            <a:off x="502920" y="11430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card-h-172"/>
          <p:cNvSpPr txBox="1"/>
          <p:nvPr/>
        </p:nvSpPr>
        <p:spPr>
          <a:xfrm>
            <a:off x="704088" y="128930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</a:rPr>
              <a:t>어필 포인트</a:t>
            </a:r>
            <a:endParaRPr lang="en-US" sz="1500" dirty="0"/>
          </a:p>
        </p:txBody>
      </p:sp>
      <p:sp>
        <p:nvSpPr>
          <p:cNvPr id="7" name="card-b-173"/>
          <p:cNvSpPr txBox="1"/>
          <p:nvPr/>
        </p:nvSpPr>
        <p:spPr>
          <a:xfrm>
            <a:off x="704088" y="1709928"/>
            <a:ext cx="50840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전 구간 흐름 설계: 컨트롤타워 / 관제 역할 분리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3D 디지털 트윈 직접 구현 + 성능 최적화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그리기 호출 3,225 → 1,219 (저사양 711)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YOLO + OCR 실제 인식 파이프라인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정책 흐름(스마트톨링) 반영 + 미납 문제 해결 구조</a:t>
            </a:r>
            <a:endParaRPr lang="en-US" sz="1400" dirty="0"/>
          </a:p>
        </p:txBody>
      </p:sp>
      <p:sp>
        <p:nvSpPr>
          <p:cNvPr id="8" name="card-174"/>
          <p:cNvSpPr/>
          <p:nvPr/>
        </p:nvSpPr>
        <p:spPr>
          <a:xfrm>
            <a:off x="6217920" y="11430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card-h-175"/>
          <p:cNvSpPr txBox="1"/>
          <p:nvPr/>
        </p:nvSpPr>
        <p:spPr>
          <a:xfrm>
            <a:off x="6419088" y="1289304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</a:rPr>
              <a:t>면접 예상 질문</a:t>
            </a:r>
            <a:endParaRPr lang="en-US" sz="1500" dirty="0"/>
          </a:p>
        </p:txBody>
      </p:sp>
      <p:sp>
        <p:nvSpPr>
          <p:cNvPr id="10" name="card-b-176"/>
          <p:cNvSpPr txBox="1"/>
          <p:nvPr/>
        </p:nvSpPr>
        <p:spPr>
          <a:xfrm>
            <a:off x="6419088" y="1709928"/>
            <a:ext cx="50840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실제 데이터인가? → 시뮬레이션, 설계 규칙으로 설명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본인 담당은? → AMR 관제 전담 + 게이트 OCR · 과적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가장 어려웠던 점? → 3D 성능, 지게차 위 단 처리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</a:rPr>
              <a:t>왜 컨트롤타워와 관제를 나눴나? → 판단 · 지시 vs 감시</a:t>
            </a:r>
            <a:endParaRPr lang="en-US" sz="1400" dirty="0"/>
          </a:p>
        </p:txBody>
      </p:sp>
      <p:sp>
        <p:nvSpPr>
          <p:cNvPr id="11" name="msg-177"/>
          <p:cNvSpPr/>
          <p:nvPr/>
        </p:nvSpPr>
        <p:spPr>
          <a:xfrm>
            <a:off x="502920" y="461772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1B2333"/>
          </a:solidFill>
          <a:ln w="12700">
            <a:solidFill>
              <a:srgbClr val="1B2333"/>
            </a:solidFill>
            <a:prstDash val="solid"/>
          </a:ln>
        </p:spPr>
      </p:sp>
      <p:sp>
        <p:nvSpPr>
          <p:cNvPr id="12" name="msg-t-178"/>
          <p:cNvSpPr txBox="1"/>
          <p:nvPr/>
        </p:nvSpPr>
        <p:spPr>
          <a:xfrm>
            <a:off x="777240" y="47091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9"/>
                </a:solidFill>
              </a:rPr>
              <a:t>한 줄 소개</a:t>
            </a:r>
            <a:endParaRPr lang="en-US" sz="13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구간마다 판단·지시하는 컨트롤타워와, 고장 나기 전에 알려주는 AMR 관제로 물류를 멈추지 않게 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argo Tech">
  <a:themeElements>
    <a:clrScheme name="SCargo Tech">
      <a:dk1>
        <a:srgbClr val="1B2333"/>
      </a:dk1>
      <a:lt1>
        <a:srgbClr val="FFFFFF"/>
      </a:lt1>
      <a:dk2>
        <a:srgbClr val="5B6B84"/>
      </a:dk2>
      <a:lt2>
        <a:srgbClr val="EEF2F8"/>
      </a:lt2>
      <a:accent1>
        <a:srgbClr val="6B4FA0"/>
      </a:accent1>
      <a:accent2>
        <a:srgbClr val="F28C28"/>
      </a:accent2>
      <a:accent3>
        <a:srgbClr val="1F6FB2"/>
      </a:accent3>
      <a:accent4>
        <a:srgbClr val="2E8B57"/>
      </a:accent4>
      <a:accent5>
        <a:srgbClr val="D64545"/>
      </a:accent5>
      <a:accent6>
        <a:srgbClr val="178F83"/>
      </a:accent6>
      <a:hlink>
        <a:srgbClr val="1F6FB2"/>
      </a:hlink>
      <a:folHlink>
        <a:srgbClr val="6B4FA0"/>
      </a:folHlink>
    </a:clrScheme>
    <a:fontScheme name="SCargo Tech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S-CARGO 화물 물류 컨트롤타워 · AMR 관제 포트폴리오 기획서</dc:title>
  <dc:subject>PptxGenJS Presentation</dc:subject>
  <dc:creator>못먹어도 S카고</dc:creator>
  <cp:lastModifiedBy>못먹어도 S카고</cp:lastModifiedBy>
  <cp:revision>1</cp:revision>
  <dcterms:created xsi:type="dcterms:W3CDTF">2026-10-13T00:30:30Z</dcterms:created>
  <dcterms:modified xsi:type="dcterms:W3CDTF">2026-10-13T00:30:30Z</dcterms:modified>
</cp:coreProperties>
</file>