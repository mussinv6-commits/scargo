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못먹어도 S카고 팀입니다. 저희가 만든 S Cargo는 화물차가 항만 야드에 들어와서 나갈 때까지, 번호판 인식과 과적 검사를 자동으로 처리하는 시스템입니다. 발표는 약 25분, 이후 질의응답 순서로 진행하겠습니다. (30초)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발표는 여섯 부분으로 나눴습니다. 왜 이 주제를 골랐는지, 시스템이 어떻게 생겼는지, 주요 기능과 시연, 그리고 만들면서 부딪힌 문제와 회고 순서입니다. (20초)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프로젝트 배경입니다. (10초)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화물차 과적은 겉으로 봐서는 알 수 없습니다. 하지만 도로를 빨리 망가뜨리고, 제동 거리가 길어져 사고 위험이 커집니다. 항만처럼 하루에 수많은 화물차가 드나드는 곳에서는 차량을 일일이 확인하기가 어렵습니다. 저희는 이 지점에서 출발했습니다.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기존에는 게이트에서 사람이 번호판을 보고, 계량 결과를 따로 기록하고, 과적 차량이 나가는 것도 사람이 막아야 했습니다. 저희는 이 세 가지를 하나로 묶었습니다. 카메라가 번호판을 읽고, 검사소 계량 결과가 바로 저장되고, 과적 차량은 시스템이 출차를 막습니다.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이게 저희 서비스의 첫 화면입니다. 관리자, 운송 기업, 기사가 같은 시스템에 로그인해서 각자 필요한 화면을 봅니다. (40초)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시스템 구성입니다. (10초)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사용자는 세 종류입니다. 관리자는 게이트와 검사소를 운영하고 모든 기록을 관리합니다. 운송 기업은 자기 회사 차량과 기사를 등록하고 배차합니다. 기사는 자기 운행 현황과 정산을 확인합니다.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화면은 Vue, 서버는 Spring Boot, 데이터는 PostgreSQL에 저장합니다. 번호판 인식은 파이썬으로 만든 별도 서버가 맡습니다. 게이트에서 사진이 들어오면 OCR 서버가 번호판을 읽고, 그 결과를 Spring 서버에 기록합니다. 화면은 3초마다 새 기록을 불러옵니다. (1분 30초)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사용한 기술입니다. 프론트는 Vue 3와 Leaflet 지도, 백엔드는 Java 17과 Spring Boot, 데이터베이스는 PostgreSQL입니다. AI 쪽은 YOLO11로 번호판 위치를 찾고, CRNN 모델로 글자를 읽습니다. 학습 데이터는 Roboflow로 관리했습니다.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차량 한 대가 들어와서 나가기까지의 흐름입니다. 게이트에서 번호판을 인식하면 상하차 작업이 시작되고, 검사소에서 한 번 계량합니다. 과적이 아니면 출차할 수 있고, 과적이면 짐을 줄이고 재계량해서 통과해야만 나갈 수 있습니다. 이 흐름을 그대로 시연에서 보여드리겠습니다.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주요 기능을 하나씩 보겠습니다. (10초)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번째는 게이트 OCR 검사입니다. 게이트인 버튼을 누르면 카메라 사진에서 번호판을 찾아 읽고, 등록된 차량이면 차단기가 열립니다. 들어온 차량은 위쪽 구내 차량 목록에 올라가고, 차량마다 지금 상태가 표시됩니다.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번호판 인식은 두 단계입니다. 먼저 YOLO11이 사진에서 번호판 위치를 찾습니다. 잘라낸 번호판 이미지를 CRNN 모델이 읽어서 글자로 바꿉니다. 어둡거나 흐린 사진은 대비를 보정하고, 결과가 번호판 형식에 맞지 않으면 판독 불가로 처리해서 잘못 읽은 번호로 문이 열리는 일을 막았습니다. (1분 30초)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번째는 검사소 계량입니다. 게이트를 통과한 차량이 왼쪽 대기열에 자동으로 올라옵니다. 계측을 시작하면 카메라 영상에 맞춰 축별 무게가 나오고, 서버가 판정해서 과적 검사 기록으로 저장합니다. 자동 계량을 켜두면 차량이 올 때마다 알아서 계량합니다.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판정 기준은 세 가지입니다. 축 하나라도 10톤을 넘거나, 전체 무게가 40톤을 넘거나, 실은 짐이 그 차량의 최대 적재량보다 10퍼센트 넘게 많으면 과적입니다. 이 판정은 화면이 아니라 서버에서 하기 때문에 화면을 조작해도 결과가 바뀌지 않습니다.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번째는 출차 통제입니다. 구내 차량 목록을 보시면, 출차 가능한 차량만 게이트아웃 버튼이 켜져 있고, 과적이나 검사 대기 차량은 버튼이 잠겨 있습니다. 화면만 막은 게 아니라 OCR 서버에서도 한 번 더 확인해서, 과적 차량이 출차를 요청하면 거부합니다.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게이트를 지날 때마다, 계량할 때마다 기록이 남습니다. 위는 실시간 게이트 기록이고, 아래는 과적 검사 목록입니다. 관리자는 언제 어떤 차량이 들어오고 나갔는지, 왜 과적이었는지 바로 확인할 수 있습니다.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실제로 동작하는 모습을 보여드리겠습니다. (10초)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시연은 차량 세 대로 진행합니다. A는 정상 차량이라 그대로 통과해서 나갑니다. B는 과적 차량이라 출차가 막히고, 재계량으로 통과한 뒤에야 나갈 수 있습니다. C는 등록되지 않은 차량이라 게이트에서 차단됩니다. (30초, 이후 시연 약 8분)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잘 보셨습니다. 다음은 만들면서 부딪힌 문제와 해결 과정입니다. (10초)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문제는 출차 때 사진을 잃어버리는 문제였습니다. 입차 사진 위치를 메모리에만 들고 있다 보니 서버를 다시 켜면 찾을 수가 없었습니다. 메모리에 없으면 폴더를 다시 찾도록 바꿔서 해결했습니다.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번째는 같은 차량을 두 번 계량하는 문제였습니다. 대기열이 출차 기록까지 가져와서 생긴 문제라, 출차 기록과 이미 계량한 차량을 빼고, 서버에서도 한 번 더 막았습니다.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번째는 과적 차량이 나갈 수 있던 문제입니다. 이 시스템의 핵심인데 처음엔 빠져 있었습니다. 화면과 서버 두 곳에서 모두 막도록 고쳤습니다.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회고와 앞으로의 계획입니다. (10초)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잘한 점은 AI 인식부터 판정, 출차 통제까지 실제 업무 흐름을 끝까지 연결했다는 점입니다. 아쉬운 점은 축중기 같은 실제 장비가 없어서 무게는 시뮬레이션으로 만들었다는 점, 그리고 여러 사람이 작업한 코드를 합치는 데 시간이 많이 들었다는 점입니다.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앞으로는 실제 축중기와 게이트 카메라를 연결해 보고 싶습니다. 서버는 들어온 축 무게만 보고 판정하도록 만들어 두었기 때문에, 측정값만 실제 장비에서 받아오면 나머지는 그대로 쓸 수 있습니다. 기사에게 과적 결과를 바로 알려주는 모바일 알림도 계획하고 있습니다.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들어주셔서 감사합니다. 질문 받겠습니다. (질의응답 5~6분)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84B"/>
        </a:solidFill>
      </p:bgPr>
    </p:bg>
    <p:spTree>
      <p:nvGrpSpPr>
        <p:cNvPr id="1" name=""/>
        <p:cNvGrpSpPr/>
        <p:nvPr/>
      </p:nvGrpSpPr>
      <p:grpSpPr>
        <a:xfrm>
          <a:off x="0" y="0"/>
          <a:ext cx="0" cy="0"/>
          <a:chOff x="0" y="0"/>
          <a:chExt cx="0" cy="0"/>
        </a:xfrm>
      </p:grpSpPr>
      <p:sp>
        <p:nvSpPr>
          <p:cNvPr id="2" name="Text 0"/>
          <p:cNvSpPr txBox="1"/>
          <p:nvPr/>
        </p:nvSpPr>
        <p:spPr>
          <a:xfrm>
            <a:off x="822960" y="1828800"/>
            <a:ext cx="9144000" cy="365760"/>
          </a:xfrm>
          <a:prstGeom prst="rect">
            <a:avLst/>
          </a:prstGeom>
          <a:noFill/>
          <a:ln/>
        </p:spPr>
        <p:txBody>
          <a:bodyPr wrap="square" lIns="0" tIns="0" rIns="0" bIns="0" rtlCol="0" anchor="ctr"/>
          <a:lstStyle/>
          <a:p>
            <a:pPr indent="0" marL="0">
              <a:buNone/>
            </a:pPr>
            <a:r>
              <a:rPr lang="en-US" sz="1600" b="1" dirty="0">
                <a:solidFill>
                  <a:srgbClr val="F28C28"/>
                </a:solidFill>
                <a:latin typeface="Malgun Gothic" pitchFamily="34" charset="0"/>
                <a:ea typeface="Malgun Gothic" pitchFamily="34" charset="-122"/>
                <a:cs typeface="Malgun Gothic" pitchFamily="34" charset="-120"/>
              </a:rPr>
              <a:t>도로교통 예지보전 팀 프로젝트</a:t>
            </a:r>
            <a:endParaRPr lang="en-US" sz="1600" dirty="0"/>
          </a:p>
        </p:txBody>
      </p:sp>
      <p:sp>
        <p:nvSpPr>
          <p:cNvPr id="3" name="Text 1"/>
          <p:cNvSpPr txBox="1"/>
          <p:nvPr/>
        </p:nvSpPr>
        <p:spPr>
          <a:xfrm>
            <a:off x="822960" y="2286000"/>
            <a:ext cx="9144000" cy="1188720"/>
          </a:xfrm>
          <a:prstGeom prst="rect">
            <a:avLst/>
          </a:prstGeom>
          <a:noFill/>
          <a:ln/>
        </p:spPr>
        <p:txBody>
          <a:bodyPr wrap="square" lIns="0" tIns="0" rIns="0" bIns="0" rtlCol="0" anchor="ctr"/>
          <a:lstStyle/>
          <a:p>
            <a:pPr indent="0" marL="0">
              <a:buNone/>
            </a:pPr>
            <a:r>
              <a:rPr lang="en-US" sz="6400" b="1" dirty="0">
                <a:solidFill>
                  <a:srgbClr val="FFFFFF"/>
                </a:solidFill>
                <a:latin typeface="Malgun Gothic" pitchFamily="34" charset="0"/>
                <a:ea typeface="Malgun Gothic" pitchFamily="34" charset="-122"/>
                <a:cs typeface="Malgun Gothic" pitchFamily="34" charset="-120"/>
              </a:rPr>
              <a:t>S Cargo</a:t>
            </a:r>
            <a:endParaRPr lang="en-US" sz="6400" dirty="0"/>
          </a:p>
        </p:txBody>
      </p:sp>
      <p:sp>
        <p:nvSpPr>
          <p:cNvPr id="4" name="Text 2"/>
          <p:cNvSpPr txBox="1"/>
          <p:nvPr/>
        </p:nvSpPr>
        <p:spPr>
          <a:xfrm>
            <a:off x="822960" y="3520440"/>
            <a:ext cx="10058400" cy="548640"/>
          </a:xfrm>
          <a:prstGeom prst="rect">
            <a:avLst/>
          </a:prstGeom>
          <a:noFill/>
          <a:ln/>
        </p:spPr>
        <p:txBody>
          <a:bodyPr wrap="square" lIns="0" tIns="0" rIns="0" bIns="0" rtlCol="0" anchor="ctr"/>
          <a:lstStyle/>
          <a:p>
            <a:pPr indent="0" marL="0">
              <a:buNone/>
            </a:pPr>
            <a:r>
              <a:rPr lang="en-US" sz="2200" dirty="0">
                <a:solidFill>
                  <a:srgbClr val="D6DEEA"/>
                </a:solidFill>
                <a:latin typeface="Malgun Gothic" pitchFamily="34" charset="0"/>
                <a:ea typeface="Malgun Gothic" pitchFamily="34" charset="-122"/>
                <a:cs typeface="Malgun Gothic" pitchFamily="34" charset="-120"/>
              </a:rPr>
              <a:t>AI 번호판 인식과 과적 검사로 만드는 스마트 화물 운송 관리</a:t>
            </a:r>
            <a:endParaRPr lang="en-US" sz="2200" dirty="0"/>
          </a:p>
        </p:txBody>
      </p:sp>
      <p:sp>
        <p:nvSpPr>
          <p:cNvPr id="5" name="Text 3"/>
          <p:cNvSpPr txBox="1"/>
          <p:nvPr/>
        </p:nvSpPr>
        <p:spPr>
          <a:xfrm>
            <a:off x="822960" y="5760720"/>
            <a:ext cx="5486400" cy="365760"/>
          </a:xfrm>
          <a:prstGeom prst="rect">
            <a:avLst/>
          </a:prstGeom>
          <a:noFill/>
          <a:ln/>
        </p:spPr>
        <p:txBody>
          <a:bodyPr wrap="square" lIns="0" tIns="0" rIns="0" bIns="0" rtlCol="0" anchor="ctr"/>
          <a:lstStyle/>
          <a:p>
            <a:pPr indent="0" marL="0">
              <a:buNone/>
            </a:pPr>
            <a:r>
              <a:rPr lang="en-US" sz="1500" dirty="0">
                <a:solidFill>
                  <a:srgbClr val="D6DEEA"/>
                </a:solidFill>
                <a:latin typeface="Malgun Gothic" pitchFamily="34" charset="0"/>
                <a:ea typeface="Malgun Gothic" pitchFamily="34" charset="-122"/>
                <a:cs typeface="Malgun Gothic" pitchFamily="34" charset="-120"/>
              </a:rPr>
              <a:t>못먹어도 S카고</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594360"/>
            <a:ext cx="10972800" cy="685800"/>
          </a:xfrm>
          <a:prstGeom prst="rect">
            <a:avLst/>
          </a:prstGeom>
          <a:noFill/>
          <a:ln/>
        </p:spPr>
        <p:txBody>
          <a:bodyPr wrap="square" lIns="0" tIns="0" rIns="0" bIns="0" rtlCol="0" anchor="ctr"/>
          <a:lstStyle/>
          <a:p>
            <a:pPr indent="0" marL="0">
              <a:buNone/>
            </a:pPr>
            <a:r>
              <a:rPr lang="en-US" sz="3000" b="1" dirty="0">
                <a:solidFill>
                  <a:srgbClr val="14284B"/>
                </a:solidFill>
                <a:latin typeface="Malgun Gothic" pitchFamily="34" charset="0"/>
                <a:ea typeface="Malgun Gothic" pitchFamily="34" charset="-122"/>
                <a:cs typeface="Malgun Gothic" pitchFamily="34" charset="-120"/>
              </a:rPr>
              <a:t>목차</a:t>
            </a:r>
            <a:endParaRPr lang="en-US" sz="3000" dirty="0"/>
          </a:p>
        </p:txBody>
      </p:sp>
      <p:sp>
        <p:nvSpPr>
          <p:cNvPr id="3" name="Text 1"/>
          <p:cNvSpPr txBox="1"/>
          <p:nvPr/>
        </p:nvSpPr>
        <p:spPr>
          <a:xfrm>
            <a:off x="502920" y="6446520"/>
            <a:ext cx="4572000" cy="228600"/>
          </a:xfrm>
          <a:prstGeom prst="rect">
            <a:avLst/>
          </a:prstGeom>
          <a:noFill/>
          <a:ln/>
        </p:spPr>
        <p:txBody>
          <a:bodyPr wrap="square" lIns="0" tIns="0" rIns="0" bIns="0" rtlCol="0" anchor="ctr"/>
          <a:lstStyle/>
          <a:p>
            <a:pPr indent="0" marL="0">
              <a:buNone/>
            </a:pPr>
            <a:r>
              <a:rPr lang="en-US" sz="900" dirty="0">
                <a:solidFill>
                  <a:srgbClr val="9AA3B2"/>
                </a:solidFill>
                <a:latin typeface="Malgun Gothic" pitchFamily="34" charset="0"/>
                <a:ea typeface="Malgun Gothic" pitchFamily="34" charset="-122"/>
                <a:cs typeface="Malgun Gothic" pitchFamily="34" charset="-120"/>
              </a:rPr>
              <a:t>S Cargo  ·  못먹어도 S카고</a:t>
            </a:r>
            <a:endParaRPr lang="en-US" sz="900" dirty="0"/>
          </a:p>
        </p:txBody>
      </p:sp>
      <p:sp>
        <p:nvSpPr>
          <p:cNvPr id="4" name="Text 2"/>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2</a:t>
            </a:r>
            <a:endParaRPr lang="en-US" sz="900" dirty="0"/>
          </a:p>
        </p:txBody>
      </p:sp>
      <p:sp>
        <p:nvSpPr>
          <p:cNvPr id="6" name="Text 3"/>
          <p:cNvSpPr txBox="1"/>
          <p:nvPr/>
        </p:nvSpPr>
        <p:spPr>
          <a:xfrm>
            <a:off x="822960" y="1828800"/>
            <a:ext cx="914400" cy="640080"/>
          </a:xfrm>
          <a:prstGeom prst="rect">
            <a:avLst/>
          </a:prstGeom>
          <a:noFill/>
          <a:ln/>
        </p:spPr>
        <p:txBody>
          <a:bodyPr wrap="square" lIns="0" tIns="0" rIns="0" bIns="0" rtlCol="0" anchor="ctr"/>
          <a:lstStyle/>
          <a:p>
            <a:pPr indent="0" marL="0">
              <a:buNone/>
            </a:pPr>
            <a:r>
              <a:rPr lang="en-US" sz="3000" b="1" dirty="0">
                <a:solidFill>
                  <a:srgbClr val="F28C28"/>
                </a:solidFill>
                <a:latin typeface="Malgun Gothic" pitchFamily="34" charset="0"/>
                <a:ea typeface="Malgun Gothic" pitchFamily="34" charset="-122"/>
                <a:cs typeface="Malgun Gothic" pitchFamily="34" charset="-120"/>
              </a:rPr>
              <a:t>01</a:t>
            </a:r>
            <a:endParaRPr lang="en-US" sz="3000" dirty="0"/>
          </a:p>
        </p:txBody>
      </p:sp>
      <p:sp>
        <p:nvSpPr>
          <p:cNvPr id="7" name="Text 4"/>
          <p:cNvSpPr txBox="1"/>
          <p:nvPr/>
        </p:nvSpPr>
        <p:spPr>
          <a:xfrm>
            <a:off x="1828800" y="1874520"/>
            <a:ext cx="4206240" cy="548640"/>
          </a:xfrm>
          <a:prstGeom prst="rect">
            <a:avLst/>
          </a:prstGeom>
          <a:noFill/>
          <a:ln/>
        </p:spPr>
        <p:txBody>
          <a:bodyPr wrap="square" lIns="0" tIns="0" rIns="0" bIns="0" rtlCol="0" anchor="ctr"/>
          <a:lstStyle/>
          <a:p>
            <a:pPr indent="0" marL="0">
              <a:buNone/>
            </a:pPr>
            <a:r>
              <a:rPr lang="en-US" sz="2200" b="1" dirty="0">
                <a:solidFill>
                  <a:srgbClr val="14284B"/>
                </a:solidFill>
                <a:latin typeface="Malgun Gothic" pitchFamily="34" charset="0"/>
                <a:ea typeface="Malgun Gothic" pitchFamily="34" charset="-122"/>
                <a:cs typeface="Malgun Gothic" pitchFamily="34" charset="-120"/>
              </a:rPr>
              <a:t>프로젝트 배경</a:t>
            </a:r>
            <a:endParaRPr lang="en-US" sz="2200" dirty="0"/>
          </a:p>
        </p:txBody>
      </p:sp>
      <p:sp>
        <p:nvSpPr>
          <p:cNvPr id="8" name="Shape 5"/>
          <p:cNvSpPr/>
          <p:nvPr/>
        </p:nvSpPr>
        <p:spPr>
          <a:xfrm>
            <a:off x="822960" y="2697480"/>
            <a:ext cx="5029200" cy="0"/>
          </a:xfrm>
          <a:prstGeom prst="line">
            <a:avLst/>
          </a:prstGeom>
          <a:noFill/>
          <a:ln w="9525">
            <a:solidFill>
              <a:srgbClr val="E3E8EF"/>
            </a:solidFill>
            <a:prstDash val="solid"/>
          </a:ln>
        </p:spPr>
      </p:sp>
      <p:sp>
        <p:nvSpPr>
          <p:cNvPr id="9" name="Text 6"/>
          <p:cNvSpPr txBox="1"/>
          <p:nvPr/>
        </p:nvSpPr>
        <p:spPr>
          <a:xfrm>
            <a:off x="822960" y="3063240"/>
            <a:ext cx="914400" cy="640080"/>
          </a:xfrm>
          <a:prstGeom prst="rect">
            <a:avLst/>
          </a:prstGeom>
          <a:noFill/>
          <a:ln/>
        </p:spPr>
        <p:txBody>
          <a:bodyPr wrap="square" lIns="0" tIns="0" rIns="0" bIns="0" rtlCol="0" anchor="ctr"/>
          <a:lstStyle/>
          <a:p>
            <a:pPr indent="0" marL="0">
              <a:buNone/>
            </a:pPr>
            <a:r>
              <a:rPr lang="en-US" sz="3000" b="1" dirty="0">
                <a:solidFill>
                  <a:srgbClr val="F28C28"/>
                </a:solidFill>
                <a:latin typeface="Malgun Gothic" pitchFamily="34" charset="0"/>
                <a:ea typeface="Malgun Gothic" pitchFamily="34" charset="-122"/>
                <a:cs typeface="Malgun Gothic" pitchFamily="34" charset="-120"/>
              </a:rPr>
              <a:t>02</a:t>
            </a:r>
            <a:endParaRPr lang="en-US" sz="3000" dirty="0"/>
          </a:p>
        </p:txBody>
      </p:sp>
      <p:sp>
        <p:nvSpPr>
          <p:cNvPr id="10" name="Text 7"/>
          <p:cNvSpPr txBox="1"/>
          <p:nvPr/>
        </p:nvSpPr>
        <p:spPr>
          <a:xfrm>
            <a:off x="1828800" y="3108960"/>
            <a:ext cx="4206240" cy="548640"/>
          </a:xfrm>
          <a:prstGeom prst="rect">
            <a:avLst/>
          </a:prstGeom>
          <a:noFill/>
          <a:ln/>
        </p:spPr>
        <p:txBody>
          <a:bodyPr wrap="square" lIns="0" tIns="0" rIns="0" bIns="0" rtlCol="0" anchor="ctr"/>
          <a:lstStyle/>
          <a:p>
            <a:pPr indent="0" marL="0">
              <a:buNone/>
            </a:pPr>
            <a:r>
              <a:rPr lang="en-US" sz="2200" b="1" dirty="0">
                <a:solidFill>
                  <a:srgbClr val="14284B"/>
                </a:solidFill>
                <a:latin typeface="Malgun Gothic" pitchFamily="34" charset="0"/>
                <a:ea typeface="Malgun Gothic" pitchFamily="34" charset="-122"/>
                <a:cs typeface="Malgun Gothic" pitchFamily="34" charset="-120"/>
              </a:rPr>
              <a:t>시스템 구성</a:t>
            </a:r>
            <a:endParaRPr lang="en-US" sz="2200" dirty="0"/>
          </a:p>
        </p:txBody>
      </p:sp>
      <p:sp>
        <p:nvSpPr>
          <p:cNvPr id="11" name="Shape 8"/>
          <p:cNvSpPr/>
          <p:nvPr/>
        </p:nvSpPr>
        <p:spPr>
          <a:xfrm>
            <a:off x="822960" y="3931920"/>
            <a:ext cx="5029200" cy="0"/>
          </a:xfrm>
          <a:prstGeom prst="line">
            <a:avLst/>
          </a:prstGeom>
          <a:noFill/>
          <a:ln w="9525">
            <a:solidFill>
              <a:srgbClr val="E3E8EF"/>
            </a:solidFill>
            <a:prstDash val="solid"/>
          </a:ln>
        </p:spPr>
      </p:sp>
      <p:sp>
        <p:nvSpPr>
          <p:cNvPr id="12" name="Text 9"/>
          <p:cNvSpPr txBox="1"/>
          <p:nvPr/>
        </p:nvSpPr>
        <p:spPr>
          <a:xfrm>
            <a:off x="822960" y="4297680"/>
            <a:ext cx="914400" cy="640080"/>
          </a:xfrm>
          <a:prstGeom prst="rect">
            <a:avLst/>
          </a:prstGeom>
          <a:noFill/>
          <a:ln/>
        </p:spPr>
        <p:txBody>
          <a:bodyPr wrap="square" lIns="0" tIns="0" rIns="0" bIns="0" rtlCol="0" anchor="ctr"/>
          <a:lstStyle/>
          <a:p>
            <a:pPr indent="0" marL="0">
              <a:buNone/>
            </a:pPr>
            <a:r>
              <a:rPr lang="en-US" sz="3000" b="1" dirty="0">
                <a:solidFill>
                  <a:srgbClr val="F28C28"/>
                </a:solidFill>
                <a:latin typeface="Malgun Gothic" pitchFamily="34" charset="0"/>
                <a:ea typeface="Malgun Gothic" pitchFamily="34" charset="-122"/>
                <a:cs typeface="Malgun Gothic" pitchFamily="34" charset="-120"/>
              </a:rPr>
              <a:t>03</a:t>
            </a:r>
            <a:endParaRPr lang="en-US" sz="3000" dirty="0"/>
          </a:p>
        </p:txBody>
      </p:sp>
      <p:sp>
        <p:nvSpPr>
          <p:cNvPr id="13" name="Text 10"/>
          <p:cNvSpPr txBox="1"/>
          <p:nvPr/>
        </p:nvSpPr>
        <p:spPr>
          <a:xfrm>
            <a:off x="1828800" y="4343400"/>
            <a:ext cx="4206240" cy="548640"/>
          </a:xfrm>
          <a:prstGeom prst="rect">
            <a:avLst/>
          </a:prstGeom>
          <a:noFill/>
          <a:ln/>
        </p:spPr>
        <p:txBody>
          <a:bodyPr wrap="square" lIns="0" tIns="0" rIns="0" bIns="0" rtlCol="0" anchor="ctr"/>
          <a:lstStyle/>
          <a:p>
            <a:pPr indent="0" marL="0">
              <a:buNone/>
            </a:pPr>
            <a:r>
              <a:rPr lang="en-US" sz="2200" b="1" dirty="0">
                <a:solidFill>
                  <a:srgbClr val="14284B"/>
                </a:solidFill>
                <a:latin typeface="Malgun Gothic" pitchFamily="34" charset="0"/>
                <a:ea typeface="Malgun Gothic" pitchFamily="34" charset="-122"/>
                <a:cs typeface="Malgun Gothic" pitchFamily="34" charset="-120"/>
              </a:rPr>
              <a:t>주요 기능</a:t>
            </a:r>
            <a:endParaRPr lang="en-US" sz="2200" dirty="0"/>
          </a:p>
        </p:txBody>
      </p:sp>
      <p:sp>
        <p:nvSpPr>
          <p:cNvPr id="14" name="Shape 11"/>
          <p:cNvSpPr/>
          <p:nvPr/>
        </p:nvSpPr>
        <p:spPr>
          <a:xfrm>
            <a:off x="822960" y="5166360"/>
            <a:ext cx="5029200" cy="0"/>
          </a:xfrm>
          <a:prstGeom prst="line">
            <a:avLst/>
          </a:prstGeom>
          <a:noFill/>
          <a:ln w="9525">
            <a:solidFill>
              <a:srgbClr val="E3E8EF"/>
            </a:solidFill>
            <a:prstDash val="solid"/>
          </a:ln>
        </p:spPr>
      </p:sp>
      <p:sp>
        <p:nvSpPr>
          <p:cNvPr id="15" name="Text 12"/>
          <p:cNvSpPr txBox="1"/>
          <p:nvPr/>
        </p:nvSpPr>
        <p:spPr>
          <a:xfrm>
            <a:off x="6400800" y="1828800"/>
            <a:ext cx="914400" cy="640080"/>
          </a:xfrm>
          <a:prstGeom prst="rect">
            <a:avLst/>
          </a:prstGeom>
          <a:noFill/>
          <a:ln/>
        </p:spPr>
        <p:txBody>
          <a:bodyPr wrap="square" lIns="0" tIns="0" rIns="0" bIns="0" rtlCol="0" anchor="ctr"/>
          <a:lstStyle/>
          <a:p>
            <a:pPr indent="0" marL="0">
              <a:buNone/>
            </a:pPr>
            <a:r>
              <a:rPr lang="en-US" sz="3000" b="1" dirty="0">
                <a:solidFill>
                  <a:srgbClr val="F28C28"/>
                </a:solidFill>
                <a:latin typeface="Malgun Gothic" pitchFamily="34" charset="0"/>
                <a:ea typeface="Malgun Gothic" pitchFamily="34" charset="-122"/>
                <a:cs typeface="Malgun Gothic" pitchFamily="34" charset="-120"/>
              </a:rPr>
              <a:t>04</a:t>
            </a:r>
            <a:endParaRPr lang="en-US" sz="3000" dirty="0"/>
          </a:p>
        </p:txBody>
      </p:sp>
      <p:sp>
        <p:nvSpPr>
          <p:cNvPr id="16" name="Text 13"/>
          <p:cNvSpPr txBox="1"/>
          <p:nvPr/>
        </p:nvSpPr>
        <p:spPr>
          <a:xfrm>
            <a:off x="7406640" y="1874520"/>
            <a:ext cx="4206240" cy="548640"/>
          </a:xfrm>
          <a:prstGeom prst="rect">
            <a:avLst/>
          </a:prstGeom>
          <a:noFill/>
          <a:ln/>
        </p:spPr>
        <p:txBody>
          <a:bodyPr wrap="square" lIns="0" tIns="0" rIns="0" bIns="0" rtlCol="0" anchor="ctr"/>
          <a:lstStyle/>
          <a:p>
            <a:pPr indent="0" marL="0">
              <a:buNone/>
            </a:pPr>
            <a:r>
              <a:rPr lang="en-US" sz="2200" b="1" dirty="0">
                <a:solidFill>
                  <a:srgbClr val="14284B"/>
                </a:solidFill>
                <a:latin typeface="Malgun Gothic" pitchFamily="34" charset="0"/>
                <a:ea typeface="Malgun Gothic" pitchFamily="34" charset="-122"/>
                <a:cs typeface="Malgun Gothic" pitchFamily="34" charset="-120"/>
              </a:rPr>
              <a:t>시연</a:t>
            </a:r>
            <a:endParaRPr lang="en-US" sz="2200" dirty="0"/>
          </a:p>
        </p:txBody>
      </p:sp>
      <p:sp>
        <p:nvSpPr>
          <p:cNvPr id="17" name="Shape 14"/>
          <p:cNvSpPr/>
          <p:nvPr/>
        </p:nvSpPr>
        <p:spPr>
          <a:xfrm>
            <a:off x="6400800" y="2697480"/>
            <a:ext cx="5029200" cy="0"/>
          </a:xfrm>
          <a:prstGeom prst="line">
            <a:avLst/>
          </a:prstGeom>
          <a:noFill/>
          <a:ln w="9525">
            <a:solidFill>
              <a:srgbClr val="E3E8EF"/>
            </a:solidFill>
            <a:prstDash val="solid"/>
          </a:ln>
        </p:spPr>
      </p:sp>
      <p:sp>
        <p:nvSpPr>
          <p:cNvPr id="18" name="Text 15"/>
          <p:cNvSpPr txBox="1"/>
          <p:nvPr/>
        </p:nvSpPr>
        <p:spPr>
          <a:xfrm>
            <a:off x="6400800" y="3063240"/>
            <a:ext cx="914400" cy="640080"/>
          </a:xfrm>
          <a:prstGeom prst="rect">
            <a:avLst/>
          </a:prstGeom>
          <a:noFill/>
          <a:ln/>
        </p:spPr>
        <p:txBody>
          <a:bodyPr wrap="square" lIns="0" tIns="0" rIns="0" bIns="0" rtlCol="0" anchor="ctr"/>
          <a:lstStyle/>
          <a:p>
            <a:pPr indent="0" marL="0">
              <a:buNone/>
            </a:pPr>
            <a:r>
              <a:rPr lang="en-US" sz="3000" b="1" dirty="0">
                <a:solidFill>
                  <a:srgbClr val="F28C28"/>
                </a:solidFill>
                <a:latin typeface="Malgun Gothic" pitchFamily="34" charset="0"/>
                <a:ea typeface="Malgun Gothic" pitchFamily="34" charset="-122"/>
                <a:cs typeface="Malgun Gothic" pitchFamily="34" charset="-120"/>
              </a:rPr>
              <a:t>05</a:t>
            </a:r>
            <a:endParaRPr lang="en-US" sz="3000" dirty="0"/>
          </a:p>
        </p:txBody>
      </p:sp>
      <p:sp>
        <p:nvSpPr>
          <p:cNvPr id="19" name="Text 16"/>
          <p:cNvSpPr txBox="1"/>
          <p:nvPr/>
        </p:nvSpPr>
        <p:spPr>
          <a:xfrm>
            <a:off x="7406640" y="3108960"/>
            <a:ext cx="4206240" cy="548640"/>
          </a:xfrm>
          <a:prstGeom prst="rect">
            <a:avLst/>
          </a:prstGeom>
          <a:noFill/>
          <a:ln/>
        </p:spPr>
        <p:txBody>
          <a:bodyPr wrap="square" lIns="0" tIns="0" rIns="0" bIns="0" rtlCol="0" anchor="ctr"/>
          <a:lstStyle/>
          <a:p>
            <a:pPr indent="0" marL="0">
              <a:buNone/>
            </a:pPr>
            <a:r>
              <a:rPr lang="en-US" sz="2200" b="1" dirty="0">
                <a:solidFill>
                  <a:srgbClr val="14284B"/>
                </a:solidFill>
                <a:latin typeface="Malgun Gothic" pitchFamily="34" charset="0"/>
                <a:ea typeface="Malgun Gothic" pitchFamily="34" charset="-122"/>
                <a:cs typeface="Malgun Gothic" pitchFamily="34" charset="-120"/>
              </a:rPr>
              <a:t>문제 해결 과정</a:t>
            </a:r>
            <a:endParaRPr lang="en-US" sz="2200" dirty="0"/>
          </a:p>
        </p:txBody>
      </p:sp>
      <p:sp>
        <p:nvSpPr>
          <p:cNvPr id="20" name="Shape 17"/>
          <p:cNvSpPr/>
          <p:nvPr/>
        </p:nvSpPr>
        <p:spPr>
          <a:xfrm>
            <a:off x="6400800" y="3931920"/>
            <a:ext cx="5029200" cy="0"/>
          </a:xfrm>
          <a:prstGeom prst="line">
            <a:avLst/>
          </a:prstGeom>
          <a:noFill/>
          <a:ln w="9525">
            <a:solidFill>
              <a:srgbClr val="E3E8EF"/>
            </a:solidFill>
            <a:prstDash val="solid"/>
          </a:ln>
        </p:spPr>
      </p:sp>
      <p:sp>
        <p:nvSpPr>
          <p:cNvPr id="21" name="Text 18"/>
          <p:cNvSpPr txBox="1"/>
          <p:nvPr/>
        </p:nvSpPr>
        <p:spPr>
          <a:xfrm>
            <a:off x="6400800" y="4297680"/>
            <a:ext cx="914400" cy="640080"/>
          </a:xfrm>
          <a:prstGeom prst="rect">
            <a:avLst/>
          </a:prstGeom>
          <a:noFill/>
          <a:ln/>
        </p:spPr>
        <p:txBody>
          <a:bodyPr wrap="square" lIns="0" tIns="0" rIns="0" bIns="0" rtlCol="0" anchor="ctr"/>
          <a:lstStyle/>
          <a:p>
            <a:pPr indent="0" marL="0">
              <a:buNone/>
            </a:pPr>
            <a:r>
              <a:rPr lang="en-US" sz="3000" b="1" dirty="0">
                <a:solidFill>
                  <a:srgbClr val="F28C28"/>
                </a:solidFill>
                <a:latin typeface="Malgun Gothic" pitchFamily="34" charset="0"/>
                <a:ea typeface="Malgun Gothic" pitchFamily="34" charset="-122"/>
                <a:cs typeface="Malgun Gothic" pitchFamily="34" charset="-120"/>
              </a:rPr>
              <a:t>06</a:t>
            </a:r>
            <a:endParaRPr lang="en-US" sz="3000" dirty="0"/>
          </a:p>
        </p:txBody>
      </p:sp>
      <p:sp>
        <p:nvSpPr>
          <p:cNvPr id="22" name="Text 19"/>
          <p:cNvSpPr txBox="1"/>
          <p:nvPr/>
        </p:nvSpPr>
        <p:spPr>
          <a:xfrm>
            <a:off x="7406640" y="4343400"/>
            <a:ext cx="4206240" cy="548640"/>
          </a:xfrm>
          <a:prstGeom prst="rect">
            <a:avLst/>
          </a:prstGeom>
          <a:noFill/>
          <a:ln/>
        </p:spPr>
        <p:txBody>
          <a:bodyPr wrap="square" lIns="0" tIns="0" rIns="0" bIns="0" rtlCol="0" anchor="ctr"/>
          <a:lstStyle/>
          <a:p>
            <a:pPr indent="0" marL="0">
              <a:buNone/>
            </a:pPr>
            <a:r>
              <a:rPr lang="en-US" sz="2200" b="1" dirty="0">
                <a:solidFill>
                  <a:srgbClr val="14284B"/>
                </a:solidFill>
                <a:latin typeface="Malgun Gothic" pitchFamily="34" charset="0"/>
                <a:ea typeface="Malgun Gothic" pitchFamily="34" charset="-122"/>
                <a:cs typeface="Malgun Gothic" pitchFamily="34" charset="-120"/>
              </a:rPr>
              <a:t>회고 및 향후 계획</a:t>
            </a:r>
            <a:endParaRPr lang="en-US" sz="2200" dirty="0"/>
          </a:p>
        </p:txBody>
      </p:sp>
      <p:sp>
        <p:nvSpPr>
          <p:cNvPr id="23" name="Shape 20"/>
          <p:cNvSpPr/>
          <p:nvPr/>
        </p:nvSpPr>
        <p:spPr>
          <a:xfrm>
            <a:off x="6400800" y="5166360"/>
            <a:ext cx="5029200" cy="0"/>
          </a:xfrm>
          <a:prstGeom prst="line">
            <a:avLst/>
          </a:prstGeom>
          <a:noFill/>
          <a:ln w="9525">
            <a:solidFill>
              <a:srgbClr val="E3E8EF"/>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2103120"/>
            <a:ext cx="2743200" cy="1097280"/>
          </a:xfrm>
          <a:prstGeom prst="rect">
            <a:avLst/>
          </a:prstGeom>
          <a:noFill/>
          <a:ln/>
        </p:spPr>
        <p:txBody>
          <a:bodyPr wrap="square" lIns="0" tIns="0" rIns="0" bIns="0" rtlCol="0" anchor="ctr"/>
          <a:lstStyle/>
          <a:p>
            <a:pPr indent="0" marL="0">
              <a:buNone/>
            </a:pPr>
            <a:r>
              <a:rPr lang="en-US" sz="6600" b="1" dirty="0">
                <a:solidFill>
                  <a:srgbClr val="F28C28"/>
                </a:solidFill>
                <a:latin typeface="Malgun Gothic" pitchFamily="34" charset="0"/>
                <a:ea typeface="Malgun Gothic" pitchFamily="34" charset="-122"/>
                <a:cs typeface="Malgun Gothic" pitchFamily="34" charset="-120"/>
              </a:rPr>
              <a:t>01</a:t>
            </a:r>
            <a:endParaRPr lang="en-US" sz="6600" dirty="0"/>
          </a:p>
        </p:txBody>
      </p:sp>
      <p:sp>
        <p:nvSpPr>
          <p:cNvPr id="3" name="Text 1"/>
          <p:cNvSpPr txBox="1"/>
          <p:nvPr/>
        </p:nvSpPr>
        <p:spPr>
          <a:xfrm>
            <a:off x="822960" y="3200400"/>
            <a:ext cx="10058400" cy="822960"/>
          </a:xfrm>
          <a:prstGeom prst="rect">
            <a:avLst/>
          </a:prstGeom>
          <a:noFill/>
          <a:ln/>
        </p:spPr>
        <p:txBody>
          <a:bodyPr wrap="square" lIns="0" tIns="0" rIns="0" bIns="0" rtlCol="0" anchor="ctr"/>
          <a:lstStyle/>
          <a:p>
            <a:pPr indent="0" marL="0">
              <a:buNone/>
            </a:pPr>
            <a:r>
              <a:rPr lang="en-US" sz="3600" b="1" dirty="0">
                <a:solidFill>
                  <a:srgbClr val="14284B"/>
                </a:solidFill>
                <a:latin typeface="Malgun Gothic" pitchFamily="34" charset="0"/>
                <a:ea typeface="Malgun Gothic" pitchFamily="34" charset="-122"/>
                <a:cs typeface="Malgun Gothic" pitchFamily="34" charset="-120"/>
              </a:rPr>
              <a:t>프로젝트 배경</a:t>
            </a:r>
            <a:endParaRPr lang="en-US" sz="3600" dirty="0"/>
          </a:p>
        </p:txBody>
      </p:sp>
      <p:sp>
        <p:nvSpPr>
          <p:cNvPr id="4" name="Text 2"/>
          <p:cNvSpPr txBox="1"/>
          <p:nvPr/>
        </p:nvSpPr>
        <p:spPr>
          <a:xfrm>
            <a:off x="822960" y="4023360"/>
            <a:ext cx="10058400" cy="457200"/>
          </a:xfrm>
          <a:prstGeom prst="rect">
            <a:avLst/>
          </a:prstGeom>
          <a:noFill/>
          <a:ln/>
        </p:spPr>
        <p:txBody>
          <a:bodyPr wrap="square" lIns="0" tIns="0" rIns="0" bIns="0" rtlCol="0" anchor="ctr"/>
          <a:lstStyle/>
          <a:p>
            <a:pPr indent="0" marL="0">
              <a:buNone/>
            </a:pPr>
            <a:r>
              <a:rPr lang="en-US" sz="1600" dirty="0">
                <a:solidFill>
                  <a:srgbClr val="5B6B84"/>
                </a:solidFill>
                <a:latin typeface="Malgun Gothic" pitchFamily="34" charset="0"/>
                <a:ea typeface="Malgun Gothic" pitchFamily="34" charset="-122"/>
                <a:cs typeface="Malgun Gothic" pitchFamily="34" charset="-120"/>
              </a:rPr>
              <a:t>왜 화물차 과적을 선택했나</a:t>
            </a:r>
            <a:endParaRPr lang="en-US" sz="16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7315200" cy="274320"/>
          </a:xfrm>
          <a:prstGeom prst="rect">
            <a:avLst/>
          </a:prstGeom>
          <a:noFill/>
          <a:ln/>
        </p:spPr>
        <p:txBody>
          <a:bodyPr wrap="square" lIns="0" tIns="0" rIns="0" bIns="0" rtlCol="0" anchor="ctr"/>
          <a:lstStyle/>
          <a:p>
            <a:pPr indent="0" marL="0">
              <a:buNone/>
            </a:pPr>
            <a:r>
              <a:rPr lang="en-US" sz="1200" b="1" dirty="0">
                <a:solidFill>
                  <a:srgbClr val="F28C28"/>
                </a:solidFill>
                <a:latin typeface="Malgun Gothic" pitchFamily="34" charset="0"/>
                <a:ea typeface="Malgun Gothic" pitchFamily="34" charset="-122"/>
                <a:cs typeface="Malgun Gothic" pitchFamily="34" charset="-120"/>
              </a:rPr>
              <a:t>01  프로젝트 배경</a:t>
            </a:r>
            <a:endParaRPr lang="en-US" sz="1200" dirty="0"/>
          </a:p>
        </p:txBody>
      </p:sp>
      <p:sp>
        <p:nvSpPr>
          <p:cNvPr id="3" name="Text 1"/>
          <p:cNvSpPr txBox="1"/>
          <p:nvPr/>
        </p:nvSpPr>
        <p:spPr>
          <a:xfrm>
            <a:off x="502920" y="594360"/>
            <a:ext cx="10972800" cy="685800"/>
          </a:xfrm>
          <a:prstGeom prst="rect">
            <a:avLst/>
          </a:prstGeom>
          <a:noFill/>
          <a:ln/>
        </p:spPr>
        <p:txBody>
          <a:bodyPr wrap="square" lIns="0" tIns="0" rIns="0" bIns="0" rtlCol="0" anchor="ctr"/>
          <a:lstStyle/>
          <a:p>
            <a:pPr indent="0" marL="0">
              <a:buNone/>
            </a:pPr>
            <a:r>
              <a:rPr lang="en-US" sz="3000" b="1" dirty="0">
                <a:solidFill>
                  <a:srgbClr val="14284B"/>
                </a:solidFill>
                <a:latin typeface="Malgun Gothic" pitchFamily="34" charset="0"/>
                <a:ea typeface="Malgun Gothic" pitchFamily="34" charset="-122"/>
                <a:cs typeface="Malgun Gothic" pitchFamily="34" charset="-120"/>
              </a:rPr>
              <a:t>과적은 눈에 보이지 않는 위험입니다</a:t>
            </a:r>
            <a:endParaRPr lang="en-US" sz="3000" dirty="0"/>
          </a:p>
        </p:txBody>
      </p:sp>
      <p:sp>
        <p:nvSpPr>
          <p:cNvPr id="4" name="Text 2"/>
          <p:cNvSpPr txBox="1"/>
          <p:nvPr/>
        </p:nvSpPr>
        <p:spPr>
          <a:xfrm>
            <a:off x="502920" y="6446520"/>
            <a:ext cx="4572000" cy="228600"/>
          </a:xfrm>
          <a:prstGeom prst="rect">
            <a:avLst/>
          </a:prstGeom>
          <a:noFill/>
          <a:ln/>
        </p:spPr>
        <p:txBody>
          <a:bodyPr wrap="square" lIns="0" tIns="0" rIns="0" bIns="0" rtlCol="0" anchor="ctr"/>
          <a:lstStyle/>
          <a:p>
            <a:pPr indent="0" marL="0">
              <a:buNone/>
            </a:pPr>
            <a:r>
              <a:rPr lang="en-US" sz="900" dirty="0">
                <a:solidFill>
                  <a:srgbClr val="9AA3B2"/>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4</a:t>
            </a:r>
            <a:endParaRPr lang="en-US" sz="900" dirty="0"/>
          </a:p>
        </p:txBody>
      </p:sp>
      <p:sp>
        <p:nvSpPr>
          <p:cNvPr id="7" name="Text 4"/>
          <p:cNvSpPr txBox="1"/>
          <p:nvPr/>
        </p:nvSpPr>
        <p:spPr>
          <a:xfrm>
            <a:off x="822960" y="1737360"/>
            <a:ext cx="3108960" cy="548640"/>
          </a:xfrm>
          <a:prstGeom prst="rect">
            <a:avLst/>
          </a:prstGeom>
          <a:noFill/>
          <a:ln/>
        </p:spPr>
        <p:txBody>
          <a:bodyPr wrap="square" lIns="0" tIns="0" rIns="0" bIns="0" rtlCol="0" anchor="ctr"/>
          <a:lstStyle/>
          <a:p>
            <a:pPr indent="0" marL="0">
              <a:buNone/>
            </a:pPr>
            <a:r>
              <a:rPr lang="en-US" sz="2400" b="1" dirty="0">
                <a:solidFill>
                  <a:srgbClr val="14284B"/>
                </a:solidFill>
                <a:latin typeface="Malgun Gothic" pitchFamily="34" charset="0"/>
                <a:ea typeface="Malgun Gothic" pitchFamily="34" charset="-122"/>
                <a:cs typeface="Malgun Gothic" pitchFamily="34" charset="-120"/>
              </a:rPr>
              <a:t>도로 파손</a:t>
            </a:r>
            <a:endParaRPr lang="en-US" sz="2400" dirty="0"/>
          </a:p>
        </p:txBody>
      </p:sp>
      <p:sp>
        <p:nvSpPr>
          <p:cNvPr id="8" name="Text 5"/>
          <p:cNvSpPr txBox="1"/>
          <p:nvPr/>
        </p:nvSpPr>
        <p:spPr>
          <a:xfrm>
            <a:off x="4023360" y="1783080"/>
            <a:ext cx="7315200" cy="548640"/>
          </a:xfrm>
          <a:prstGeom prst="rect">
            <a:avLst/>
          </a:prstGeom>
          <a:noFill/>
          <a:ln/>
        </p:spPr>
        <p:txBody>
          <a:bodyPr wrap="square" lIns="0" tIns="0" rIns="0" bIns="0" rtlCol="0" anchor="ctr"/>
          <a:lstStyle/>
          <a:p>
            <a:pPr indent="0" marL="0">
              <a:buNone/>
            </a:pPr>
            <a:r>
              <a:rPr lang="en-US" sz="1800" dirty="0">
                <a:solidFill>
                  <a:srgbClr val="1B2333"/>
                </a:solidFill>
                <a:latin typeface="Malgun Gothic" pitchFamily="34" charset="0"/>
                <a:ea typeface="Malgun Gothic" pitchFamily="34" charset="-122"/>
                <a:cs typeface="Malgun Gothic" pitchFamily="34" charset="-120"/>
              </a:rPr>
              <a:t>무거운 축하중이 포장 수명을 크게 줄입니다</a:t>
            </a:r>
            <a:endParaRPr lang="en-US" sz="1800" dirty="0"/>
          </a:p>
        </p:txBody>
      </p:sp>
      <p:sp>
        <p:nvSpPr>
          <p:cNvPr id="9" name="Shape 6"/>
          <p:cNvSpPr/>
          <p:nvPr/>
        </p:nvSpPr>
        <p:spPr>
          <a:xfrm>
            <a:off x="822960" y="2697480"/>
            <a:ext cx="10607040" cy="0"/>
          </a:xfrm>
          <a:prstGeom prst="line">
            <a:avLst/>
          </a:prstGeom>
          <a:noFill/>
          <a:ln w="9525">
            <a:solidFill>
              <a:srgbClr val="E3E8EF"/>
            </a:solidFill>
            <a:prstDash val="solid"/>
          </a:ln>
        </p:spPr>
      </p:sp>
      <p:sp>
        <p:nvSpPr>
          <p:cNvPr id="10" name="Text 7"/>
          <p:cNvSpPr txBox="1"/>
          <p:nvPr/>
        </p:nvSpPr>
        <p:spPr>
          <a:xfrm>
            <a:off x="822960" y="3108960"/>
            <a:ext cx="3108960" cy="548640"/>
          </a:xfrm>
          <a:prstGeom prst="rect">
            <a:avLst/>
          </a:prstGeom>
          <a:noFill/>
          <a:ln/>
        </p:spPr>
        <p:txBody>
          <a:bodyPr wrap="square" lIns="0" tIns="0" rIns="0" bIns="0" rtlCol="0" anchor="ctr"/>
          <a:lstStyle/>
          <a:p>
            <a:pPr indent="0" marL="0">
              <a:buNone/>
            </a:pPr>
            <a:r>
              <a:rPr lang="en-US" sz="2400" b="1" dirty="0">
                <a:solidFill>
                  <a:srgbClr val="14284B"/>
                </a:solidFill>
                <a:latin typeface="Malgun Gothic" pitchFamily="34" charset="0"/>
                <a:ea typeface="Malgun Gothic" pitchFamily="34" charset="-122"/>
                <a:cs typeface="Malgun Gothic" pitchFamily="34" charset="-120"/>
              </a:rPr>
              <a:t>사고 위험</a:t>
            </a:r>
            <a:endParaRPr lang="en-US" sz="2400" dirty="0"/>
          </a:p>
        </p:txBody>
      </p:sp>
      <p:sp>
        <p:nvSpPr>
          <p:cNvPr id="11" name="Text 8"/>
          <p:cNvSpPr txBox="1"/>
          <p:nvPr/>
        </p:nvSpPr>
        <p:spPr>
          <a:xfrm>
            <a:off x="4023360" y="3154680"/>
            <a:ext cx="7315200" cy="548640"/>
          </a:xfrm>
          <a:prstGeom prst="rect">
            <a:avLst/>
          </a:prstGeom>
          <a:noFill/>
          <a:ln/>
        </p:spPr>
        <p:txBody>
          <a:bodyPr wrap="square" lIns="0" tIns="0" rIns="0" bIns="0" rtlCol="0" anchor="ctr"/>
          <a:lstStyle/>
          <a:p>
            <a:pPr indent="0" marL="0">
              <a:buNone/>
            </a:pPr>
            <a:r>
              <a:rPr lang="en-US" sz="1800" dirty="0">
                <a:solidFill>
                  <a:srgbClr val="1B2333"/>
                </a:solidFill>
                <a:latin typeface="Malgun Gothic" pitchFamily="34" charset="0"/>
                <a:ea typeface="Malgun Gothic" pitchFamily="34" charset="-122"/>
                <a:cs typeface="Malgun Gothic" pitchFamily="34" charset="-120"/>
              </a:rPr>
              <a:t>제동 거리가 길어지고 전복 위험이 커집니다</a:t>
            </a:r>
            <a:endParaRPr lang="en-US" sz="1800" dirty="0"/>
          </a:p>
        </p:txBody>
      </p:sp>
      <p:sp>
        <p:nvSpPr>
          <p:cNvPr id="12" name="Shape 9"/>
          <p:cNvSpPr/>
          <p:nvPr/>
        </p:nvSpPr>
        <p:spPr>
          <a:xfrm>
            <a:off x="822960" y="4069080"/>
            <a:ext cx="10607040" cy="0"/>
          </a:xfrm>
          <a:prstGeom prst="line">
            <a:avLst/>
          </a:prstGeom>
          <a:noFill/>
          <a:ln w="9525">
            <a:solidFill>
              <a:srgbClr val="E3E8EF"/>
            </a:solidFill>
            <a:prstDash val="solid"/>
          </a:ln>
        </p:spPr>
      </p:sp>
      <p:sp>
        <p:nvSpPr>
          <p:cNvPr id="13" name="Text 10"/>
          <p:cNvSpPr txBox="1"/>
          <p:nvPr/>
        </p:nvSpPr>
        <p:spPr>
          <a:xfrm>
            <a:off x="822960" y="4480560"/>
            <a:ext cx="3108960" cy="548640"/>
          </a:xfrm>
          <a:prstGeom prst="rect">
            <a:avLst/>
          </a:prstGeom>
          <a:noFill/>
          <a:ln/>
        </p:spPr>
        <p:txBody>
          <a:bodyPr wrap="square" lIns="0" tIns="0" rIns="0" bIns="0" rtlCol="0" anchor="ctr"/>
          <a:lstStyle/>
          <a:p>
            <a:pPr indent="0" marL="0">
              <a:buNone/>
            </a:pPr>
            <a:r>
              <a:rPr lang="en-US" sz="2400" b="1" dirty="0">
                <a:solidFill>
                  <a:srgbClr val="14284B"/>
                </a:solidFill>
                <a:latin typeface="Malgun Gothic" pitchFamily="34" charset="0"/>
                <a:ea typeface="Malgun Gothic" pitchFamily="34" charset="-122"/>
                <a:cs typeface="Malgun Gothic" pitchFamily="34" charset="-120"/>
              </a:rPr>
              <a:t>확인의 어려움</a:t>
            </a:r>
            <a:endParaRPr lang="en-US" sz="2400" dirty="0"/>
          </a:p>
        </p:txBody>
      </p:sp>
      <p:sp>
        <p:nvSpPr>
          <p:cNvPr id="14" name="Text 11"/>
          <p:cNvSpPr txBox="1"/>
          <p:nvPr/>
        </p:nvSpPr>
        <p:spPr>
          <a:xfrm>
            <a:off x="4023360" y="4526280"/>
            <a:ext cx="7315200" cy="548640"/>
          </a:xfrm>
          <a:prstGeom prst="rect">
            <a:avLst/>
          </a:prstGeom>
          <a:noFill/>
          <a:ln/>
        </p:spPr>
        <p:txBody>
          <a:bodyPr wrap="square" lIns="0" tIns="0" rIns="0" bIns="0" rtlCol="0" anchor="ctr"/>
          <a:lstStyle/>
          <a:p>
            <a:pPr indent="0" marL="0">
              <a:buNone/>
            </a:pPr>
            <a:r>
              <a:rPr lang="en-US" sz="1800" dirty="0">
                <a:solidFill>
                  <a:srgbClr val="1B2333"/>
                </a:solidFill>
                <a:latin typeface="Malgun Gothic" pitchFamily="34" charset="0"/>
                <a:ea typeface="Malgun Gothic" pitchFamily="34" charset="-122"/>
                <a:cs typeface="Malgun Gothic" pitchFamily="34" charset="-120"/>
              </a:rPr>
              <a:t>드나드는 차량이 많아 사람이 일일이 확인하기 어렵습니다</a:t>
            </a:r>
            <a:endParaRPr lang="en-US" sz="1800" dirty="0"/>
          </a:p>
        </p:txBody>
      </p:sp>
      <p:sp>
        <p:nvSpPr>
          <p:cNvPr id="15" name="Shape 12"/>
          <p:cNvSpPr/>
          <p:nvPr/>
        </p:nvSpPr>
        <p:spPr>
          <a:xfrm>
            <a:off x="822960" y="5440680"/>
            <a:ext cx="10607040" cy="0"/>
          </a:xfrm>
          <a:prstGeom prst="line">
            <a:avLst/>
          </a:prstGeom>
          <a:noFill/>
          <a:ln w="9525">
            <a:solidFill>
              <a:srgbClr val="E3E8EF"/>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7315200" cy="274320"/>
          </a:xfrm>
          <a:prstGeom prst="rect">
            <a:avLst/>
          </a:prstGeom>
          <a:noFill/>
          <a:ln/>
        </p:spPr>
        <p:txBody>
          <a:bodyPr wrap="square" lIns="0" tIns="0" rIns="0" bIns="0" rtlCol="0" anchor="ctr"/>
          <a:lstStyle/>
          <a:p>
            <a:pPr indent="0" marL="0">
              <a:buNone/>
            </a:pPr>
            <a:r>
              <a:rPr lang="en-US" sz="1200" b="1" dirty="0">
                <a:solidFill>
                  <a:srgbClr val="F28C28"/>
                </a:solidFill>
                <a:latin typeface="Malgun Gothic" pitchFamily="34" charset="0"/>
                <a:ea typeface="Malgun Gothic" pitchFamily="34" charset="-122"/>
                <a:cs typeface="Malgun Gothic" pitchFamily="34" charset="-120"/>
              </a:rPr>
              <a:t>01  프로젝트 배경</a:t>
            </a:r>
            <a:endParaRPr lang="en-US" sz="1200" dirty="0"/>
          </a:p>
        </p:txBody>
      </p:sp>
      <p:sp>
        <p:nvSpPr>
          <p:cNvPr id="3" name="Text 1"/>
          <p:cNvSpPr txBox="1"/>
          <p:nvPr/>
        </p:nvSpPr>
        <p:spPr>
          <a:xfrm>
            <a:off x="502920" y="594360"/>
            <a:ext cx="10972800" cy="685800"/>
          </a:xfrm>
          <a:prstGeom prst="rect">
            <a:avLst/>
          </a:prstGeom>
          <a:noFill/>
          <a:ln/>
        </p:spPr>
        <p:txBody>
          <a:bodyPr wrap="square" lIns="0" tIns="0" rIns="0" bIns="0" rtlCol="0" anchor="ctr"/>
          <a:lstStyle/>
          <a:p>
            <a:pPr indent="0" marL="0">
              <a:buNone/>
            </a:pPr>
            <a:r>
              <a:rPr lang="en-US" sz="3000" b="1" dirty="0">
                <a:solidFill>
                  <a:srgbClr val="14284B"/>
                </a:solidFill>
                <a:latin typeface="Malgun Gothic" pitchFamily="34" charset="0"/>
                <a:ea typeface="Malgun Gothic" pitchFamily="34" charset="-122"/>
                <a:cs typeface="Malgun Gothic" pitchFamily="34" charset="-120"/>
              </a:rPr>
              <a:t>사람이 하던 일을 시스템이 대신합니다</a:t>
            </a:r>
            <a:endParaRPr lang="en-US" sz="3000" dirty="0"/>
          </a:p>
        </p:txBody>
      </p:sp>
      <p:sp>
        <p:nvSpPr>
          <p:cNvPr id="4" name="Text 2"/>
          <p:cNvSpPr txBox="1"/>
          <p:nvPr/>
        </p:nvSpPr>
        <p:spPr>
          <a:xfrm>
            <a:off x="502920" y="6446520"/>
            <a:ext cx="4572000" cy="228600"/>
          </a:xfrm>
          <a:prstGeom prst="rect">
            <a:avLst/>
          </a:prstGeom>
          <a:noFill/>
          <a:ln/>
        </p:spPr>
        <p:txBody>
          <a:bodyPr wrap="square" lIns="0" tIns="0" rIns="0" bIns="0" rtlCol="0" anchor="ctr"/>
          <a:lstStyle/>
          <a:p>
            <a:pPr indent="0" marL="0">
              <a:buNone/>
            </a:pPr>
            <a:r>
              <a:rPr lang="en-US" sz="900" dirty="0">
                <a:solidFill>
                  <a:srgbClr val="9AA3B2"/>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5</a:t>
            </a:r>
            <a:endParaRPr lang="en-US" sz="900" dirty="0"/>
          </a:p>
        </p:txBody>
      </p:sp>
      <p:sp>
        <p:nvSpPr>
          <p:cNvPr id="7" name="Text 4"/>
          <p:cNvSpPr txBox="1"/>
          <p:nvPr/>
        </p:nvSpPr>
        <p:spPr>
          <a:xfrm>
            <a:off x="822960" y="1645920"/>
            <a:ext cx="4937760" cy="457200"/>
          </a:xfrm>
          <a:prstGeom prst="rect">
            <a:avLst/>
          </a:prstGeom>
          <a:noFill/>
          <a:ln/>
        </p:spPr>
        <p:txBody>
          <a:bodyPr wrap="square" lIns="0" tIns="0" rIns="0" bIns="0" rtlCol="0" anchor="ctr"/>
          <a:lstStyle/>
          <a:p>
            <a:pPr indent="0" marL="0">
              <a:buNone/>
            </a:pPr>
            <a:r>
              <a:rPr lang="en-US" sz="1800" b="1" dirty="0">
                <a:solidFill>
                  <a:srgbClr val="5B6B84"/>
                </a:solidFill>
                <a:latin typeface="Malgun Gothic" pitchFamily="34" charset="0"/>
                <a:ea typeface="Malgun Gothic" pitchFamily="34" charset="-122"/>
                <a:cs typeface="Malgun Gothic" pitchFamily="34" charset="-120"/>
              </a:rPr>
              <a:t>기존</a:t>
            </a:r>
            <a:endParaRPr lang="en-US" sz="1800" dirty="0"/>
          </a:p>
        </p:txBody>
      </p:sp>
      <p:sp>
        <p:nvSpPr>
          <p:cNvPr id="8" name="Text 5"/>
          <p:cNvSpPr txBox="1"/>
          <p:nvPr/>
        </p:nvSpPr>
        <p:spPr>
          <a:xfrm>
            <a:off x="6400800" y="1645920"/>
            <a:ext cx="4937760" cy="457200"/>
          </a:xfrm>
          <a:prstGeom prst="rect">
            <a:avLst/>
          </a:prstGeom>
          <a:noFill/>
          <a:ln/>
        </p:spPr>
        <p:txBody>
          <a:bodyPr wrap="square" lIns="0" tIns="0" rIns="0" bIns="0" rtlCol="0" anchor="ctr"/>
          <a:lstStyle/>
          <a:p>
            <a:pPr indent="0" marL="0">
              <a:buNone/>
            </a:pPr>
            <a:r>
              <a:rPr lang="en-US" sz="1800" b="1" dirty="0">
                <a:solidFill>
                  <a:srgbClr val="F28C28"/>
                </a:solidFill>
                <a:latin typeface="Malgun Gothic" pitchFamily="34" charset="0"/>
                <a:ea typeface="Malgun Gothic" pitchFamily="34" charset="-122"/>
                <a:cs typeface="Malgun Gothic" pitchFamily="34" charset="-120"/>
              </a:rPr>
              <a:t>S Cargo</a:t>
            </a:r>
            <a:endParaRPr lang="en-US" sz="1800" dirty="0"/>
          </a:p>
        </p:txBody>
      </p:sp>
      <p:sp>
        <p:nvSpPr>
          <p:cNvPr id="9" name="Text 6"/>
          <p:cNvSpPr txBox="1"/>
          <p:nvPr/>
        </p:nvSpPr>
        <p:spPr>
          <a:xfrm>
            <a:off x="822960" y="2240280"/>
            <a:ext cx="5120640" cy="640080"/>
          </a:xfrm>
          <a:prstGeom prst="rect">
            <a:avLst/>
          </a:prstGeom>
          <a:noFill/>
          <a:ln/>
        </p:spPr>
        <p:txBody>
          <a:bodyPr wrap="square" lIns="0" tIns="0" rIns="0" bIns="0" rtlCol="0" anchor="ctr"/>
          <a:lstStyle/>
          <a:p>
            <a:pPr indent="0" marL="0">
              <a:buNone/>
            </a:pPr>
            <a:r>
              <a:rPr lang="en-US" sz="1700" dirty="0">
                <a:solidFill>
                  <a:srgbClr val="1B2333"/>
                </a:solidFill>
                <a:latin typeface="Malgun Gothic" pitchFamily="34" charset="0"/>
                <a:ea typeface="Malgun Gothic" pitchFamily="34" charset="-122"/>
                <a:cs typeface="Malgun Gothic" pitchFamily="34" charset="-120"/>
              </a:rPr>
              <a:t>게이트에서 번호판을 눈으로 확인</a:t>
            </a:r>
            <a:endParaRPr lang="en-US" sz="1700" dirty="0"/>
          </a:p>
        </p:txBody>
      </p:sp>
      <p:sp>
        <p:nvSpPr>
          <p:cNvPr id="10" name="Text 7"/>
          <p:cNvSpPr txBox="1"/>
          <p:nvPr/>
        </p:nvSpPr>
        <p:spPr>
          <a:xfrm>
            <a:off x="5852160" y="2240280"/>
            <a:ext cx="457200" cy="640080"/>
          </a:xfrm>
          <a:prstGeom prst="rect">
            <a:avLst/>
          </a:prstGeom>
          <a:noFill/>
          <a:ln/>
        </p:spPr>
        <p:txBody>
          <a:bodyPr wrap="square" lIns="0" tIns="0" rIns="0" bIns="0" rtlCol="0" anchor="ctr"/>
          <a:lstStyle/>
          <a:p>
            <a:pPr indent="0" marL="0">
              <a:buNone/>
            </a:pPr>
            <a:r>
              <a:rPr lang="en-US" sz="1800" dirty="0">
                <a:solidFill>
                  <a:srgbClr val="F28C28"/>
                </a:solidFill>
                <a:latin typeface="Malgun Gothic" pitchFamily="34" charset="0"/>
                <a:ea typeface="Malgun Gothic" pitchFamily="34" charset="-122"/>
                <a:cs typeface="Malgun Gothic" pitchFamily="34" charset="-120"/>
              </a:rPr>
              <a:t>→</a:t>
            </a:r>
            <a:endParaRPr lang="en-US" sz="1800" dirty="0"/>
          </a:p>
        </p:txBody>
      </p:sp>
      <p:sp>
        <p:nvSpPr>
          <p:cNvPr id="11" name="Text 8"/>
          <p:cNvSpPr txBox="1"/>
          <p:nvPr/>
        </p:nvSpPr>
        <p:spPr>
          <a:xfrm>
            <a:off x="6400800" y="2240280"/>
            <a:ext cx="5120640" cy="640080"/>
          </a:xfrm>
          <a:prstGeom prst="rect">
            <a:avLst/>
          </a:prstGeom>
          <a:noFill/>
          <a:ln/>
        </p:spPr>
        <p:txBody>
          <a:bodyPr wrap="square" lIns="0" tIns="0" rIns="0" bIns="0" rtlCol="0" anchor="ctr"/>
          <a:lstStyle/>
          <a:p>
            <a:pPr indent="0" marL="0">
              <a:buNone/>
            </a:pPr>
            <a:r>
              <a:rPr lang="en-US" sz="1700" b="1" dirty="0">
                <a:solidFill>
                  <a:srgbClr val="14284B"/>
                </a:solidFill>
                <a:latin typeface="Malgun Gothic" pitchFamily="34" charset="0"/>
                <a:ea typeface="Malgun Gothic" pitchFamily="34" charset="-122"/>
                <a:cs typeface="Malgun Gothic" pitchFamily="34" charset="-120"/>
              </a:rPr>
              <a:t>카메라 사진을 AI가 읽고 등록 차량과 대조</a:t>
            </a:r>
            <a:endParaRPr lang="en-US" sz="1700" dirty="0"/>
          </a:p>
        </p:txBody>
      </p:sp>
      <p:sp>
        <p:nvSpPr>
          <p:cNvPr id="12" name="Shape 9"/>
          <p:cNvSpPr/>
          <p:nvPr/>
        </p:nvSpPr>
        <p:spPr>
          <a:xfrm>
            <a:off x="822960" y="3017520"/>
            <a:ext cx="10607040" cy="0"/>
          </a:xfrm>
          <a:prstGeom prst="line">
            <a:avLst/>
          </a:prstGeom>
          <a:noFill/>
          <a:ln w="9525">
            <a:solidFill>
              <a:srgbClr val="E3E8EF"/>
            </a:solidFill>
            <a:prstDash val="solid"/>
          </a:ln>
        </p:spPr>
      </p:sp>
      <p:sp>
        <p:nvSpPr>
          <p:cNvPr id="13" name="Text 10"/>
          <p:cNvSpPr txBox="1"/>
          <p:nvPr/>
        </p:nvSpPr>
        <p:spPr>
          <a:xfrm>
            <a:off x="822960" y="3154680"/>
            <a:ext cx="5120640" cy="640080"/>
          </a:xfrm>
          <a:prstGeom prst="rect">
            <a:avLst/>
          </a:prstGeom>
          <a:noFill/>
          <a:ln/>
        </p:spPr>
        <p:txBody>
          <a:bodyPr wrap="square" lIns="0" tIns="0" rIns="0" bIns="0" rtlCol="0" anchor="ctr"/>
          <a:lstStyle/>
          <a:p>
            <a:pPr indent="0" marL="0">
              <a:buNone/>
            </a:pPr>
            <a:r>
              <a:rPr lang="en-US" sz="1700" dirty="0">
                <a:solidFill>
                  <a:srgbClr val="1B2333"/>
                </a:solidFill>
                <a:latin typeface="Malgun Gothic" pitchFamily="34" charset="0"/>
                <a:ea typeface="Malgun Gothic" pitchFamily="34" charset="-122"/>
                <a:cs typeface="Malgun Gothic" pitchFamily="34" charset="-120"/>
              </a:rPr>
              <a:t>계량 결과를 따로 기록</a:t>
            </a:r>
            <a:endParaRPr lang="en-US" sz="1700" dirty="0"/>
          </a:p>
        </p:txBody>
      </p:sp>
      <p:sp>
        <p:nvSpPr>
          <p:cNvPr id="14" name="Text 11"/>
          <p:cNvSpPr txBox="1"/>
          <p:nvPr/>
        </p:nvSpPr>
        <p:spPr>
          <a:xfrm>
            <a:off x="5852160" y="3154680"/>
            <a:ext cx="457200" cy="640080"/>
          </a:xfrm>
          <a:prstGeom prst="rect">
            <a:avLst/>
          </a:prstGeom>
          <a:noFill/>
          <a:ln/>
        </p:spPr>
        <p:txBody>
          <a:bodyPr wrap="square" lIns="0" tIns="0" rIns="0" bIns="0" rtlCol="0" anchor="ctr"/>
          <a:lstStyle/>
          <a:p>
            <a:pPr indent="0" marL="0">
              <a:buNone/>
            </a:pPr>
            <a:r>
              <a:rPr lang="en-US" sz="1800" dirty="0">
                <a:solidFill>
                  <a:srgbClr val="F28C28"/>
                </a:solidFill>
                <a:latin typeface="Malgun Gothic" pitchFamily="34" charset="0"/>
                <a:ea typeface="Malgun Gothic" pitchFamily="34" charset="-122"/>
                <a:cs typeface="Malgun Gothic" pitchFamily="34" charset="-120"/>
              </a:rPr>
              <a:t>→</a:t>
            </a:r>
            <a:endParaRPr lang="en-US" sz="1800" dirty="0"/>
          </a:p>
        </p:txBody>
      </p:sp>
      <p:sp>
        <p:nvSpPr>
          <p:cNvPr id="15" name="Text 12"/>
          <p:cNvSpPr txBox="1"/>
          <p:nvPr/>
        </p:nvSpPr>
        <p:spPr>
          <a:xfrm>
            <a:off x="6400800" y="3154680"/>
            <a:ext cx="5120640" cy="640080"/>
          </a:xfrm>
          <a:prstGeom prst="rect">
            <a:avLst/>
          </a:prstGeom>
          <a:noFill/>
          <a:ln/>
        </p:spPr>
        <p:txBody>
          <a:bodyPr wrap="square" lIns="0" tIns="0" rIns="0" bIns="0" rtlCol="0" anchor="ctr"/>
          <a:lstStyle/>
          <a:p>
            <a:pPr indent="0" marL="0">
              <a:buNone/>
            </a:pPr>
            <a:r>
              <a:rPr lang="en-US" sz="1700" b="1" dirty="0">
                <a:solidFill>
                  <a:srgbClr val="14284B"/>
                </a:solidFill>
                <a:latin typeface="Malgun Gothic" pitchFamily="34" charset="0"/>
                <a:ea typeface="Malgun Gothic" pitchFamily="34" charset="-122"/>
                <a:cs typeface="Malgun Gothic" pitchFamily="34" charset="-120"/>
              </a:rPr>
              <a:t>축별 무게를 서버가 판정하고 바로 저장</a:t>
            </a:r>
            <a:endParaRPr lang="en-US" sz="1700" dirty="0"/>
          </a:p>
        </p:txBody>
      </p:sp>
      <p:sp>
        <p:nvSpPr>
          <p:cNvPr id="16" name="Shape 13"/>
          <p:cNvSpPr/>
          <p:nvPr/>
        </p:nvSpPr>
        <p:spPr>
          <a:xfrm>
            <a:off x="822960" y="3931920"/>
            <a:ext cx="10607040" cy="0"/>
          </a:xfrm>
          <a:prstGeom prst="line">
            <a:avLst/>
          </a:prstGeom>
          <a:noFill/>
          <a:ln w="9525">
            <a:solidFill>
              <a:srgbClr val="E3E8EF"/>
            </a:solidFill>
            <a:prstDash val="solid"/>
          </a:ln>
        </p:spPr>
      </p:sp>
      <p:sp>
        <p:nvSpPr>
          <p:cNvPr id="17" name="Text 14"/>
          <p:cNvSpPr txBox="1"/>
          <p:nvPr/>
        </p:nvSpPr>
        <p:spPr>
          <a:xfrm>
            <a:off x="822960" y="4069080"/>
            <a:ext cx="5120640" cy="640080"/>
          </a:xfrm>
          <a:prstGeom prst="rect">
            <a:avLst/>
          </a:prstGeom>
          <a:noFill/>
          <a:ln/>
        </p:spPr>
        <p:txBody>
          <a:bodyPr wrap="square" lIns="0" tIns="0" rIns="0" bIns="0" rtlCol="0" anchor="ctr"/>
          <a:lstStyle/>
          <a:p>
            <a:pPr indent="0" marL="0">
              <a:buNone/>
            </a:pPr>
            <a:r>
              <a:rPr lang="en-US" sz="1700" dirty="0">
                <a:solidFill>
                  <a:srgbClr val="1B2333"/>
                </a:solidFill>
                <a:latin typeface="Malgun Gothic" pitchFamily="34" charset="0"/>
                <a:ea typeface="Malgun Gothic" pitchFamily="34" charset="-122"/>
                <a:cs typeface="Malgun Gothic" pitchFamily="34" charset="-120"/>
              </a:rPr>
              <a:t>과적 차량 출차를 사람이 통제</a:t>
            </a:r>
            <a:endParaRPr lang="en-US" sz="1700" dirty="0"/>
          </a:p>
        </p:txBody>
      </p:sp>
      <p:sp>
        <p:nvSpPr>
          <p:cNvPr id="18" name="Text 15"/>
          <p:cNvSpPr txBox="1"/>
          <p:nvPr/>
        </p:nvSpPr>
        <p:spPr>
          <a:xfrm>
            <a:off x="5852160" y="4069080"/>
            <a:ext cx="457200" cy="640080"/>
          </a:xfrm>
          <a:prstGeom prst="rect">
            <a:avLst/>
          </a:prstGeom>
          <a:noFill/>
          <a:ln/>
        </p:spPr>
        <p:txBody>
          <a:bodyPr wrap="square" lIns="0" tIns="0" rIns="0" bIns="0" rtlCol="0" anchor="ctr"/>
          <a:lstStyle/>
          <a:p>
            <a:pPr indent="0" marL="0">
              <a:buNone/>
            </a:pPr>
            <a:r>
              <a:rPr lang="en-US" sz="1800" dirty="0">
                <a:solidFill>
                  <a:srgbClr val="F28C28"/>
                </a:solidFill>
                <a:latin typeface="Malgun Gothic" pitchFamily="34" charset="0"/>
                <a:ea typeface="Malgun Gothic" pitchFamily="34" charset="-122"/>
                <a:cs typeface="Malgun Gothic" pitchFamily="34" charset="-120"/>
              </a:rPr>
              <a:t>→</a:t>
            </a:r>
            <a:endParaRPr lang="en-US" sz="1800" dirty="0"/>
          </a:p>
        </p:txBody>
      </p:sp>
      <p:sp>
        <p:nvSpPr>
          <p:cNvPr id="19" name="Text 16"/>
          <p:cNvSpPr txBox="1"/>
          <p:nvPr/>
        </p:nvSpPr>
        <p:spPr>
          <a:xfrm>
            <a:off x="6400800" y="4069080"/>
            <a:ext cx="5120640" cy="640080"/>
          </a:xfrm>
          <a:prstGeom prst="rect">
            <a:avLst/>
          </a:prstGeom>
          <a:noFill/>
          <a:ln/>
        </p:spPr>
        <p:txBody>
          <a:bodyPr wrap="square" lIns="0" tIns="0" rIns="0" bIns="0" rtlCol="0" anchor="ctr"/>
          <a:lstStyle/>
          <a:p>
            <a:pPr indent="0" marL="0">
              <a:buNone/>
            </a:pPr>
            <a:r>
              <a:rPr lang="en-US" sz="1700" b="1" dirty="0">
                <a:solidFill>
                  <a:srgbClr val="14284B"/>
                </a:solidFill>
                <a:latin typeface="Malgun Gothic" pitchFamily="34" charset="0"/>
                <a:ea typeface="Malgun Gothic" pitchFamily="34" charset="-122"/>
                <a:cs typeface="Malgun Gothic" pitchFamily="34" charset="-120"/>
              </a:rPr>
              <a:t>과적 통과 전까지 출차 버튼이 잠김</a:t>
            </a:r>
            <a:endParaRPr lang="en-US" sz="1700" dirty="0"/>
          </a:p>
        </p:txBody>
      </p:sp>
      <p:sp>
        <p:nvSpPr>
          <p:cNvPr id="20" name="Shape 17"/>
          <p:cNvSpPr/>
          <p:nvPr/>
        </p:nvSpPr>
        <p:spPr>
          <a:xfrm>
            <a:off x="822960" y="4846320"/>
            <a:ext cx="10607040" cy="0"/>
          </a:xfrm>
          <a:prstGeom prst="line">
            <a:avLst/>
          </a:prstGeom>
          <a:noFill/>
          <a:ln w="9525">
            <a:solidFill>
              <a:srgbClr val="E3E8EF"/>
            </a:solidFill>
            <a:prstDash val="solid"/>
          </a:ln>
        </p:spPr>
      </p:sp>
      <p:sp>
        <p:nvSpPr>
          <p:cNvPr id="21" name="Text 18"/>
          <p:cNvSpPr txBox="1"/>
          <p:nvPr/>
        </p:nvSpPr>
        <p:spPr>
          <a:xfrm>
            <a:off x="822960" y="4983480"/>
            <a:ext cx="5120640" cy="640080"/>
          </a:xfrm>
          <a:prstGeom prst="rect">
            <a:avLst/>
          </a:prstGeom>
          <a:noFill/>
          <a:ln/>
        </p:spPr>
        <p:txBody>
          <a:bodyPr wrap="square" lIns="0" tIns="0" rIns="0" bIns="0" rtlCol="0" anchor="ctr"/>
          <a:lstStyle/>
          <a:p>
            <a:pPr indent="0" marL="0">
              <a:buNone/>
            </a:pPr>
            <a:r>
              <a:rPr lang="en-US" sz="1700" dirty="0">
                <a:solidFill>
                  <a:srgbClr val="1B2333"/>
                </a:solidFill>
                <a:latin typeface="Malgun Gothic" pitchFamily="34" charset="0"/>
                <a:ea typeface="Malgun Gothic" pitchFamily="34" charset="-122"/>
                <a:cs typeface="Malgun Gothic" pitchFamily="34" charset="-120"/>
              </a:rPr>
              <a:t>기록이 흩어져 추적이 어려움</a:t>
            </a:r>
            <a:endParaRPr lang="en-US" sz="1700" dirty="0"/>
          </a:p>
        </p:txBody>
      </p:sp>
      <p:sp>
        <p:nvSpPr>
          <p:cNvPr id="22" name="Text 19"/>
          <p:cNvSpPr txBox="1"/>
          <p:nvPr/>
        </p:nvSpPr>
        <p:spPr>
          <a:xfrm>
            <a:off x="5852160" y="4983480"/>
            <a:ext cx="457200" cy="640080"/>
          </a:xfrm>
          <a:prstGeom prst="rect">
            <a:avLst/>
          </a:prstGeom>
          <a:noFill/>
          <a:ln/>
        </p:spPr>
        <p:txBody>
          <a:bodyPr wrap="square" lIns="0" tIns="0" rIns="0" bIns="0" rtlCol="0" anchor="ctr"/>
          <a:lstStyle/>
          <a:p>
            <a:pPr indent="0" marL="0">
              <a:buNone/>
            </a:pPr>
            <a:r>
              <a:rPr lang="en-US" sz="1800" dirty="0">
                <a:solidFill>
                  <a:srgbClr val="F28C28"/>
                </a:solidFill>
                <a:latin typeface="Malgun Gothic" pitchFamily="34" charset="0"/>
                <a:ea typeface="Malgun Gothic" pitchFamily="34" charset="-122"/>
                <a:cs typeface="Malgun Gothic" pitchFamily="34" charset="-120"/>
              </a:rPr>
              <a:t>→</a:t>
            </a:r>
            <a:endParaRPr lang="en-US" sz="1800" dirty="0"/>
          </a:p>
        </p:txBody>
      </p:sp>
      <p:sp>
        <p:nvSpPr>
          <p:cNvPr id="23" name="Text 20"/>
          <p:cNvSpPr txBox="1"/>
          <p:nvPr/>
        </p:nvSpPr>
        <p:spPr>
          <a:xfrm>
            <a:off x="6400800" y="4983480"/>
            <a:ext cx="5120640" cy="640080"/>
          </a:xfrm>
          <a:prstGeom prst="rect">
            <a:avLst/>
          </a:prstGeom>
          <a:noFill/>
          <a:ln/>
        </p:spPr>
        <p:txBody>
          <a:bodyPr wrap="square" lIns="0" tIns="0" rIns="0" bIns="0" rtlCol="0" anchor="ctr"/>
          <a:lstStyle/>
          <a:p>
            <a:pPr indent="0" marL="0">
              <a:buNone/>
            </a:pPr>
            <a:r>
              <a:rPr lang="en-US" sz="1700" b="1" dirty="0">
                <a:solidFill>
                  <a:srgbClr val="14284B"/>
                </a:solidFill>
                <a:latin typeface="Malgun Gothic" pitchFamily="34" charset="0"/>
                <a:ea typeface="Malgun Gothic" pitchFamily="34" charset="-122"/>
                <a:cs typeface="Malgun Gothic" pitchFamily="34" charset="-120"/>
              </a:rPr>
              <a:t>입차부터 출차까지 한 화면에서 조회</a:t>
            </a:r>
            <a:endParaRPr lang="en-US" sz="1700" dirty="0"/>
          </a:p>
        </p:txBody>
      </p:sp>
      <p:sp>
        <p:nvSpPr>
          <p:cNvPr id="24" name="Shape 21"/>
          <p:cNvSpPr/>
          <p:nvPr/>
        </p:nvSpPr>
        <p:spPr>
          <a:xfrm>
            <a:off x="822960" y="5760720"/>
            <a:ext cx="10607040" cy="0"/>
          </a:xfrm>
          <a:prstGeom prst="line">
            <a:avLst/>
          </a:prstGeom>
          <a:noFill/>
          <a:ln w="9525">
            <a:solidFill>
              <a:srgbClr val="E3E8EF"/>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7315200" cy="274320"/>
          </a:xfrm>
          <a:prstGeom prst="rect">
            <a:avLst/>
          </a:prstGeom>
          <a:noFill/>
          <a:ln/>
        </p:spPr>
        <p:txBody>
          <a:bodyPr wrap="square" lIns="0" tIns="0" rIns="0" bIns="0" rtlCol="0" anchor="ctr"/>
          <a:lstStyle/>
          <a:p>
            <a:pPr indent="0" marL="0">
              <a:buNone/>
            </a:pPr>
            <a:r>
              <a:rPr lang="en-US" sz="1200" b="1" dirty="0">
                <a:solidFill>
                  <a:srgbClr val="F28C28"/>
                </a:solidFill>
                <a:latin typeface="Malgun Gothic" pitchFamily="34" charset="0"/>
                <a:ea typeface="Malgun Gothic" pitchFamily="34" charset="-122"/>
                <a:cs typeface="Malgun Gothic" pitchFamily="34" charset="-120"/>
              </a:rPr>
              <a:t>01  프로젝트 배경</a:t>
            </a:r>
            <a:endParaRPr lang="en-US" sz="1200" dirty="0"/>
          </a:p>
        </p:txBody>
      </p:sp>
      <p:sp>
        <p:nvSpPr>
          <p:cNvPr id="3" name="Text 1"/>
          <p:cNvSpPr txBox="1"/>
          <p:nvPr/>
        </p:nvSpPr>
        <p:spPr>
          <a:xfrm>
            <a:off x="502920" y="594360"/>
            <a:ext cx="10972800" cy="685800"/>
          </a:xfrm>
          <a:prstGeom prst="rect">
            <a:avLst/>
          </a:prstGeom>
          <a:noFill/>
          <a:ln/>
        </p:spPr>
        <p:txBody>
          <a:bodyPr wrap="square" lIns="0" tIns="0" rIns="0" bIns="0" rtlCol="0" anchor="ctr"/>
          <a:lstStyle/>
          <a:p>
            <a:pPr indent="0" marL="0">
              <a:buNone/>
            </a:pPr>
            <a:r>
              <a:rPr lang="en-US" sz="3000" b="1" dirty="0">
                <a:solidFill>
                  <a:srgbClr val="14284B"/>
                </a:solidFill>
                <a:latin typeface="Malgun Gothic" pitchFamily="34" charset="0"/>
                <a:ea typeface="Malgun Gothic" pitchFamily="34" charset="-122"/>
                <a:cs typeface="Malgun Gothic" pitchFamily="34" charset="-120"/>
              </a:rPr>
              <a:t>S Cargo</a:t>
            </a:r>
            <a:endParaRPr lang="en-US" sz="3000" dirty="0"/>
          </a:p>
        </p:txBody>
      </p:sp>
      <p:sp>
        <p:nvSpPr>
          <p:cNvPr id="4" name="Text 2"/>
          <p:cNvSpPr txBox="1"/>
          <p:nvPr/>
        </p:nvSpPr>
        <p:spPr>
          <a:xfrm>
            <a:off x="502920" y="6446520"/>
            <a:ext cx="4572000" cy="228600"/>
          </a:xfrm>
          <a:prstGeom prst="rect">
            <a:avLst/>
          </a:prstGeom>
          <a:noFill/>
          <a:ln/>
        </p:spPr>
        <p:txBody>
          <a:bodyPr wrap="square" lIns="0" tIns="0" rIns="0" bIns="0" rtlCol="0" anchor="ctr"/>
          <a:lstStyle/>
          <a:p>
            <a:pPr indent="0" marL="0">
              <a:buNone/>
            </a:pPr>
            <a:r>
              <a:rPr lang="en-US" sz="900" dirty="0">
                <a:solidFill>
                  <a:srgbClr val="9AA3B2"/>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6</a:t>
            </a:r>
            <a:endParaRPr lang="en-US" sz="900" dirty="0"/>
          </a:p>
        </p:txBody>
      </p:sp>
      <p:pic>
        <p:nvPicPr>
          <p:cNvPr id="7" name="Image 0" descr="시스템 화면 캡처">    </p:cNvPr>
          <p:cNvPicPr>
            <a:picLocks noChangeAspect="1"/>
          </p:cNvPicPr>
          <p:nvPr/>
        </p:nvPicPr>
        <p:blipFill>
          <a:blip r:embed="rId1"/>
          <a:stretch>
            <a:fillRect/>
          </a:stretch>
        </p:blipFill>
        <p:spPr>
          <a:xfrm>
            <a:off x="822960" y="1463040"/>
            <a:ext cx="10515600" cy="4522482"/>
          </a:xfrm>
          <a:prstGeom prst="rect">
            <a:avLst/>
          </a:prstGeom>
        </p:spPr>
      </p:pic>
      <p:sp>
        <p:nvSpPr>
          <p:cNvPr id="8" name="Shape 4"/>
          <p:cNvSpPr/>
          <p:nvPr/>
        </p:nvSpPr>
        <p:spPr>
          <a:xfrm>
            <a:off x="822960" y="1463040"/>
            <a:ext cx="10515600" cy="4522482"/>
          </a:xfrm>
          <a:prstGeom prst="rect">
            <a:avLst/>
          </a:prstGeom>
          <a:ln w="9525">
            <a:solidFill>
              <a:srgbClr val="D5DCE6"/>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2103120"/>
            <a:ext cx="2743200" cy="1097280"/>
          </a:xfrm>
          <a:prstGeom prst="rect">
            <a:avLst/>
          </a:prstGeom>
          <a:noFill/>
          <a:ln/>
        </p:spPr>
        <p:txBody>
          <a:bodyPr wrap="square" lIns="0" tIns="0" rIns="0" bIns="0" rtlCol="0" anchor="ctr"/>
          <a:lstStyle/>
          <a:p>
            <a:pPr indent="0" marL="0">
              <a:buNone/>
            </a:pPr>
            <a:r>
              <a:rPr lang="en-US" sz="6600" b="1" dirty="0">
                <a:solidFill>
                  <a:srgbClr val="F28C28"/>
                </a:solidFill>
                <a:latin typeface="Malgun Gothic" pitchFamily="34" charset="0"/>
                <a:ea typeface="Malgun Gothic" pitchFamily="34" charset="-122"/>
                <a:cs typeface="Malgun Gothic" pitchFamily="34" charset="-120"/>
              </a:rPr>
              <a:t>02</a:t>
            </a:r>
            <a:endParaRPr lang="en-US" sz="6600" dirty="0"/>
          </a:p>
        </p:txBody>
      </p:sp>
      <p:sp>
        <p:nvSpPr>
          <p:cNvPr id="3" name="Text 1"/>
          <p:cNvSpPr txBox="1"/>
          <p:nvPr/>
        </p:nvSpPr>
        <p:spPr>
          <a:xfrm>
            <a:off x="822960" y="3200400"/>
            <a:ext cx="10058400" cy="822960"/>
          </a:xfrm>
          <a:prstGeom prst="rect">
            <a:avLst/>
          </a:prstGeom>
          <a:noFill/>
          <a:ln/>
        </p:spPr>
        <p:txBody>
          <a:bodyPr wrap="square" lIns="0" tIns="0" rIns="0" bIns="0" rtlCol="0" anchor="ctr"/>
          <a:lstStyle/>
          <a:p>
            <a:pPr indent="0" marL="0">
              <a:buNone/>
            </a:pPr>
            <a:r>
              <a:rPr lang="en-US" sz="3600" b="1" dirty="0">
                <a:solidFill>
                  <a:srgbClr val="14284B"/>
                </a:solidFill>
                <a:latin typeface="Malgun Gothic" pitchFamily="34" charset="0"/>
                <a:ea typeface="Malgun Gothic" pitchFamily="34" charset="-122"/>
                <a:cs typeface="Malgun Gothic" pitchFamily="34" charset="-120"/>
              </a:rPr>
              <a:t>시스템 구성</a:t>
            </a:r>
            <a:endParaRPr lang="en-US" sz="3600" dirty="0"/>
          </a:p>
        </p:txBody>
      </p:sp>
      <p:sp>
        <p:nvSpPr>
          <p:cNvPr id="4" name="Text 2"/>
          <p:cNvSpPr txBox="1"/>
          <p:nvPr/>
        </p:nvSpPr>
        <p:spPr>
          <a:xfrm>
            <a:off x="822960" y="4023360"/>
            <a:ext cx="10058400" cy="457200"/>
          </a:xfrm>
          <a:prstGeom prst="rect">
            <a:avLst/>
          </a:prstGeom>
          <a:noFill/>
          <a:ln/>
        </p:spPr>
        <p:txBody>
          <a:bodyPr wrap="square" lIns="0" tIns="0" rIns="0" bIns="0" rtlCol="0" anchor="ctr"/>
          <a:lstStyle/>
          <a:p>
            <a:pPr indent="0" marL="0">
              <a:buNone/>
            </a:pPr>
            <a:r>
              <a:rPr lang="en-US" sz="1600" dirty="0">
                <a:solidFill>
                  <a:srgbClr val="5B6B84"/>
                </a:solidFill>
                <a:latin typeface="Malgun Gothic" pitchFamily="34" charset="0"/>
                <a:ea typeface="Malgun Gothic" pitchFamily="34" charset="-122"/>
                <a:cs typeface="Malgun Gothic" pitchFamily="34" charset="-120"/>
              </a:rPr>
              <a:t>누가 쓰고, 어떻게 연결되어 있나</a:t>
            </a:r>
            <a:endParaRPr lang="en-US" sz="16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7315200" cy="274320"/>
          </a:xfrm>
          <a:prstGeom prst="rect">
            <a:avLst/>
          </a:prstGeom>
          <a:noFill/>
          <a:ln/>
        </p:spPr>
        <p:txBody>
          <a:bodyPr wrap="square" lIns="0" tIns="0" rIns="0" bIns="0" rtlCol="0" anchor="ctr"/>
          <a:lstStyle/>
          <a:p>
            <a:pPr indent="0" marL="0">
              <a:buNone/>
            </a:pPr>
            <a:r>
              <a:rPr lang="en-US" sz="1200" b="1" dirty="0">
                <a:solidFill>
                  <a:srgbClr val="F28C28"/>
                </a:solidFill>
                <a:latin typeface="Malgun Gothic" pitchFamily="34" charset="0"/>
                <a:ea typeface="Malgun Gothic" pitchFamily="34" charset="-122"/>
                <a:cs typeface="Malgun Gothic" pitchFamily="34" charset="-120"/>
              </a:rPr>
              <a:t>02  시스템 구성</a:t>
            </a:r>
            <a:endParaRPr lang="en-US" sz="1200" dirty="0"/>
          </a:p>
        </p:txBody>
      </p:sp>
      <p:sp>
        <p:nvSpPr>
          <p:cNvPr id="3" name="Text 1"/>
          <p:cNvSpPr txBox="1"/>
          <p:nvPr/>
        </p:nvSpPr>
        <p:spPr>
          <a:xfrm>
            <a:off x="502920" y="594360"/>
            <a:ext cx="10972800" cy="685800"/>
          </a:xfrm>
          <a:prstGeom prst="rect">
            <a:avLst/>
          </a:prstGeom>
          <a:noFill/>
          <a:ln/>
        </p:spPr>
        <p:txBody>
          <a:bodyPr wrap="square" lIns="0" tIns="0" rIns="0" bIns="0" rtlCol="0" anchor="ctr"/>
          <a:lstStyle/>
          <a:p>
            <a:pPr indent="0" marL="0">
              <a:buNone/>
            </a:pPr>
            <a:r>
              <a:rPr lang="en-US" sz="3000" b="1" dirty="0">
                <a:solidFill>
                  <a:srgbClr val="14284B"/>
                </a:solidFill>
                <a:latin typeface="Malgun Gothic" pitchFamily="34" charset="0"/>
                <a:ea typeface="Malgun Gothic" pitchFamily="34" charset="-122"/>
                <a:cs typeface="Malgun Gothic" pitchFamily="34" charset="-120"/>
              </a:rPr>
              <a:t>세 종류의 사용자</a:t>
            </a:r>
            <a:endParaRPr lang="en-US" sz="3000" dirty="0"/>
          </a:p>
        </p:txBody>
      </p:sp>
      <p:sp>
        <p:nvSpPr>
          <p:cNvPr id="4" name="Text 2"/>
          <p:cNvSpPr txBox="1"/>
          <p:nvPr/>
        </p:nvSpPr>
        <p:spPr>
          <a:xfrm>
            <a:off x="502920" y="6446520"/>
            <a:ext cx="4572000" cy="228600"/>
          </a:xfrm>
          <a:prstGeom prst="rect">
            <a:avLst/>
          </a:prstGeom>
          <a:noFill/>
          <a:ln/>
        </p:spPr>
        <p:txBody>
          <a:bodyPr wrap="square" lIns="0" tIns="0" rIns="0" bIns="0" rtlCol="0" anchor="ctr"/>
          <a:lstStyle/>
          <a:p>
            <a:pPr indent="0" marL="0">
              <a:buNone/>
            </a:pPr>
            <a:r>
              <a:rPr lang="en-US" sz="900" dirty="0">
                <a:solidFill>
                  <a:srgbClr val="9AA3B2"/>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8</a:t>
            </a:r>
            <a:endParaRPr lang="en-US" sz="900" dirty="0"/>
          </a:p>
        </p:txBody>
      </p:sp>
      <p:sp>
        <p:nvSpPr>
          <p:cNvPr id="7" name="Text 4"/>
          <p:cNvSpPr txBox="1"/>
          <p:nvPr/>
        </p:nvSpPr>
        <p:spPr>
          <a:xfrm>
            <a:off x="822960" y="1737360"/>
            <a:ext cx="3291840" cy="548640"/>
          </a:xfrm>
          <a:prstGeom prst="rect">
            <a:avLst/>
          </a:prstGeom>
          <a:noFill/>
          <a:ln/>
        </p:spPr>
        <p:txBody>
          <a:bodyPr wrap="square" lIns="0" tIns="0" rIns="0" bIns="0" rtlCol="0" anchor="ctr"/>
          <a:lstStyle/>
          <a:p>
            <a:pPr indent="0" marL="0">
              <a:buNone/>
            </a:pPr>
            <a:r>
              <a:rPr lang="en-US" sz="2400" b="1" dirty="0">
                <a:solidFill>
                  <a:srgbClr val="14284B"/>
                </a:solidFill>
                <a:latin typeface="Malgun Gothic" pitchFamily="34" charset="0"/>
                <a:ea typeface="Malgun Gothic" pitchFamily="34" charset="-122"/>
                <a:cs typeface="Malgun Gothic" pitchFamily="34" charset="-120"/>
              </a:rPr>
              <a:t>관리자</a:t>
            </a:r>
            <a:endParaRPr lang="en-US" sz="2400" dirty="0"/>
          </a:p>
        </p:txBody>
      </p:sp>
      <p:sp>
        <p:nvSpPr>
          <p:cNvPr id="8" name="Shape 5"/>
          <p:cNvSpPr/>
          <p:nvPr/>
        </p:nvSpPr>
        <p:spPr>
          <a:xfrm>
            <a:off x="822960" y="2377440"/>
            <a:ext cx="3291840" cy="0"/>
          </a:xfrm>
          <a:prstGeom prst="line">
            <a:avLst/>
          </a:prstGeom>
          <a:noFill/>
          <a:ln w="9525">
            <a:solidFill>
              <a:srgbClr val="E3E8EF"/>
            </a:solidFill>
            <a:prstDash val="solid"/>
          </a:ln>
        </p:spPr>
      </p:sp>
      <p:sp>
        <p:nvSpPr>
          <p:cNvPr id="9" name="Text 6"/>
          <p:cNvSpPr txBox="1"/>
          <p:nvPr/>
        </p:nvSpPr>
        <p:spPr>
          <a:xfrm>
            <a:off x="822960" y="2606040"/>
            <a:ext cx="3291840" cy="2743200"/>
          </a:xfrm>
          <a:prstGeom prst="rect">
            <a:avLst/>
          </a:prstGeom>
          <a:noFill/>
          <a:ln/>
        </p:spPr>
        <p:txBody>
          <a:bodyPr wrap="square" lIns="0" tIns="0" rIns="0" bIns="0" rtlCol="0" anchor="t"/>
          <a:lstStyle/>
          <a:p>
            <a:pPr indent="0" marL="0">
              <a:spcAft>
                <a:spcPts val="1400"/>
              </a:spcAft>
              <a:buNone/>
            </a:pPr>
            <a:r>
              <a:rPr lang="en-US" sz="1700" dirty="0">
                <a:solidFill>
                  <a:srgbClr val="1B2333"/>
                </a:solidFill>
                <a:latin typeface="Malgun Gothic" pitchFamily="34" charset="0"/>
                <a:ea typeface="Malgun Gothic" pitchFamily="34" charset="-122"/>
                <a:cs typeface="Malgun Gothic" pitchFamily="34" charset="-120"/>
              </a:rPr>
              <a:t>게이트 OCR 검사</a:t>
            </a:r>
            <a:endParaRPr lang="en-US" sz="1700" dirty="0"/>
          </a:p>
          <a:p>
            <a:pPr indent="0" marL="0">
              <a:spcAft>
                <a:spcPts val="1400"/>
              </a:spcAft>
              <a:buNone/>
            </a:pPr>
            <a:r>
              <a:rPr lang="en-US" sz="1700" dirty="0">
                <a:solidFill>
                  <a:srgbClr val="1B2333"/>
                </a:solidFill>
                <a:latin typeface="Malgun Gothic" pitchFamily="34" charset="0"/>
                <a:ea typeface="Malgun Gothic" pitchFamily="34" charset="-122"/>
                <a:cs typeface="Malgun Gothic" pitchFamily="34" charset="-120"/>
              </a:rPr>
              <a:t>검사소 계량 · 재계량</a:t>
            </a:r>
            <a:endParaRPr lang="en-US" sz="1700" dirty="0"/>
          </a:p>
          <a:p>
            <a:pPr indent="0" marL="0">
              <a:spcAft>
                <a:spcPts val="1400"/>
              </a:spcAft>
              <a:buNone/>
            </a:pPr>
            <a:r>
              <a:rPr lang="en-US" sz="1700" dirty="0">
                <a:solidFill>
                  <a:srgbClr val="1B2333"/>
                </a:solidFill>
                <a:latin typeface="Malgun Gothic" pitchFamily="34" charset="0"/>
                <a:ea typeface="Malgun Gothic" pitchFamily="34" charset="-122"/>
                <a:cs typeface="Malgun Gothic" pitchFamily="34" charset="-120"/>
              </a:rPr>
              <a:t>차량 · 컨테이너 · 야드 관리</a:t>
            </a:r>
            <a:endParaRPr lang="en-US" sz="1700" dirty="0"/>
          </a:p>
          <a:p>
            <a:pPr indent="0" marL="0">
              <a:spcAft>
                <a:spcPts val="1400"/>
              </a:spcAft>
              <a:buNone/>
            </a:pPr>
            <a:r>
              <a:rPr lang="en-US" sz="1700" dirty="0">
                <a:solidFill>
                  <a:srgbClr val="1B2333"/>
                </a:solidFill>
                <a:latin typeface="Malgun Gothic" pitchFamily="34" charset="0"/>
                <a:ea typeface="Malgun Gothic" pitchFamily="34" charset="-122"/>
                <a:cs typeface="Malgun Gothic" pitchFamily="34" charset="-120"/>
              </a:rPr>
              <a:t>과적 기록 · 공지사항</a:t>
            </a:r>
            <a:endParaRPr lang="en-US" sz="1700" dirty="0"/>
          </a:p>
        </p:txBody>
      </p:sp>
      <p:sp>
        <p:nvSpPr>
          <p:cNvPr id="10" name="Text 7"/>
          <p:cNvSpPr txBox="1"/>
          <p:nvPr/>
        </p:nvSpPr>
        <p:spPr>
          <a:xfrm>
            <a:off x="4572000" y="1737360"/>
            <a:ext cx="3291840" cy="548640"/>
          </a:xfrm>
          <a:prstGeom prst="rect">
            <a:avLst/>
          </a:prstGeom>
          <a:noFill/>
          <a:ln/>
        </p:spPr>
        <p:txBody>
          <a:bodyPr wrap="square" lIns="0" tIns="0" rIns="0" bIns="0" rtlCol="0" anchor="ctr"/>
          <a:lstStyle/>
          <a:p>
            <a:pPr indent="0" marL="0">
              <a:buNone/>
            </a:pPr>
            <a:r>
              <a:rPr lang="en-US" sz="2400" b="1" dirty="0">
                <a:solidFill>
                  <a:srgbClr val="14284B"/>
                </a:solidFill>
                <a:latin typeface="Malgun Gothic" pitchFamily="34" charset="0"/>
                <a:ea typeface="Malgun Gothic" pitchFamily="34" charset="-122"/>
                <a:cs typeface="Malgun Gothic" pitchFamily="34" charset="-120"/>
              </a:rPr>
              <a:t>운송 기업</a:t>
            </a:r>
            <a:endParaRPr lang="en-US" sz="2400" dirty="0"/>
          </a:p>
        </p:txBody>
      </p:sp>
      <p:sp>
        <p:nvSpPr>
          <p:cNvPr id="11" name="Shape 8"/>
          <p:cNvSpPr/>
          <p:nvPr/>
        </p:nvSpPr>
        <p:spPr>
          <a:xfrm>
            <a:off x="4572000" y="2377440"/>
            <a:ext cx="3291840" cy="0"/>
          </a:xfrm>
          <a:prstGeom prst="line">
            <a:avLst/>
          </a:prstGeom>
          <a:noFill/>
          <a:ln w="9525">
            <a:solidFill>
              <a:srgbClr val="E3E8EF"/>
            </a:solidFill>
            <a:prstDash val="solid"/>
          </a:ln>
        </p:spPr>
      </p:sp>
      <p:sp>
        <p:nvSpPr>
          <p:cNvPr id="12" name="Text 9"/>
          <p:cNvSpPr txBox="1"/>
          <p:nvPr/>
        </p:nvSpPr>
        <p:spPr>
          <a:xfrm>
            <a:off x="4572000" y="2606040"/>
            <a:ext cx="3291840" cy="2743200"/>
          </a:xfrm>
          <a:prstGeom prst="rect">
            <a:avLst/>
          </a:prstGeom>
          <a:noFill/>
          <a:ln/>
        </p:spPr>
        <p:txBody>
          <a:bodyPr wrap="square" lIns="0" tIns="0" rIns="0" bIns="0" rtlCol="0" anchor="t"/>
          <a:lstStyle/>
          <a:p>
            <a:pPr indent="0" marL="0">
              <a:spcAft>
                <a:spcPts val="1400"/>
              </a:spcAft>
              <a:buNone/>
            </a:pPr>
            <a:r>
              <a:rPr lang="en-US" sz="1700" dirty="0">
                <a:solidFill>
                  <a:srgbClr val="1B2333"/>
                </a:solidFill>
                <a:latin typeface="Malgun Gothic" pitchFamily="34" charset="0"/>
                <a:ea typeface="Malgun Gothic" pitchFamily="34" charset="-122"/>
                <a:cs typeface="Malgun Gothic" pitchFamily="34" charset="-120"/>
              </a:rPr>
              <a:t>소속 차량 등록</a:t>
            </a:r>
            <a:endParaRPr lang="en-US" sz="1700" dirty="0"/>
          </a:p>
          <a:p>
            <a:pPr indent="0" marL="0">
              <a:spcAft>
                <a:spcPts val="1400"/>
              </a:spcAft>
              <a:buNone/>
            </a:pPr>
            <a:r>
              <a:rPr lang="en-US" sz="1700" dirty="0">
                <a:solidFill>
                  <a:srgbClr val="1B2333"/>
                </a:solidFill>
                <a:latin typeface="Malgun Gothic" pitchFamily="34" charset="0"/>
                <a:ea typeface="Malgun Gothic" pitchFamily="34" charset="-122"/>
                <a:cs typeface="Malgun Gothic" pitchFamily="34" charset="-120"/>
              </a:rPr>
              <a:t>기사 관리 · 배정</a:t>
            </a:r>
            <a:endParaRPr lang="en-US" sz="1700" dirty="0"/>
          </a:p>
          <a:p>
            <a:pPr indent="0" marL="0">
              <a:spcAft>
                <a:spcPts val="1400"/>
              </a:spcAft>
              <a:buNone/>
            </a:pPr>
            <a:r>
              <a:rPr lang="en-US" sz="1700" dirty="0">
                <a:solidFill>
                  <a:srgbClr val="1B2333"/>
                </a:solidFill>
                <a:latin typeface="Malgun Gothic" pitchFamily="34" charset="0"/>
                <a:ea typeface="Malgun Gothic" pitchFamily="34" charset="-122"/>
                <a:cs typeface="Malgun Gothic" pitchFamily="34" charset="-120"/>
              </a:rPr>
              <a:t>컨테이너 위치 조회</a:t>
            </a:r>
            <a:endParaRPr lang="en-US" sz="1700" dirty="0"/>
          </a:p>
          <a:p>
            <a:pPr indent="0" marL="0">
              <a:spcAft>
                <a:spcPts val="1400"/>
              </a:spcAft>
              <a:buNone/>
            </a:pPr>
            <a:r>
              <a:rPr lang="en-US" sz="1700" dirty="0">
                <a:solidFill>
                  <a:srgbClr val="1B2333"/>
                </a:solidFill>
                <a:latin typeface="Malgun Gothic" pitchFamily="34" charset="0"/>
                <a:ea typeface="Malgun Gothic" pitchFamily="34" charset="-122"/>
                <a:cs typeface="Malgun Gothic" pitchFamily="34" charset="-120"/>
              </a:rPr>
              <a:t>과적 알림 수신</a:t>
            </a:r>
            <a:endParaRPr lang="en-US" sz="1700" dirty="0"/>
          </a:p>
        </p:txBody>
      </p:sp>
      <p:sp>
        <p:nvSpPr>
          <p:cNvPr id="13" name="Text 10"/>
          <p:cNvSpPr txBox="1"/>
          <p:nvPr/>
        </p:nvSpPr>
        <p:spPr>
          <a:xfrm>
            <a:off x="8321040" y="1737360"/>
            <a:ext cx="3291840" cy="548640"/>
          </a:xfrm>
          <a:prstGeom prst="rect">
            <a:avLst/>
          </a:prstGeom>
          <a:noFill/>
          <a:ln/>
        </p:spPr>
        <p:txBody>
          <a:bodyPr wrap="square" lIns="0" tIns="0" rIns="0" bIns="0" rtlCol="0" anchor="ctr"/>
          <a:lstStyle/>
          <a:p>
            <a:pPr indent="0" marL="0">
              <a:buNone/>
            </a:pPr>
            <a:r>
              <a:rPr lang="en-US" sz="2400" b="1" dirty="0">
                <a:solidFill>
                  <a:srgbClr val="14284B"/>
                </a:solidFill>
                <a:latin typeface="Malgun Gothic" pitchFamily="34" charset="0"/>
                <a:ea typeface="Malgun Gothic" pitchFamily="34" charset="-122"/>
                <a:cs typeface="Malgun Gothic" pitchFamily="34" charset="-120"/>
              </a:rPr>
              <a:t>기사</a:t>
            </a:r>
            <a:endParaRPr lang="en-US" sz="2400" dirty="0"/>
          </a:p>
        </p:txBody>
      </p:sp>
      <p:sp>
        <p:nvSpPr>
          <p:cNvPr id="14" name="Shape 11"/>
          <p:cNvSpPr/>
          <p:nvPr/>
        </p:nvSpPr>
        <p:spPr>
          <a:xfrm>
            <a:off x="8321040" y="2377440"/>
            <a:ext cx="3291840" cy="0"/>
          </a:xfrm>
          <a:prstGeom prst="line">
            <a:avLst/>
          </a:prstGeom>
          <a:noFill/>
          <a:ln w="9525">
            <a:solidFill>
              <a:srgbClr val="E3E8EF"/>
            </a:solidFill>
            <a:prstDash val="solid"/>
          </a:ln>
        </p:spPr>
      </p:sp>
      <p:sp>
        <p:nvSpPr>
          <p:cNvPr id="15" name="Text 12"/>
          <p:cNvSpPr txBox="1"/>
          <p:nvPr/>
        </p:nvSpPr>
        <p:spPr>
          <a:xfrm>
            <a:off x="8321040" y="2606040"/>
            <a:ext cx="3291840" cy="2743200"/>
          </a:xfrm>
          <a:prstGeom prst="rect">
            <a:avLst/>
          </a:prstGeom>
          <a:noFill/>
          <a:ln/>
        </p:spPr>
        <p:txBody>
          <a:bodyPr wrap="square" lIns="0" tIns="0" rIns="0" bIns="0" rtlCol="0" anchor="t"/>
          <a:lstStyle/>
          <a:p>
            <a:pPr indent="0" marL="0">
              <a:spcAft>
                <a:spcPts val="1400"/>
              </a:spcAft>
              <a:buNone/>
            </a:pPr>
            <a:r>
              <a:rPr lang="en-US" sz="1700" dirty="0">
                <a:solidFill>
                  <a:srgbClr val="1B2333"/>
                </a:solidFill>
                <a:latin typeface="Malgun Gothic" pitchFamily="34" charset="0"/>
                <a:ea typeface="Malgun Gothic" pitchFamily="34" charset="-122"/>
                <a:cs typeface="Malgun Gothic" pitchFamily="34" charset="-120"/>
              </a:rPr>
              <a:t>배차 목록</a:t>
            </a:r>
            <a:endParaRPr lang="en-US" sz="1700" dirty="0"/>
          </a:p>
          <a:p>
            <a:pPr indent="0" marL="0">
              <a:spcAft>
                <a:spcPts val="1400"/>
              </a:spcAft>
              <a:buNone/>
            </a:pPr>
            <a:r>
              <a:rPr lang="en-US" sz="1700" dirty="0">
                <a:solidFill>
                  <a:srgbClr val="1B2333"/>
                </a:solidFill>
                <a:latin typeface="Malgun Gothic" pitchFamily="34" charset="0"/>
                <a:ea typeface="Malgun Gothic" pitchFamily="34" charset="-122"/>
                <a:cs typeface="Malgun Gothic" pitchFamily="34" charset="-120"/>
              </a:rPr>
              <a:t>운송 현황</a:t>
            </a:r>
            <a:endParaRPr lang="en-US" sz="1700" dirty="0"/>
          </a:p>
          <a:p>
            <a:pPr indent="0" marL="0">
              <a:spcAft>
                <a:spcPts val="1400"/>
              </a:spcAft>
              <a:buNone/>
            </a:pPr>
            <a:r>
              <a:rPr lang="en-US" sz="1700" dirty="0">
                <a:solidFill>
                  <a:srgbClr val="1B2333"/>
                </a:solidFill>
                <a:latin typeface="Malgun Gothic" pitchFamily="34" charset="0"/>
                <a:ea typeface="Malgun Gothic" pitchFamily="34" charset="-122"/>
                <a:cs typeface="Malgun Gothic" pitchFamily="34" charset="-120"/>
              </a:rPr>
              <a:t>정산 내역</a:t>
            </a:r>
            <a:endParaRPr lang="en-US" sz="1700" dirty="0"/>
          </a:p>
          <a:p>
            <a:pPr indent="0" marL="0">
              <a:spcAft>
                <a:spcPts val="1400"/>
              </a:spcAft>
              <a:buNone/>
            </a:pPr>
            <a:r>
              <a:rPr lang="en-US" sz="1700" dirty="0">
                <a:solidFill>
                  <a:srgbClr val="1B2333"/>
                </a:solidFill>
                <a:latin typeface="Malgun Gothic" pitchFamily="34" charset="0"/>
                <a:ea typeface="Malgun Gothic" pitchFamily="34" charset="-122"/>
                <a:cs typeface="Malgun Gothic" pitchFamily="34" charset="-120"/>
              </a:rPr>
              <a:t>내 정보 · 차량</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7315200" cy="274320"/>
          </a:xfrm>
          <a:prstGeom prst="rect">
            <a:avLst/>
          </a:prstGeom>
          <a:noFill/>
          <a:ln/>
        </p:spPr>
        <p:txBody>
          <a:bodyPr wrap="square" lIns="0" tIns="0" rIns="0" bIns="0" rtlCol="0" anchor="ctr"/>
          <a:lstStyle/>
          <a:p>
            <a:pPr indent="0" marL="0">
              <a:buNone/>
            </a:pPr>
            <a:r>
              <a:rPr lang="en-US" sz="1200" b="1" dirty="0">
                <a:solidFill>
                  <a:srgbClr val="F28C28"/>
                </a:solidFill>
                <a:latin typeface="Malgun Gothic" pitchFamily="34" charset="0"/>
                <a:ea typeface="Malgun Gothic" pitchFamily="34" charset="-122"/>
                <a:cs typeface="Malgun Gothic" pitchFamily="34" charset="-120"/>
              </a:rPr>
              <a:t>02  시스템 구성</a:t>
            </a:r>
            <a:endParaRPr lang="en-US" sz="1200" dirty="0"/>
          </a:p>
        </p:txBody>
      </p:sp>
      <p:sp>
        <p:nvSpPr>
          <p:cNvPr id="3" name="Text 1"/>
          <p:cNvSpPr txBox="1"/>
          <p:nvPr/>
        </p:nvSpPr>
        <p:spPr>
          <a:xfrm>
            <a:off x="502920" y="594360"/>
            <a:ext cx="10972800" cy="685800"/>
          </a:xfrm>
          <a:prstGeom prst="rect">
            <a:avLst/>
          </a:prstGeom>
          <a:noFill/>
          <a:ln/>
        </p:spPr>
        <p:txBody>
          <a:bodyPr wrap="square" lIns="0" tIns="0" rIns="0" bIns="0" rtlCol="0" anchor="ctr"/>
          <a:lstStyle/>
          <a:p>
            <a:pPr indent="0" marL="0">
              <a:buNone/>
            </a:pPr>
            <a:r>
              <a:rPr lang="en-US" sz="3000" b="1" dirty="0">
                <a:solidFill>
                  <a:srgbClr val="14284B"/>
                </a:solidFill>
                <a:latin typeface="Malgun Gothic" pitchFamily="34" charset="0"/>
                <a:ea typeface="Malgun Gothic" pitchFamily="34" charset="-122"/>
                <a:cs typeface="Malgun Gothic" pitchFamily="34" charset="-120"/>
              </a:rPr>
              <a:t>시스템 구조</a:t>
            </a:r>
            <a:endParaRPr lang="en-US" sz="3000" dirty="0"/>
          </a:p>
        </p:txBody>
      </p:sp>
      <p:sp>
        <p:nvSpPr>
          <p:cNvPr id="4" name="Text 2"/>
          <p:cNvSpPr txBox="1"/>
          <p:nvPr/>
        </p:nvSpPr>
        <p:spPr>
          <a:xfrm>
            <a:off x="502920" y="6446520"/>
            <a:ext cx="4572000" cy="228600"/>
          </a:xfrm>
          <a:prstGeom prst="rect">
            <a:avLst/>
          </a:prstGeom>
          <a:noFill/>
          <a:ln/>
        </p:spPr>
        <p:txBody>
          <a:bodyPr wrap="square" lIns="0" tIns="0" rIns="0" bIns="0" rtlCol="0" anchor="ctr"/>
          <a:lstStyle/>
          <a:p>
            <a:pPr indent="0" marL="0">
              <a:buNone/>
            </a:pPr>
            <a:r>
              <a:rPr lang="en-US" sz="900" dirty="0">
                <a:solidFill>
                  <a:srgbClr val="9AA3B2"/>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9</a:t>
            </a:r>
            <a:endParaRPr lang="en-US" sz="900" dirty="0"/>
          </a:p>
        </p:txBody>
      </p:sp>
      <p:sp>
        <p:nvSpPr>
          <p:cNvPr id="7" name="Shape 4"/>
          <p:cNvSpPr/>
          <p:nvPr/>
        </p:nvSpPr>
        <p:spPr>
          <a:xfrm>
            <a:off x="822960" y="1828800"/>
            <a:ext cx="2926080" cy="1188720"/>
          </a:xfrm>
          <a:prstGeom prst="rect">
            <a:avLst/>
          </a:prstGeom>
          <a:solidFill>
            <a:srgbClr val="14284B"/>
          </a:solidFill>
          <a:ln w="12700">
            <a:solidFill>
              <a:srgbClr val="14284B"/>
            </a:solidFill>
            <a:prstDash val="solid"/>
          </a:ln>
        </p:spPr>
      </p:sp>
      <p:sp>
        <p:nvSpPr>
          <p:cNvPr id="8" name="Text 5"/>
          <p:cNvSpPr txBox="1"/>
          <p:nvPr/>
        </p:nvSpPr>
        <p:spPr>
          <a:xfrm>
            <a:off x="822960" y="2011680"/>
            <a:ext cx="292608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화면</a:t>
            </a:r>
            <a:endParaRPr lang="en-US" sz="2000" dirty="0"/>
          </a:p>
        </p:txBody>
      </p:sp>
      <p:sp>
        <p:nvSpPr>
          <p:cNvPr id="9" name="Text 6"/>
          <p:cNvSpPr txBox="1"/>
          <p:nvPr/>
        </p:nvSpPr>
        <p:spPr>
          <a:xfrm>
            <a:off x="822960" y="2487168"/>
            <a:ext cx="292608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Malgun Gothic" pitchFamily="34" charset="0"/>
                <a:ea typeface="Malgun Gothic" pitchFamily="34" charset="-122"/>
                <a:cs typeface="Malgun Gothic" pitchFamily="34" charset="-120"/>
              </a:rPr>
              <a:t>Vue 3  ·  :5173</a:t>
            </a:r>
            <a:endParaRPr lang="en-US" sz="1300" dirty="0"/>
          </a:p>
        </p:txBody>
      </p:sp>
      <p:sp>
        <p:nvSpPr>
          <p:cNvPr id="10" name="Shape 7"/>
          <p:cNvSpPr/>
          <p:nvPr/>
        </p:nvSpPr>
        <p:spPr>
          <a:xfrm>
            <a:off x="4617720" y="1828800"/>
            <a:ext cx="2926080" cy="1188720"/>
          </a:xfrm>
          <a:prstGeom prst="rect">
            <a:avLst/>
          </a:prstGeom>
          <a:solidFill>
            <a:srgbClr val="14284B"/>
          </a:solidFill>
          <a:ln w="12700">
            <a:solidFill>
              <a:srgbClr val="14284B"/>
            </a:solidFill>
            <a:prstDash val="solid"/>
          </a:ln>
        </p:spPr>
      </p:sp>
      <p:sp>
        <p:nvSpPr>
          <p:cNvPr id="11" name="Text 8"/>
          <p:cNvSpPr txBox="1"/>
          <p:nvPr/>
        </p:nvSpPr>
        <p:spPr>
          <a:xfrm>
            <a:off x="4617720" y="2011680"/>
            <a:ext cx="292608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서버</a:t>
            </a:r>
            <a:endParaRPr lang="en-US" sz="2000" dirty="0"/>
          </a:p>
        </p:txBody>
      </p:sp>
      <p:sp>
        <p:nvSpPr>
          <p:cNvPr id="12" name="Text 9"/>
          <p:cNvSpPr txBox="1"/>
          <p:nvPr/>
        </p:nvSpPr>
        <p:spPr>
          <a:xfrm>
            <a:off x="4617720" y="2487168"/>
            <a:ext cx="292608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Malgun Gothic" pitchFamily="34" charset="0"/>
                <a:ea typeface="Malgun Gothic" pitchFamily="34" charset="-122"/>
                <a:cs typeface="Malgun Gothic" pitchFamily="34" charset="-120"/>
              </a:rPr>
              <a:t>Spring Boot  ·  :8080</a:t>
            </a:r>
            <a:endParaRPr lang="en-US" sz="1300" dirty="0"/>
          </a:p>
        </p:txBody>
      </p:sp>
      <p:sp>
        <p:nvSpPr>
          <p:cNvPr id="13" name="Shape 10"/>
          <p:cNvSpPr/>
          <p:nvPr/>
        </p:nvSpPr>
        <p:spPr>
          <a:xfrm>
            <a:off x="8412480" y="1828800"/>
            <a:ext cx="2926080" cy="1188720"/>
          </a:xfrm>
          <a:prstGeom prst="rect">
            <a:avLst/>
          </a:prstGeom>
          <a:solidFill>
            <a:srgbClr val="14284B"/>
          </a:solidFill>
          <a:ln w="12700">
            <a:solidFill>
              <a:srgbClr val="14284B"/>
            </a:solidFill>
            <a:prstDash val="solid"/>
          </a:ln>
        </p:spPr>
      </p:sp>
      <p:sp>
        <p:nvSpPr>
          <p:cNvPr id="14" name="Text 11"/>
          <p:cNvSpPr txBox="1"/>
          <p:nvPr/>
        </p:nvSpPr>
        <p:spPr>
          <a:xfrm>
            <a:off x="8412480" y="2011680"/>
            <a:ext cx="292608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DB</a:t>
            </a:r>
            <a:endParaRPr lang="en-US" sz="2000" dirty="0"/>
          </a:p>
        </p:txBody>
      </p:sp>
      <p:sp>
        <p:nvSpPr>
          <p:cNvPr id="15" name="Text 12"/>
          <p:cNvSpPr txBox="1"/>
          <p:nvPr/>
        </p:nvSpPr>
        <p:spPr>
          <a:xfrm>
            <a:off x="8412480" y="2487168"/>
            <a:ext cx="292608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Malgun Gothic" pitchFamily="34" charset="0"/>
                <a:ea typeface="Malgun Gothic" pitchFamily="34" charset="-122"/>
                <a:cs typeface="Malgun Gothic" pitchFamily="34" charset="-120"/>
              </a:rPr>
              <a:t>PostgreSQL</a:t>
            </a:r>
            <a:endParaRPr lang="en-US" sz="1300" dirty="0"/>
          </a:p>
        </p:txBody>
      </p:sp>
      <p:sp>
        <p:nvSpPr>
          <p:cNvPr id="16" name="Shape 13"/>
          <p:cNvSpPr/>
          <p:nvPr/>
        </p:nvSpPr>
        <p:spPr>
          <a:xfrm>
            <a:off x="4617720" y="4206240"/>
            <a:ext cx="2926080" cy="1188720"/>
          </a:xfrm>
          <a:prstGeom prst="rect">
            <a:avLst/>
          </a:prstGeom>
          <a:solidFill>
            <a:srgbClr val="F28C28"/>
          </a:solidFill>
          <a:ln w="12700">
            <a:solidFill>
              <a:srgbClr val="F28C28"/>
            </a:solidFill>
            <a:prstDash val="solid"/>
          </a:ln>
        </p:spPr>
      </p:sp>
      <p:sp>
        <p:nvSpPr>
          <p:cNvPr id="17" name="Text 14"/>
          <p:cNvSpPr txBox="1"/>
          <p:nvPr/>
        </p:nvSpPr>
        <p:spPr>
          <a:xfrm>
            <a:off x="4617720" y="4389120"/>
            <a:ext cx="292608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OCR 서버</a:t>
            </a:r>
            <a:endParaRPr lang="en-US" sz="2000" dirty="0"/>
          </a:p>
        </p:txBody>
      </p:sp>
      <p:sp>
        <p:nvSpPr>
          <p:cNvPr id="18" name="Text 15"/>
          <p:cNvSpPr txBox="1"/>
          <p:nvPr/>
        </p:nvSpPr>
        <p:spPr>
          <a:xfrm>
            <a:off x="4617720" y="4864608"/>
            <a:ext cx="292608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Malgun Gothic" pitchFamily="34" charset="0"/>
                <a:ea typeface="Malgun Gothic" pitchFamily="34" charset="-122"/>
                <a:cs typeface="Malgun Gothic" pitchFamily="34" charset="-120"/>
              </a:rPr>
              <a:t>Python FastAPI  ·  :8001</a:t>
            </a:r>
            <a:endParaRPr lang="en-US" sz="1300" dirty="0"/>
          </a:p>
        </p:txBody>
      </p:sp>
      <p:sp>
        <p:nvSpPr>
          <p:cNvPr id="19" name="Shape 16"/>
          <p:cNvSpPr/>
          <p:nvPr/>
        </p:nvSpPr>
        <p:spPr>
          <a:xfrm>
            <a:off x="3749040" y="2423160"/>
            <a:ext cx="868680" cy="0"/>
          </a:xfrm>
          <a:prstGeom prst="line">
            <a:avLst/>
          </a:prstGeom>
          <a:noFill/>
          <a:ln w="19050">
            <a:solidFill>
              <a:srgbClr val="5B6B84"/>
            </a:solidFill>
            <a:prstDash val="solid"/>
            <a:headEnd type="triangle"/>
            <a:tailEnd type="triangle"/>
          </a:ln>
        </p:spPr>
      </p:sp>
      <p:sp>
        <p:nvSpPr>
          <p:cNvPr id="20" name="Shape 17"/>
          <p:cNvSpPr/>
          <p:nvPr/>
        </p:nvSpPr>
        <p:spPr>
          <a:xfrm>
            <a:off x="7543800" y="2423160"/>
            <a:ext cx="868680" cy="0"/>
          </a:xfrm>
          <a:prstGeom prst="line">
            <a:avLst/>
          </a:prstGeom>
          <a:noFill/>
          <a:ln w="19050">
            <a:solidFill>
              <a:srgbClr val="5B6B84"/>
            </a:solidFill>
            <a:prstDash val="solid"/>
            <a:headEnd type="triangle"/>
            <a:tailEnd type="triangle"/>
          </a:ln>
        </p:spPr>
      </p:sp>
      <p:sp>
        <p:nvSpPr>
          <p:cNvPr id="21" name="Shape 18"/>
          <p:cNvSpPr/>
          <p:nvPr/>
        </p:nvSpPr>
        <p:spPr>
          <a:xfrm>
            <a:off x="6080760" y="3017520"/>
            <a:ext cx="0" cy="1188720"/>
          </a:xfrm>
          <a:prstGeom prst="line">
            <a:avLst/>
          </a:prstGeom>
          <a:noFill/>
          <a:ln w="19050">
            <a:solidFill>
              <a:srgbClr val="5B6B84"/>
            </a:solidFill>
            <a:prstDash val="solid"/>
            <a:headEnd type="triangle"/>
            <a:tailEnd type="triangle"/>
          </a:ln>
        </p:spPr>
      </p:sp>
      <p:sp>
        <p:nvSpPr>
          <p:cNvPr id="22" name="Text 19"/>
          <p:cNvSpPr txBox="1"/>
          <p:nvPr/>
        </p:nvSpPr>
        <p:spPr>
          <a:xfrm>
            <a:off x="3657600" y="2057400"/>
            <a:ext cx="1097280" cy="274320"/>
          </a:xfrm>
          <a:prstGeom prst="rect">
            <a:avLst/>
          </a:prstGeom>
          <a:noFill/>
          <a:ln/>
        </p:spPr>
        <p:txBody>
          <a:bodyPr wrap="square" lIns="0" tIns="0" rIns="0" bIns="0" rtlCol="0" anchor="ctr"/>
          <a:lstStyle/>
          <a:p>
            <a:pPr algn="ctr" indent="0" marL="0">
              <a:buNone/>
            </a:pPr>
            <a:r>
              <a:rPr lang="en-US" sz="1100" dirty="0">
                <a:solidFill>
                  <a:srgbClr val="5B6B84"/>
                </a:solidFill>
                <a:latin typeface="Malgun Gothic" pitchFamily="34" charset="0"/>
                <a:ea typeface="Malgun Gothic" pitchFamily="34" charset="-122"/>
                <a:cs typeface="Malgun Gothic" pitchFamily="34" charset="-120"/>
              </a:rPr>
              <a:t>REST API</a:t>
            </a:r>
            <a:endParaRPr lang="en-US" sz="1100" dirty="0"/>
          </a:p>
        </p:txBody>
      </p:sp>
      <p:sp>
        <p:nvSpPr>
          <p:cNvPr id="23" name="Text 20"/>
          <p:cNvSpPr txBox="1"/>
          <p:nvPr/>
        </p:nvSpPr>
        <p:spPr>
          <a:xfrm>
            <a:off x="7452360" y="2057400"/>
            <a:ext cx="1097280" cy="274320"/>
          </a:xfrm>
          <a:prstGeom prst="rect">
            <a:avLst/>
          </a:prstGeom>
          <a:noFill/>
          <a:ln/>
        </p:spPr>
        <p:txBody>
          <a:bodyPr wrap="square" lIns="0" tIns="0" rIns="0" bIns="0" rtlCol="0" anchor="ctr"/>
          <a:lstStyle/>
          <a:p>
            <a:pPr algn="ctr" indent="0" marL="0">
              <a:buNone/>
            </a:pPr>
            <a:r>
              <a:rPr lang="en-US" sz="1100" dirty="0">
                <a:solidFill>
                  <a:srgbClr val="5B6B84"/>
                </a:solidFill>
                <a:latin typeface="Malgun Gothic" pitchFamily="34" charset="0"/>
                <a:ea typeface="Malgun Gothic" pitchFamily="34" charset="-122"/>
                <a:cs typeface="Malgun Gothic" pitchFamily="34" charset="-120"/>
              </a:rPr>
              <a:t>JPA</a:t>
            </a:r>
            <a:endParaRPr lang="en-US" sz="1100" dirty="0"/>
          </a:p>
        </p:txBody>
      </p:sp>
      <p:sp>
        <p:nvSpPr>
          <p:cNvPr id="24" name="Text 21"/>
          <p:cNvSpPr txBox="1"/>
          <p:nvPr/>
        </p:nvSpPr>
        <p:spPr>
          <a:xfrm>
            <a:off x="6217920" y="3429000"/>
            <a:ext cx="1828800" cy="274320"/>
          </a:xfrm>
          <a:prstGeom prst="rect">
            <a:avLst/>
          </a:prstGeom>
          <a:noFill/>
          <a:ln/>
        </p:spPr>
        <p:txBody>
          <a:bodyPr wrap="square" lIns="0" tIns="0" rIns="0" bIns="0" rtlCol="0" anchor="ctr"/>
          <a:lstStyle/>
          <a:p>
            <a:pPr indent="0" marL="0">
              <a:buNone/>
            </a:pPr>
            <a:r>
              <a:rPr lang="en-US" sz="1100" dirty="0">
                <a:solidFill>
                  <a:srgbClr val="5B6B84"/>
                </a:solidFill>
                <a:latin typeface="Malgun Gothic" pitchFamily="34" charset="0"/>
                <a:ea typeface="Malgun Gothic" pitchFamily="34" charset="-122"/>
                <a:cs typeface="Malgun Gothic" pitchFamily="34" charset="-120"/>
              </a:rPr>
              <a:t>인식 결과 저장</a:t>
            </a:r>
            <a:endParaRPr lang="en-US" sz="1100" dirty="0"/>
          </a:p>
        </p:txBody>
      </p:sp>
      <p:sp>
        <p:nvSpPr>
          <p:cNvPr id="25" name="Text 22"/>
          <p:cNvSpPr txBox="1"/>
          <p:nvPr/>
        </p:nvSpPr>
        <p:spPr>
          <a:xfrm>
            <a:off x="914400" y="4572000"/>
            <a:ext cx="3291840" cy="365760"/>
          </a:xfrm>
          <a:prstGeom prst="rect">
            <a:avLst/>
          </a:prstGeom>
          <a:noFill/>
          <a:ln/>
        </p:spPr>
        <p:txBody>
          <a:bodyPr wrap="square" lIns="0" tIns="0" rIns="0" bIns="0" rtlCol="0" anchor="ctr"/>
          <a:lstStyle/>
          <a:p>
            <a:pPr indent="0" marL="0">
              <a:buNone/>
            </a:pPr>
            <a:r>
              <a:rPr lang="en-US" sz="1400" dirty="0">
                <a:solidFill>
                  <a:srgbClr val="1B2333"/>
                </a:solidFill>
                <a:latin typeface="Malgun Gothic" pitchFamily="34" charset="0"/>
                <a:ea typeface="Malgun Gothic" pitchFamily="34" charset="-122"/>
                <a:cs typeface="Malgun Gothic" pitchFamily="34" charset="-120"/>
              </a:rPr>
              <a:t>게이트 카메라 사진</a:t>
            </a:r>
            <a:endParaRPr lang="en-US" sz="1400" dirty="0"/>
          </a:p>
        </p:txBody>
      </p:sp>
      <p:sp>
        <p:nvSpPr>
          <p:cNvPr id="26" name="Shape 23"/>
          <p:cNvSpPr/>
          <p:nvPr/>
        </p:nvSpPr>
        <p:spPr>
          <a:xfrm>
            <a:off x="3108960" y="4800600"/>
            <a:ext cx="1463040" cy="0"/>
          </a:xfrm>
          <a:prstGeom prst="line">
            <a:avLst/>
          </a:prstGeom>
          <a:noFill/>
          <a:ln w="19050">
            <a:solidFill>
              <a:srgbClr val="F28C28"/>
            </a:solidFill>
            <a:prstDash val="solid"/>
            <a:tailEnd type="triangle"/>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7315200" cy="274320"/>
          </a:xfrm>
          <a:prstGeom prst="rect">
            <a:avLst/>
          </a:prstGeom>
          <a:noFill/>
          <a:ln/>
        </p:spPr>
        <p:txBody>
          <a:bodyPr wrap="square" lIns="0" tIns="0" rIns="0" bIns="0" rtlCol="0" anchor="ctr"/>
          <a:lstStyle/>
          <a:p>
            <a:pPr indent="0" marL="0">
              <a:buNone/>
            </a:pPr>
            <a:r>
              <a:rPr lang="en-US" sz="1200" b="1" dirty="0">
                <a:solidFill>
                  <a:srgbClr val="F28C28"/>
                </a:solidFill>
                <a:latin typeface="Malgun Gothic" pitchFamily="34" charset="0"/>
                <a:ea typeface="Malgun Gothic" pitchFamily="34" charset="-122"/>
                <a:cs typeface="Malgun Gothic" pitchFamily="34" charset="-120"/>
              </a:rPr>
              <a:t>02  시스템 구성</a:t>
            </a:r>
            <a:endParaRPr lang="en-US" sz="1200" dirty="0"/>
          </a:p>
        </p:txBody>
      </p:sp>
      <p:sp>
        <p:nvSpPr>
          <p:cNvPr id="3" name="Text 1"/>
          <p:cNvSpPr txBox="1"/>
          <p:nvPr/>
        </p:nvSpPr>
        <p:spPr>
          <a:xfrm>
            <a:off x="502920" y="594360"/>
            <a:ext cx="10972800" cy="685800"/>
          </a:xfrm>
          <a:prstGeom prst="rect">
            <a:avLst/>
          </a:prstGeom>
          <a:noFill/>
          <a:ln/>
        </p:spPr>
        <p:txBody>
          <a:bodyPr wrap="square" lIns="0" tIns="0" rIns="0" bIns="0" rtlCol="0" anchor="ctr"/>
          <a:lstStyle/>
          <a:p>
            <a:pPr indent="0" marL="0">
              <a:buNone/>
            </a:pPr>
            <a:r>
              <a:rPr lang="en-US" sz="3000" b="1" dirty="0">
                <a:solidFill>
                  <a:srgbClr val="14284B"/>
                </a:solidFill>
                <a:latin typeface="Malgun Gothic" pitchFamily="34" charset="0"/>
                <a:ea typeface="Malgun Gothic" pitchFamily="34" charset="-122"/>
                <a:cs typeface="Malgun Gothic" pitchFamily="34" charset="-120"/>
              </a:rPr>
              <a:t>기술 스택</a:t>
            </a:r>
            <a:endParaRPr lang="en-US" sz="3000" dirty="0"/>
          </a:p>
        </p:txBody>
      </p:sp>
      <p:sp>
        <p:nvSpPr>
          <p:cNvPr id="4" name="Text 2"/>
          <p:cNvSpPr txBox="1"/>
          <p:nvPr/>
        </p:nvSpPr>
        <p:spPr>
          <a:xfrm>
            <a:off x="502920" y="6446520"/>
            <a:ext cx="4572000" cy="228600"/>
          </a:xfrm>
          <a:prstGeom prst="rect">
            <a:avLst/>
          </a:prstGeom>
          <a:noFill/>
          <a:ln/>
        </p:spPr>
        <p:txBody>
          <a:bodyPr wrap="square" lIns="0" tIns="0" rIns="0" bIns="0" rtlCol="0" anchor="ctr"/>
          <a:lstStyle/>
          <a:p>
            <a:pPr indent="0" marL="0">
              <a:buNone/>
            </a:pPr>
            <a:r>
              <a:rPr lang="en-US" sz="900" dirty="0">
                <a:solidFill>
                  <a:srgbClr val="9AA3B2"/>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10</a:t>
            </a:r>
            <a:endParaRPr lang="en-US" sz="900" dirty="0"/>
          </a:p>
        </p:txBody>
      </p:sp>
      <p:sp>
        <p:nvSpPr>
          <p:cNvPr id="7" name="Text 4"/>
          <p:cNvSpPr txBox="1"/>
          <p:nvPr/>
        </p:nvSpPr>
        <p:spPr>
          <a:xfrm>
            <a:off x="822960" y="1554480"/>
            <a:ext cx="2011680" cy="502920"/>
          </a:xfrm>
          <a:prstGeom prst="rect">
            <a:avLst/>
          </a:prstGeom>
          <a:noFill/>
          <a:ln/>
        </p:spPr>
        <p:txBody>
          <a:bodyPr wrap="square" lIns="0" tIns="0" rIns="0" bIns="0" rtlCol="0" anchor="ctr"/>
          <a:lstStyle/>
          <a:p>
            <a:pPr indent="0" marL="0">
              <a:buNone/>
            </a:pPr>
            <a:r>
              <a:rPr lang="en-US" sz="1700" b="1" dirty="0">
                <a:solidFill>
                  <a:srgbClr val="14284B"/>
                </a:solidFill>
                <a:latin typeface="Malgun Gothic" pitchFamily="34" charset="0"/>
                <a:ea typeface="Malgun Gothic" pitchFamily="34" charset="-122"/>
                <a:cs typeface="Malgun Gothic" pitchFamily="34" charset="-120"/>
              </a:rPr>
              <a:t>Frontend</a:t>
            </a:r>
            <a:endParaRPr lang="en-US" sz="1700" dirty="0"/>
          </a:p>
        </p:txBody>
      </p:sp>
      <p:sp>
        <p:nvSpPr>
          <p:cNvPr id="8" name="Shape 5"/>
          <p:cNvSpPr/>
          <p:nvPr/>
        </p:nvSpPr>
        <p:spPr>
          <a:xfrm>
            <a:off x="2743200" y="1609344"/>
            <a:ext cx="800100" cy="402336"/>
          </a:xfrm>
          <a:prstGeom prst="rect">
            <a:avLst/>
          </a:prstGeom>
          <a:solidFill>
            <a:srgbClr val="F2F4F7"/>
          </a:solidFill>
          <a:ln w="12700">
            <a:solidFill>
              <a:srgbClr val="F2F4F7"/>
            </a:solidFill>
            <a:prstDash val="solid"/>
          </a:ln>
        </p:spPr>
      </p:sp>
      <p:sp>
        <p:nvSpPr>
          <p:cNvPr id="9" name="Text 6"/>
          <p:cNvSpPr txBox="1"/>
          <p:nvPr/>
        </p:nvSpPr>
        <p:spPr>
          <a:xfrm>
            <a:off x="2743200" y="1609344"/>
            <a:ext cx="800100"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Vue 3</a:t>
            </a:r>
            <a:endParaRPr lang="en-US" sz="1250" dirty="0"/>
          </a:p>
        </p:txBody>
      </p:sp>
      <p:sp>
        <p:nvSpPr>
          <p:cNvPr id="10" name="Shape 7"/>
          <p:cNvSpPr/>
          <p:nvPr/>
        </p:nvSpPr>
        <p:spPr>
          <a:xfrm>
            <a:off x="3634740" y="1609344"/>
            <a:ext cx="777240" cy="402336"/>
          </a:xfrm>
          <a:prstGeom prst="rect">
            <a:avLst/>
          </a:prstGeom>
          <a:solidFill>
            <a:srgbClr val="F2F4F7"/>
          </a:solidFill>
          <a:ln w="12700">
            <a:solidFill>
              <a:srgbClr val="F2F4F7"/>
            </a:solidFill>
            <a:prstDash val="solid"/>
          </a:ln>
        </p:spPr>
      </p:sp>
      <p:sp>
        <p:nvSpPr>
          <p:cNvPr id="11" name="Text 8"/>
          <p:cNvSpPr txBox="1"/>
          <p:nvPr/>
        </p:nvSpPr>
        <p:spPr>
          <a:xfrm>
            <a:off x="3634740" y="1609344"/>
            <a:ext cx="777240"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Vite</a:t>
            </a:r>
            <a:endParaRPr lang="en-US" sz="1250" dirty="0"/>
          </a:p>
        </p:txBody>
      </p:sp>
      <p:sp>
        <p:nvSpPr>
          <p:cNvPr id="12" name="Shape 9"/>
          <p:cNvSpPr/>
          <p:nvPr/>
        </p:nvSpPr>
        <p:spPr>
          <a:xfrm>
            <a:off x="4503420" y="1609344"/>
            <a:ext cx="1234440" cy="402336"/>
          </a:xfrm>
          <a:prstGeom prst="rect">
            <a:avLst/>
          </a:prstGeom>
          <a:solidFill>
            <a:srgbClr val="F2F4F7"/>
          </a:solidFill>
          <a:ln w="12700">
            <a:solidFill>
              <a:srgbClr val="F2F4F7"/>
            </a:solidFill>
            <a:prstDash val="solid"/>
          </a:ln>
        </p:spPr>
      </p:sp>
      <p:sp>
        <p:nvSpPr>
          <p:cNvPr id="13" name="Text 10"/>
          <p:cNvSpPr txBox="1"/>
          <p:nvPr/>
        </p:nvSpPr>
        <p:spPr>
          <a:xfrm>
            <a:off x="4503420" y="1609344"/>
            <a:ext cx="1234440"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Vue Router</a:t>
            </a:r>
            <a:endParaRPr lang="en-US" sz="1250" dirty="0"/>
          </a:p>
        </p:txBody>
      </p:sp>
      <p:sp>
        <p:nvSpPr>
          <p:cNvPr id="14" name="Shape 11"/>
          <p:cNvSpPr/>
          <p:nvPr/>
        </p:nvSpPr>
        <p:spPr>
          <a:xfrm>
            <a:off x="5829300" y="1609344"/>
            <a:ext cx="800100" cy="402336"/>
          </a:xfrm>
          <a:prstGeom prst="rect">
            <a:avLst/>
          </a:prstGeom>
          <a:solidFill>
            <a:srgbClr val="F2F4F7"/>
          </a:solidFill>
          <a:ln w="12700">
            <a:solidFill>
              <a:srgbClr val="F2F4F7"/>
            </a:solidFill>
            <a:prstDash val="solid"/>
          </a:ln>
        </p:spPr>
      </p:sp>
      <p:sp>
        <p:nvSpPr>
          <p:cNvPr id="15" name="Text 12"/>
          <p:cNvSpPr txBox="1"/>
          <p:nvPr/>
        </p:nvSpPr>
        <p:spPr>
          <a:xfrm>
            <a:off x="5829300" y="1609344"/>
            <a:ext cx="800100"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axios</a:t>
            </a:r>
            <a:endParaRPr lang="en-US" sz="1250" dirty="0"/>
          </a:p>
        </p:txBody>
      </p:sp>
      <p:sp>
        <p:nvSpPr>
          <p:cNvPr id="16" name="Shape 13"/>
          <p:cNvSpPr/>
          <p:nvPr/>
        </p:nvSpPr>
        <p:spPr>
          <a:xfrm>
            <a:off x="6720840" y="1609344"/>
            <a:ext cx="1147572" cy="402336"/>
          </a:xfrm>
          <a:prstGeom prst="rect">
            <a:avLst/>
          </a:prstGeom>
          <a:solidFill>
            <a:srgbClr val="F2F4F7"/>
          </a:solidFill>
          <a:ln w="12700">
            <a:solidFill>
              <a:srgbClr val="F2F4F7"/>
            </a:solidFill>
            <a:prstDash val="solid"/>
          </a:ln>
        </p:spPr>
      </p:sp>
      <p:sp>
        <p:nvSpPr>
          <p:cNvPr id="17" name="Text 14"/>
          <p:cNvSpPr txBox="1"/>
          <p:nvPr/>
        </p:nvSpPr>
        <p:spPr>
          <a:xfrm>
            <a:off x="6720840" y="1609344"/>
            <a:ext cx="1147572"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Bootstrap</a:t>
            </a:r>
            <a:endParaRPr lang="en-US" sz="1250" dirty="0"/>
          </a:p>
        </p:txBody>
      </p:sp>
      <p:sp>
        <p:nvSpPr>
          <p:cNvPr id="18" name="Shape 15"/>
          <p:cNvSpPr/>
          <p:nvPr/>
        </p:nvSpPr>
        <p:spPr>
          <a:xfrm>
            <a:off x="7959852" y="1609344"/>
            <a:ext cx="973836" cy="402336"/>
          </a:xfrm>
          <a:prstGeom prst="rect">
            <a:avLst/>
          </a:prstGeom>
          <a:solidFill>
            <a:srgbClr val="F2F4F7"/>
          </a:solidFill>
          <a:ln w="12700">
            <a:solidFill>
              <a:srgbClr val="F2F4F7"/>
            </a:solidFill>
            <a:prstDash val="solid"/>
          </a:ln>
        </p:spPr>
      </p:sp>
      <p:sp>
        <p:nvSpPr>
          <p:cNvPr id="19" name="Text 16"/>
          <p:cNvSpPr txBox="1"/>
          <p:nvPr/>
        </p:nvSpPr>
        <p:spPr>
          <a:xfrm>
            <a:off x="7959852" y="1609344"/>
            <a:ext cx="973836"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Leaflet</a:t>
            </a:r>
            <a:endParaRPr lang="en-US" sz="1250" dirty="0"/>
          </a:p>
        </p:txBody>
      </p:sp>
      <p:sp>
        <p:nvSpPr>
          <p:cNvPr id="20" name="Shape 17"/>
          <p:cNvSpPr/>
          <p:nvPr/>
        </p:nvSpPr>
        <p:spPr>
          <a:xfrm>
            <a:off x="822960" y="2212848"/>
            <a:ext cx="10607040" cy="0"/>
          </a:xfrm>
          <a:prstGeom prst="line">
            <a:avLst/>
          </a:prstGeom>
          <a:noFill/>
          <a:ln w="9525">
            <a:solidFill>
              <a:srgbClr val="E3E8EF"/>
            </a:solidFill>
            <a:prstDash val="solid"/>
          </a:ln>
        </p:spPr>
      </p:sp>
      <p:sp>
        <p:nvSpPr>
          <p:cNvPr id="21" name="Text 18"/>
          <p:cNvSpPr txBox="1"/>
          <p:nvPr/>
        </p:nvSpPr>
        <p:spPr>
          <a:xfrm>
            <a:off x="822960" y="2340864"/>
            <a:ext cx="2011680" cy="502920"/>
          </a:xfrm>
          <a:prstGeom prst="rect">
            <a:avLst/>
          </a:prstGeom>
          <a:noFill/>
          <a:ln/>
        </p:spPr>
        <p:txBody>
          <a:bodyPr wrap="square" lIns="0" tIns="0" rIns="0" bIns="0" rtlCol="0" anchor="ctr"/>
          <a:lstStyle/>
          <a:p>
            <a:pPr indent="0" marL="0">
              <a:buNone/>
            </a:pPr>
            <a:r>
              <a:rPr lang="en-US" sz="1700" b="1" dirty="0">
                <a:solidFill>
                  <a:srgbClr val="14284B"/>
                </a:solidFill>
                <a:latin typeface="Malgun Gothic" pitchFamily="34" charset="0"/>
                <a:ea typeface="Malgun Gothic" pitchFamily="34" charset="-122"/>
                <a:cs typeface="Malgun Gothic" pitchFamily="34" charset="-120"/>
              </a:rPr>
              <a:t>Backend</a:t>
            </a:r>
            <a:endParaRPr lang="en-US" sz="1700" dirty="0"/>
          </a:p>
        </p:txBody>
      </p:sp>
      <p:sp>
        <p:nvSpPr>
          <p:cNvPr id="22" name="Shape 19"/>
          <p:cNvSpPr/>
          <p:nvPr/>
        </p:nvSpPr>
        <p:spPr>
          <a:xfrm>
            <a:off x="2743200" y="2395728"/>
            <a:ext cx="973836" cy="402336"/>
          </a:xfrm>
          <a:prstGeom prst="rect">
            <a:avLst/>
          </a:prstGeom>
          <a:solidFill>
            <a:srgbClr val="F2F4F7"/>
          </a:solidFill>
          <a:ln w="12700">
            <a:solidFill>
              <a:srgbClr val="F2F4F7"/>
            </a:solidFill>
            <a:prstDash val="solid"/>
          </a:ln>
        </p:spPr>
      </p:sp>
      <p:sp>
        <p:nvSpPr>
          <p:cNvPr id="23" name="Text 20"/>
          <p:cNvSpPr txBox="1"/>
          <p:nvPr/>
        </p:nvSpPr>
        <p:spPr>
          <a:xfrm>
            <a:off x="2743200" y="2395728"/>
            <a:ext cx="973836"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Java 17</a:t>
            </a:r>
            <a:endParaRPr lang="en-US" sz="1250" dirty="0"/>
          </a:p>
        </p:txBody>
      </p:sp>
      <p:sp>
        <p:nvSpPr>
          <p:cNvPr id="24" name="Shape 21"/>
          <p:cNvSpPr/>
          <p:nvPr/>
        </p:nvSpPr>
        <p:spPr>
          <a:xfrm>
            <a:off x="3808476" y="2395728"/>
            <a:ext cx="1668780" cy="402336"/>
          </a:xfrm>
          <a:prstGeom prst="rect">
            <a:avLst/>
          </a:prstGeom>
          <a:solidFill>
            <a:srgbClr val="F2F4F7"/>
          </a:solidFill>
          <a:ln w="12700">
            <a:solidFill>
              <a:srgbClr val="F2F4F7"/>
            </a:solidFill>
            <a:prstDash val="solid"/>
          </a:ln>
        </p:spPr>
      </p:sp>
      <p:sp>
        <p:nvSpPr>
          <p:cNvPr id="25" name="Text 22"/>
          <p:cNvSpPr txBox="1"/>
          <p:nvPr/>
        </p:nvSpPr>
        <p:spPr>
          <a:xfrm>
            <a:off x="3808476" y="2395728"/>
            <a:ext cx="1668780"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Spring Boot 3.3</a:t>
            </a:r>
            <a:endParaRPr lang="en-US" sz="1250" dirty="0"/>
          </a:p>
        </p:txBody>
      </p:sp>
      <p:sp>
        <p:nvSpPr>
          <p:cNvPr id="26" name="Shape 23"/>
          <p:cNvSpPr/>
          <p:nvPr/>
        </p:nvSpPr>
        <p:spPr>
          <a:xfrm>
            <a:off x="5568696" y="2395728"/>
            <a:ext cx="1668780" cy="402336"/>
          </a:xfrm>
          <a:prstGeom prst="rect">
            <a:avLst/>
          </a:prstGeom>
          <a:solidFill>
            <a:srgbClr val="F2F4F7"/>
          </a:solidFill>
          <a:ln w="12700">
            <a:solidFill>
              <a:srgbClr val="F2F4F7"/>
            </a:solidFill>
            <a:prstDash val="solid"/>
          </a:ln>
        </p:spPr>
      </p:sp>
      <p:sp>
        <p:nvSpPr>
          <p:cNvPr id="27" name="Text 24"/>
          <p:cNvSpPr txBox="1"/>
          <p:nvPr/>
        </p:nvSpPr>
        <p:spPr>
          <a:xfrm>
            <a:off x="5568696" y="2395728"/>
            <a:ext cx="1668780"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Spring Security</a:t>
            </a:r>
            <a:endParaRPr lang="en-US" sz="1250" dirty="0"/>
          </a:p>
        </p:txBody>
      </p:sp>
      <p:sp>
        <p:nvSpPr>
          <p:cNvPr id="28" name="Shape 25"/>
          <p:cNvSpPr/>
          <p:nvPr/>
        </p:nvSpPr>
        <p:spPr>
          <a:xfrm>
            <a:off x="7328916" y="2395728"/>
            <a:ext cx="1668780" cy="402336"/>
          </a:xfrm>
          <a:prstGeom prst="rect">
            <a:avLst/>
          </a:prstGeom>
          <a:solidFill>
            <a:srgbClr val="F2F4F7"/>
          </a:solidFill>
          <a:ln w="12700">
            <a:solidFill>
              <a:srgbClr val="F2F4F7"/>
            </a:solidFill>
            <a:prstDash val="solid"/>
          </a:ln>
        </p:spPr>
      </p:sp>
      <p:sp>
        <p:nvSpPr>
          <p:cNvPr id="29" name="Text 26"/>
          <p:cNvSpPr txBox="1"/>
          <p:nvPr/>
        </p:nvSpPr>
        <p:spPr>
          <a:xfrm>
            <a:off x="7328916" y="2395728"/>
            <a:ext cx="1668780"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Spring Data JPA</a:t>
            </a:r>
            <a:endParaRPr lang="en-US" sz="1250" dirty="0"/>
          </a:p>
        </p:txBody>
      </p:sp>
      <p:sp>
        <p:nvSpPr>
          <p:cNvPr id="30" name="Shape 27"/>
          <p:cNvSpPr/>
          <p:nvPr/>
        </p:nvSpPr>
        <p:spPr>
          <a:xfrm>
            <a:off x="9089136" y="2395728"/>
            <a:ext cx="1060704" cy="402336"/>
          </a:xfrm>
          <a:prstGeom prst="rect">
            <a:avLst/>
          </a:prstGeom>
          <a:solidFill>
            <a:srgbClr val="F2F4F7"/>
          </a:solidFill>
          <a:ln w="12700">
            <a:solidFill>
              <a:srgbClr val="F2F4F7"/>
            </a:solidFill>
            <a:prstDash val="solid"/>
          </a:ln>
        </p:spPr>
      </p:sp>
      <p:sp>
        <p:nvSpPr>
          <p:cNvPr id="31" name="Text 28"/>
          <p:cNvSpPr txBox="1"/>
          <p:nvPr/>
        </p:nvSpPr>
        <p:spPr>
          <a:xfrm>
            <a:off x="9089136" y="2395728"/>
            <a:ext cx="1060704"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QueryDSL</a:t>
            </a:r>
            <a:endParaRPr lang="en-US" sz="1250" dirty="0"/>
          </a:p>
        </p:txBody>
      </p:sp>
      <p:sp>
        <p:nvSpPr>
          <p:cNvPr id="32" name="Shape 29"/>
          <p:cNvSpPr/>
          <p:nvPr/>
        </p:nvSpPr>
        <p:spPr>
          <a:xfrm>
            <a:off x="10241280" y="2395728"/>
            <a:ext cx="886968" cy="402336"/>
          </a:xfrm>
          <a:prstGeom prst="rect">
            <a:avLst/>
          </a:prstGeom>
          <a:solidFill>
            <a:srgbClr val="F2F4F7"/>
          </a:solidFill>
          <a:ln w="12700">
            <a:solidFill>
              <a:srgbClr val="F2F4F7"/>
            </a:solidFill>
            <a:prstDash val="solid"/>
          </a:ln>
        </p:spPr>
      </p:sp>
      <p:sp>
        <p:nvSpPr>
          <p:cNvPr id="33" name="Text 30"/>
          <p:cNvSpPr txBox="1"/>
          <p:nvPr/>
        </p:nvSpPr>
        <p:spPr>
          <a:xfrm>
            <a:off x="10241280" y="2395728"/>
            <a:ext cx="886968"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Gradle</a:t>
            </a:r>
            <a:endParaRPr lang="en-US" sz="1250" dirty="0"/>
          </a:p>
        </p:txBody>
      </p:sp>
      <p:sp>
        <p:nvSpPr>
          <p:cNvPr id="34" name="Shape 31"/>
          <p:cNvSpPr/>
          <p:nvPr/>
        </p:nvSpPr>
        <p:spPr>
          <a:xfrm>
            <a:off x="822960" y="2999232"/>
            <a:ext cx="10607040" cy="0"/>
          </a:xfrm>
          <a:prstGeom prst="line">
            <a:avLst/>
          </a:prstGeom>
          <a:noFill/>
          <a:ln w="9525">
            <a:solidFill>
              <a:srgbClr val="E3E8EF"/>
            </a:solidFill>
            <a:prstDash val="solid"/>
          </a:ln>
        </p:spPr>
      </p:sp>
      <p:sp>
        <p:nvSpPr>
          <p:cNvPr id="35" name="Text 32"/>
          <p:cNvSpPr txBox="1"/>
          <p:nvPr/>
        </p:nvSpPr>
        <p:spPr>
          <a:xfrm>
            <a:off x="822960" y="3127248"/>
            <a:ext cx="2011680" cy="502920"/>
          </a:xfrm>
          <a:prstGeom prst="rect">
            <a:avLst/>
          </a:prstGeom>
          <a:noFill/>
          <a:ln/>
        </p:spPr>
        <p:txBody>
          <a:bodyPr wrap="square" lIns="0" tIns="0" rIns="0" bIns="0" rtlCol="0" anchor="ctr"/>
          <a:lstStyle/>
          <a:p>
            <a:pPr indent="0" marL="0">
              <a:buNone/>
            </a:pPr>
            <a:r>
              <a:rPr lang="en-US" sz="1700" b="1" dirty="0">
                <a:solidFill>
                  <a:srgbClr val="14284B"/>
                </a:solidFill>
                <a:latin typeface="Malgun Gothic" pitchFamily="34" charset="0"/>
                <a:ea typeface="Malgun Gothic" pitchFamily="34" charset="-122"/>
                <a:cs typeface="Malgun Gothic" pitchFamily="34" charset="-120"/>
              </a:rPr>
              <a:t>Database</a:t>
            </a:r>
            <a:endParaRPr lang="en-US" sz="1700" dirty="0"/>
          </a:p>
        </p:txBody>
      </p:sp>
      <p:sp>
        <p:nvSpPr>
          <p:cNvPr id="36" name="Shape 33"/>
          <p:cNvSpPr/>
          <p:nvPr/>
        </p:nvSpPr>
        <p:spPr>
          <a:xfrm>
            <a:off x="2743200" y="3182112"/>
            <a:ext cx="1234440" cy="402336"/>
          </a:xfrm>
          <a:prstGeom prst="rect">
            <a:avLst/>
          </a:prstGeom>
          <a:solidFill>
            <a:srgbClr val="F2F4F7"/>
          </a:solidFill>
          <a:ln w="12700">
            <a:solidFill>
              <a:srgbClr val="F2F4F7"/>
            </a:solidFill>
            <a:prstDash val="solid"/>
          </a:ln>
        </p:spPr>
      </p:sp>
      <p:sp>
        <p:nvSpPr>
          <p:cNvPr id="37" name="Text 34"/>
          <p:cNvSpPr txBox="1"/>
          <p:nvPr/>
        </p:nvSpPr>
        <p:spPr>
          <a:xfrm>
            <a:off x="2743200" y="3182112"/>
            <a:ext cx="1234440"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PostgreSQL</a:t>
            </a:r>
            <a:endParaRPr lang="en-US" sz="1250" dirty="0"/>
          </a:p>
        </p:txBody>
      </p:sp>
      <p:sp>
        <p:nvSpPr>
          <p:cNvPr id="38" name="Shape 35"/>
          <p:cNvSpPr/>
          <p:nvPr/>
        </p:nvSpPr>
        <p:spPr>
          <a:xfrm>
            <a:off x="4069080" y="3182112"/>
            <a:ext cx="886968" cy="402336"/>
          </a:xfrm>
          <a:prstGeom prst="rect">
            <a:avLst/>
          </a:prstGeom>
          <a:solidFill>
            <a:srgbClr val="F2F4F7"/>
          </a:solidFill>
          <a:ln w="12700">
            <a:solidFill>
              <a:srgbClr val="F2F4F7"/>
            </a:solidFill>
            <a:prstDash val="solid"/>
          </a:ln>
        </p:spPr>
      </p:sp>
      <p:sp>
        <p:nvSpPr>
          <p:cNvPr id="39" name="Text 36"/>
          <p:cNvSpPr txBox="1"/>
          <p:nvPr/>
        </p:nvSpPr>
        <p:spPr>
          <a:xfrm>
            <a:off x="4069080" y="3182112"/>
            <a:ext cx="886968"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pg8000</a:t>
            </a:r>
            <a:endParaRPr lang="en-US" sz="1250" dirty="0"/>
          </a:p>
        </p:txBody>
      </p:sp>
      <p:sp>
        <p:nvSpPr>
          <p:cNvPr id="40" name="Shape 37"/>
          <p:cNvSpPr/>
          <p:nvPr/>
        </p:nvSpPr>
        <p:spPr>
          <a:xfrm>
            <a:off x="822960" y="3785616"/>
            <a:ext cx="10607040" cy="0"/>
          </a:xfrm>
          <a:prstGeom prst="line">
            <a:avLst/>
          </a:prstGeom>
          <a:noFill/>
          <a:ln w="9525">
            <a:solidFill>
              <a:srgbClr val="E3E8EF"/>
            </a:solidFill>
            <a:prstDash val="solid"/>
          </a:ln>
        </p:spPr>
      </p:sp>
      <p:sp>
        <p:nvSpPr>
          <p:cNvPr id="41" name="Text 38"/>
          <p:cNvSpPr txBox="1"/>
          <p:nvPr/>
        </p:nvSpPr>
        <p:spPr>
          <a:xfrm>
            <a:off x="822960" y="3913632"/>
            <a:ext cx="2011680" cy="502920"/>
          </a:xfrm>
          <a:prstGeom prst="rect">
            <a:avLst/>
          </a:prstGeom>
          <a:noFill/>
          <a:ln/>
        </p:spPr>
        <p:txBody>
          <a:bodyPr wrap="square" lIns="0" tIns="0" rIns="0" bIns="0" rtlCol="0" anchor="ctr"/>
          <a:lstStyle/>
          <a:p>
            <a:pPr indent="0" marL="0">
              <a:buNone/>
            </a:pPr>
            <a:r>
              <a:rPr lang="en-US" sz="1700" b="1" dirty="0">
                <a:solidFill>
                  <a:srgbClr val="14284B"/>
                </a:solidFill>
                <a:latin typeface="Malgun Gothic" pitchFamily="34" charset="0"/>
                <a:ea typeface="Malgun Gothic" pitchFamily="34" charset="-122"/>
                <a:cs typeface="Malgun Gothic" pitchFamily="34" charset="-120"/>
              </a:rPr>
              <a:t>AI</a:t>
            </a:r>
            <a:endParaRPr lang="en-US" sz="1700" dirty="0"/>
          </a:p>
        </p:txBody>
      </p:sp>
      <p:sp>
        <p:nvSpPr>
          <p:cNvPr id="42" name="Shape 39"/>
          <p:cNvSpPr/>
          <p:nvPr/>
        </p:nvSpPr>
        <p:spPr>
          <a:xfrm>
            <a:off x="2743200" y="3968496"/>
            <a:ext cx="886968" cy="402336"/>
          </a:xfrm>
          <a:prstGeom prst="rect">
            <a:avLst/>
          </a:prstGeom>
          <a:solidFill>
            <a:srgbClr val="F2F4F7"/>
          </a:solidFill>
          <a:ln w="12700">
            <a:solidFill>
              <a:srgbClr val="F2F4F7"/>
            </a:solidFill>
            <a:prstDash val="solid"/>
          </a:ln>
        </p:spPr>
      </p:sp>
      <p:sp>
        <p:nvSpPr>
          <p:cNvPr id="43" name="Text 40"/>
          <p:cNvSpPr txBox="1"/>
          <p:nvPr/>
        </p:nvSpPr>
        <p:spPr>
          <a:xfrm>
            <a:off x="2743200" y="3968496"/>
            <a:ext cx="886968"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Python</a:t>
            </a:r>
            <a:endParaRPr lang="en-US" sz="1250" dirty="0"/>
          </a:p>
        </p:txBody>
      </p:sp>
      <p:sp>
        <p:nvSpPr>
          <p:cNvPr id="44" name="Shape 41"/>
          <p:cNvSpPr/>
          <p:nvPr/>
        </p:nvSpPr>
        <p:spPr>
          <a:xfrm>
            <a:off x="3721608" y="3968496"/>
            <a:ext cx="886968" cy="402336"/>
          </a:xfrm>
          <a:prstGeom prst="rect">
            <a:avLst/>
          </a:prstGeom>
          <a:solidFill>
            <a:srgbClr val="F2F4F7"/>
          </a:solidFill>
          <a:ln w="12700">
            <a:solidFill>
              <a:srgbClr val="F2F4F7"/>
            </a:solidFill>
            <a:prstDash val="solid"/>
          </a:ln>
        </p:spPr>
      </p:sp>
      <p:sp>
        <p:nvSpPr>
          <p:cNvPr id="45" name="Text 42"/>
          <p:cNvSpPr txBox="1"/>
          <p:nvPr/>
        </p:nvSpPr>
        <p:spPr>
          <a:xfrm>
            <a:off x="3721608" y="3968496"/>
            <a:ext cx="886968"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YOLO11</a:t>
            </a:r>
            <a:endParaRPr lang="en-US" sz="1250" dirty="0"/>
          </a:p>
        </p:txBody>
      </p:sp>
      <p:sp>
        <p:nvSpPr>
          <p:cNvPr id="46" name="Shape 43"/>
          <p:cNvSpPr/>
          <p:nvPr/>
        </p:nvSpPr>
        <p:spPr>
          <a:xfrm>
            <a:off x="4700016" y="3968496"/>
            <a:ext cx="1234440" cy="402336"/>
          </a:xfrm>
          <a:prstGeom prst="rect">
            <a:avLst/>
          </a:prstGeom>
          <a:solidFill>
            <a:srgbClr val="F2F4F7"/>
          </a:solidFill>
          <a:ln w="12700">
            <a:solidFill>
              <a:srgbClr val="F2F4F7"/>
            </a:solidFill>
            <a:prstDash val="solid"/>
          </a:ln>
        </p:spPr>
      </p:sp>
      <p:sp>
        <p:nvSpPr>
          <p:cNvPr id="47" name="Text 44"/>
          <p:cNvSpPr txBox="1"/>
          <p:nvPr/>
        </p:nvSpPr>
        <p:spPr>
          <a:xfrm>
            <a:off x="4700016" y="3968496"/>
            <a:ext cx="1234440"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CRNN + CTC</a:t>
            </a:r>
            <a:endParaRPr lang="en-US" sz="1250" dirty="0"/>
          </a:p>
        </p:txBody>
      </p:sp>
      <p:sp>
        <p:nvSpPr>
          <p:cNvPr id="48" name="Shape 45"/>
          <p:cNvSpPr/>
          <p:nvPr/>
        </p:nvSpPr>
        <p:spPr>
          <a:xfrm>
            <a:off x="6025896" y="3968496"/>
            <a:ext cx="1581912" cy="402336"/>
          </a:xfrm>
          <a:prstGeom prst="rect">
            <a:avLst/>
          </a:prstGeom>
          <a:solidFill>
            <a:srgbClr val="F2F4F7"/>
          </a:solidFill>
          <a:ln w="12700">
            <a:solidFill>
              <a:srgbClr val="F2F4F7"/>
            </a:solidFill>
            <a:prstDash val="solid"/>
          </a:ln>
        </p:spPr>
      </p:sp>
      <p:sp>
        <p:nvSpPr>
          <p:cNvPr id="49" name="Text 46"/>
          <p:cNvSpPr txBox="1"/>
          <p:nvPr/>
        </p:nvSpPr>
        <p:spPr>
          <a:xfrm>
            <a:off x="6025896" y="3968496"/>
            <a:ext cx="1581912"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PyTorch · CUDA</a:t>
            </a:r>
            <a:endParaRPr lang="en-US" sz="1250" dirty="0"/>
          </a:p>
        </p:txBody>
      </p:sp>
      <p:sp>
        <p:nvSpPr>
          <p:cNvPr id="50" name="Shape 47"/>
          <p:cNvSpPr/>
          <p:nvPr/>
        </p:nvSpPr>
        <p:spPr>
          <a:xfrm>
            <a:off x="7699248" y="3968496"/>
            <a:ext cx="886968" cy="402336"/>
          </a:xfrm>
          <a:prstGeom prst="rect">
            <a:avLst/>
          </a:prstGeom>
          <a:solidFill>
            <a:srgbClr val="F2F4F7"/>
          </a:solidFill>
          <a:ln w="12700">
            <a:solidFill>
              <a:srgbClr val="F2F4F7"/>
            </a:solidFill>
            <a:prstDash val="solid"/>
          </a:ln>
        </p:spPr>
      </p:sp>
      <p:sp>
        <p:nvSpPr>
          <p:cNvPr id="51" name="Text 48"/>
          <p:cNvSpPr txBox="1"/>
          <p:nvPr/>
        </p:nvSpPr>
        <p:spPr>
          <a:xfrm>
            <a:off x="7699248" y="3968496"/>
            <a:ext cx="886968"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OpenCV</a:t>
            </a:r>
            <a:endParaRPr lang="en-US" sz="1250" dirty="0"/>
          </a:p>
        </p:txBody>
      </p:sp>
      <p:sp>
        <p:nvSpPr>
          <p:cNvPr id="52" name="Shape 49"/>
          <p:cNvSpPr/>
          <p:nvPr/>
        </p:nvSpPr>
        <p:spPr>
          <a:xfrm>
            <a:off x="8677656" y="3968496"/>
            <a:ext cx="973836" cy="402336"/>
          </a:xfrm>
          <a:prstGeom prst="rect">
            <a:avLst/>
          </a:prstGeom>
          <a:solidFill>
            <a:srgbClr val="F2F4F7"/>
          </a:solidFill>
          <a:ln w="12700">
            <a:solidFill>
              <a:srgbClr val="F2F4F7"/>
            </a:solidFill>
            <a:prstDash val="solid"/>
          </a:ln>
        </p:spPr>
      </p:sp>
      <p:sp>
        <p:nvSpPr>
          <p:cNvPr id="53" name="Text 50"/>
          <p:cNvSpPr txBox="1"/>
          <p:nvPr/>
        </p:nvSpPr>
        <p:spPr>
          <a:xfrm>
            <a:off x="8677656" y="3968496"/>
            <a:ext cx="973836"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FastAPI</a:t>
            </a:r>
            <a:endParaRPr lang="en-US" sz="1250" dirty="0"/>
          </a:p>
        </p:txBody>
      </p:sp>
      <p:sp>
        <p:nvSpPr>
          <p:cNvPr id="54" name="Shape 51"/>
          <p:cNvSpPr/>
          <p:nvPr/>
        </p:nvSpPr>
        <p:spPr>
          <a:xfrm>
            <a:off x="9742932" y="3968496"/>
            <a:ext cx="1060704" cy="402336"/>
          </a:xfrm>
          <a:prstGeom prst="rect">
            <a:avLst/>
          </a:prstGeom>
          <a:solidFill>
            <a:srgbClr val="F2F4F7"/>
          </a:solidFill>
          <a:ln w="12700">
            <a:solidFill>
              <a:srgbClr val="F2F4F7"/>
            </a:solidFill>
            <a:prstDash val="solid"/>
          </a:ln>
        </p:spPr>
      </p:sp>
      <p:sp>
        <p:nvSpPr>
          <p:cNvPr id="55" name="Text 52"/>
          <p:cNvSpPr txBox="1"/>
          <p:nvPr/>
        </p:nvSpPr>
        <p:spPr>
          <a:xfrm>
            <a:off x="9742932" y="3968496"/>
            <a:ext cx="1060704"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Roboflow</a:t>
            </a:r>
            <a:endParaRPr lang="en-US" sz="1250" dirty="0"/>
          </a:p>
        </p:txBody>
      </p:sp>
      <p:sp>
        <p:nvSpPr>
          <p:cNvPr id="56" name="Shape 53"/>
          <p:cNvSpPr/>
          <p:nvPr/>
        </p:nvSpPr>
        <p:spPr>
          <a:xfrm>
            <a:off x="822960" y="4572000"/>
            <a:ext cx="10607040" cy="0"/>
          </a:xfrm>
          <a:prstGeom prst="line">
            <a:avLst/>
          </a:prstGeom>
          <a:noFill/>
          <a:ln w="9525">
            <a:solidFill>
              <a:srgbClr val="E3E8EF"/>
            </a:solidFill>
            <a:prstDash val="solid"/>
          </a:ln>
        </p:spPr>
      </p:sp>
      <p:sp>
        <p:nvSpPr>
          <p:cNvPr id="57" name="Text 54"/>
          <p:cNvSpPr txBox="1"/>
          <p:nvPr/>
        </p:nvSpPr>
        <p:spPr>
          <a:xfrm>
            <a:off x="822960" y="4700016"/>
            <a:ext cx="2011680" cy="502920"/>
          </a:xfrm>
          <a:prstGeom prst="rect">
            <a:avLst/>
          </a:prstGeom>
          <a:noFill/>
          <a:ln/>
        </p:spPr>
        <p:txBody>
          <a:bodyPr wrap="square" lIns="0" tIns="0" rIns="0" bIns="0" rtlCol="0" anchor="ctr"/>
          <a:lstStyle/>
          <a:p>
            <a:pPr indent="0" marL="0">
              <a:buNone/>
            </a:pPr>
            <a:r>
              <a:rPr lang="en-US" sz="1700" b="1" dirty="0">
                <a:solidFill>
                  <a:srgbClr val="14284B"/>
                </a:solidFill>
                <a:latin typeface="Malgun Gothic" pitchFamily="34" charset="0"/>
                <a:ea typeface="Malgun Gothic" pitchFamily="34" charset="-122"/>
                <a:cs typeface="Malgun Gothic" pitchFamily="34" charset="-120"/>
              </a:rPr>
              <a:t>External</a:t>
            </a:r>
            <a:endParaRPr lang="en-US" sz="1700" dirty="0"/>
          </a:p>
        </p:txBody>
      </p:sp>
      <p:sp>
        <p:nvSpPr>
          <p:cNvPr id="58" name="Shape 55"/>
          <p:cNvSpPr/>
          <p:nvPr/>
        </p:nvSpPr>
        <p:spPr>
          <a:xfrm>
            <a:off x="2743200" y="4754880"/>
            <a:ext cx="1495044" cy="402336"/>
          </a:xfrm>
          <a:prstGeom prst="rect">
            <a:avLst/>
          </a:prstGeom>
          <a:solidFill>
            <a:srgbClr val="F2F4F7"/>
          </a:solidFill>
          <a:ln w="12700">
            <a:solidFill>
              <a:srgbClr val="F2F4F7"/>
            </a:solidFill>
            <a:prstDash val="solid"/>
          </a:ln>
        </p:spPr>
      </p:sp>
      <p:sp>
        <p:nvSpPr>
          <p:cNvPr id="59" name="Text 56"/>
          <p:cNvSpPr txBox="1"/>
          <p:nvPr/>
        </p:nvSpPr>
        <p:spPr>
          <a:xfrm>
            <a:off x="2743200" y="4754880"/>
            <a:ext cx="1495044"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OpenStreetMap</a:t>
            </a:r>
            <a:endParaRPr lang="en-US" sz="1250" dirty="0"/>
          </a:p>
        </p:txBody>
      </p:sp>
      <p:sp>
        <p:nvSpPr>
          <p:cNvPr id="60" name="Shape 57"/>
          <p:cNvSpPr/>
          <p:nvPr/>
        </p:nvSpPr>
        <p:spPr>
          <a:xfrm>
            <a:off x="4329684" y="4754880"/>
            <a:ext cx="1668780" cy="402336"/>
          </a:xfrm>
          <a:prstGeom prst="rect">
            <a:avLst/>
          </a:prstGeom>
          <a:solidFill>
            <a:srgbClr val="F2F4F7"/>
          </a:solidFill>
          <a:ln w="12700">
            <a:solidFill>
              <a:srgbClr val="F2F4F7"/>
            </a:solidFill>
            <a:prstDash val="solid"/>
          </a:ln>
        </p:spPr>
      </p:sp>
      <p:sp>
        <p:nvSpPr>
          <p:cNvPr id="61" name="Text 58"/>
          <p:cNvSpPr txBox="1"/>
          <p:nvPr/>
        </p:nvSpPr>
        <p:spPr>
          <a:xfrm>
            <a:off x="4329684" y="4754880"/>
            <a:ext cx="1668780"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OpenWeather API</a:t>
            </a:r>
            <a:endParaRPr lang="en-US" sz="1250" dirty="0"/>
          </a:p>
        </p:txBody>
      </p:sp>
      <p:sp>
        <p:nvSpPr>
          <p:cNvPr id="62" name="Shape 59"/>
          <p:cNvSpPr/>
          <p:nvPr/>
        </p:nvSpPr>
        <p:spPr>
          <a:xfrm>
            <a:off x="822960" y="5358384"/>
            <a:ext cx="10607040" cy="0"/>
          </a:xfrm>
          <a:prstGeom prst="line">
            <a:avLst/>
          </a:prstGeom>
          <a:noFill/>
          <a:ln w="9525">
            <a:solidFill>
              <a:srgbClr val="E3E8EF"/>
            </a:solidFill>
            <a:prstDash val="solid"/>
          </a:ln>
        </p:spPr>
      </p:sp>
      <p:sp>
        <p:nvSpPr>
          <p:cNvPr id="63" name="Text 60"/>
          <p:cNvSpPr txBox="1"/>
          <p:nvPr/>
        </p:nvSpPr>
        <p:spPr>
          <a:xfrm>
            <a:off x="822960" y="5486400"/>
            <a:ext cx="2011680" cy="502920"/>
          </a:xfrm>
          <a:prstGeom prst="rect">
            <a:avLst/>
          </a:prstGeom>
          <a:noFill/>
          <a:ln/>
        </p:spPr>
        <p:txBody>
          <a:bodyPr wrap="square" lIns="0" tIns="0" rIns="0" bIns="0" rtlCol="0" anchor="ctr"/>
          <a:lstStyle/>
          <a:p>
            <a:pPr indent="0" marL="0">
              <a:buNone/>
            </a:pPr>
            <a:r>
              <a:rPr lang="en-US" sz="1700" b="1" dirty="0">
                <a:solidFill>
                  <a:srgbClr val="14284B"/>
                </a:solidFill>
                <a:latin typeface="Malgun Gothic" pitchFamily="34" charset="0"/>
                <a:ea typeface="Malgun Gothic" pitchFamily="34" charset="-122"/>
                <a:cs typeface="Malgun Gothic" pitchFamily="34" charset="-120"/>
              </a:rPr>
              <a:t>협업 / 도구</a:t>
            </a:r>
            <a:endParaRPr lang="en-US" sz="1700" dirty="0"/>
          </a:p>
        </p:txBody>
      </p:sp>
      <p:sp>
        <p:nvSpPr>
          <p:cNvPr id="64" name="Shape 61"/>
          <p:cNvSpPr/>
          <p:nvPr/>
        </p:nvSpPr>
        <p:spPr>
          <a:xfrm>
            <a:off x="2743200" y="5541264"/>
            <a:ext cx="886968" cy="402336"/>
          </a:xfrm>
          <a:prstGeom prst="rect">
            <a:avLst/>
          </a:prstGeom>
          <a:solidFill>
            <a:srgbClr val="F2F4F7"/>
          </a:solidFill>
          <a:ln w="12700">
            <a:solidFill>
              <a:srgbClr val="F2F4F7"/>
            </a:solidFill>
            <a:prstDash val="solid"/>
          </a:ln>
        </p:spPr>
      </p:sp>
      <p:sp>
        <p:nvSpPr>
          <p:cNvPr id="65" name="Text 62"/>
          <p:cNvSpPr txBox="1"/>
          <p:nvPr/>
        </p:nvSpPr>
        <p:spPr>
          <a:xfrm>
            <a:off x="2743200" y="5541264"/>
            <a:ext cx="886968"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GitHub</a:t>
            </a:r>
            <a:endParaRPr lang="en-US" sz="1250" dirty="0"/>
          </a:p>
        </p:txBody>
      </p:sp>
      <p:sp>
        <p:nvSpPr>
          <p:cNvPr id="66" name="Shape 63"/>
          <p:cNvSpPr/>
          <p:nvPr/>
        </p:nvSpPr>
        <p:spPr>
          <a:xfrm>
            <a:off x="3721608" y="5541264"/>
            <a:ext cx="886968" cy="402336"/>
          </a:xfrm>
          <a:prstGeom prst="rect">
            <a:avLst/>
          </a:prstGeom>
          <a:solidFill>
            <a:srgbClr val="F2F4F7"/>
          </a:solidFill>
          <a:ln w="12700">
            <a:solidFill>
              <a:srgbClr val="F2F4F7"/>
            </a:solidFill>
            <a:prstDash val="solid"/>
          </a:ln>
        </p:spPr>
      </p:sp>
      <p:sp>
        <p:nvSpPr>
          <p:cNvPr id="67" name="Text 64"/>
          <p:cNvSpPr txBox="1"/>
          <p:nvPr/>
        </p:nvSpPr>
        <p:spPr>
          <a:xfrm>
            <a:off x="3721608" y="5541264"/>
            <a:ext cx="886968" cy="402336"/>
          </a:xfrm>
          <a:prstGeom prst="rect">
            <a:avLst/>
          </a:prstGeom>
          <a:noFill/>
          <a:ln/>
        </p:spPr>
        <p:txBody>
          <a:bodyPr wrap="square" lIns="0" tIns="0" rIns="0" bIns="0" rtlCol="0" anchor="ctr"/>
          <a:lstStyle/>
          <a:p>
            <a:pPr algn="ctr" indent="0" marL="0">
              <a:buNone/>
            </a:pPr>
            <a:r>
              <a:rPr lang="en-US" sz="1250" dirty="0">
                <a:solidFill>
                  <a:srgbClr val="1B2333"/>
                </a:solidFill>
                <a:latin typeface="Malgun Gothic" pitchFamily="34" charset="0"/>
                <a:ea typeface="Malgun Gothic" pitchFamily="34" charset="-122"/>
                <a:cs typeface="Malgun Gothic" pitchFamily="34" charset="-120"/>
              </a:rPr>
              <a:t>Notion</a:t>
            </a:r>
            <a:endParaRPr lang="en-US" sz="1250" dirty="0"/>
          </a:p>
        </p:txBody>
      </p:sp>
      <p:sp>
        <p:nvSpPr>
          <p:cNvPr id="68" name="Shape 65"/>
          <p:cNvSpPr/>
          <p:nvPr/>
        </p:nvSpPr>
        <p:spPr>
          <a:xfrm>
            <a:off x="822960" y="6144768"/>
            <a:ext cx="10607040" cy="0"/>
          </a:xfrm>
          <a:prstGeom prst="line">
            <a:avLst/>
          </a:prstGeom>
          <a:noFill/>
          <a:ln w="9525">
            <a:solidFill>
              <a:srgbClr val="E3E8EF"/>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7315200" cy="274320"/>
          </a:xfrm>
          <a:prstGeom prst="rect">
            <a:avLst/>
          </a:prstGeom>
          <a:noFill/>
          <a:ln/>
        </p:spPr>
        <p:txBody>
          <a:bodyPr wrap="square" lIns="0" tIns="0" rIns="0" bIns="0" rtlCol="0" anchor="ctr"/>
          <a:lstStyle/>
          <a:p>
            <a:pPr indent="0" marL="0">
              <a:buNone/>
            </a:pPr>
            <a:r>
              <a:rPr lang="en-US" sz="1200" b="1" dirty="0">
                <a:solidFill>
                  <a:srgbClr val="F28C28"/>
                </a:solidFill>
                <a:latin typeface="Malgun Gothic" pitchFamily="34" charset="0"/>
                <a:ea typeface="Malgun Gothic" pitchFamily="34" charset="-122"/>
                <a:cs typeface="Malgun Gothic" pitchFamily="34" charset="-120"/>
              </a:rPr>
              <a:t>02  시스템 구성</a:t>
            </a:r>
            <a:endParaRPr lang="en-US" sz="1200" dirty="0"/>
          </a:p>
        </p:txBody>
      </p:sp>
      <p:sp>
        <p:nvSpPr>
          <p:cNvPr id="3" name="Text 1"/>
          <p:cNvSpPr txBox="1"/>
          <p:nvPr/>
        </p:nvSpPr>
        <p:spPr>
          <a:xfrm>
            <a:off x="502920" y="594360"/>
            <a:ext cx="10972800" cy="685800"/>
          </a:xfrm>
          <a:prstGeom prst="rect">
            <a:avLst/>
          </a:prstGeom>
          <a:noFill/>
          <a:ln/>
        </p:spPr>
        <p:txBody>
          <a:bodyPr wrap="square" lIns="0" tIns="0" rIns="0" bIns="0" rtlCol="0" anchor="ctr"/>
          <a:lstStyle/>
          <a:p>
            <a:pPr indent="0" marL="0">
              <a:buNone/>
            </a:pPr>
            <a:r>
              <a:rPr lang="en-US" sz="3000" b="1" dirty="0">
                <a:solidFill>
                  <a:srgbClr val="14284B"/>
                </a:solidFill>
                <a:latin typeface="Malgun Gothic" pitchFamily="34" charset="0"/>
                <a:ea typeface="Malgun Gothic" pitchFamily="34" charset="-122"/>
                <a:cs typeface="Malgun Gothic" pitchFamily="34" charset="-120"/>
              </a:rPr>
              <a:t>차량 한 대의 흐름</a:t>
            </a:r>
            <a:endParaRPr lang="en-US" sz="3000" dirty="0"/>
          </a:p>
        </p:txBody>
      </p:sp>
      <p:sp>
        <p:nvSpPr>
          <p:cNvPr id="4" name="Text 2"/>
          <p:cNvSpPr txBox="1"/>
          <p:nvPr/>
        </p:nvSpPr>
        <p:spPr>
          <a:xfrm>
            <a:off x="502920" y="6446520"/>
            <a:ext cx="4572000" cy="228600"/>
          </a:xfrm>
          <a:prstGeom prst="rect">
            <a:avLst/>
          </a:prstGeom>
          <a:noFill/>
          <a:ln/>
        </p:spPr>
        <p:txBody>
          <a:bodyPr wrap="square" lIns="0" tIns="0" rIns="0" bIns="0" rtlCol="0" anchor="ctr"/>
          <a:lstStyle/>
          <a:p>
            <a:pPr indent="0" marL="0">
              <a:buNone/>
            </a:pPr>
            <a:r>
              <a:rPr lang="en-US" sz="900" dirty="0">
                <a:solidFill>
                  <a:srgbClr val="9AA3B2"/>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11</a:t>
            </a:r>
            <a:endParaRPr lang="en-US" sz="900" dirty="0"/>
          </a:p>
        </p:txBody>
      </p:sp>
      <p:sp>
        <p:nvSpPr>
          <p:cNvPr id="7" name="Text 4"/>
          <p:cNvSpPr txBox="1"/>
          <p:nvPr/>
        </p:nvSpPr>
        <p:spPr>
          <a:xfrm>
            <a:off x="822960" y="1920240"/>
            <a:ext cx="2011680" cy="548640"/>
          </a:xfrm>
          <a:prstGeom prst="rect">
            <a:avLst/>
          </a:prstGeom>
          <a:noFill/>
          <a:ln/>
        </p:spPr>
        <p:txBody>
          <a:bodyPr wrap="square" lIns="0" tIns="0" rIns="0" bIns="0" rtlCol="0" anchor="ctr"/>
          <a:lstStyle/>
          <a:p>
            <a:pPr indent="0" marL="0">
              <a:buNone/>
            </a:pPr>
            <a:r>
              <a:rPr lang="en-US" sz="2800" b="1" dirty="0">
                <a:solidFill>
                  <a:srgbClr val="F28C28"/>
                </a:solidFill>
                <a:latin typeface="Malgun Gothic" pitchFamily="34" charset="0"/>
                <a:ea typeface="Malgun Gothic" pitchFamily="34" charset="-122"/>
                <a:cs typeface="Malgun Gothic" pitchFamily="34" charset="-120"/>
              </a:rPr>
              <a:t>01</a:t>
            </a:r>
            <a:endParaRPr lang="en-US" sz="2800" dirty="0"/>
          </a:p>
        </p:txBody>
      </p:sp>
      <p:sp>
        <p:nvSpPr>
          <p:cNvPr id="8" name="Shape 5"/>
          <p:cNvSpPr/>
          <p:nvPr/>
        </p:nvSpPr>
        <p:spPr>
          <a:xfrm>
            <a:off x="822960" y="2606040"/>
            <a:ext cx="1920240" cy="0"/>
          </a:xfrm>
          <a:prstGeom prst="line">
            <a:avLst/>
          </a:prstGeom>
          <a:noFill/>
          <a:ln w="25400">
            <a:solidFill>
              <a:srgbClr val="14284B"/>
            </a:solidFill>
            <a:prstDash val="solid"/>
          </a:ln>
        </p:spPr>
      </p:sp>
      <p:sp>
        <p:nvSpPr>
          <p:cNvPr id="9" name="Text 6"/>
          <p:cNvSpPr txBox="1"/>
          <p:nvPr/>
        </p:nvSpPr>
        <p:spPr>
          <a:xfrm>
            <a:off x="822960" y="2788920"/>
            <a:ext cx="2011680" cy="457200"/>
          </a:xfrm>
          <a:prstGeom prst="rect">
            <a:avLst/>
          </a:prstGeom>
          <a:noFill/>
          <a:ln/>
        </p:spPr>
        <p:txBody>
          <a:bodyPr wrap="square" lIns="0" tIns="0" rIns="0" bIns="0" rtlCol="0" anchor="ctr"/>
          <a:lstStyle/>
          <a:p>
            <a:pPr indent="0" marL="0">
              <a:buNone/>
            </a:pPr>
            <a:r>
              <a:rPr lang="en-US" sz="2000" b="1" dirty="0">
                <a:solidFill>
                  <a:srgbClr val="14284B"/>
                </a:solidFill>
                <a:latin typeface="Malgun Gothic" pitchFamily="34" charset="0"/>
                <a:ea typeface="Malgun Gothic" pitchFamily="34" charset="-122"/>
                <a:cs typeface="Malgun Gothic" pitchFamily="34" charset="-120"/>
              </a:rPr>
              <a:t>게이트인</a:t>
            </a:r>
            <a:endParaRPr lang="en-US" sz="2000" dirty="0"/>
          </a:p>
        </p:txBody>
      </p:sp>
      <p:sp>
        <p:nvSpPr>
          <p:cNvPr id="10" name="Text 7"/>
          <p:cNvSpPr txBox="1"/>
          <p:nvPr/>
        </p:nvSpPr>
        <p:spPr>
          <a:xfrm>
            <a:off x="822960" y="3337560"/>
            <a:ext cx="2011680" cy="914400"/>
          </a:xfrm>
          <a:prstGeom prst="rect">
            <a:avLst/>
          </a:prstGeom>
          <a:noFill/>
          <a:ln/>
        </p:spPr>
        <p:txBody>
          <a:bodyPr wrap="square" lIns="0" tIns="0" rIns="0" bIns="0" rtlCol="0" anchor="t"/>
          <a:lstStyle/>
          <a:p>
            <a:pPr indent="0" marL="0">
              <a:buNone/>
            </a:pPr>
            <a:r>
              <a:rPr lang="en-US" sz="1400" dirty="0">
                <a:solidFill>
                  <a:srgbClr val="1B2333"/>
                </a:solidFill>
                <a:latin typeface="Malgun Gothic" pitchFamily="34" charset="0"/>
                <a:ea typeface="Malgun Gothic" pitchFamily="34" charset="-122"/>
                <a:cs typeface="Malgun Gothic" pitchFamily="34" charset="-120"/>
              </a:rPr>
              <a:t>번호판 인식</a:t>
            </a:r>
            <a:endParaRPr lang="en-US" sz="1400" dirty="0"/>
          </a:p>
          <a:p>
            <a:pPr indent="0" marL="0">
              <a:buNone/>
            </a:pPr>
            <a:r>
              <a:rPr lang="en-US" sz="1400" dirty="0">
                <a:solidFill>
                  <a:srgbClr val="1B2333"/>
                </a:solidFill>
                <a:latin typeface="Malgun Gothic" pitchFamily="34" charset="0"/>
                <a:ea typeface="Malgun Gothic" pitchFamily="34" charset="-122"/>
                <a:cs typeface="Malgun Gothic" pitchFamily="34" charset="-120"/>
              </a:rPr>
              <a:t>등록 차량 확인</a:t>
            </a:r>
            <a:endParaRPr lang="en-US" sz="1400" dirty="0"/>
          </a:p>
        </p:txBody>
      </p:sp>
      <p:sp>
        <p:nvSpPr>
          <p:cNvPr id="11" name="Text 8"/>
          <p:cNvSpPr txBox="1"/>
          <p:nvPr/>
        </p:nvSpPr>
        <p:spPr>
          <a:xfrm>
            <a:off x="3063240" y="1920240"/>
            <a:ext cx="2011680" cy="548640"/>
          </a:xfrm>
          <a:prstGeom prst="rect">
            <a:avLst/>
          </a:prstGeom>
          <a:noFill/>
          <a:ln/>
        </p:spPr>
        <p:txBody>
          <a:bodyPr wrap="square" lIns="0" tIns="0" rIns="0" bIns="0" rtlCol="0" anchor="ctr"/>
          <a:lstStyle/>
          <a:p>
            <a:pPr indent="0" marL="0">
              <a:buNone/>
            </a:pPr>
            <a:r>
              <a:rPr lang="en-US" sz="2800" b="1" dirty="0">
                <a:solidFill>
                  <a:srgbClr val="F28C28"/>
                </a:solidFill>
                <a:latin typeface="Malgun Gothic" pitchFamily="34" charset="0"/>
                <a:ea typeface="Malgun Gothic" pitchFamily="34" charset="-122"/>
                <a:cs typeface="Malgun Gothic" pitchFamily="34" charset="-120"/>
              </a:rPr>
              <a:t>02</a:t>
            </a:r>
            <a:endParaRPr lang="en-US" sz="2800" dirty="0"/>
          </a:p>
        </p:txBody>
      </p:sp>
      <p:sp>
        <p:nvSpPr>
          <p:cNvPr id="12" name="Shape 9"/>
          <p:cNvSpPr/>
          <p:nvPr/>
        </p:nvSpPr>
        <p:spPr>
          <a:xfrm>
            <a:off x="3063240" y="2606040"/>
            <a:ext cx="1920240" cy="0"/>
          </a:xfrm>
          <a:prstGeom prst="line">
            <a:avLst/>
          </a:prstGeom>
          <a:noFill/>
          <a:ln w="25400">
            <a:solidFill>
              <a:srgbClr val="14284B"/>
            </a:solidFill>
            <a:prstDash val="solid"/>
          </a:ln>
        </p:spPr>
      </p:sp>
      <p:sp>
        <p:nvSpPr>
          <p:cNvPr id="13" name="Text 10"/>
          <p:cNvSpPr txBox="1"/>
          <p:nvPr/>
        </p:nvSpPr>
        <p:spPr>
          <a:xfrm>
            <a:off x="3063240" y="2788920"/>
            <a:ext cx="2011680" cy="457200"/>
          </a:xfrm>
          <a:prstGeom prst="rect">
            <a:avLst/>
          </a:prstGeom>
          <a:noFill/>
          <a:ln/>
        </p:spPr>
        <p:txBody>
          <a:bodyPr wrap="square" lIns="0" tIns="0" rIns="0" bIns="0" rtlCol="0" anchor="ctr"/>
          <a:lstStyle/>
          <a:p>
            <a:pPr indent="0" marL="0">
              <a:buNone/>
            </a:pPr>
            <a:r>
              <a:rPr lang="en-US" sz="2000" b="1" dirty="0">
                <a:solidFill>
                  <a:srgbClr val="14284B"/>
                </a:solidFill>
                <a:latin typeface="Malgun Gothic" pitchFamily="34" charset="0"/>
                <a:ea typeface="Malgun Gothic" pitchFamily="34" charset="-122"/>
                <a:cs typeface="Malgun Gothic" pitchFamily="34" charset="-120"/>
              </a:rPr>
              <a:t>상하차</a:t>
            </a:r>
            <a:endParaRPr lang="en-US" sz="2000" dirty="0"/>
          </a:p>
        </p:txBody>
      </p:sp>
      <p:sp>
        <p:nvSpPr>
          <p:cNvPr id="14" name="Text 11"/>
          <p:cNvSpPr txBox="1"/>
          <p:nvPr/>
        </p:nvSpPr>
        <p:spPr>
          <a:xfrm>
            <a:off x="3063240" y="3337560"/>
            <a:ext cx="2011680" cy="914400"/>
          </a:xfrm>
          <a:prstGeom prst="rect">
            <a:avLst/>
          </a:prstGeom>
          <a:noFill/>
          <a:ln/>
        </p:spPr>
        <p:txBody>
          <a:bodyPr wrap="square" lIns="0" tIns="0" rIns="0" bIns="0" rtlCol="0" anchor="t"/>
          <a:lstStyle/>
          <a:p>
            <a:pPr indent="0" marL="0">
              <a:buNone/>
            </a:pPr>
            <a:r>
              <a:rPr lang="en-US" sz="1400" dirty="0">
                <a:solidFill>
                  <a:srgbClr val="1B2333"/>
                </a:solidFill>
                <a:latin typeface="Malgun Gothic" pitchFamily="34" charset="0"/>
                <a:ea typeface="Malgun Gothic" pitchFamily="34" charset="-122"/>
                <a:cs typeface="Malgun Gothic" pitchFamily="34" charset="-120"/>
              </a:rPr>
              <a:t>작업 자동 진행</a:t>
            </a:r>
            <a:endParaRPr lang="en-US" sz="1400" dirty="0"/>
          </a:p>
          <a:p>
            <a:pPr indent="0" marL="0">
              <a:buNone/>
            </a:pPr>
            <a:r>
              <a:rPr lang="en-US" sz="1400" dirty="0">
                <a:solidFill>
                  <a:srgbClr val="1B2333"/>
                </a:solidFill>
                <a:latin typeface="Malgun Gothic" pitchFamily="34" charset="0"/>
                <a:ea typeface="Malgun Gothic" pitchFamily="34" charset="-122"/>
                <a:cs typeface="Malgun Gothic" pitchFamily="34" charset="-120"/>
              </a:rPr>
              <a:t>PENDING → COMPLETED</a:t>
            </a:r>
            <a:endParaRPr lang="en-US" sz="1400" dirty="0"/>
          </a:p>
        </p:txBody>
      </p:sp>
      <p:sp>
        <p:nvSpPr>
          <p:cNvPr id="15" name="Text 12"/>
          <p:cNvSpPr txBox="1"/>
          <p:nvPr/>
        </p:nvSpPr>
        <p:spPr>
          <a:xfrm>
            <a:off x="5303520" y="1920240"/>
            <a:ext cx="2011680" cy="548640"/>
          </a:xfrm>
          <a:prstGeom prst="rect">
            <a:avLst/>
          </a:prstGeom>
          <a:noFill/>
          <a:ln/>
        </p:spPr>
        <p:txBody>
          <a:bodyPr wrap="square" lIns="0" tIns="0" rIns="0" bIns="0" rtlCol="0" anchor="ctr"/>
          <a:lstStyle/>
          <a:p>
            <a:pPr indent="0" marL="0">
              <a:buNone/>
            </a:pPr>
            <a:r>
              <a:rPr lang="en-US" sz="2800" b="1" dirty="0">
                <a:solidFill>
                  <a:srgbClr val="F28C28"/>
                </a:solidFill>
                <a:latin typeface="Malgun Gothic" pitchFamily="34" charset="0"/>
                <a:ea typeface="Malgun Gothic" pitchFamily="34" charset="-122"/>
                <a:cs typeface="Malgun Gothic" pitchFamily="34" charset="-120"/>
              </a:rPr>
              <a:t>03</a:t>
            </a:r>
            <a:endParaRPr lang="en-US" sz="2800" dirty="0"/>
          </a:p>
        </p:txBody>
      </p:sp>
      <p:sp>
        <p:nvSpPr>
          <p:cNvPr id="16" name="Shape 13"/>
          <p:cNvSpPr/>
          <p:nvPr/>
        </p:nvSpPr>
        <p:spPr>
          <a:xfrm>
            <a:off x="5303520" y="2606040"/>
            <a:ext cx="1920240" cy="0"/>
          </a:xfrm>
          <a:prstGeom prst="line">
            <a:avLst/>
          </a:prstGeom>
          <a:noFill/>
          <a:ln w="25400">
            <a:solidFill>
              <a:srgbClr val="14284B"/>
            </a:solidFill>
            <a:prstDash val="solid"/>
          </a:ln>
        </p:spPr>
      </p:sp>
      <p:sp>
        <p:nvSpPr>
          <p:cNvPr id="17" name="Text 14"/>
          <p:cNvSpPr txBox="1"/>
          <p:nvPr/>
        </p:nvSpPr>
        <p:spPr>
          <a:xfrm>
            <a:off x="5303520" y="2788920"/>
            <a:ext cx="2011680" cy="457200"/>
          </a:xfrm>
          <a:prstGeom prst="rect">
            <a:avLst/>
          </a:prstGeom>
          <a:noFill/>
          <a:ln/>
        </p:spPr>
        <p:txBody>
          <a:bodyPr wrap="square" lIns="0" tIns="0" rIns="0" bIns="0" rtlCol="0" anchor="ctr"/>
          <a:lstStyle/>
          <a:p>
            <a:pPr indent="0" marL="0">
              <a:buNone/>
            </a:pPr>
            <a:r>
              <a:rPr lang="en-US" sz="2000" b="1" dirty="0">
                <a:solidFill>
                  <a:srgbClr val="14284B"/>
                </a:solidFill>
                <a:latin typeface="Malgun Gothic" pitchFamily="34" charset="0"/>
                <a:ea typeface="Malgun Gothic" pitchFamily="34" charset="-122"/>
                <a:cs typeface="Malgun Gothic" pitchFamily="34" charset="-120"/>
              </a:rPr>
              <a:t>검사소 계량</a:t>
            </a:r>
            <a:endParaRPr lang="en-US" sz="2000" dirty="0"/>
          </a:p>
        </p:txBody>
      </p:sp>
      <p:sp>
        <p:nvSpPr>
          <p:cNvPr id="18" name="Text 15"/>
          <p:cNvSpPr txBox="1"/>
          <p:nvPr/>
        </p:nvSpPr>
        <p:spPr>
          <a:xfrm>
            <a:off x="5303520" y="3337560"/>
            <a:ext cx="2011680" cy="914400"/>
          </a:xfrm>
          <a:prstGeom prst="rect">
            <a:avLst/>
          </a:prstGeom>
          <a:noFill/>
          <a:ln/>
        </p:spPr>
        <p:txBody>
          <a:bodyPr wrap="square" lIns="0" tIns="0" rIns="0" bIns="0" rtlCol="0" anchor="t"/>
          <a:lstStyle/>
          <a:p>
            <a:pPr indent="0" marL="0">
              <a:buNone/>
            </a:pPr>
            <a:r>
              <a:rPr lang="en-US" sz="1400" dirty="0">
                <a:solidFill>
                  <a:srgbClr val="1B2333"/>
                </a:solidFill>
                <a:latin typeface="Malgun Gothic" pitchFamily="34" charset="0"/>
                <a:ea typeface="Malgun Gothic" pitchFamily="34" charset="-122"/>
                <a:cs typeface="Malgun Gothic" pitchFamily="34" charset="-120"/>
              </a:rPr>
              <a:t>축별 무게 측정</a:t>
            </a:r>
            <a:endParaRPr lang="en-US" sz="1400" dirty="0"/>
          </a:p>
          <a:p>
            <a:pPr indent="0" marL="0">
              <a:buNone/>
            </a:pPr>
            <a:r>
              <a:rPr lang="en-US" sz="1400" dirty="0">
                <a:solidFill>
                  <a:srgbClr val="1B2333"/>
                </a:solidFill>
                <a:latin typeface="Malgun Gothic" pitchFamily="34" charset="0"/>
                <a:ea typeface="Malgun Gothic" pitchFamily="34" charset="-122"/>
                <a:cs typeface="Malgun Gothic" pitchFamily="34" charset="-120"/>
              </a:rPr>
              <a:t>1회만 계량</a:t>
            </a:r>
            <a:endParaRPr lang="en-US" sz="1400" dirty="0"/>
          </a:p>
        </p:txBody>
      </p:sp>
      <p:sp>
        <p:nvSpPr>
          <p:cNvPr id="19" name="Text 16"/>
          <p:cNvSpPr txBox="1"/>
          <p:nvPr/>
        </p:nvSpPr>
        <p:spPr>
          <a:xfrm>
            <a:off x="7543800" y="1920240"/>
            <a:ext cx="2011680" cy="548640"/>
          </a:xfrm>
          <a:prstGeom prst="rect">
            <a:avLst/>
          </a:prstGeom>
          <a:noFill/>
          <a:ln/>
        </p:spPr>
        <p:txBody>
          <a:bodyPr wrap="square" lIns="0" tIns="0" rIns="0" bIns="0" rtlCol="0" anchor="ctr"/>
          <a:lstStyle/>
          <a:p>
            <a:pPr indent="0" marL="0">
              <a:buNone/>
            </a:pPr>
            <a:r>
              <a:rPr lang="en-US" sz="2800" b="1" dirty="0">
                <a:solidFill>
                  <a:srgbClr val="F28C28"/>
                </a:solidFill>
                <a:latin typeface="Malgun Gothic" pitchFamily="34" charset="0"/>
                <a:ea typeface="Malgun Gothic" pitchFamily="34" charset="-122"/>
                <a:cs typeface="Malgun Gothic" pitchFamily="34" charset="-120"/>
              </a:rPr>
              <a:t>04</a:t>
            </a:r>
            <a:endParaRPr lang="en-US" sz="2800" dirty="0"/>
          </a:p>
        </p:txBody>
      </p:sp>
      <p:sp>
        <p:nvSpPr>
          <p:cNvPr id="20" name="Shape 17"/>
          <p:cNvSpPr/>
          <p:nvPr/>
        </p:nvSpPr>
        <p:spPr>
          <a:xfrm>
            <a:off x="7543800" y="2606040"/>
            <a:ext cx="1920240" cy="0"/>
          </a:xfrm>
          <a:prstGeom prst="line">
            <a:avLst/>
          </a:prstGeom>
          <a:noFill/>
          <a:ln w="25400">
            <a:solidFill>
              <a:srgbClr val="14284B"/>
            </a:solidFill>
            <a:prstDash val="solid"/>
          </a:ln>
        </p:spPr>
      </p:sp>
      <p:sp>
        <p:nvSpPr>
          <p:cNvPr id="21" name="Text 18"/>
          <p:cNvSpPr txBox="1"/>
          <p:nvPr/>
        </p:nvSpPr>
        <p:spPr>
          <a:xfrm>
            <a:off x="7543800" y="2788920"/>
            <a:ext cx="2011680" cy="457200"/>
          </a:xfrm>
          <a:prstGeom prst="rect">
            <a:avLst/>
          </a:prstGeom>
          <a:noFill/>
          <a:ln/>
        </p:spPr>
        <p:txBody>
          <a:bodyPr wrap="square" lIns="0" tIns="0" rIns="0" bIns="0" rtlCol="0" anchor="ctr"/>
          <a:lstStyle/>
          <a:p>
            <a:pPr indent="0" marL="0">
              <a:buNone/>
            </a:pPr>
            <a:r>
              <a:rPr lang="en-US" sz="2000" b="1" dirty="0">
                <a:solidFill>
                  <a:srgbClr val="14284B"/>
                </a:solidFill>
                <a:latin typeface="Malgun Gothic" pitchFamily="34" charset="0"/>
                <a:ea typeface="Malgun Gothic" pitchFamily="34" charset="-122"/>
                <a:cs typeface="Malgun Gothic" pitchFamily="34" charset="-120"/>
              </a:rPr>
              <a:t>과적 판정</a:t>
            </a:r>
            <a:endParaRPr lang="en-US" sz="2000" dirty="0"/>
          </a:p>
        </p:txBody>
      </p:sp>
      <p:sp>
        <p:nvSpPr>
          <p:cNvPr id="22" name="Text 19"/>
          <p:cNvSpPr txBox="1"/>
          <p:nvPr/>
        </p:nvSpPr>
        <p:spPr>
          <a:xfrm>
            <a:off x="7543800" y="3337560"/>
            <a:ext cx="2011680" cy="914400"/>
          </a:xfrm>
          <a:prstGeom prst="rect">
            <a:avLst/>
          </a:prstGeom>
          <a:noFill/>
          <a:ln/>
        </p:spPr>
        <p:txBody>
          <a:bodyPr wrap="square" lIns="0" tIns="0" rIns="0" bIns="0" rtlCol="0" anchor="t"/>
          <a:lstStyle/>
          <a:p>
            <a:pPr indent="0" marL="0">
              <a:buNone/>
            </a:pPr>
            <a:r>
              <a:rPr lang="en-US" sz="1400" dirty="0">
                <a:solidFill>
                  <a:srgbClr val="1B2333"/>
                </a:solidFill>
                <a:latin typeface="Malgun Gothic" pitchFamily="34" charset="0"/>
                <a:ea typeface="Malgun Gothic" pitchFamily="34" charset="-122"/>
                <a:cs typeface="Malgun Gothic" pitchFamily="34" charset="-120"/>
              </a:rPr>
              <a:t>축하중 · 총중량</a:t>
            </a:r>
            <a:endParaRPr lang="en-US" sz="1400" dirty="0"/>
          </a:p>
          <a:p>
            <a:pPr indent="0" marL="0">
              <a:buNone/>
            </a:pPr>
            <a:r>
              <a:rPr lang="en-US" sz="1400" dirty="0">
                <a:solidFill>
                  <a:srgbClr val="1B2333"/>
                </a:solidFill>
                <a:latin typeface="Malgun Gothic" pitchFamily="34" charset="0"/>
                <a:ea typeface="Malgun Gothic" pitchFamily="34" charset="-122"/>
                <a:cs typeface="Malgun Gothic" pitchFamily="34" charset="-120"/>
              </a:rPr>
              <a:t>적재중량</a:t>
            </a:r>
            <a:endParaRPr lang="en-US" sz="1400" dirty="0"/>
          </a:p>
        </p:txBody>
      </p:sp>
      <p:sp>
        <p:nvSpPr>
          <p:cNvPr id="23" name="Text 20"/>
          <p:cNvSpPr txBox="1"/>
          <p:nvPr/>
        </p:nvSpPr>
        <p:spPr>
          <a:xfrm>
            <a:off x="9784080" y="1920240"/>
            <a:ext cx="2011680" cy="548640"/>
          </a:xfrm>
          <a:prstGeom prst="rect">
            <a:avLst/>
          </a:prstGeom>
          <a:noFill/>
          <a:ln/>
        </p:spPr>
        <p:txBody>
          <a:bodyPr wrap="square" lIns="0" tIns="0" rIns="0" bIns="0" rtlCol="0" anchor="ctr"/>
          <a:lstStyle/>
          <a:p>
            <a:pPr indent="0" marL="0">
              <a:buNone/>
            </a:pPr>
            <a:r>
              <a:rPr lang="en-US" sz="2800" b="1" dirty="0">
                <a:solidFill>
                  <a:srgbClr val="F28C28"/>
                </a:solidFill>
                <a:latin typeface="Malgun Gothic" pitchFamily="34" charset="0"/>
                <a:ea typeface="Malgun Gothic" pitchFamily="34" charset="-122"/>
                <a:cs typeface="Malgun Gothic" pitchFamily="34" charset="-120"/>
              </a:rPr>
              <a:t>05</a:t>
            </a:r>
            <a:endParaRPr lang="en-US" sz="2800" dirty="0"/>
          </a:p>
        </p:txBody>
      </p:sp>
      <p:sp>
        <p:nvSpPr>
          <p:cNvPr id="24" name="Shape 21"/>
          <p:cNvSpPr/>
          <p:nvPr/>
        </p:nvSpPr>
        <p:spPr>
          <a:xfrm>
            <a:off x="9784080" y="2606040"/>
            <a:ext cx="1920240" cy="0"/>
          </a:xfrm>
          <a:prstGeom prst="line">
            <a:avLst/>
          </a:prstGeom>
          <a:noFill/>
          <a:ln w="25400">
            <a:solidFill>
              <a:srgbClr val="14284B"/>
            </a:solidFill>
            <a:prstDash val="solid"/>
          </a:ln>
        </p:spPr>
      </p:sp>
      <p:sp>
        <p:nvSpPr>
          <p:cNvPr id="25" name="Text 22"/>
          <p:cNvSpPr txBox="1"/>
          <p:nvPr/>
        </p:nvSpPr>
        <p:spPr>
          <a:xfrm>
            <a:off x="9784080" y="2788920"/>
            <a:ext cx="2011680" cy="457200"/>
          </a:xfrm>
          <a:prstGeom prst="rect">
            <a:avLst/>
          </a:prstGeom>
          <a:noFill/>
          <a:ln/>
        </p:spPr>
        <p:txBody>
          <a:bodyPr wrap="square" lIns="0" tIns="0" rIns="0" bIns="0" rtlCol="0" anchor="ctr"/>
          <a:lstStyle/>
          <a:p>
            <a:pPr indent="0" marL="0">
              <a:buNone/>
            </a:pPr>
            <a:r>
              <a:rPr lang="en-US" sz="2000" b="1" dirty="0">
                <a:solidFill>
                  <a:srgbClr val="14284B"/>
                </a:solidFill>
                <a:latin typeface="Malgun Gothic" pitchFamily="34" charset="0"/>
                <a:ea typeface="Malgun Gothic" pitchFamily="34" charset="-122"/>
                <a:cs typeface="Malgun Gothic" pitchFamily="34" charset="-120"/>
              </a:rPr>
              <a:t>게이트아웃</a:t>
            </a:r>
            <a:endParaRPr lang="en-US" sz="2000" dirty="0"/>
          </a:p>
        </p:txBody>
      </p:sp>
      <p:sp>
        <p:nvSpPr>
          <p:cNvPr id="26" name="Text 23"/>
          <p:cNvSpPr txBox="1"/>
          <p:nvPr/>
        </p:nvSpPr>
        <p:spPr>
          <a:xfrm>
            <a:off x="9784080" y="3337560"/>
            <a:ext cx="2011680" cy="914400"/>
          </a:xfrm>
          <a:prstGeom prst="rect">
            <a:avLst/>
          </a:prstGeom>
          <a:noFill/>
          <a:ln/>
        </p:spPr>
        <p:txBody>
          <a:bodyPr wrap="square" lIns="0" tIns="0" rIns="0" bIns="0" rtlCol="0" anchor="t"/>
          <a:lstStyle/>
          <a:p>
            <a:pPr indent="0" marL="0">
              <a:buNone/>
            </a:pPr>
            <a:r>
              <a:rPr lang="en-US" sz="1400" dirty="0">
                <a:solidFill>
                  <a:srgbClr val="1B2333"/>
                </a:solidFill>
                <a:latin typeface="Malgun Gothic" pitchFamily="34" charset="0"/>
                <a:ea typeface="Malgun Gothic" pitchFamily="34" charset="-122"/>
                <a:cs typeface="Malgun Gothic" pitchFamily="34" charset="-120"/>
              </a:rPr>
              <a:t>과적 통과 차량만</a:t>
            </a:r>
            <a:endParaRPr lang="en-US" sz="1400" dirty="0"/>
          </a:p>
          <a:p>
            <a:pPr indent="0" marL="0">
              <a:buNone/>
            </a:pPr>
            <a:r>
              <a:rPr lang="en-US" sz="1400" dirty="0">
                <a:solidFill>
                  <a:srgbClr val="1B2333"/>
                </a:solidFill>
                <a:latin typeface="Malgun Gothic" pitchFamily="34" charset="0"/>
                <a:ea typeface="Malgun Gothic" pitchFamily="34" charset="-122"/>
                <a:cs typeface="Malgun Gothic" pitchFamily="34" charset="-120"/>
              </a:rPr>
              <a:t>출차 허용</a:t>
            </a:r>
            <a:endParaRPr lang="en-US" sz="1400" dirty="0"/>
          </a:p>
        </p:txBody>
      </p:sp>
      <p:sp>
        <p:nvSpPr>
          <p:cNvPr id="27" name="Text 24"/>
          <p:cNvSpPr txBox="1"/>
          <p:nvPr/>
        </p:nvSpPr>
        <p:spPr>
          <a:xfrm>
            <a:off x="822960" y="4846320"/>
            <a:ext cx="10607040" cy="457200"/>
          </a:xfrm>
          <a:prstGeom prst="rect">
            <a:avLst/>
          </a:prstGeom>
          <a:noFill/>
          <a:ln/>
        </p:spPr>
        <p:txBody>
          <a:bodyPr wrap="square" lIns="0" tIns="0" rIns="0" bIns="0" rtlCol="0" anchor="ctr"/>
          <a:lstStyle/>
          <a:p>
            <a:pPr indent="0" marL="0">
              <a:buNone/>
            </a:pPr>
            <a:r>
              <a:rPr lang="en-US" sz="1700" b="1" dirty="0">
                <a:solidFill>
                  <a:srgbClr val="F28C28"/>
                </a:solidFill>
                <a:latin typeface="Malgun Gothic" pitchFamily="34" charset="0"/>
                <a:ea typeface="Malgun Gothic" pitchFamily="34" charset="-122"/>
                <a:cs typeface="Malgun Gothic" pitchFamily="34" charset="-120"/>
              </a:rPr>
              <a:t>과적이면  →  감량 후 재계량  →  통과해야 출차</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2103120"/>
            <a:ext cx="2743200" cy="1097280"/>
          </a:xfrm>
          <a:prstGeom prst="rect">
            <a:avLst/>
          </a:prstGeom>
          <a:noFill/>
          <a:ln/>
        </p:spPr>
        <p:txBody>
          <a:bodyPr wrap="square" lIns="0" tIns="0" rIns="0" bIns="0" rtlCol="0" anchor="ctr"/>
          <a:lstStyle/>
          <a:p>
            <a:pPr indent="0" marL="0">
              <a:buNone/>
            </a:pPr>
            <a:r>
              <a:rPr lang="en-US" sz="6600" b="1" dirty="0">
                <a:solidFill>
                  <a:srgbClr val="F28C28"/>
                </a:solidFill>
                <a:latin typeface="Malgun Gothic" pitchFamily="34" charset="0"/>
                <a:ea typeface="Malgun Gothic" pitchFamily="34" charset="-122"/>
                <a:cs typeface="Malgun Gothic" pitchFamily="34" charset="-120"/>
              </a:rPr>
              <a:t>03</a:t>
            </a:r>
            <a:endParaRPr lang="en-US" sz="6600" dirty="0"/>
          </a:p>
        </p:txBody>
      </p:sp>
      <p:sp>
        <p:nvSpPr>
          <p:cNvPr id="3" name="Text 1"/>
          <p:cNvSpPr txBox="1"/>
          <p:nvPr/>
        </p:nvSpPr>
        <p:spPr>
          <a:xfrm>
            <a:off x="822960" y="3200400"/>
            <a:ext cx="10058400" cy="822960"/>
          </a:xfrm>
          <a:prstGeom prst="rect">
            <a:avLst/>
          </a:prstGeom>
          <a:noFill/>
          <a:ln/>
        </p:spPr>
        <p:txBody>
          <a:bodyPr wrap="square" lIns="0" tIns="0" rIns="0" bIns="0" rtlCol="0" anchor="ctr"/>
          <a:lstStyle/>
          <a:p>
            <a:pPr indent="0" marL="0">
              <a:buNone/>
            </a:pPr>
            <a:r>
              <a:rPr lang="en-US" sz="3600" b="1" dirty="0">
                <a:solidFill>
                  <a:srgbClr val="14284B"/>
                </a:solidFill>
                <a:latin typeface="Malgun Gothic" pitchFamily="34" charset="0"/>
                <a:ea typeface="Malgun Gothic" pitchFamily="34" charset="-122"/>
                <a:cs typeface="Malgun Gothic" pitchFamily="34" charset="-120"/>
              </a:rPr>
              <a:t>주요 기능</a:t>
            </a:r>
            <a:endParaRPr lang="en-US" sz="3600" dirty="0"/>
          </a:p>
        </p:txBody>
      </p:sp>
      <p:sp>
        <p:nvSpPr>
          <p:cNvPr id="4" name="Text 2"/>
          <p:cNvSpPr txBox="1"/>
          <p:nvPr/>
        </p:nvSpPr>
        <p:spPr>
          <a:xfrm>
            <a:off x="822960" y="4023360"/>
            <a:ext cx="10058400" cy="457200"/>
          </a:xfrm>
          <a:prstGeom prst="rect">
            <a:avLst/>
          </a:prstGeom>
          <a:noFill/>
          <a:ln/>
        </p:spPr>
        <p:txBody>
          <a:bodyPr wrap="square" lIns="0" tIns="0" rIns="0" bIns="0" rtlCol="0" anchor="ctr"/>
          <a:lstStyle/>
          <a:p>
            <a:pPr indent="0" marL="0">
              <a:buNone/>
            </a:pPr>
            <a:r>
              <a:rPr lang="en-US" sz="1600" dirty="0">
                <a:solidFill>
                  <a:srgbClr val="5B6B84"/>
                </a:solidFill>
                <a:latin typeface="Malgun Gothic" pitchFamily="34" charset="0"/>
                <a:ea typeface="Malgun Gothic" pitchFamily="34" charset="-122"/>
                <a:cs typeface="Malgun Gothic" pitchFamily="34" charset="-120"/>
              </a:rPr>
              <a:t>게이트 OCR · 검사소 계량 · 출차 통제</a:t>
            </a:r>
            <a:endParaRPr lang="en-US" sz="16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7315200" cy="274320"/>
          </a:xfrm>
          <a:prstGeom prst="rect">
            <a:avLst/>
          </a:prstGeom>
          <a:noFill/>
          <a:ln/>
        </p:spPr>
        <p:txBody>
          <a:bodyPr wrap="square" lIns="0" tIns="0" rIns="0" bIns="0" rtlCol="0" anchor="ctr"/>
          <a:lstStyle/>
          <a:p>
            <a:pPr indent="0" marL="0">
              <a:buNone/>
            </a:pPr>
            <a:r>
              <a:rPr lang="en-US" sz="1200" b="1" dirty="0">
                <a:solidFill>
                  <a:srgbClr val="F28C28"/>
                </a:solidFill>
                <a:latin typeface="Malgun Gothic" pitchFamily="34" charset="0"/>
                <a:ea typeface="Malgun Gothic" pitchFamily="34" charset="-122"/>
                <a:cs typeface="Malgun Gothic" pitchFamily="34" charset="-120"/>
              </a:rPr>
              <a:t>03  주요 기능</a:t>
            </a:r>
            <a:endParaRPr lang="en-US" sz="1200" dirty="0"/>
          </a:p>
        </p:txBody>
      </p:sp>
      <p:sp>
        <p:nvSpPr>
          <p:cNvPr id="3" name="Text 1"/>
          <p:cNvSpPr txBox="1"/>
          <p:nvPr/>
        </p:nvSpPr>
        <p:spPr>
          <a:xfrm>
            <a:off x="502920" y="594360"/>
            <a:ext cx="10972800" cy="685800"/>
          </a:xfrm>
          <a:prstGeom prst="rect">
            <a:avLst/>
          </a:prstGeom>
          <a:noFill/>
          <a:ln/>
        </p:spPr>
        <p:txBody>
          <a:bodyPr wrap="square" lIns="0" tIns="0" rIns="0" bIns="0" rtlCol="0" anchor="ctr"/>
          <a:lstStyle/>
          <a:p>
            <a:pPr indent="0" marL="0">
              <a:buNone/>
            </a:pPr>
            <a:r>
              <a:rPr lang="en-US" sz="3000" b="1" dirty="0">
                <a:solidFill>
                  <a:srgbClr val="14284B"/>
                </a:solidFill>
                <a:latin typeface="Malgun Gothic" pitchFamily="34" charset="0"/>
                <a:ea typeface="Malgun Gothic" pitchFamily="34" charset="-122"/>
                <a:cs typeface="Malgun Gothic" pitchFamily="34" charset="-120"/>
              </a:rPr>
              <a:t>게이트 OCR 검사</a:t>
            </a:r>
            <a:endParaRPr lang="en-US" sz="3000" dirty="0"/>
          </a:p>
        </p:txBody>
      </p:sp>
      <p:sp>
        <p:nvSpPr>
          <p:cNvPr id="4" name="Text 2"/>
          <p:cNvSpPr txBox="1"/>
          <p:nvPr/>
        </p:nvSpPr>
        <p:spPr>
          <a:xfrm>
            <a:off x="502920" y="6446520"/>
            <a:ext cx="4572000" cy="228600"/>
          </a:xfrm>
          <a:prstGeom prst="rect">
            <a:avLst/>
          </a:prstGeom>
          <a:noFill/>
          <a:ln/>
        </p:spPr>
        <p:txBody>
          <a:bodyPr wrap="square" lIns="0" tIns="0" rIns="0" bIns="0" rtlCol="0" anchor="ctr"/>
          <a:lstStyle/>
          <a:p>
            <a:pPr indent="0" marL="0">
              <a:buNone/>
            </a:pPr>
            <a:r>
              <a:rPr lang="en-US" sz="900" dirty="0">
                <a:solidFill>
                  <a:srgbClr val="9AA3B2"/>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13</a:t>
            </a:r>
            <a:endParaRPr lang="en-US" sz="900" dirty="0"/>
          </a:p>
        </p:txBody>
      </p:sp>
      <p:pic>
        <p:nvPicPr>
          <p:cNvPr id="7" name="Image 0" descr="시스템 화면 캡처">    </p:cNvPr>
          <p:cNvPicPr>
            <a:picLocks noChangeAspect="1"/>
          </p:cNvPicPr>
          <p:nvPr/>
        </p:nvPicPr>
        <p:blipFill>
          <a:blip r:embed="rId1"/>
          <a:stretch>
            <a:fillRect/>
          </a:stretch>
        </p:blipFill>
        <p:spPr>
          <a:xfrm>
            <a:off x="822960" y="1463040"/>
            <a:ext cx="6949440" cy="3667063"/>
          </a:xfrm>
          <a:prstGeom prst="rect">
            <a:avLst/>
          </a:prstGeom>
        </p:spPr>
      </p:pic>
      <p:sp>
        <p:nvSpPr>
          <p:cNvPr id="8" name="Shape 4"/>
          <p:cNvSpPr/>
          <p:nvPr/>
        </p:nvSpPr>
        <p:spPr>
          <a:xfrm>
            <a:off x="822960" y="1463040"/>
            <a:ext cx="6949440" cy="3667063"/>
          </a:xfrm>
          <a:prstGeom prst="rect">
            <a:avLst/>
          </a:prstGeom>
          <a:ln w="9525">
            <a:solidFill>
              <a:srgbClr val="D5DCE6"/>
            </a:solidFill>
            <a:prstDash val="solid"/>
          </a:ln>
        </p:spPr>
      </p:sp>
      <p:sp>
        <p:nvSpPr>
          <p:cNvPr id="9" name="Text 5"/>
          <p:cNvSpPr txBox="1"/>
          <p:nvPr/>
        </p:nvSpPr>
        <p:spPr>
          <a:xfrm>
            <a:off x="8138160" y="1645920"/>
            <a:ext cx="3383280" cy="4206240"/>
          </a:xfrm>
          <a:prstGeom prst="rect">
            <a:avLst/>
          </a:prstGeom>
          <a:noFill/>
          <a:ln/>
        </p:spPr>
        <p:txBody>
          <a:bodyPr wrap="square" lIns="0" tIns="0" rIns="0" bIns="0" rtlCol="0" anchor="t"/>
          <a:lstStyle/>
          <a:p>
            <a:pPr indent="0" marL="0">
              <a:buNone/>
            </a:pPr>
            <a:r>
              <a:rPr lang="en-US" sz="1500" b="1" dirty="0">
                <a:solidFill>
                  <a:srgbClr val="14284B"/>
                </a:solidFill>
                <a:latin typeface="Malgun Gothic" pitchFamily="34" charset="0"/>
                <a:ea typeface="Malgun Gothic" pitchFamily="34" charset="-122"/>
                <a:cs typeface="Malgun Gothic" pitchFamily="34" charset="-120"/>
              </a:rPr>
              <a:t>번호판 자동 인식</a:t>
            </a:r>
            <a:endParaRPr lang="en-US" sz="1500" dirty="0"/>
          </a:p>
          <a:p>
            <a:pPr indent="0" marL="0">
              <a:buNone/>
            </a:pPr>
            <a:r>
              <a:rPr lang="en-US" sz="1500" dirty="0">
                <a:solidFill>
                  <a:srgbClr val="1B2333"/>
                </a:solidFill>
                <a:latin typeface="Malgun Gothic" pitchFamily="34" charset="0"/>
                <a:ea typeface="Malgun Gothic" pitchFamily="34" charset="-122"/>
                <a:cs typeface="Malgun Gothic" pitchFamily="34" charset="-120"/>
              </a:rPr>
              <a:t>사진 한 장으로 위치 탐지와 글자 인식</a:t>
            </a:r>
            <a:endParaRPr lang="en-US" sz="1500" dirty="0"/>
          </a:p>
          <a:p>
            <a:pPr indent="0" marL="0">
              <a:buNone/>
            </a:pPr>
            <a:r>
              <a:rPr lang="en-US" sz="1500" dirty="0">
                <a:solidFill>
                  <a:srgbClr val="1B2333"/>
                </a:solidFill>
                <a:latin typeface="Malgun Gothic" pitchFamily="34" charset="0"/>
                <a:ea typeface="Malgun Gothic" pitchFamily="34" charset="-122"/>
                <a:cs typeface="Malgun Gothic" pitchFamily="34" charset="-120"/>
              </a:rPr>
              <a:t> </a:t>
            </a:r>
            <a:endParaRPr lang="en-US" sz="1500" dirty="0"/>
          </a:p>
          <a:p>
            <a:pPr indent="0" marL="0">
              <a:buNone/>
            </a:pPr>
            <a:r>
              <a:rPr lang="en-US" sz="1500" b="1" dirty="0">
                <a:solidFill>
                  <a:srgbClr val="14284B"/>
                </a:solidFill>
                <a:latin typeface="Malgun Gothic" pitchFamily="34" charset="0"/>
                <a:ea typeface="Malgun Gothic" pitchFamily="34" charset="-122"/>
                <a:cs typeface="Malgun Gothic" pitchFamily="34" charset="-120"/>
              </a:rPr>
              <a:t>등록 차량 대조</a:t>
            </a:r>
            <a:endParaRPr lang="en-US" sz="1500" dirty="0"/>
          </a:p>
          <a:p>
            <a:pPr indent="0" marL="0">
              <a:buNone/>
            </a:pPr>
            <a:r>
              <a:rPr lang="en-US" sz="1500" dirty="0">
                <a:solidFill>
                  <a:srgbClr val="1B2333"/>
                </a:solidFill>
                <a:latin typeface="Malgun Gothic" pitchFamily="34" charset="0"/>
                <a:ea typeface="Malgun Gothic" pitchFamily="34" charset="-122"/>
                <a:cs typeface="Malgun Gothic" pitchFamily="34" charset="-120"/>
              </a:rPr>
              <a:t>미등록 차량은 차단기를 열지 않고 관리자에게 알림</a:t>
            </a:r>
            <a:endParaRPr lang="en-US" sz="1500" dirty="0"/>
          </a:p>
          <a:p>
            <a:pPr indent="0" marL="0">
              <a:buNone/>
            </a:pPr>
            <a:r>
              <a:rPr lang="en-US" sz="1500" dirty="0">
                <a:solidFill>
                  <a:srgbClr val="1B2333"/>
                </a:solidFill>
                <a:latin typeface="Malgun Gothic" pitchFamily="34" charset="0"/>
                <a:ea typeface="Malgun Gothic" pitchFamily="34" charset="-122"/>
                <a:cs typeface="Malgun Gothic" pitchFamily="34" charset="-120"/>
              </a:rPr>
              <a:t> </a:t>
            </a:r>
            <a:endParaRPr lang="en-US" sz="1500" dirty="0"/>
          </a:p>
          <a:p>
            <a:pPr indent="0" marL="0">
              <a:buNone/>
            </a:pPr>
            <a:r>
              <a:rPr lang="en-US" sz="1500" b="1" dirty="0">
                <a:solidFill>
                  <a:srgbClr val="14284B"/>
                </a:solidFill>
                <a:latin typeface="Malgun Gothic" pitchFamily="34" charset="0"/>
                <a:ea typeface="Malgun Gothic" pitchFamily="34" charset="-122"/>
                <a:cs typeface="Malgun Gothic" pitchFamily="34" charset="-120"/>
              </a:rPr>
              <a:t>구내 차량 목록</a:t>
            </a:r>
            <a:endParaRPr lang="en-US" sz="1500" dirty="0"/>
          </a:p>
          <a:p>
            <a:pPr indent="0" marL="0">
              <a:buNone/>
            </a:pPr>
            <a:r>
              <a:rPr lang="en-US" sz="1500" dirty="0">
                <a:solidFill>
                  <a:srgbClr val="1B2333"/>
                </a:solidFill>
                <a:latin typeface="Malgun Gothic" pitchFamily="34" charset="0"/>
                <a:ea typeface="Malgun Gothic" pitchFamily="34" charset="-122"/>
                <a:cs typeface="Malgun Gothic" pitchFamily="34" charset="-120"/>
              </a:rPr>
              <a:t>들어온 차량별 상하차 · 과적 상태 표시</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7315200" cy="274320"/>
          </a:xfrm>
          <a:prstGeom prst="rect">
            <a:avLst/>
          </a:prstGeom>
          <a:noFill/>
          <a:ln/>
        </p:spPr>
        <p:txBody>
          <a:bodyPr wrap="square" lIns="0" tIns="0" rIns="0" bIns="0" rtlCol="0" anchor="ctr"/>
          <a:lstStyle/>
          <a:p>
            <a:pPr indent="0" marL="0">
              <a:buNone/>
            </a:pPr>
            <a:r>
              <a:rPr lang="en-US" sz="1200" b="1" dirty="0">
                <a:solidFill>
                  <a:srgbClr val="F28C28"/>
                </a:solidFill>
                <a:latin typeface="Malgun Gothic" pitchFamily="34" charset="0"/>
                <a:ea typeface="Malgun Gothic" pitchFamily="34" charset="-122"/>
                <a:cs typeface="Malgun Gothic" pitchFamily="34" charset="-120"/>
              </a:rPr>
              <a:t>03  주요 기능</a:t>
            </a:r>
            <a:endParaRPr lang="en-US" sz="1200" dirty="0"/>
          </a:p>
        </p:txBody>
      </p:sp>
      <p:sp>
        <p:nvSpPr>
          <p:cNvPr id="3" name="Text 1"/>
          <p:cNvSpPr txBox="1"/>
          <p:nvPr/>
        </p:nvSpPr>
        <p:spPr>
          <a:xfrm>
            <a:off x="502920" y="594360"/>
            <a:ext cx="10972800" cy="685800"/>
          </a:xfrm>
          <a:prstGeom prst="rect">
            <a:avLst/>
          </a:prstGeom>
          <a:noFill/>
          <a:ln/>
        </p:spPr>
        <p:txBody>
          <a:bodyPr wrap="square" lIns="0" tIns="0" rIns="0" bIns="0" rtlCol="0" anchor="ctr"/>
          <a:lstStyle/>
          <a:p>
            <a:pPr indent="0" marL="0">
              <a:buNone/>
            </a:pPr>
            <a:r>
              <a:rPr lang="en-US" sz="3000" b="1" dirty="0">
                <a:solidFill>
                  <a:srgbClr val="14284B"/>
                </a:solidFill>
                <a:latin typeface="Malgun Gothic" pitchFamily="34" charset="0"/>
                <a:ea typeface="Malgun Gothic" pitchFamily="34" charset="-122"/>
                <a:cs typeface="Malgun Gothic" pitchFamily="34" charset="-120"/>
              </a:rPr>
              <a:t>번호판은 이렇게 읽습니다</a:t>
            </a:r>
            <a:endParaRPr lang="en-US" sz="3000" dirty="0"/>
          </a:p>
        </p:txBody>
      </p:sp>
      <p:sp>
        <p:nvSpPr>
          <p:cNvPr id="4" name="Text 2"/>
          <p:cNvSpPr txBox="1"/>
          <p:nvPr/>
        </p:nvSpPr>
        <p:spPr>
          <a:xfrm>
            <a:off x="502920" y="6446520"/>
            <a:ext cx="4572000" cy="228600"/>
          </a:xfrm>
          <a:prstGeom prst="rect">
            <a:avLst/>
          </a:prstGeom>
          <a:noFill/>
          <a:ln/>
        </p:spPr>
        <p:txBody>
          <a:bodyPr wrap="square" lIns="0" tIns="0" rIns="0" bIns="0" rtlCol="0" anchor="ctr"/>
          <a:lstStyle/>
          <a:p>
            <a:pPr indent="0" marL="0">
              <a:buNone/>
            </a:pPr>
            <a:r>
              <a:rPr lang="en-US" sz="900" dirty="0">
                <a:solidFill>
                  <a:srgbClr val="9AA3B2"/>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14</a:t>
            </a:r>
            <a:endParaRPr lang="en-US" sz="900" dirty="0"/>
          </a:p>
        </p:txBody>
      </p:sp>
      <p:sp>
        <p:nvSpPr>
          <p:cNvPr id="7" name="Shape 4"/>
          <p:cNvSpPr/>
          <p:nvPr/>
        </p:nvSpPr>
        <p:spPr>
          <a:xfrm>
            <a:off x="822960" y="2103120"/>
            <a:ext cx="1645920" cy="1371600"/>
          </a:xfrm>
          <a:prstGeom prst="rect">
            <a:avLst/>
          </a:prstGeom>
          <a:solidFill>
            <a:srgbClr val="14284B"/>
          </a:solidFill>
          <a:ln w="12700">
            <a:solidFill>
              <a:srgbClr val="14284B"/>
            </a:solidFill>
            <a:prstDash val="solid"/>
          </a:ln>
        </p:spPr>
      </p:sp>
      <p:sp>
        <p:nvSpPr>
          <p:cNvPr id="8" name="Text 5"/>
          <p:cNvSpPr txBox="1"/>
          <p:nvPr/>
        </p:nvSpPr>
        <p:spPr>
          <a:xfrm>
            <a:off x="822960" y="2286000"/>
            <a:ext cx="16459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사진</a:t>
            </a:r>
            <a:endParaRPr lang="en-US" sz="1600" dirty="0"/>
          </a:p>
        </p:txBody>
      </p:sp>
      <p:sp>
        <p:nvSpPr>
          <p:cNvPr id="9" name="Text 6"/>
          <p:cNvSpPr txBox="1"/>
          <p:nvPr/>
        </p:nvSpPr>
        <p:spPr>
          <a:xfrm>
            <a:off x="914400" y="2788920"/>
            <a:ext cx="1463040" cy="548640"/>
          </a:xfrm>
          <a:prstGeom prst="rect">
            <a:avLst/>
          </a:prstGeom>
          <a:noFill/>
          <a:ln/>
        </p:spPr>
        <p:txBody>
          <a:bodyPr wrap="square" lIns="0" tIns="0" rIns="0" bIns="0" rtlCol="0" anchor="ctr"/>
          <a:lstStyle/>
          <a:p>
            <a:pPr algn="ctr" indent="0" marL="0">
              <a:buNone/>
            </a:pPr>
            <a:r>
              <a:rPr lang="en-US" sz="1200" dirty="0">
                <a:solidFill>
                  <a:srgbClr val="FFFFFF"/>
                </a:solidFill>
                <a:latin typeface="Malgun Gothic" pitchFamily="34" charset="0"/>
                <a:ea typeface="Malgun Gothic" pitchFamily="34" charset="-122"/>
                <a:cs typeface="Malgun Gothic" pitchFamily="34" charset="-120"/>
              </a:rPr>
              <a:t>게이트 카메라</a:t>
            </a:r>
            <a:endParaRPr lang="en-US" sz="1200" dirty="0"/>
          </a:p>
        </p:txBody>
      </p:sp>
      <p:sp>
        <p:nvSpPr>
          <p:cNvPr id="10" name="Text 7"/>
          <p:cNvSpPr txBox="1"/>
          <p:nvPr/>
        </p:nvSpPr>
        <p:spPr>
          <a:xfrm>
            <a:off x="2468880" y="2103120"/>
            <a:ext cx="228600" cy="1371600"/>
          </a:xfrm>
          <a:prstGeom prst="rect">
            <a:avLst/>
          </a:prstGeom>
          <a:noFill/>
          <a:ln/>
        </p:spPr>
        <p:txBody>
          <a:bodyPr wrap="square" lIns="0" tIns="0" rIns="0" bIns="0" rtlCol="0" anchor="ctr"/>
          <a:lstStyle/>
          <a:p>
            <a:pPr algn="ctr" indent="0" marL="0">
              <a:buNone/>
            </a:pPr>
            <a:r>
              <a:rPr lang="en-US" sz="2200" dirty="0">
                <a:solidFill>
                  <a:srgbClr val="5B6B84"/>
                </a:solidFill>
                <a:latin typeface="Malgun Gothic" pitchFamily="34" charset="0"/>
                <a:ea typeface="Malgun Gothic" pitchFamily="34" charset="-122"/>
                <a:cs typeface="Malgun Gothic" pitchFamily="34" charset="-120"/>
              </a:rPr>
              <a:t>›</a:t>
            </a:r>
            <a:endParaRPr lang="en-US" sz="2200" dirty="0"/>
          </a:p>
        </p:txBody>
      </p:sp>
      <p:sp>
        <p:nvSpPr>
          <p:cNvPr id="11" name="Shape 8"/>
          <p:cNvSpPr/>
          <p:nvPr/>
        </p:nvSpPr>
        <p:spPr>
          <a:xfrm>
            <a:off x="2697480" y="2103120"/>
            <a:ext cx="1645920" cy="1371600"/>
          </a:xfrm>
          <a:prstGeom prst="rect">
            <a:avLst/>
          </a:prstGeom>
          <a:solidFill>
            <a:srgbClr val="14284B"/>
          </a:solidFill>
          <a:ln w="12700">
            <a:solidFill>
              <a:srgbClr val="14284B"/>
            </a:solidFill>
            <a:prstDash val="solid"/>
          </a:ln>
        </p:spPr>
      </p:sp>
      <p:sp>
        <p:nvSpPr>
          <p:cNvPr id="12" name="Text 9"/>
          <p:cNvSpPr txBox="1"/>
          <p:nvPr/>
        </p:nvSpPr>
        <p:spPr>
          <a:xfrm>
            <a:off x="2697480" y="2286000"/>
            <a:ext cx="16459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위치 찾기</a:t>
            </a:r>
            <a:endParaRPr lang="en-US" sz="1600" dirty="0"/>
          </a:p>
        </p:txBody>
      </p:sp>
      <p:sp>
        <p:nvSpPr>
          <p:cNvPr id="13" name="Text 10"/>
          <p:cNvSpPr txBox="1"/>
          <p:nvPr/>
        </p:nvSpPr>
        <p:spPr>
          <a:xfrm>
            <a:off x="2788920" y="2788920"/>
            <a:ext cx="1463040" cy="548640"/>
          </a:xfrm>
          <a:prstGeom prst="rect">
            <a:avLst/>
          </a:prstGeom>
          <a:noFill/>
          <a:ln/>
        </p:spPr>
        <p:txBody>
          <a:bodyPr wrap="square" lIns="0" tIns="0" rIns="0" bIns="0" rtlCol="0" anchor="ctr"/>
          <a:lstStyle/>
          <a:p>
            <a:pPr algn="ctr" indent="0" marL="0">
              <a:buNone/>
            </a:pPr>
            <a:r>
              <a:rPr lang="en-US" sz="1200" dirty="0">
                <a:solidFill>
                  <a:srgbClr val="FFFFFF"/>
                </a:solidFill>
                <a:latin typeface="Malgun Gothic" pitchFamily="34" charset="0"/>
                <a:ea typeface="Malgun Gothic" pitchFamily="34" charset="-122"/>
                <a:cs typeface="Malgun Gothic" pitchFamily="34" charset="-120"/>
              </a:rPr>
              <a:t>YOLO11</a:t>
            </a:r>
            <a:endParaRPr lang="en-US" sz="1200" dirty="0"/>
          </a:p>
        </p:txBody>
      </p:sp>
      <p:sp>
        <p:nvSpPr>
          <p:cNvPr id="14" name="Text 11"/>
          <p:cNvSpPr txBox="1"/>
          <p:nvPr/>
        </p:nvSpPr>
        <p:spPr>
          <a:xfrm>
            <a:off x="4343400" y="2103120"/>
            <a:ext cx="228600" cy="1371600"/>
          </a:xfrm>
          <a:prstGeom prst="rect">
            <a:avLst/>
          </a:prstGeom>
          <a:noFill/>
          <a:ln/>
        </p:spPr>
        <p:txBody>
          <a:bodyPr wrap="square" lIns="0" tIns="0" rIns="0" bIns="0" rtlCol="0" anchor="ctr"/>
          <a:lstStyle/>
          <a:p>
            <a:pPr algn="ctr" indent="0" marL="0">
              <a:buNone/>
            </a:pPr>
            <a:r>
              <a:rPr lang="en-US" sz="2200" dirty="0">
                <a:solidFill>
                  <a:srgbClr val="5B6B84"/>
                </a:solidFill>
                <a:latin typeface="Malgun Gothic" pitchFamily="34" charset="0"/>
                <a:ea typeface="Malgun Gothic" pitchFamily="34" charset="-122"/>
                <a:cs typeface="Malgun Gothic" pitchFamily="34" charset="-120"/>
              </a:rPr>
              <a:t>›</a:t>
            </a:r>
            <a:endParaRPr lang="en-US" sz="2200" dirty="0"/>
          </a:p>
        </p:txBody>
      </p:sp>
      <p:sp>
        <p:nvSpPr>
          <p:cNvPr id="15" name="Shape 12"/>
          <p:cNvSpPr/>
          <p:nvPr/>
        </p:nvSpPr>
        <p:spPr>
          <a:xfrm>
            <a:off x="4572000" y="2103120"/>
            <a:ext cx="1645920" cy="1371600"/>
          </a:xfrm>
          <a:prstGeom prst="rect">
            <a:avLst/>
          </a:prstGeom>
          <a:solidFill>
            <a:srgbClr val="14284B"/>
          </a:solidFill>
          <a:ln w="12700">
            <a:solidFill>
              <a:srgbClr val="14284B"/>
            </a:solidFill>
            <a:prstDash val="solid"/>
          </a:ln>
        </p:spPr>
      </p:sp>
      <p:sp>
        <p:nvSpPr>
          <p:cNvPr id="16" name="Text 13"/>
          <p:cNvSpPr txBox="1"/>
          <p:nvPr/>
        </p:nvSpPr>
        <p:spPr>
          <a:xfrm>
            <a:off x="4572000" y="2286000"/>
            <a:ext cx="16459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잘라내기 · 보정</a:t>
            </a:r>
            <a:endParaRPr lang="en-US" sz="1600" dirty="0"/>
          </a:p>
        </p:txBody>
      </p:sp>
      <p:sp>
        <p:nvSpPr>
          <p:cNvPr id="17" name="Text 14"/>
          <p:cNvSpPr txBox="1"/>
          <p:nvPr/>
        </p:nvSpPr>
        <p:spPr>
          <a:xfrm>
            <a:off x="4663440" y="2788920"/>
            <a:ext cx="1463040" cy="548640"/>
          </a:xfrm>
          <a:prstGeom prst="rect">
            <a:avLst/>
          </a:prstGeom>
          <a:noFill/>
          <a:ln/>
        </p:spPr>
        <p:txBody>
          <a:bodyPr wrap="square" lIns="0" tIns="0" rIns="0" bIns="0" rtlCol="0" anchor="ctr"/>
          <a:lstStyle/>
          <a:p>
            <a:pPr algn="ctr" indent="0" marL="0">
              <a:buNone/>
            </a:pPr>
            <a:r>
              <a:rPr lang="en-US" sz="1200" dirty="0">
                <a:solidFill>
                  <a:srgbClr val="FFFFFF"/>
                </a:solidFill>
                <a:latin typeface="Malgun Gothic" pitchFamily="34" charset="0"/>
                <a:ea typeface="Malgun Gothic" pitchFamily="34" charset="-122"/>
                <a:cs typeface="Malgun Gothic" pitchFamily="34" charset="-120"/>
              </a:rPr>
              <a:t>OpenCV</a:t>
            </a:r>
            <a:endParaRPr lang="en-US" sz="1200" dirty="0"/>
          </a:p>
        </p:txBody>
      </p:sp>
      <p:sp>
        <p:nvSpPr>
          <p:cNvPr id="18" name="Text 15"/>
          <p:cNvSpPr txBox="1"/>
          <p:nvPr/>
        </p:nvSpPr>
        <p:spPr>
          <a:xfrm>
            <a:off x="6217920" y="2103120"/>
            <a:ext cx="228600" cy="1371600"/>
          </a:xfrm>
          <a:prstGeom prst="rect">
            <a:avLst/>
          </a:prstGeom>
          <a:noFill/>
          <a:ln/>
        </p:spPr>
        <p:txBody>
          <a:bodyPr wrap="square" lIns="0" tIns="0" rIns="0" bIns="0" rtlCol="0" anchor="ctr"/>
          <a:lstStyle/>
          <a:p>
            <a:pPr algn="ctr" indent="0" marL="0">
              <a:buNone/>
            </a:pPr>
            <a:r>
              <a:rPr lang="en-US" sz="2200" dirty="0">
                <a:solidFill>
                  <a:srgbClr val="5B6B84"/>
                </a:solidFill>
                <a:latin typeface="Malgun Gothic" pitchFamily="34" charset="0"/>
                <a:ea typeface="Malgun Gothic" pitchFamily="34" charset="-122"/>
                <a:cs typeface="Malgun Gothic" pitchFamily="34" charset="-120"/>
              </a:rPr>
              <a:t>›</a:t>
            </a:r>
            <a:endParaRPr lang="en-US" sz="2200" dirty="0"/>
          </a:p>
        </p:txBody>
      </p:sp>
      <p:sp>
        <p:nvSpPr>
          <p:cNvPr id="19" name="Shape 16"/>
          <p:cNvSpPr/>
          <p:nvPr/>
        </p:nvSpPr>
        <p:spPr>
          <a:xfrm>
            <a:off x="6446520" y="2103120"/>
            <a:ext cx="1645920" cy="1371600"/>
          </a:xfrm>
          <a:prstGeom prst="rect">
            <a:avLst/>
          </a:prstGeom>
          <a:solidFill>
            <a:srgbClr val="F28C28"/>
          </a:solidFill>
          <a:ln w="12700">
            <a:solidFill>
              <a:srgbClr val="F28C28"/>
            </a:solidFill>
            <a:prstDash val="solid"/>
          </a:ln>
        </p:spPr>
      </p:sp>
      <p:sp>
        <p:nvSpPr>
          <p:cNvPr id="20" name="Text 17"/>
          <p:cNvSpPr txBox="1"/>
          <p:nvPr/>
        </p:nvSpPr>
        <p:spPr>
          <a:xfrm>
            <a:off x="6446520" y="2286000"/>
            <a:ext cx="16459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글자 읽기</a:t>
            </a:r>
            <a:endParaRPr lang="en-US" sz="1600" dirty="0"/>
          </a:p>
        </p:txBody>
      </p:sp>
      <p:sp>
        <p:nvSpPr>
          <p:cNvPr id="21" name="Text 18"/>
          <p:cNvSpPr txBox="1"/>
          <p:nvPr/>
        </p:nvSpPr>
        <p:spPr>
          <a:xfrm>
            <a:off x="6537960" y="2788920"/>
            <a:ext cx="1463040" cy="548640"/>
          </a:xfrm>
          <a:prstGeom prst="rect">
            <a:avLst/>
          </a:prstGeom>
          <a:noFill/>
          <a:ln/>
        </p:spPr>
        <p:txBody>
          <a:bodyPr wrap="square" lIns="0" tIns="0" rIns="0" bIns="0" rtlCol="0" anchor="ctr"/>
          <a:lstStyle/>
          <a:p>
            <a:pPr algn="ctr" indent="0" marL="0">
              <a:buNone/>
            </a:pPr>
            <a:r>
              <a:rPr lang="en-US" sz="1200" dirty="0">
                <a:solidFill>
                  <a:srgbClr val="FFFFFF"/>
                </a:solidFill>
                <a:latin typeface="Malgun Gothic" pitchFamily="34" charset="0"/>
                <a:ea typeface="Malgun Gothic" pitchFamily="34" charset="-122"/>
                <a:cs typeface="Malgun Gothic" pitchFamily="34" charset="-120"/>
              </a:rPr>
              <a:t>CRNN + CTC</a:t>
            </a:r>
            <a:endParaRPr lang="en-US" sz="1200" dirty="0"/>
          </a:p>
        </p:txBody>
      </p:sp>
      <p:sp>
        <p:nvSpPr>
          <p:cNvPr id="22" name="Text 19"/>
          <p:cNvSpPr txBox="1"/>
          <p:nvPr/>
        </p:nvSpPr>
        <p:spPr>
          <a:xfrm>
            <a:off x="8092440" y="2103120"/>
            <a:ext cx="228600" cy="1371600"/>
          </a:xfrm>
          <a:prstGeom prst="rect">
            <a:avLst/>
          </a:prstGeom>
          <a:noFill/>
          <a:ln/>
        </p:spPr>
        <p:txBody>
          <a:bodyPr wrap="square" lIns="0" tIns="0" rIns="0" bIns="0" rtlCol="0" anchor="ctr"/>
          <a:lstStyle/>
          <a:p>
            <a:pPr algn="ctr" indent="0" marL="0">
              <a:buNone/>
            </a:pPr>
            <a:r>
              <a:rPr lang="en-US" sz="2200" dirty="0">
                <a:solidFill>
                  <a:srgbClr val="5B6B84"/>
                </a:solidFill>
                <a:latin typeface="Malgun Gothic" pitchFamily="34" charset="0"/>
                <a:ea typeface="Malgun Gothic" pitchFamily="34" charset="-122"/>
                <a:cs typeface="Malgun Gothic" pitchFamily="34" charset="-120"/>
              </a:rPr>
              <a:t>›</a:t>
            </a:r>
            <a:endParaRPr lang="en-US" sz="2200" dirty="0"/>
          </a:p>
        </p:txBody>
      </p:sp>
      <p:sp>
        <p:nvSpPr>
          <p:cNvPr id="23" name="Shape 20"/>
          <p:cNvSpPr/>
          <p:nvPr/>
        </p:nvSpPr>
        <p:spPr>
          <a:xfrm>
            <a:off x="8321040" y="2103120"/>
            <a:ext cx="1645920" cy="1371600"/>
          </a:xfrm>
          <a:prstGeom prst="rect">
            <a:avLst/>
          </a:prstGeom>
          <a:solidFill>
            <a:srgbClr val="14284B"/>
          </a:solidFill>
          <a:ln w="12700">
            <a:solidFill>
              <a:srgbClr val="14284B"/>
            </a:solidFill>
            <a:prstDash val="solid"/>
          </a:ln>
        </p:spPr>
      </p:sp>
      <p:sp>
        <p:nvSpPr>
          <p:cNvPr id="24" name="Text 21"/>
          <p:cNvSpPr txBox="1"/>
          <p:nvPr/>
        </p:nvSpPr>
        <p:spPr>
          <a:xfrm>
            <a:off x="8321040" y="2286000"/>
            <a:ext cx="16459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형식 검사</a:t>
            </a:r>
            <a:endParaRPr lang="en-US" sz="1600" dirty="0"/>
          </a:p>
        </p:txBody>
      </p:sp>
      <p:sp>
        <p:nvSpPr>
          <p:cNvPr id="25" name="Text 22"/>
          <p:cNvSpPr txBox="1"/>
          <p:nvPr/>
        </p:nvSpPr>
        <p:spPr>
          <a:xfrm>
            <a:off x="8412480" y="2788920"/>
            <a:ext cx="1463040" cy="548640"/>
          </a:xfrm>
          <a:prstGeom prst="rect">
            <a:avLst/>
          </a:prstGeom>
          <a:noFill/>
          <a:ln/>
        </p:spPr>
        <p:txBody>
          <a:bodyPr wrap="square" lIns="0" tIns="0" rIns="0" bIns="0" rtlCol="0" anchor="ctr"/>
          <a:lstStyle/>
          <a:p>
            <a:pPr algn="ctr" indent="0" marL="0">
              <a:buNone/>
            </a:pPr>
            <a:r>
              <a:rPr lang="en-US" sz="1200" dirty="0">
                <a:solidFill>
                  <a:srgbClr val="FFFFFF"/>
                </a:solidFill>
                <a:latin typeface="Malgun Gothic" pitchFamily="34" charset="0"/>
                <a:ea typeface="Malgun Gothic" pitchFamily="34" charset="-122"/>
                <a:cs typeface="Malgun Gothic" pitchFamily="34" charset="-120"/>
              </a:rPr>
              <a:t>잘못 읽으면 판독 불가</a:t>
            </a:r>
            <a:endParaRPr lang="en-US" sz="1200" dirty="0"/>
          </a:p>
        </p:txBody>
      </p:sp>
      <p:sp>
        <p:nvSpPr>
          <p:cNvPr id="26" name="Text 23"/>
          <p:cNvSpPr txBox="1"/>
          <p:nvPr/>
        </p:nvSpPr>
        <p:spPr>
          <a:xfrm>
            <a:off x="9966960" y="2103120"/>
            <a:ext cx="228600" cy="1371600"/>
          </a:xfrm>
          <a:prstGeom prst="rect">
            <a:avLst/>
          </a:prstGeom>
          <a:noFill/>
          <a:ln/>
        </p:spPr>
        <p:txBody>
          <a:bodyPr wrap="square" lIns="0" tIns="0" rIns="0" bIns="0" rtlCol="0" anchor="ctr"/>
          <a:lstStyle/>
          <a:p>
            <a:pPr algn="ctr" indent="0" marL="0">
              <a:buNone/>
            </a:pPr>
            <a:r>
              <a:rPr lang="en-US" sz="2200" dirty="0">
                <a:solidFill>
                  <a:srgbClr val="5B6B84"/>
                </a:solidFill>
                <a:latin typeface="Malgun Gothic" pitchFamily="34" charset="0"/>
                <a:ea typeface="Malgun Gothic" pitchFamily="34" charset="-122"/>
                <a:cs typeface="Malgun Gothic" pitchFamily="34" charset="-120"/>
              </a:rPr>
              <a:t>›</a:t>
            </a:r>
            <a:endParaRPr lang="en-US" sz="2200" dirty="0"/>
          </a:p>
        </p:txBody>
      </p:sp>
      <p:sp>
        <p:nvSpPr>
          <p:cNvPr id="27" name="Shape 24"/>
          <p:cNvSpPr/>
          <p:nvPr/>
        </p:nvSpPr>
        <p:spPr>
          <a:xfrm>
            <a:off x="10195560" y="2103120"/>
            <a:ext cx="1645920" cy="1371600"/>
          </a:xfrm>
          <a:prstGeom prst="rect">
            <a:avLst/>
          </a:prstGeom>
          <a:solidFill>
            <a:srgbClr val="14284B"/>
          </a:solidFill>
          <a:ln w="12700">
            <a:solidFill>
              <a:srgbClr val="14284B"/>
            </a:solidFill>
            <a:prstDash val="solid"/>
          </a:ln>
        </p:spPr>
      </p:sp>
      <p:sp>
        <p:nvSpPr>
          <p:cNvPr id="28" name="Text 25"/>
          <p:cNvSpPr txBox="1"/>
          <p:nvPr/>
        </p:nvSpPr>
        <p:spPr>
          <a:xfrm>
            <a:off x="10195560" y="2286000"/>
            <a:ext cx="16459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차량 대조</a:t>
            </a:r>
            <a:endParaRPr lang="en-US" sz="1600" dirty="0"/>
          </a:p>
        </p:txBody>
      </p:sp>
      <p:sp>
        <p:nvSpPr>
          <p:cNvPr id="29" name="Text 26"/>
          <p:cNvSpPr txBox="1"/>
          <p:nvPr/>
        </p:nvSpPr>
        <p:spPr>
          <a:xfrm>
            <a:off x="10287000" y="2788920"/>
            <a:ext cx="1463040" cy="548640"/>
          </a:xfrm>
          <a:prstGeom prst="rect">
            <a:avLst/>
          </a:prstGeom>
          <a:noFill/>
          <a:ln/>
        </p:spPr>
        <p:txBody>
          <a:bodyPr wrap="square" lIns="0" tIns="0" rIns="0" bIns="0" rtlCol="0" anchor="ctr"/>
          <a:lstStyle/>
          <a:p>
            <a:pPr algn="ctr" indent="0" marL="0">
              <a:buNone/>
            </a:pPr>
            <a:r>
              <a:rPr lang="en-US" sz="1200" dirty="0">
                <a:solidFill>
                  <a:srgbClr val="FFFFFF"/>
                </a:solidFill>
                <a:latin typeface="Malgun Gothic" pitchFamily="34" charset="0"/>
                <a:ea typeface="Malgun Gothic" pitchFamily="34" charset="-122"/>
                <a:cs typeface="Malgun Gothic" pitchFamily="34" charset="-120"/>
              </a:rPr>
              <a:t>DB 등록 차량</a:t>
            </a:r>
            <a:endParaRPr lang="en-US" sz="1200" dirty="0"/>
          </a:p>
        </p:txBody>
      </p:sp>
      <p:sp>
        <p:nvSpPr>
          <p:cNvPr id="30" name="Text 27"/>
          <p:cNvSpPr txBox="1"/>
          <p:nvPr/>
        </p:nvSpPr>
        <p:spPr>
          <a:xfrm>
            <a:off x="822960" y="4114800"/>
            <a:ext cx="10607040" cy="457200"/>
          </a:xfrm>
          <a:prstGeom prst="rect">
            <a:avLst/>
          </a:prstGeom>
          <a:noFill/>
          <a:ln/>
        </p:spPr>
        <p:txBody>
          <a:bodyPr wrap="square" lIns="0" tIns="0" rIns="0" bIns="0" rtlCol="0" anchor="ctr"/>
          <a:lstStyle/>
          <a:p>
            <a:pPr indent="0" marL="0">
              <a:buNone/>
            </a:pPr>
            <a:r>
              <a:rPr lang="en-US" sz="1600" dirty="0">
                <a:solidFill>
                  <a:srgbClr val="1B2333"/>
                </a:solidFill>
                <a:latin typeface="Malgun Gothic" pitchFamily="34" charset="0"/>
                <a:ea typeface="Malgun Gothic" pitchFamily="34" charset="-122"/>
                <a:cs typeface="Malgun Gothic" pitchFamily="34" charset="-120"/>
              </a:rPr>
              <a:t>직접 모은 화물차 번호판 사진으로 탐지 모델과 문자 인식 모델을 학습했습니다</a:t>
            </a:r>
            <a:endParaRPr lang="en-US" sz="1600" dirty="0"/>
          </a:p>
        </p:txBody>
      </p:sp>
      <p:sp>
        <p:nvSpPr>
          <p:cNvPr id="31" name="Text 28"/>
          <p:cNvSpPr txBox="1"/>
          <p:nvPr/>
        </p:nvSpPr>
        <p:spPr>
          <a:xfrm>
            <a:off x="822960" y="4617720"/>
            <a:ext cx="10607040" cy="457200"/>
          </a:xfrm>
          <a:prstGeom prst="rect">
            <a:avLst/>
          </a:prstGeom>
          <a:noFill/>
          <a:ln/>
        </p:spPr>
        <p:txBody>
          <a:bodyPr wrap="square" lIns="0" tIns="0" rIns="0" bIns="0" rtlCol="0" anchor="ctr"/>
          <a:lstStyle/>
          <a:p>
            <a:pPr indent="0" marL="0">
              <a:buNone/>
            </a:pPr>
            <a:r>
              <a:rPr lang="en-US" sz="1600" dirty="0">
                <a:solidFill>
                  <a:srgbClr val="1B2333"/>
                </a:solidFill>
                <a:latin typeface="Malgun Gothic" pitchFamily="34" charset="0"/>
                <a:ea typeface="Malgun Gothic" pitchFamily="34" charset="-122"/>
                <a:cs typeface="Malgun Gothic" pitchFamily="34" charset="-120"/>
              </a:rPr>
              <a:t>1줄 · 2줄 번호판, 야간 · 저조도 사진까지 대응</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7315200" cy="274320"/>
          </a:xfrm>
          <a:prstGeom prst="rect">
            <a:avLst/>
          </a:prstGeom>
          <a:noFill/>
          <a:ln/>
        </p:spPr>
        <p:txBody>
          <a:bodyPr wrap="square" lIns="0" tIns="0" rIns="0" bIns="0" rtlCol="0" anchor="ctr"/>
          <a:lstStyle/>
          <a:p>
            <a:pPr indent="0" marL="0">
              <a:buNone/>
            </a:pPr>
            <a:r>
              <a:rPr lang="en-US" sz="1200" b="1" dirty="0">
                <a:solidFill>
                  <a:srgbClr val="F28C28"/>
                </a:solidFill>
                <a:latin typeface="Malgun Gothic" pitchFamily="34" charset="0"/>
                <a:ea typeface="Malgun Gothic" pitchFamily="34" charset="-122"/>
                <a:cs typeface="Malgun Gothic" pitchFamily="34" charset="-120"/>
              </a:rPr>
              <a:t>03  주요 기능</a:t>
            </a:r>
            <a:endParaRPr lang="en-US" sz="1200" dirty="0"/>
          </a:p>
        </p:txBody>
      </p:sp>
      <p:sp>
        <p:nvSpPr>
          <p:cNvPr id="3" name="Text 1"/>
          <p:cNvSpPr txBox="1"/>
          <p:nvPr/>
        </p:nvSpPr>
        <p:spPr>
          <a:xfrm>
            <a:off x="502920" y="594360"/>
            <a:ext cx="10972800" cy="685800"/>
          </a:xfrm>
          <a:prstGeom prst="rect">
            <a:avLst/>
          </a:prstGeom>
          <a:noFill/>
          <a:ln/>
        </p:spPr>
        <p:txBody>
          <a:bodyPr wrap="square" lIns="0" tIns="0" rIns="0" bIns="0" rtlCol="0" anchor="ctr"/>
          <a:lstStyle/>
          <a:p>
            <a:pPr indent="0" marL="0">
              <a:buNone/>
            </a:pPr>
            <a:r>
              <a:rPr lang="en-US" sz="3000" b="1" dirty="0">
                <a:solidFill>
                  <a:srgbClr val="14284B"/>
                </a:solidFill>
                <a:latin typeface="Malgun Gothic" pitchFamily="34" charset="0"/>
                <a:ea typeface="Malgun Gothic" pitchFamily="34" charset="-122"/>
                <a:cs typeface="Malgun Gothic" pitchFamily="34" charset="-120"/>
              </a:rPr>
              <a:t>검사소 계량</a:t>
            </a:r>
            <a:endParaRPr lang="en-US" sz="3000" dirty="0"/>
          </a:p>
        </p:txBody>
      </p:sp>
      <p:sp>
        <p:nvSpPr>
          <p:cNvPr id="4" name="Text 2"/>
          <p:cNvSpPr txBox="1"/>
          <p:nvPr/>
        </p:nvSpPr>
        <p:spPr>
          <a:xfrm>
            <a:off x="502920" y="6446520"/>
            <a:ext cx="4572000" cy="228600"/>
          </a:xfrm>
          <a:prstGeom prst="rect">
            <a:avLst/>
          </a:prstGeom>
          <a:noFill/>
          <a:ln/>
        </p:spPr>
        <p:txBody>
          <a:bodyPr wrap="square" lIns="0" tIns="0" rIns="0" bIns="0" rtlCol="0" anchor="ctr"/>
          <a:lstStyle/>
          <a:p>
            <a:pPr indent="0" marL="0">
              <a:buNone/>
            </a:pPr>
            <a:r>
              <a:rPr lang="en-US" sz="900" dirty="0">
                <a:solidFill>
                  <a:srgbClr val="9AA3B2"/>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15</a:t>
            </a:r>
            <a:endParaRPr lang="en-US" sz="900" dirty="0"/>
          </a:p>
        </p:txBody>
      </p:sp>
      <p:pic>
        <p:nvPicPr>
          <p:cNvPr id="7" name="Image 0" descr="시스템 화면 캡처">    </p:cNvPr>
          <p:cNvPicPr>
            <a:picLocks noChangeAspect="1"/>
          </p:cNvPicPr>
          <p:nvPr/>
        </p:nvPicPr>
        <p:blipFill>
          <a:blip r:embed="rId1"/>
          <a:stretch>
            <a:fillRect/>
          </a:stretch>
        </p:blipFill>
        <p:spPr>
          <a:xfrm>
            <a:off x="822960" y="1463040"/>
            <a:ext cx="7315200" cy="3896801"/>
          </a:xfrm>
          <a:prstGeom prst="rect">
            <a:avLst/>
          </a:prstGeom>
        </p:spPr>
      </p:pic>
      <p:sp>
        <p:nvSpPr>
          <p:cNvPr id="8" name="Shape 4"/>
          <p:cNvSpPr/>
          <p:nvPr/>
        </p:nvSpPr>
        <p:spPr>
          <a:xfrm>
            <a:off x="822960" y="1463040"/>
            <a:ext cx="7315200" cy="3896801"/>
          </a:xfrm>
          <a:prstGeom prst="rect">
            <a:avLst/>
          </a:prstGeom>
          <a:ln w="9525">
            <a:solidFill>
              <a:srgbClr val="D5DCE6"/>
            </a:solidFill>
            <a:prstDash val="solid"/>
          </a:ln>
        </p:spPr>
      </p:sp>
      <p:sp>
        <p:nvSpPr>
          <p:cNvPr id="9" name="Text 5"/>
          <p:cNvSpPr txBox="1"/>
          <p:nvPr/>
        </p:nvSpPr>
        <p:spPr>
          <a:xfrm>
            <a:off x="8503920" y="1645920"/>
            <a:ext cx="3108960" cy="4206240"/>
          </a:xfrm>
          <a:prstGeom prst="rect">
            <a:avLst/>
          </a:prstGeom>
          <a:noFill/>
          <a:ln/>
        </p:spPr>
        <p:txBody>
          <a:bodyPr wrap="square" lIns="0" tIns="0" rIns="0" bIns="0" rtlCol="0" anchor="t"/>
          <a:lstStyle/>
          <a:p>
            <a:pPr indent="0" marL="0">
              <a:buNone/>
            </a:pPr>
            <a:r>
              <a:rPr lang="en-US" sz="1500" b="1" dirty="0">
                <a:solidFill>
                  <a:srgbClr val="14284B"/>
                </a:solidFill>
                <a:latin typeface="Malgun Gothic" pitchFamily="34" charset="0"/>
                <a:ea typeface="Malgun Gothic" pitchFamily="34" charset="-122"/>
                <a:cs typeface="Malgun Gothic" pitchFamily="34" charset="-120"/>
              </a:rPr>
              <a:t>자동 대기열</a:t>
            </a:r>
            <a:endParaRPr lang="en-US" sz="1500" dirty="0"/>
          </a:p>
          <a:p>
            <a:pPr indent="0" marL="0">
              <a:buNone/>
            </a:pPr>
            <a:r>
              <a:rPr lang="en-US" sz="1500" dirty="0">
                <a:solidFill>
                  <a:srgbClr val="1B2333"/>
                </a:solidFill>
                <a:latin typeface="Malgun Gothic" pitchFamily="34" charset="0"/>
                <a:ea typeface="Malgun Gothic" pitchFamily="34" charset="-122"/>
                <a:cs typeface="Malgun Gothic" pitchFamily="34" charset="-120"/>
              </a:rPr>
              <a:t>게이트 통과 차량이 바로 올라옴</a:t>
            </a:r>
            <a:endParaRPr lang="en-US" sz="1500" dirty="0"/>
          </a:p>
          <a:p>
            <a:pPr indent="0" marL="0">
              <a:buNone/>
            </a:pPr>
            <a:r>
              <a:rPr lang="en-US" sz="1500" dirty="0">
                <a:solidFill>
                  <a:srgbClr val="1B2333"/>
                </a:solidFill>
                <a:latin typeface="Malgun Gothic" pitchFamily="34" charset="0"/>
                <a:ea typeface="Malgun Gothic" pitchFamily="34" charset="-122"/>
                <a:cs typeface="Malgun Gothic" pitchFamily="34" charset="-120"/>
              </a:rPr>
              <a:t> </a:t>
            </a:r>
            <a:endParaRPr lang="en-US" sz="1500" dirty="0"/>
          </a:p>
          <a:p>
            <a:pPr indent="0" marL="0">
              <a:buNone/>
            </a:pPr>
            <a:r>
              <a:rPr lang="en-US" sz="1500" b="1" dirty="0">
                <a:solidFill>
                  <a:srgbClr val="14284B"/>
                </a:solidFill>
                <a:latin typeface="Malgun Gothic" pitchFamily="34" charset="0"/>
                <a:ea typeface="Malgun Gothic" pitchFamily="34" charset="-122"/>
                <a:cs typeface="Malgun Gothic" pitchFamily="34" charset="-120"/>
              </a:rPr>
              <a:t>컨테이너 자동 연결</a:t>
            </a:r>
            <a:endParaRPr lang="en-US" sz="1500" dirty="0"/>
          </a:p>
          <a:p>
            <a:pPr indent="0" marL="0">
              <a:buNone/>
            </a:pPr>
            <a:r>
              <a:rPr lang="en-US" sz="1500" dirty="0">
                <a:solidFill>
                  <a:srgbClr val="1B2333"/>
                </a:solidFill>
                <a:latin typeface="Malgun Gothic" pitchFamily="34" charset="0"/>
                <a:ea typeface="Malgun Gothic" pitchFamily="34" charset="-122"/>
                <a:cs typeface="Malgun Gothic" pitchFamily="34" charset="-120"/>
              </a:rPr>
              <a:t>배정된 컨테이너 정보를 DB에서 불러옴</a:t>
            </a:r>
            <a:endParaRPr lang="en-US" sz="1500" dirty="0"/>
          </a:p>
          <a:p>
            <a:pPr indent="0" marL="0">
              <a:buNone/>
            </a:pPr>
            <a:r>
              <a:rPr lang="en-US" sz="1500" dirty="0">
                <a:solidFill>
                  <a:srgbClr val="1B2333"/>
                </a:solidFill>
                <a:latin typeface="Malgun Gothic" pitchFamily="34" charset="0"/>
                <a:ea typeface="Malgun Gothic" pitchFamily="34" charset="-122"/>
                <a:cs typeface="Malgun Gothic" pitchFamily="34" charset="-120"/>
              </a:rPr>
              <a:t> </a:t>
            </a:r>
            <a:endParaRPr lang="en-US" sz="1500" dirty="0"/>
          </a:p>
          <a:p>
            <a:pPr indent="0" marL="0">
              <a:buNone/>
            </a:pPr>
            <a:r>
              <a:rPr lang="en-US" sz="1500" b="1" dirty="0">
                <a:solidFill>
                  <a:srgbClr val="14284B"/>
                </a:solidFill>
                <a:latin typeface="Malgun Gothic" pitchFamily="34" charset="0"/>
                <a:ea typeface="Malgun Gothic" pitchFamily="34" charset="-122"/>
                <a:cs typeface="Malgun Gothic" pitchFamily="34" charset="-120"/>
              </a:rPr>
              <a:t>차량당 1회 계량</a:t>
            </a:r>
            <a:endParaRPr lang="en-US" sz="1500" dirty="0"/>
          </a:p>
          <a:p>
            <a:pPr indent="0" marL="0">
              <a:buNone/>
            </a:pPr>
            <a:r>
              <a:rPr lang="en-US" sz="1500" dirty="0">
                <a:solidFill>
                  <a:srgbClr val="1B2333"/>
                </a:solidFill>
                <a:latin typeface="Malgun Gothic" pitchFamily="34" charset="0"/>
                <a:ea typeface="Malgun Gothic" pitchFamily="34" charset="-122"/>
                <a:cs typeface="Malgun Gothic" pitchFamily="34" charset="-120"/>
              </a:rPr>
              <a:t>과적이면 재계량으로만 다시 측정</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7315200" cy="274320"/>
          </a:xfrm>
          <a:prstGeom prst="rect">
            <a:avLst/>
          </a:prstGeom>
          <a:noFill/>
          <a:ln/>
        </p:spPr>
        <p:txBody>
          <a:bodyPr wrap="square" lIns="0" tIns="0" rIns="0" bIns="0" rtlCol="0" anchor="ctr"/>
          <a:lstStyle/>
          <a:p>
            <a:pPr indent="0" marL="0">
              <a:buNone/>
            </a:pPr>
            <a:r>
              <a:rPr lang="en-US" sz="1200" b="1" dirty="0">
                <a:solidFill>
                  <a:srgbClr val="F28C28"/>
                </a:solidFill>
                <a:latin typeface="Malgun Gothic" pitchFamily="34" charset="0"/>
                <a:ea typeface="Malgun Gothic" pitchFamily="34" charset="-122"/>
                <a:cs typeface="Malgun Gothic" pitchFamily="34" charset="-120"/>
              </a:rPr>
              <a:t>03  주요 기능</a:t>
            </a:r>
            <a:endParaRPr lang="en-US" sz="1200" dirty="0"/>
          </a:p>
        </p:txBody>
      </p:sp>
      <p:sp>
        <p:nvSpPr>
          <p:cNvPr id="3" name="Text 1"/>
          <p:cNvSpPr txBox="1"/>
          <p:nvPr/>
        </p:nvSpPr>
        <p:spPr>
          <a:xfrm>
            <a:off x="502920" y="594360"/>
            <a:ext cx="10972800" cy="685800"/>
          </a:xfrm>
          <a:prstGeom prst="rect">
            <a:avLst/>
          </a:prstGeom>
          <a:noFill/>
          <a:ln/>
        </p:spPr>
        <p:txBody>
          <a:bodyPr wrap="square" lIns="0" tIns="0" rIns="0" bIns="0" rtlCol="0" anchor="ctr"/>
          <a:lstStyle/>
          <a:p>
            <a:pPr indent="0" marL="0">
              <a:buNone/>
            </a:pPr>
            <a:r>
              <a:rPr lang="en-US" sz="3000" b="1" dirty="0">
                <a:solidFill>
                  <a:srgbClr val="14284B"/>
                </a:solidFill>
                <a:latin typeface="Malgun Gothic" pitchFamily="34" charset="0"/>
                <a:ea typeface="Malgun Gothic" pitchFamily="34" charset="-122"/>
                <a:cs typeface="Malgun Gothic" pitchFamily="34" charset="-120"/>
              </a:rPr>
              <a:t>과적 판정 기준</a:t>
            </a:r>
            <a:endParaRPr lang="en-US" sz="3000" dirty="0"/>
          </a:p>
        </p:txBody>
      </p:sp>
      <p:sp>
        <p:nvSpPr>
          <p:cNvPr id="4" name="Text 2"/>
          <p:cNvSpPr txBox="1"/>
          <p:nvPr/>
        </p:nvSpPr>
        <p:spPr>
          <a:xfrm>
            <a:off x="502920" y="6446520"/>
            <a:ext cx="4572000" cy="228600"/>
          </a:xfrm>
          <a:prstGeom prst="rect">
            <a:avLst/>
          </a:prstGeom>
          <a:noFill/>
          <a:ln/>
        </p:spPr>
        <p:txBody>
          <a:bodyPr wrap="square" lIns="0" tIns="0" rIns="0" bIns="0" rtlCol="0" anchor="ctr"/>
          <a:lstStyle/>
          <a:p>
            <a:pPr indent="0" marL="0">
              <a:buNone/>
            </a:pPr>
            <a:r>
              <a:rPr lang="en-US" sz="900" dirty="0">
                <a:solidFill>
                  <a:srgbClr val="9AA3B2"/>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16</a:t>
            </a:r>
            <a:endParaRPr lang="en-US" sz="900" dirty="0"/>
          </a:p>
        </p:txBody>
      </p:sp>
      <p:sp>
        <p:nvSpPr>
          <p:cNvPr id="7" name="Text 4"/>
          <p:cNvSpPr txBox="1"/>
          <p:nvPr/>
        </p:nvSpPr>
        <p:spPr>
          <a:xfrm>
            <a:off x="822960" y="1737360"/>
            <a:ext cx="3474720" cy="1188720"/>
          </a:xfrm>
          <a:prstGeom prst="rect">
            <a:avLst/>
          </a:prstGeom>
          <a:noFill/>
          <a:ln/>
        </p:spPr>
        <p:txBody>
          <a:bodyPr wrap="square" lIns="0" tIns="0" rIns="0" bIns="0" rtlCol="0" anchor="ctr"/>
          <a:lstStyle/>
          <a:p>
            <a:pPr indent="0" marL="0">
              <a:buNone/>
            </a:pPr>
            <a:r>
              <a:rPr lang="en-US" sz="6000" b="1" dirty="0">
                <a:solidFill>
                  <a:srgbClr val="F28C28"/>
                </a:solidFill>
                <a:latin typeface="Malgun Gothic" pitchFamily="34" charset="0"/>
                <a:ea typeface="Malgun Gothic" pitchFamily="34" charset="-122"/>
                <a:cs typeface="Malgun Gothic" pitchFamily="34" charset="-120"/>
              </a:rPr>
              <a:t>10t</a:t>
            </a:r>
            <a:endParaRPr lang="en-US" sz="6000" dirty="0"/>
          </a:p>
        </p:txBody>
      </p:sp>
      <p:sp>
        <p:nvSpPr>
          <p:cNvPr id="8" name="Text 5"/>
          <p:cNvSpPr txBox="1"/>
          <p:nvPr/>
        </p:nvSpPr>
        <p:spPr>
          <a:xfrm>
            <a:off x="822960" y="3017520"/>
            <a:ext cx="3474720" cy="502920"/>
          </a:xfrm>
          <a:prstGeom prst="rect">
            <a:avLst/>
          </a:prstGeom>
          <a:noFill/>
          <a:ln/>
        </p:spPr>
        <p:txBody>
          <a:bodyPr wrap="square" lIns="0" tIns="0" rIns="0" bIns="0" rtlCol="0" anchor="ctr"/>
          <a:lstStyle/>
          <a:p>
            <a:pPr indent="0" marL="0">
              <a:buNone/>
            </a:pPr>
            <a:r>
              <a:rPr lang="en-US" sz="2200" b="1" dirty="0">
                <a:solidFill>
                  <a:srgbClr val="14284B"/>
                </a:solidFill>
                <a:latin typeface="Malgun Gothic" pitchFamily="34" charset="0"/>
                <a:ea typeface="Malgun Gothic" pitchFamily="34" charset="-122"/>
                <a:cs typeface="Malgun Gothic" pitchFamily="34" charset="-120"/>
              </a:rPr>
              <a:t>축하중</a:t>
            </a:r>
            <a:endParaRPr lang="en-US" sz="2200" dirty="0"/>
          </a:p>
        </p:txBody>
      </p:sp>
      <p:sp>
        <p:nvSpPr>
          <p:cNvPr id="9" name="Text 6"/>
          <p:cNvSpPr txBox="1"/>
          <p:nvPr/>
        </p:nvSpPr>
        <p:spPr>
          <a:xfrm>
            <a:off x="822960" y="3566160"/>
            <a:ext cx="3474720" cy="457200"/>
          </a:xfrm>
          <a:prstGeom prst="rect">
            <a:avLst/>
          </a:prstGeom>
          <a:noFill/>
          <a:ln/>
        </p:spPr>
        <p:txBody>
          <a:bodyPr wrap="square" lIns="0" tIns="0" rIns="0" bIns="0" rtlCol="0" anchor="ctr"/>
          <a:lstStyle/>
          <a:p>
            <a:pPr indent="0" marL="0">
              <a:buNone/>
            </a:pPr>
            <a:r>
              <a:rPr lang="en-US" sz="1600" dirty="0">
                <a:solidFill>
                  <a:srgbClr val="1B2333"/>
                </a:solidFill>
                <a:latin typeface="Malgun Gothic" pitchFamily="34" charset="0"/>
                <a:ea typeface="Malgun Gothic" pitchFamily="34" charset="-122"/>
                <a:cs typeface="Malgun Gothic" pitchFamily="34" charset="-120"/>
              </a:rPr>
              <a:t>축 하나라도 10,000kg 초과</a:t>
            </a:r>
            <a:endParaRPr lang="en-US" sz="1600" dirty="0"/>
          </a:p>
        </p:txBody>
      </p:sp>
      <p:sp>
        <p:nvSpPr>
          <p:cNvPr id="10" name="Text 7"/>
          <p:cNvSpPr txBox="1"/>
          <p:nvPr/>
        </p:nvSpPr>
        <p:spPr>
          <a:xfrm>
            <a:off x="4572000" y="1737360"/>
            <a:ext cx="3474720" cy="1188720"/>
          </a:xfrm>
          <a:prstGeom prst="rect">
            <a:avLst/>
          </a:prstGeom>
          <a:noFill/>
          <a:ln/>
        </p:spPr>
        <p:txBody>
          <a:bodyPr wrap="square" lIns="0" tIns="0" rIns="0" bIns="0" rtlCol="0" anchor="ctr"/>
          <a:lstStyle/>
          <a:p>
            <a:pPr indent="0" marL="0">
              <a:buNone/>
            </a:pPr>
            <a:r>
              <a:rPr lang="en-US" sz="6000" b="1" dirty="0">
                <a:solidFill>
                  <a:srgbClr val="F28C28"/>
                </a:solidFill>
                <a:latin typeface="Malgun Gothic" pitchFamily="34" charset="0"/>
                <a:ea typeface="Malgun Gothic" pitchFamily="34" charset="-122"/>
                <a:cs typeface="Malgun Gothic" pitchFamily="34" charset="-120"/>
              </a:rPr>
              <a:t>40t</a:t>
            </a:r>
            <a:endParaRPr lang="en-US" sz="6000" dirty="0"/>
          </a:p>
        </p:txBody>
      </p:sp>
      <p:sp>
        <p:nvSpPr>
          <p:cNvPr id="11" name="Text 8"/>
          <p:cNvSpPr txBox="1"/>
          <p:nvPr/>
        </p:nvSpPr>
        <p:spPr>
          <a:xfrm>
            <a:off x="4572000" y="3017520"/>
            <a:ext cx="3474720" cy="502920"/>
          </a:xfrm>
          <a:prstGeom prst="rect">
            <a:avLst/>
          </a:prstGeom>
          <a:noFill/>
          <a:ln/>
        </p:spPr>
        <p:txBody>
          <a:bodyPr wrap="square" lIns="0" tIns="0" rIns="0" bIns="0" rtlCol="0" anchor="ctr"/>
          <a:lstStyle/>
          <a:p>
            <a:pPr indent="0" marL="0">
              <a:buNone/>
            </a:pPr>
            <a:r>
              <a:rPr lang="en-US" sz="2200" b="1" dirty="0">
                <a:solidFill>
                  <a:srgbClr val="14284B"/>
                </a:solidFill>
                <a:latin typeface="Malgun Gothic" pitchFamily="34" charset="0"/>
                <a:ea typeface="Malgun Gothic" pitchFamily="34" charset="-122"/>
                <a:cs typeface="Malgun Gothic" pitchFamily="34" charset="-120"/>
              </a:rPr>
              <a:t>총중량</a:t>
            </a:r>
            <a:endParaRPr lang="en-US" sz="2200" dirty="0"/>
          </a:p>
        </p:txBody>
      </p:sp>
      <p:sp>
        <p:nvSpPr>
          <p:cNvPr id="12" name="Text 9"/>
          <p:cNvSpPr txBox="1"/>
          <p:nvPr/>
        </p:nvSpPr>
        <p:spPr>
          <a:xfrm>
            <a:off x="4572000" y="3566160"/>
            <a:ext cx="3474720" cy="457200"/>
          </a:xfrm>
          <a:prstGeom prst="rect">
            <a:avLst/>
          </a:prstGeom>
          <a:noFill/>
          <a:ln/>
        </p:spPr>
        <p:txBody>
          <a:bodyPr wrap="square" lIns="0" tIns="0" rIns="0" bIns="0" rtlCol="0" anchor="ctr"/>
          <a:lstStyle/>
          <a:p>
            <a:pPr indent="0" marL="0">
              <a:buNone/>
            </a:pPr>
            <a:r>
              <a:rPr lang="en-US" sz="1600" dirty="0">
                <a:solidFill>
                  <a:srgbClr val="1B2333"/>
                </a:solidFill>
                <a:latin typeface="Malgun Gothic" pitchFamily="34" charset="0"/>
                <a:ea typeface="Malgun Gothic" pitchFamily="34" charset="-122"/>
                <a:cs typeface="Malgun Gothic" pitchFamily="34" charset="-120"/>
              </a:rPr>
              <a:t>전체 무게 40,000kg 초과</a:t>
            </a:r>
            <a:endParaRPr lang="en-US" sz="1600" dirty="0"/>
          </a:p>
        </p:txBody>
      </p:sp>
      <p:sp>
        <p:nvSpPr>
          <p:cNvPr id="13" name="Text 10"/>
          <p:cNvSpPr txBox="1"/>
          <p:nvPr/>
        </p:nvSpPr>
        <p:spPr>
          <a:xfrm>
            <a:off x="8321040" y="1737360"/>
            <a:ext cx="3474720" cy="1188720"/>
          </a:xfrm>
          <a:prstGeom prst="rect">
            <a:avLst/>
          </a:prstGeom>
          <a:noFill/>
          <a:ln/>
        </p:spPr>
        <p:txBody>
          <a:bodyPr wrap="square" lIns="0" tIns="0" rIns="0" bIns="0" rtlCol="0" anchor="ctr"/>
          <a:lstStyle/>
          <a:p>
            <a:pPr indent="0" marL="0">
              <a:buNone/>
            </a:pPr>
            <a:r>
              <a:rPr lang="en-US" sz="6000" b="1" dirty="0">
                <a:solidFill>
                  <a:srgbClr val="F28C28"/>
                </a:solidFill>
                <a:latin typeface="Malgun Gothic" pitchFamily="34" charset="0"/>
                <a:ea typeface="Malgun Gothic" pitchFamily="34" charset="-122"/>
                <a:cs typeface="Malgun Gothic" pitchFamily="34" charset="-120"/>
              </a:rPr>
              <a:t>110%</a:t>
            </a:r>
            <a:endParaRPr lang="en-US" sz="6000" dirty="0"/>
          </a:p>
        </p:txBody>
      </p:sp>
      <p:sp>
        <p:nvSpPr>
          <p:cNvPr id="14" name="Text 11"/>
          <p:cNvSpPr txBox="1"/>
          <p:nvPr/>
        </p:nvSpPr>
        <p:spPr>
          <a:xfrm>
            <a:off x="8321040" y="3017520"/>
            <a:ext cx="3474720" cy="502920"/>
          </a:xfrm>
          <a:prstGeom prst="rect">
            <a:avLst/>
          </a:prstGeom>
          <a:noFill/>
          <a:ln/>
        </p:spPr>
        <p:txBody>
          <a:bodyPr wrap="square" lIns="0" tIns="0" rIns="0" bIns="0" rtlCol="0" anchor="ctr"/>
          <a:lstStyle/>
          <a:p>
            <a:pPr indent="0" marL="0">
              <a:buNone/>
            </a:pPr>
            <a:r>
              <a:rPr lang="en-US" sz="2200" b="1" dirty="0">
                <a:solidFill>
                  <a:srgbClr val="14284B"/>
                </a:solidFill>
                <a:latin typeface="Malgun Gothic" pitchFamily="34" charset="0"/>
                <a:ea typeface="Malgun Gothic" pitchFamily="34" charset="-122"/>
                <a:cs typeface="Malgun Gothic" pitchFamily="34" charset="-120"/>
              </a:rPr>
              <a:t>적재중량</a:t>
            </a:r>
            <a:endParaRPr lang="en-US" sz="2200" dirty="0"/>
          </a:p>
        </p:txBody>
      </p:sp>
      <p:sp>
        <p:nvSpPr>
          <p:cNvPr id="15" name="Text 12"/>
          <p:cNvSpPr txBox="1"/>
          <p:nvPr/>
        </p:nvSpPr>
        <p:spPr>
          <a:xfrm>
            <a:off x="8321040" y="3566160"/>
            <a:ext cx="3474720" cy="457200"/>
          </a:xfrm>
          <a:prstGeom prst="rect">
            <a:avLst/>
          </a:prstGeom>
          <a:noFill/>
          <a:ln/>
        </p:spPr>
        <p:txBody>
          <a:bodyPr wrap="square" lIns="0" tIns="0" rIns="0" bIns="0" rtlCol="0" anchor="ctr"/>
          <a:lstStyle/>
          <a:p>
            <a:pPr indent="0" marL="0">
              <a:buNone/>
            </a:pPr>
            <a:r>
              <a:rPr lang="en-US" sz="1600" dirty="0">
                <a:solidFill>
                  <a:srgbClr val="1B2333"/>
                </a:solidFill>
                <a:latin typeface="Malgun Gothic" pitchFamily="34" charset="0"/>
                <a:ea typeface="Malgun Gothic" pitchFamily="34" charset="-122"/>
                <a:cs typeface="Malgun Gothic" pitchFamily="34" charset="-120"/>
              </a:rPr>
              <a:t>최대 적재량의 110% 초과</a:t>
            </a:r>
            <a:endParaRPr lang="en-US" sz="1600" dirty="0"/>
          </a:p>
        </p:txBody>
      </p:sp>
      <p:sp>
        <p:nvSpPr>
          <p:cNvPr id="16" name="Shape 13"/>
          <p:cNvSpPr/>
          <p:nvPr/>
        </p:nvSpPr>
        <p:spPr>
          <a:xfrm>
            <a:off x="822960" y="4434840"/>
            <a:ext cx="10607040" cy="0"/>
          </a:xfrm>
          <a:prstGeom prst="line">
            <a:avLst/>
          </a:prstGeom>
          <a:noFill/>
          <a:ln w="9525">
            <a:solidFill>
              <a:srgbClr val="E3E8EF"/>
            </a:solidFill>
            <a:prstDash val="solid"/>
          </a:ln>
        </p:spPr>
      </p:sp>
      <p:sp>
        <p:nvSpPr>
          <p:cNvPr id="17" name="Text 14"/>
          <p:cNvSpPr txBox="1"/>
          <p:nvPr/>
        </p:nvSpPr>
        <p:spPr>
          <a:xfrm>
            <a:off x="822960" y="4663440"/>
            <a:ext cx="10607040" cy="457200"/>
          </a:xfrm>
          <a:prstGeom prst="rect">
            <a:avLst/>
          </a:prstGeom>
          <a:noFill/>
          <a:ln/>
        </p:spPr>
        <p:txBody>
          <a:bodyPr wrap="square" lIns="0" tIns="0" rIns="0" bIns="0" rtlCol="0" anchor="ctr"/>
          <a:lstStyle/>
          <a:p>
            <a:pPr indent="0" marL="0">
              <a:buNone/>
            </a:pPr>
            <a:r>
              <a:rPr lang="en-US" sz="1800" b="1" dirty="0">
                <a:solidFill>
                  <a:srgbClr val="14284B"/>
                </a:solidFill>
                <a:latin typeface="Malgun Gothic" pitchFamily="34" charset="0"/>
                <a:ea typeface="Malgun Gothic" pitchFamily="34" charset="-122"/>
                <a:cs typeface="Malgun Gothic" pitchFamily="34" charset="-120"/>
              </a:rPr>
              <a:t>하나라도 넘으면 과적  ·  판정은 서버에서</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7315200" cy="274320"/>
          </a:xfrm>
          <a:prstGeom prst="rect">
            <a:avLst/>
          </a:prstGeom>
          <a:noFill/>
          <a:ln/>
        </p:spPr>
        <p:txBody>
          <a:bodyPr wrap="square" lIns="0" tIns="0" rIns="0" bIns="0" rtlCol="0" anchor="ctr"/>
          <a:lstStyle/>
          <a:p>
            <a:pPr indent="0" marL="0">
              <a:buNone/>
            </a:pPr>
            <a:r>
              <a:rPr lang="en-US" sz="1200" b="1" dirty="0">
                <a:solidFill>
                  <a:srgbClr val="F28C28"/>
                </a:solidFill>
                <a:latin typeface="Malgun Gothic" pitchFamily="34" charset="0"/>
                <a:ea typeface="Malgun Gothic" pitchFamily="34" charset="-122"/>
                <a:cs typeface="Malgun Gothic" pitchFamily="34" charset="-120"/>
              </a:rPr>
              <a:t>03  주요 기능</a:t>
            </a:r>
            <a:endParaRPr lang="en-US" sz="1200" dirty="0"/>
          </a:p>
        </p:txBody>
      </p:sp>
      <p:sp>
        <p:nvSpPr>
          <p:cNvPr id="3" name="Text 1"/>
          <p:cNvSpPr txBox="1"/>
          <p:nvPr/>
        </p:nvSpPr>
        <p:spPr>
          <a:xfrm>
            <a:off x="502920" y="594360"/>
            <a:ext cx="10972800" cy="685800"/>
          </a:xfrm>
          <a:prstGeom prst="rect">
            <a:avLst/>
          </a:prstGeom>
          <a:noFill/>
          <a:ln/>
        </p:spPr>
        <p:txBody>
          <a:bodyPr wrap="square" lIns="0" tIns="0" rIns="0" bIns="0" rtlCol="0" anchor="ctr"/>
          <a:lstStyle/>
          <a:p>
            <a:pPr indent="0" marL="0">
              <a:buNone/>
            </a:pPr>
            <a:r>
              <a:rPr lang="en-US" sz="3000" b="1" dirty="0">
                <a:solidFill>
                  <a:srgbClr val="14284B"/>
                </a:solidFill>
                <a:latin typeface="Malgun Gothic" pitchFamily="34" charset="0"/>
                <a:ea typeface="Malgun Gothic" pitchFamily="34" charset="-122"/>
                <a:cs typeface="Malgun Gothic" pitchFamily="34" charset="-120"/>
              </a:rPr>
              <a:t>과적 차량은 나갈 수 없습니다</a:t>
            </a:r>
            <a:endParaRPr lang="en-US" sz="3000" dirty="0"/>
          </a:p>
        </p:txBody>
      </p:sp>
      <p:sp>
        <p:nvSpPr>
          <p:cNvPr id="4" name="Text 2"/>
          <p:cNvSpPr txBox="1"/>
          <p:nvPr/>
        </p:nvSpPr>
        <p:spPr>
          <a:xfrm>
            <a:off x="502920" y="6446520"/>
            <a:ext cx="4572000" cy="228600"/>
          </a:xfrm>
          <a:prstGeom prst="rect">
            <a:avLst/>
          </a:prstGeom>
          <a:noFill/>
          <a:ln/>
        </p:spPr>
        <p:txBody>
          <a:bodyPr wrap="square" lIns="0" tIns="0" rIns="0" bIns="0" rtlCol="0" anchor="ctr"/>
          <a:lstStyle/>
          <a:p>
            <a:pPr indent="0" marL="0">
              <a:buNone/>
            </a:pPr>
            <a:r>
              <a:rPr lang="en-US" sz="900" dirty="0">
                <a:solidFill>
                  <a:srgbClr val="9AA3B2"/>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17</a:t>
            </a:r>
            <a:endParaRPr lang="en-US" sz="900" dirty="0"/>
          </a:p>
        </p:txBody>
      </p:sp>
      <p:pic>
        <p:nvPicPr>
          <p:cNvPr id="7" name="Image 0" descr="시스템 화면 캡처">    </p:cNvPr>
          <p:cNvPicPr>
            <a:picLocks noChangeAspect="1"/>
          </p:cNvPicPr>
          <p:nvPr/>
        </p:nvPicPr>
        <p:blipFill>
          <a:blip r:embed="rId1"/>
          <a:stretch>
            <a:fillRect/>
          </a:stretch>
        </p:blipFill>
        <p:spPr>
          <a:xfrm>
            <a:off x="822960" y="1463040"/>
            <a:ext cx="8804127" cy="3566160"/>
          </a:xfrm>
          <a:prstGeom prst="rect">
            <a:avLst/>
          </a:prstGeom>
        </p:spPr>
      </p:pic>
      <p:sp>
        <p:nvSpPr>
          <p:cNvPr id="8" name="Shape 4"/>
          <p:cNvSpPr/>
          <p:nvPr/>
        </p:nvSpPr>
        <p:spPr>
          <a:xfrm>
            <a:off x="822960" y="1463040"/>
            <a:ext cx="8804127" cy="3566160"/>
          </a:xfrm>
          <a:prstGeom prst="rect">
            <a:avLst/>
          </a:prstGeom>
          <a:ln w="9525">
            <a:solidFill>
              <a:srgbClr val="D5DCE6"/>
            </a:solidFill>
            <a:prstDash val="solid"/>
          </a:ln>
        </p:spPr>
      </p:sp>
      <p:sp>
        <p:nvSpPr>
          <p:cNvPr id="9" name="Text 5"/>
          <p:cNvSpPr txBox="1"/>
          <p:nvPr/>
        </p:nvSpPr>
        <p:spPr>
          <a:xfrm>
            <a:off x="822960" y="5440680"/>
            <a:ext cx="3291840" cy="365760"/>
          </a:xfrm>
          <a:prstGeom prst="rect">
            <a:avLst/>
          </a:prstGeom>
          <a:noFill/>
          <a:ln/>
        </p:spPr>
        <p:txBody>
          <a:bodyPr wrap="square" lIns="0" tIns="0" rIns="0" bIns="0" rtlCol="0" anchor="ctr"/>
          <a:lstStyle/>
          <a:p>
            <a:pPr indent="0" marL="0">
              <a:buNone/>
            </a:pPr>
            <a:r>
              <a:rPr lang="en-US" sz="1600" b="1" dirty="0">
                <a:solidFill>
                  <a:srgbClr val="14284B"/>
                </a:solidFill>
                <a:latin typeface="Malgun Gothic" pitchFamily="34" charset="0"/>
                <a:ea typeface="Malgun Gothic" pitchFamily="34" charset="-122"/>
                <a:cs typeface="Malgun Gothic" pitchFamily="34" charset="-120"/>
              </a:rPr>
              <a:t>출차 가능</a:t>
            </a:r>
            <a:endParaRPr lang="en-US" sz="1600" dirty="0"/>
          </a:p>
        </p:txBody>
      </p:sp>
      <p:sp>
        <p:nvSpPr>
          <p:cNvPr id="10" name="Text 6"/>
          <p:cNvSpPr txBox="1"/>
          <p:nvPr/>
        </p:nvSpPr>
        <p:spPr>
          <a:xfrm>
            <a:off x="822960" y="5806440"/>
            <a:ext cx="3291840" cy="365760"/>
          </a:xfrm>
          <a:prstGeom prst="rect">
            <a:avLst/>
          </a:prstGeom>
          <a:noFill/>
          <a:ln/>
        </p:spPr>
        <p:txBody>
          <a:bodyPr wrap="square" lIns="0" tIns="0" rIns="0" bIns="0" rtlCol="0" anchor="ctr"/>
          <a:lstStyle/>
          <a:p>
            <a:pPr indent="0" marL="0">
              <a:buNone/>
            </a:pPr>
            <a:r>
              <a:rPr lang="en-US" sz="1400" dirty="0">
                <a:solidFill>
                  <a:srgbClr val="1B2333"/>
                </a:solidFill>
                <a:latin typeface="Malgun Gothic" pitchFamily="34" charset="0"/>
                <a:ea typeface="Malgun Gothic" pitchFamily="34" charset="-122"/>
                <a:cs typeface="Malgun Gothic" pitchFamily="34" charset="-120"/>
              </a:rPr>
              <a:t>상하차 완료 + 과적 통과</a:t>
            </a:r>
            <a:endParaRPr lang="en-US" sz="1400" dirty="0"/>
          </a:p>
        </p:txBody>
      </p:sp>
      <p:sp>
        <p:nvSpPr>
          <p:cNvPr id="11" name="Text 7"/>
          <p:cNvSpPr txBox="1"/>
          <p:nvPr/>
        </p:nvSpPr>
        <p:spPr>
          <a:xfrm>
            <a:off x="4389120" y="5440680"/>
            <a:ext cx="3291840" cy="365760"/>
          </a:xfrm>
          <a:prstGeom prst="rect">
            <a:avLst/>
          </a:prstGeom>
          <a:noFill/>
          <a:ln/>
        </p:spPr>
        <p:txBody>
          <a:bodyPr wrap="square" lIns="0" tIns="0" rIns="0" bIns="0" rtlCol="0" anchor="ctr"/>
          <a:lstStyle/>
          <a:p>
            <a:pPr indent="0" marL="0">
              <a:buNone/>
            </a:pPr>
            <a:r>
              <a:rPr lang="en-US" sz="1600" b="1" dirty="0">
                <a:solidFill>
                  <a:srgbClr val="14284B"/>
                </a:solidFill>
                <a:latin typeface="Malgun Gothic" pitchFamily="34" charset="0"/>
                <a:ea typeface="Malgun Gothic" pitchFamily="34" charset="-122"/>
                <a:cs typeface="Malgun Gothic" pitchFamily="34" charset="-120"/>
              </a:rPr>
              <a:t>과적</a:t>
            </a:r>
            <a:endParaRPr lang="en-US" sz="1600" dirty="0"/>
          </a:p>
        </p:txBody>
      </p:sp>
      <p:sp>
        <p:nvSpPr>
          <p:cNvPr id="12" name="Text 8"/>
          <p:cNvSpPr txBox="1"/>
          <p:nvPr/>
        </p:nvSpPr>
        <p:spPr>
          <a:xfrm>
            <a:off x="4389120" y="5806440"/>
            <a:ext cx="3291840" cy="365760"/>
          </a:xfrm>
          <a:prstGeom prst="rect">
            <a:avLst/>
          </a:prstGeom>
          <a:noFill/>
          <a:ln/>
        </p:spPr>
        <p:txBody>
          <a:bodyPr wrap="square" lIns="0" tIns="0" rIns="0" bIns="0" rtlCol="0" anchor="ctr"/>
          <a:lstStyle/>
          <a:p>
            <a:pPr indent="0" marL="0">
              <a:buNone/>
            </a:pPr>
            <a:r>
              <a:rPr lang="en-US" sz="1400" dirty="0">
                <a:solidFill>
                  <a:srgbClr val="1B2333"/>
                </a:solidFill>
                <a:latin typeface="Malgun Gothic" pitchFamily="34" charset="0"/>
                <a:ea typeface="Malgun Gothic" pitchFamily="34" charset="-122"/>
                <a:cs typeface="Malgun Gothic" pitchFamily="34" charset="-120"/>
              </a:rPr>
              <a:t>재계량 통과 전까지 잠김</a:t>
            </a:r>
            <a:endParaRPr lang="en-US" sz="1400" dirty="0"/>
          </a:p>
        </p:txBody>
      </p:sp>
      <p:sp>
        <p:nvSpPr>
          <p:cNvPr id="13" name="Text 9"/>
          <p:cNvSpPr txBox="1"/>
          <p:nvPr/>
        </p:nvSpPr>
        <p:spPr>
          <a:xfrm>
            <a:off x="7955280" y="5440680"/>
            <a:ext cx="3291840" cy="365760"/>
          </a:xfrm>
          <a:prstGeom prst="rect">
            <a:avLst/>
          </a:prstGeom>
          <a:noFill/>
          <a:ln/>
        </p:spPr>
        <p:txBody>
          <a:bodyPr wrap="square" lIns="0" tIns="0" rIns="0" bIns="0" rtlCol="0" anchor="ctr"/>
          <a:lstStyle/>
          <a:p>
            <a:pPr indent="0" marL="0">
              <a:buNone/>
            </a:pPr>
            <a:r>
              <a:rPr lang="en-US" sz="1600" b="1" dirty="0">
                <a:solidFill>
                  <a:srgbClr val="14284B"/>
                </a:solidFill>
                <a:latin typeface="Malgun Gothic" pitchFamily="34" charset="0"/>
                <a:ea typeface="Malgun Gothic" pitchFamily="34" charset="-122"/>
                <a:cs typeface="Malgun Gothic" pitchFamily="34" charset="-120"/>
              </a:rPr>
              <a:t>검사소 대기</a:t>
            </a:r>
            <a:endParaRPr lang="en-US" sz="1600" dirty="0"/>
          </a:p>
        </p:txBody>
      </p:sp>
      <p:sp>
        <p:nvSpPr>
          <p:cNvPr id="14" name="Text 10"/>
          <p:cNvSpPr txBox="1"/>
          <p:nvPr/>
        </p:nvSpPr>
        <p:spPr>
          <a:xfrm>
            <a:off x="7955280" y="5806440"/>
            <a:ext cx="3291840" cy="365760"/>
          </a:xfrm>
          <a:prstGeom prst="rect">
            <a:avLst/>
          </a:prstGeom>
          <a:noFill/>
          <a:ln/>
        </p:spPr>
        <p:txBody>
          <a:bodyPr wrap="square" lIns="0" tIns="0" rIns="0" bIns="0" rtlCol="0" anchor="ctr"/>
          <a:lstStyle/>
          <a:p>
            <a:pPr indent="0" marL="0">
              <a:buNone/>
            </a:pPr>
            <a:r>
              <a:rPr lang="en-US" sz="1400" dirty="0">
                <a:solidFill>
                  <a:srgbClr val="1B2333"/>
                </a:solidFill>
                <a:latin typeface="Malgun Gothic" pitchFamily="34" charset="0"/>
                <a:ea typeface="Malgun Gothic" pitchFamily="34" charset="-122"/>
                <a:cs typeface="Malgun Gothic" pitchFamily="34" charset="-120"/>
              </a:rPr>
              <a:t>아직 계량하지 않음</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7315200" cy="274320"/>
          </a:xfrm>
          <a:prstGeom prst="rect">
            <a:avLst/>
          </a:prstGeom>
          <a:noFill/>
          <a:ln/>
        </p:spPr>
        <p:txBody>
          <a:bodyPr wrap="square" lIns="0" tIns="0" rIns="0" bIns="0" rtlCol="0" anchor="ctr"/>
          <a:lstStyle/>
          <a:p>
            <a:pPr indent="0" marL="0">
              <a:buNone/>
            </a:pPr>
            <a:r>
              <a:rPr lang="en-US" sz="1200" b="1" dirty="0">
                <a:solidFill>
                  <a:srgbClr val="F28C28"/>
                </a:solidFill>
                <a:latin typeface="Malgun Gothic" pitchFamily="34" charset="0"/>
                <a:ea typeface="Malgun Gothic" pitchFamily="34" charset="-122"/>
                <a:cs typeface="Malgun Gothic" pitchFamily="34" charset="-120"/>
              </a:rPr>
              <a:t>03  주요 기능</a:t>
            </a:r>
            <a:endParaRPr lang="en-US" sz="1200" dirty="0"/>
          </a:p>
        </p:txBody>
      </p:sp>
      <p:sp>
        <p:nvSpPr>
          <p:cNvPr id="3" name="Text 1"/>
          <p:cNvSpPr txBox="1"/>
          <p:nvPr/>
        </p:nvSpPr>
        <p:spPr>
          <a:xfrm>
            <a:off x="502920" y="594360"/>
            <a:ext cx="10972800" cy="685800"/>
          </a:xfrm>
          <a:prstGeom prst="rect">
            <a:avLst/>
          </a:prstGeom>
          <a:noFill/>
          <a:ln/>
        </p:spPr>
        <p:txBody>
          <a:bodyPr wrap="square" lIns="0" tIns="0" rIns="0" bIns="0" rtlCol="0" anchor="ctr"/>
          <a:lstStyle/>
          <a:p>
            <a:pPr indent="0" marL="0">
              <a:buNone/>
            </a:pPr>
            <a:r>
              <a:rPr lang="en-US" sz="3000" b="1" dirty="0">
                <a:solidFill>
                  <a:srgbClr val="14284B"/>
                </a:solidFill>
                <a:latin typeface="Malgun Gothic" pitchFamily="34" charset="0"/>
                <a:ea typeface="Malgun Gothic" pitchFamily="34" charset="-122"/>
                <a:cs typeface="Malgun Gothic" pitchFamily="34" charset="-120"/>
              </a:rPr>
              <a:t>모든 과정이 기록으로 남습니다</a:t>
            </a:r>
            <a:endParaRPr lang="en-US" sz="3000" dirty="0"/>
          </a:p>
        </p:txBody>
      </p:sp>
      <p:sp>
        <p:nvSpPr>
          <p:cNvPr id="4" name="Text 2"/>
          <p:cNvSpPr txBox="1"/>
          <p:nvPr/>
        </p:nvSpPr>
        <p:spPr>
          <a:xfrm>
            <a:off x="502920" y="6446520"/>
            <a:ext cx="4572000" cy="228600"/>
          </a:xfrm>
          <a:prstGeom prst="rect">
            <a:avLst/>
          </a:prstGeom>
          <a:noFill/>
          <a:ln/>
        </p:spPr>
        <p:txBody>
          <a:bodyPr wrap="square" lIns="0" tIns="0" rIns="0" bIns="0" rtlCol="0" anchor="ctr"/>
          <a:lstStyle/>
          <a:p>
            <a:pPr indent="0" marL="0">
              <a:buNone/>
            </a:pPr>
            <a:r>
              <a:rPr lang="en-US" sz="900" dirty="0">
                <a:solidFill>
                  <a:srgbClr val="9AA3B2"/>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18</a:t>
            </a:r>
            <a:endParaRPr lang="en-US" sz="900" dirty="0"/>
          </a:p>
        </p:txBody>
      </p:sp>
      <p:pic>
        <p:nvPicPr>
          <p:cNvPr id="7" name="Image 0" descr="시스템 화면 캡처">    </p:cNvPr>
          <p:cNvPicPr>
            <a:picLocks noChangeAspect="1"/>
          </p:cNvPicPr>
          <p:nvPr/>
        </p:nvPicPr>
        <p:blipFill>
          <a:blip r:embed="rId1"/>
          <a:stretch>
            <a:fillRect/>
          </a:stretch>
        </p:blipFill>
        <p:spPr>
          <a:xfrm>
            <a:off x="822960" y="1417320"/>
            <a:ext cx="7194034" cy="2423160"/>
          </a:xfrm>
          <a:prstGeom prst="rect">
            <a:avLst/>
          </a:prstGeom>
        </p:spPr>
      </p:pic>
      <p:sp>
        <p:nvSpPr>
          <p:cNvPr id="8" name="Shape 4"/>
          <p:cNvSpPr/>
          <p:nvPr/>
        </p:nvSpPr>
        <p:spPr>
          <a:xfrm>
            <a:off x="822960" y="1417320"/>
            <a:ext cx="7194034" cy="2423160"/>
          </a:xfrm>
          <a:prstGeom prst="rect">
            <a:avLst/>
          </a:prstGeom>
          <a:ln w="9525">
            <a:solidFill>
              <a:srgbClr val="D5DCE6"/>
            </a:solidFill>
            <a:prstDash val="solid"/>
          </a:ln>
        </p:spPr>
      </p:sp>
      <p:pic>
        <p:nvPicPr>
          <p:cNvPr id="9" name="Image 1" descr="시스템 화면 캡처">    </p:cNvPr>
          <p:cNvPicPr>
            <a:picLocks noChangeAspect="1"/>
          </p:cNvPicPr>
          <p:nvPr/>
        </p:nvPicPr>
        <p:blipFill>
          <a:blip r:embed="rId2"/>
          <a:stretch>
            <a:fillRect/>
          </a:stretch>
        </p:blipFill>
        <p:spPr>
          <a:xfrm>
            <a:off x="822960" y="3977640"/>
            <a:ext cx="5710555" cy="2331720"/>
          </a:xfrm>
          <a:prstGeom prst="rect">
            <a:avLst/>
          </a:prstGeom>
        </p:spPr>
      </p:pic>
      <p:sp>
        <p:nvSpPr>
          <p:cNvPr id="10" name="Shape 5"/>
          <p:cNvSpPr/>
          <p:nvPr/>
        </p:nvSpPr>
        <p:spPr>
          <a:xfrm>
            <a:off x="822960" y="3977640"/>
            <a:ext cx="5710555" cy="2331720"/>
          </a:xfrm>
          <a:prstGeom prst="rect">
            <a:avLst/>
          </a:prstGeom>
          <a:ln w="9525">
            <a:solidFill>
              <a:srgbClr val="D5DCE6"/>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2103120"/>
            <a:ext cx="2743200" cy="1097280"/>
          </a:xfrm>
          <a:prstGeom prst="rect">
            <a:avLst/>
          </a:prstGeom>
          <a:noFill/>
          <a:ln/>
        </p:spPr>
        <p:txBody>
          <a:bodyPr wrap="square" lIns="0" tIns="0" rIns="0" bIns="0" rtlCol="0" anchor="ctr"/>
          <a:lstStyle/>
          <a:p>
            <a:pPr indent="0" marL="0">
              <a:buNone/>
            </a:pPr>
            <a:r>
              <a:rPr lang="en-US" sz="6600" b="1" dirty="0">
                <a:solidFill>
                  <a:srgbClr val="F28C28"/>
                </a:solidFill>
                <a:latin typeface="Malgun Gothic" pitchFamily="34" charset="0"/>
                <a:ea typeface="Malgun Gothic" pitchFamily="34" charset="-122"/>
                <a:cs typeface="Malgun Gothic" pitchFamily="34" charset="-120"/>
              </a:rPr>
              <a:t>04</a:t>
            </a:r>
            <a:endParaRPr lang="en-US" sz="6600" dirty="0"/>
          </a:p>
        </p:txBody>
      </p:sp>
      <p:sp>
        <p:nvSpPr>
          <p:cNvPr id="3" name="Text 1"/>
          <p:cNvSpPr txBox="1"/>
          <p:nvPr/>
        </p:nvSpPr>
        <p:spPr>
          <a:xfrm>
            <a:off x="822960" y="3200400"/>
            <a:ext cx="10058400" cy="822960"/>
          </a:xfrm>
          <a:prstGeom prst="rect">
            <a:avLst/>
          </a:prstGeom>
          <a:noFill/>
          <a:ln/>
        </p:spPr>
        <p:txBody>
          <a:bodyPr wrap="square" lIns="0" tIns="0" rIns="0" bIns="0" rtlCol="0" anchor="ctr"/>
          <a:lstStyle/>
          <a:p>
            <a:pPr indent="0" marL="0">
              <a:buNone/>
            </a:pPr>
            <a:r>
              <a:rPr lang="en-US" sz="3600" b="1" dirty="0">
                <a:solidFill>
                  <a:srgbClr val="14284B"/>
                </a:solidFill>
                <a:latin typeface="Malgun Gothic" pitchFamily="34" charset="0"/>
                <a:ea typeface="Malgun Gothic" pitchFamily="34" charset="-122"/>
                <a:cs typeface="Malgun Gothic" pitchFamily="34" charset="-120"/>
              </a:rPr>
              <a:t>시연</a:t>
            </a:r>
            <a:endParaRPr lang="en-US" sz="3600" dirty="0"/>
          </a:p>
        </p:txBody>
      </p:sp>
      <p:sp>
        <p:nvSpPr>
          <p:cNvPr id="4" name="Text 2"/>
          <p:cNvSpPr txBox="1"/>
          <p:nvPr/>
        </p:nvSpPr>
        <p:spPr>
          <a:xfrm>
            <a:off x="822960" y="4023360"/>
            <a:ext cx="10058400" cy="457200"/>
          </a:xfrm>
          <a:prstGeom prst="rect">
            <a:avLst/>
          </a:prstGeom>
          <a:noFill/>
          <a:ln/>
        </p:spPr>
        <p:txBody>
          <a:bodyPr wrap="square" lIns="0" tIns="0" rIns="0" bIns="0" rtlCol="0" anchor="ctr"/>
          <a:lstStyle/>
          <a:p>
            <a:pPr indent="0" marL="0">
              <a:buNone/>
            </a:pPr>
            <a:r>
              <a:rPr lang="en-US" sz="1600" dirty="0">
                <a:solidFill>
                  <a:srgbClr val="5B6B84"/>
                </a:solidFill>
                <a:latin typeface="Malgun Gothic" pitchFamily="34" charset="0"/>
                <a:ea typeface="Malgun Gothic" pitchFamily="34" charset="-122"/>
                <a:cs typeface="Malgun Gothic" pitchFamily="34" charset="-120"/>
              </a:rPr>
              <a:t>차량 3대로 보는 입차부터 출차까지</a:t>
            </a:r>
            <a:endParaRPr lang="en-US" sz="16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7315200" cy="274320"/>
          </a:xfrm>
          <a:prstGeom prst="rect">
            <a:avLst/>
          </a:prstGeom>
          <a:noFill/>
          <a:ln/>
        </p:spPr>
        <p:txBody>
          <a:bodyPr wrap="square" lIns="0" tIns="0" rIns="0" bIns="0" rtlCol="0" anchor="ctr"/>
          <a:lstStyle/>
          <a:p>
            <a:pPr indent="0" marL="0">
              <a:buNone/>
            </a:pPr>
            <a:r>
              <a:rPr lang="en-US" sz="1200" b="1" dirty="0">
                <a:solidFill>
                  <a:srgbClr val="F28C28"/>
                </a:solidFill>
                <a:latin typeface="Malgun Gothic" pitchFamily="34" charset="0"/>
                <a:ea typeface="Malgun Gothic" pitchFamily="34" charset="-122"/>
                <a:cs typeface="Malgun Gothic" pitchFamily="34" charset="-120"/>
              </a:rPr>
              <a:t>04  시연</a:t>
            </a:r>
            <a:endParaRPr lang="en-US" sz="1200" dirty="0"/>
          </a:p>
        </p:txBody>
      </p:sp>
      <p:sp>
        <p:nvSpPr>
          <p:cNvPr id="3" name="Text 1"/>
          <p:cNvSpPr txBox="1"/>
          <p:nvPr/>
        </p:nvSpPr>
        <p:spPr>
          <a:xfrm>
            <a:off x="502920" y="594360"/>
            <a:ext cx="10972800" cy="685800"/>
          </a:xfrm>
          <a:prstGeom prst="rect">
            <a:avLst/>
          </a:prstGeom>
          <a:noFill/>
          <a:ln/>
        </p:spPr>
        <p:txBody>
          <a:bodyPr wrap="square" lIns="0" tIns="0" rIns="0" bIns="0" rtlCol="0" anchor="ctr"/>
          <a:lstStyle/>
          <a:p>
            <a:pPr indent="0" marL="0">
              <a:buNone/>
            </a:pPr>
            <a:r>
              <a:rPr lang="en-US" sz="3000" b="1" dirty="0">
                <a:solidFill>
                  <a:srgbClr val="14284B"/>
                </a:solidFill>
                <a:latin typeface="Malgun Gothic" pitchFamily="34" charset="0"/>
                <a:ea typeface="Malgun Gothic" pitchFamily="34" charset="-122"/>
                <a:cs typeface="Malgun Gothic" pitchFamily="34" charset="-120"/>
              </a:rPr>
              <a:t>시연 시나리오</a:t>
            </a:r>
            <a:endParaRPr lang="en-US" sz="3000" dirty="0"/>
          </a:p>
        </p:txBody>
      </p:sp>
      <p:sp>
        <p:nvSpPr>
          <p:cNvPr id="4" name="Text 2"/>
          <p:cNvSpPr txBox="1"/>
          <p:nvPr/>
        </p:nvSpPr>
        <p:spPr>
          <a:xfrm>
            <a:off x="502920" y="6446520"/>
            <a:ext cx="4572000" cy="228600"/>
          </a:xfrm>
          <a:prstGeom prst="rect">
            <a:avLst/>
          </a:prstGeom>
          <a:noFill/>
          <a:ln/>
        </p:spPr>
        <p:txBody>
          <a:bodyPr wrap="square" lIns="0" tIns="0" rIns="0" bIns="0" rtlCol="0" anchor="ctr"/>
          <a:lstStyle/>
          <a:p>
            <a:pPr indent="0" marL="0">
              <a:buNone/>
            </a:pPr>
            <a:r>
              <a:rPr lang="en-US" sz="900" dirty="0">
                <a:solidFill>
                  <a:srgbClr val="9AA3B2"/>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20</a:t>
            </a:r>
            <a:endParaRPr lang="en-US" sz="900" dirty="0"/>
          </a:p>
        </p:txBody>
      </p:sp>
      <p:sp>
        <p:nvSpPr>
          <p:cNvPr id="7" name="Text 4"/>
          <p:cNvSpPr txBox="1"/>
          <p:nvPr/>
        </p:nvSpPr>
        <p:spPr>
          <a:xfrm>
            <a:off x="822960" y="1737360"/>
            <a:ext cx="822960" cy="822960"/>
          </a:xfrm>
          <a:prstGeom prst="rect">
            <a:avLst/>
          </a:prstGeom>
          <a:noFill/>
          <a:ln/>
        </p:spPr>
        <p:txBody>
          <a:bodyPr wrap="square" lIns="0" tIns="0" rIns="0" bIns="0" rtlCol="0" anchor="ctr"/>
          <a:lstStyle/>
          <a:p>
            <a:pPr indent="0" marL="0">
              <a:buNone/>
            </a:pPr>
            <a:r>
              <a:rPr lang="en-US" sz="4400" b="1" dirty="0">
                <a:solidFill>
                  <a:srgbClr val="14284B"/>
                </a:solidFill>
                <a:latin typeface="Malgun Gothic" pitchFamily="34" charset="0"/>
                <a:ea typeface="Malgun Gothic" pitchFamily="34" charset="-122"/>
                <a:cs typeface="Malgun Gothic" pitchFamily="34" charset="-120"/>
              </a:rPr>
              <a:t>A</a:t>
            </a:r>
            <a:endParaRPr lang="en-US" sz="4400" dirty="0"/>
          </a:p>
        </p:txBody>
      </p:sp>
      <p:sp>
        <p:nvSpPr>
          <p:cNvPr id="8" name="Text 5"/>
          <p:cNvSpPr txBox="1"/>
          <p:nvPr/>
        </p:nvSpPr>
        <p:spPr>
          <a:xfrm>
            <a:off x="1737360" y="1783080"/>
            <a:ext cx="2743200" cy="731520"/>
          </a:xfrm>
          <a:prstGeom prst="rect">
            <a:avLst/>
          </a:prstGeom>
          <a:noFill/>
          <a:ln/>
        </p:spPr>
        <p:txBody>
          <a:bodyPr wrap="square" lIns="0" tIns="0" rIns="0" bIns="0" rtlCol="0" anchor="ctr"/>
          <a:lstStyle/>
          <a:p>
            <a:pPr indent="0" marL="0">
              <a:buNone/>
            </a:pPr>
            <a:r>
              <a:rPr lang="en-US" sz="2200" b="1" dirty="0">
                <a:solidFill>
                  <a:srgbClr val="14284B"/>
                </a:solidFill>
                <a:latin typeface="Malgun Gothic" pitchFamily="34" charset="0"/>
                <a:ea typeface="Malgun Gothic" pitchFamily="34" charset="-122"/>
                <a:cs typeface="Malgun Gothic" pitchFamily="34" charset="-120"/>
              </a:rPr>
              <a:t>정상 차량</a:t>
            </a:r>
            <a:endParaRPr lang="en-US" sz="2200" dirty="0"/>
          </a:p>
        </p:txBody>
      </p:sp>
      <p:sp>
        <p:nvSpPr>
          <p:cNvPr id="9" name="Text 6"/>
          <p:cNvSpPr txBox="1"/>
          <p:nvPr/>
        </p:nvSpPr>
        <p:spPr>
          <a:xfrm>
            <a:off x="4572000" y="1783080"/>
            <a:ext cx="6949440" cy="731520"/>
          </a:xfrm>
          <a:prstGeom prst="rect">
            <a:avLst/>
          </a:prstGeom>
          <a:noFill/>
          <a:ln/>
        </p:spPr>
        <p:txBody>
          <a:bodyPr wrap="square" lIns="0" tIns="0" rIns="0" bIns="0" rtlCol="0" anchor="ctr"/>
          <a:lstStyle/>
          <a:p>
            <a:pPr indent="0" marL="0">
              <a:buNone/>
            </a:pPr>
            <a:r>
              <a:rPr lang="en-US" sz="1700" dirty="0">
                <a:solidFill>
                  <a:srgbClr val="1B2333"/>
                </a:solidFill>
                <a:latin typeface="Malgun Gothic" pitchFamily="34" charset="0"/>
                <a:ea typeface="Malgun Gothic" pitchFamily="34" charset="-122"/>
                <a:cs typeface="Malgun Gothic" pitchFamily="34" charset="-120"/>
              </a:rPr>
              <a:t>게이트인  →  계량 통과  →  출차</a:t>
            </a:r>
            <a:endParaRPr lang="en-US" sz="1700" dirty="0"/>
          </a:p>
        </p:txBody>
      </p:sp>
      <p:sp>
        <p:nvSpPr>
          <p:cNvPr id="10" name="Shape 7"/>
          <p:cNvSpPr/>
          <p:nvPr/>
        </p:nvSpPr>
        <p:spPr>
          <a:xfrm>
            <a:off x="822960" y="2743200"/>
            <a:ext cx="10607040" cy="0"/>
          </a:xfrm>
          <a:prstGeom prst="line">
            <a:avLst/>
          </a:prstGeom>
          <a:noFill/>
          <a:ln w="9525">
            <a:solidFill>
              <a:srgbClr val="E3E8EF"/>
            </a:solidFill>
            <a:prstDash val="solid"/>
          </a:ln>
        </p:spPr>
      </p:sp>
      <p:sp>
        <p:nvSpPr>
          <p:cNvPr id="11" name="Text 8"/>
          <p:cNvSpPr txBox="1"/>
          <p:nvPr/>
        </p:nvSpPr>
        <p:spPr>
          <a:xfrm>
            <a:off x="822960" y="3063240"/>
            <a:ext cx="822960" cy="822960"/>
          </a:xfrm>
          <a:prstGeom prst="rect">
            <a:avLst/>
          </a:prstGeom>
          <a:noFill/>
          <a:ln/>
        </p:spPr>
        <p:txBody>
          <a:bodyPr wrap="square" lIns="0" tIns="0" rIns="0" bIns="0" rtlCol="0" anchor="ctr"/>
          <a:lstStyle/>
          <a:p>
            <a:pPr indent="0" marL="0">
              <a:buNone/>
            </a:pPr>
            <a:r>
              <a:rPr lang="en-US" sz="4400" b="1" dirty="0">
                <a:solidFill>
                  <a:srgbClr val="F28C28"/>
                </a:solidFill>
                <a:latin typeface="Malgun Gothic" pitchFamily="34" charset="0"/>
                <a:ea typeface="Malgun Gothic" pitchFamily="34" charset="-122"/>
                <a:cs typeface="Malgun Gothic" pitchFamily="34" charset="-120"/>
              </a:rPr>
              <a:t>B</a:t>
            </a:r>
            <a:endParaRPr lang="en-US" sz="4400" dirty="0"/>
          </a:p>
        </p:txBody>
      </p:sp>
      <p:sp>
        <p:nvSpPr>
          <p:cNvPr id="12" name="Text 9"/>
          <p:cNvSpPr txBox="1"/>
          <p:nvPr/>
        </p:nvSpPr>
        <p:spPr>
          <a:xfrm>
            <a:off x="1737360" y="3108960"/>
            <a:ext cx="2743200" cy="731520"/>
          </a:xfrm>
          <a:prstGeom prst="rect">
            <a:avLst/>
          </a:prstGeom>
          <a:noFill/>
          <a:ln/>
        </p:spPr>
        <p:txBody>
          <a:bodyPr wrap="square" lIns="0" tIns="0" rIns="0" bIns="0" rtlCol="0" anchor="ctr"/>
          <a:lstStyle/>
          <a:p>
            <a:pPr indent="0" marL="0">
              <a:buNone/>
            </a:pPr>
            <a:r>
              <a:rPr lang="en-US" sz="2200" b="1" dirty="0">
                <a:solidFill>
                  <a:srgbClr val="14284B"/>
                </a:solidFill>
                <a:latin typeface="Malgun Gothic" pitchFamily="34" charset="0"/>
                <a:ea typeface="Malgun Gothic" pitchFamily="34" charset="-122"/>
                <a:cs typeface="Malgun Gothic" pitchFamily="34" charset="-120"/>
              </a:rPr>
              <a:t>과적 차량</a:t>
            </a:r>
            <a:endParaRPr lang="en-US" sz="2200" dirty="0"/>
          </a:p>
        </p:txBody>
      </p:sp>
      <p:sp>
        <p:nvSpPr>
          <p:cNvPr id="13" name="Text 10"/>
          <p:cNvSpPr txBox="1"/>
          <p:nvPr/>
        </p:nvSpPr>
        <p:spPr>
          <a:xfrm>
            <a:off x="4572000" y="3108960"/>
            <a:ext cx="6949440" cy="731520"/>
          </a:xfrm>
          <a:prstGeom prst="rect">
            <a:avLst/>
          </a:prstGeom>
          <a:noFill/>
          <a:ln/>
        </p:spPr>
        <p:txBody>
          <a:bodyPr wrap="square" lIns="0" tIns="0" rIns="0" bIns="0" rtlCol="0" anchor="ctr"/>
          <a:lstStyle/>
          <a:p>
            <a:pPr indent="0" marL="0">
              <a:buNone/>
            </a:pPr>
            <a:r>
              <a:rPr lang="en-US" sz="1700" dirty="0">
                <a:solidFill>
                  <a:srgbClr val="1B2333"/>
                </a:solidFill>
                <a:latin typeface="Malgun Gothic" pitchFamily="34" charset="0"/>
                <a:ea typeface="Malgun Gothic" pitchFamily="34" charset="-122"/>
                <a:cs typeface="Malgun Gothic" pitchFamily="34" charset="-120"/>
              </a:rPr>
              <a:t>게이트인  →  과적  →  출차 잠김  →  재계량  →  출차</a:t>
            </a:r>
            <a:endParaRPr lang="en-US" sz="1700" dirty="0"/>
          </a:p>
        </p:txBody>
      </p:sp>
      <p:sp>
        <p:nvSpPr>
          <p:cNvPr id="14" name="Shape 11"/>
          <p:cNvSpPr/>
          <p:nvPr/>
        </p:nvSpPr>
        <p:spPr>
          <a:xfrm>
            <a:off x="822960" y="4069080"/>
            <a:ext cx="10607040" cy="0"/>
          </a:xfrm>
          <a:prstGeom prst="line">
            <a:avLst/>
          </a:prstGeom>
          <a:noFill/>
          <a:ln w="9525">
            <a:solidFill>
              <a:srgbClr val="E3E8EF"/>
            </a:solidFill>
            <a:prstDash val="solid"/>
          </a:ln>
        </p:spPr>
      </p:sp>
      <p:sp>
        <p:nvSpPr>
          <p:cNvPr id="15" name="Text 12"/>
          <p:cNvSpPr txBox="1"/>
          <p:nvPr/>
        </p:nvSpPr>
        <p:spPr>
          <a:xfrm>
            <a:off x="822960" y="4389120"/>
            <a:ext cx="822960" cy="822960"/>
          </a:xfrm>
          <a:prstGeom prst="rect">
            <a:avLst/>
          </a:prstGeom>
          <a:noFill/>
          <a:ln/>
        </p:spPr>
        <p:txBody>
          <a:bodyPr wrap="square" lIns="0" tIns="0" rIns="0" bIns="0" rtlCol="0" anchor="ctr"/>
          <a:lstStyle/>
          <a:p>
            <a:pPr indent="0" marL="0">
              <a:buNone/>
            </a:pPr>
            <a:r>
              <a:rPr lang="en-US" sz="4400" b="1" dirty="0">
                <a:solidFill>
                  <a:srgbClr val="14284B"/>
                </a:solidFill>
                <a:latin typeface="Malgun Gothic" pitchFamily="34" charset="0"/>
                <a:ea typeface="Malgun Gothic" pitchFamily="34" charset="-122"/>
                <a:cs typeface="Malgun Gothic" pitchFamily="34" charset="-120"/>
              </a:rPr>
              <a:t>C</a:t>
            </a:r>
            <a:endParaRPr lang="en-US" sz="4400" dirty="0"/>
          </a:p>
        </p:txBody>
      </p:sp>
      <p:sp>
        <p:nvSpPr>
          <p:cNvPr id="16" name="Text 13"/>
          <p:cNvSpPr txBox="1"/>
          <p:nvPr/>
        </p:nvSpPr>
        <p:spPr>
          <a:xfrm>
            <a:off x="1737360" y="4434840"/>
            <a:ext cx="2743200" cy="731520"/>
          </a:xfrm>
          <a:prstGeom prst="rect">
            <a:avLst/>
          </a:prstGeom>
          <a:noFill/>
          <a:ln/>
        </p:spPr>
        <p:txBody>
          <a:bodyPr wrap="square" lIns="0" tIns="0" rIns="0" bIns="0" rtlCol="0" anchor="ctr"/>
          <a:lstStyle/>
          <a:p>
            <a:pPr indent="0" marL="0">
              <a:buNone/>
            </a:pPr>
            <a:r>
              <a:rPr lang="en-US" sz="2200" b="1" dirty="0">
                <a:solidFill>
                  <a:srgbClr val="14284B"/>
                </a:solidFill>
                <a:latin typeface="Malgun Gothic" pitchFamily="34" charset="0"/>
                <a:ea typeface="Malgun Gothic" pitchFamily="34" charset="-122"/>
                <a:cs typeface="Malgun Gothic" pitchFamily="34" charset="-120"/>
              </a:rPr>
              <a:t>미등록 차량</a:t>
            </a:r>
            <a:endParaRPr lang="en-US" sz="2200" dirty="0"/>
          </a:p>
        </p:txBody>
      </p:sp>
      <p:sp>
        <p:nvSpPr>
          <p:cNvPr id="17" name="Text 14"/>
          <p:cNvSpPr txBox="1"/>
          <p:nvPr/>
        </p:nvSpPr>
        <p:spPr>
          <a:xfrm>
            <a:off x="4572000" y="4434840"/>
            <a:ext cx="6949440" cy="731520"/>
          </a:xfrm>
          <a:prstGeom prst="rect">
            <a:avLst/>
          </a:prstGeom>
          <a:noFill/>
          <a:ln/>
        </p:spPr>
        <p:txBody>
          <a:bodyPr wrap="square" lIns="0" tIns="0" rIns="0" bIns="0" rtlCol="0" anchor="ctr"/>
          <a:lstStyle/>
          <a:p>
            <a:pPr indent="0" marL="0">
              <a:buNone/>
            </a:pPr>
            <a:r>
              <a:rPr lang="en-US" sz="1700" dirty="0">
                <a:solidFill>
                  <a:srgbClr val="1B2333"/>
                </a:solidFill>
                <a:latin typeface="Malgun Gothic" pitchFamily="34" charset="0"/>
                <a:ea typeface="Malgun Gothic" pitchFamily="34" charset="-122"/>
                <a:cs typeface="Malgun Gothic" pitchFamily="34" charset="-120"/>
              </a:rPr>
              <a:t>번호판 인식  →  차단기 열리지 않음  →  관리자 알림</a:t>
            </a:r>
            <a:endParaRPr lang="en-US" sz="1700" dirty="0"/>
          </a:p>
        </p:txBody>
      </p:sp>
      <p:sp>
        <p:nvSpPr>
          <p:cNvPr id="18" name="Shape 15"/>
          <p:cNvSpPr/>
          <p:nvPr/>
        </p:nvSpPr>
        <p:spPr>
          <a:xfrm>
            <a:off x="822960" y="5394960"/>
            <a:ext cx="10607040" cy="0"/>
          </a:xfrm>
          <a:prstGeom prst="line">
            <a:avLst/>
          </a:prstGeom>
          <a:noFill/>
          <a:ln w="9525">
            <a:solidFill>
              <a:srgbClr val="E3E8EF"/>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2103120"/>
            <a:ext cx="2743200" cy="1097280"/>
          </a:xfrm>
          <a:prstGeom prst="rect">
            <a:avLst/>
          </a:prstGeom>
          <a:noFill/>
          <a:ln/>
        </p:spPr>
        <p:txBody>
          <a:bodyPr wrap="square" lIns="0" tIns="0" rIns="0" bIns="0" rtlCol="0" anchor="ctr"/>
          <a:lstStyle/>
          <a:p>
            <a:pPr indent="0" marL="0">
              <a:buNone/>
            </a:pPr>
            <a:r>
              <a:rPr lang="en-US" sz="6600" b="1" dirty="0">
                <a:solidFill>
                  <a:srgbClr val="F28C28"/>
                </a:solidFill>
                <a:latin typeface="Malgun Gothic" pitchFamily="34" charset="0"/>
                <a:ea typeface="Malgun Gothic" pitchFamily="34" charset="-122"/>
                <a:cs typeface="Malgun Gothic" pitchFamily="34" charset="-120"/>
              </a:rPr>
              <a:t>05</a:t>
            </a:r>
            <a:endParaRPr lang="en-US" sz="6600" dirty="0"/>
          </a:p>
        </p:txBody>
      </p:sp>
      <p:sp>
        <p:nvSpPr>
          <p:cNvPr id="3" name="Text 1"/>
          <p:cNvSpPr txBox="1"/>
          <p:nvPr/>
        </p:nvSpPr>
        <p:spPr>
          <a:xfrm>
            <a:off x="822960" y="3200400"/>
            <a:ext cx="10058400" cy="822960"/>
          </a:xfrm>
          <a:prstGeom prst="rect">
            <a:avLst/>
          </a:prstGeom>
          <a:noFill/>
          <a:ln/>
        </p:spPr>
        <p:txBody>
          <a:bodyPr wrap="square" lIns="0" tIns="0" rIns="0" bIns="0" rtlCol="0" anchor="ctr"/>
          <a:lstStyle/>
          <a:p>
            <a:pPr indent="0" marL="0">
              <a:buNone/>
            </a:pPr>
            <a:r>
              <a:rPr lang="en-US" sz="3600" b="1" dirty="0">
                <a:solidFill>
                  <a:srgbClr val="14284B"/>
                </a:solidFill>
                <a:latin typeface="Malgun Gothic" pitchFamily="34" charset="0"/>
                <a:ea typeface="Malgun Gothic" pitchFamily="34" charset="-122"/>
                <a:cs typeface="Malgun Gothic" pitchFamily="34" charset="-120"/>
              </a:rPr>
              <a:t>문제 해결 과정</a:t>
            </a:r>
            <a:endParaRPr lang="en-US" sz="3600" dirty="0"/>
          </a:p>
        </p:txBody>
      </p:sp>
      <p:sp>
        <p:nvSpPr>
          <p:cNvPr id="4" name="Text 2"/>
          <p:cNvSpPr txBox="1"/>
          <p:nvPr/>
        </p:nvSpPr>
        <p:spPr>
          <a:xfrm>
            <a:off x="822960" y="4023360"/>
            <a:ext cx="10058400" cy="457200"/>
          </a:xfrm>
          <a:prstGeom prst="rect">
            <a:avLst/>
          </a:prstGeom>
          <a:noFill/>
          <a:ln/>
        </p:spPr>
        <p:txBody>
          <a:bodyPr wrap="square" lIns="0" tIns="0" rIns="0" bIns="0" rtlCol="0" anchor="ctr"/>
          <a:lstStyle/>
          <a:p>
            <a:pPr indent="0" marL="0">
              <a:buNone/>
            </a:pPr>
            <a:r>
              <a:rPr lang="en-US" sz="1600" dirty="0">
                <a:solidFill>
                  <a:srgbClr val="5B6B84"/>
                </a:solidFill>
                <a:latin typeface="Malgun Gothic" pitchFamily="34" charset="0"/>
                <a:ea typeface="Malgun Gothic" pitchFamily="34" charset="-122"/>
                <a:cs typeface="Malgun Gothic" pitchFamily="34" charset="-120"/>
              </a:rPr>
              <a:t>만들면서 부딪힌 문제들</a:t>
            </a:r>
            <a:endParaRPr lang="en-US" sz="16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7315200" cy="274320"/>
          </a:xfrm>
          <a:prstGeom prst="rect">
            <a:avLst/>
          </a:prstGeom>
          <a:noFill/>
          <a:ln/>
        </p:spPr>
        <p:txBody>
          <a:bodyPr wrap="square" lIns="0" tIns="0" rIns="0" bIns="0" rtlCol="0" anchor="ctr"/>
          <a:lstStyle/>
          <a:p>
            <a:pPr indent="0" marL="0">
              <a:buNone/>
            </a:pPr>
            <a:r>
              <a:rPr lang="en-US" sz="1200" b="1" dirty="0">
                <a:solidFill>
                  <a:srgbClr val="F28C28"/>
                </a:solidFill>
                <a:latin typeface="Malgun Gothic" pitchFamily="34" charset="0"/>
                <a:ea typeface="Malgun Gothic" pitchFamily="34" charset="-122"/>
                <a:cs typeface="Malgun Gothic" pitchFamily="34" charset="-120"/>
              </a:rPr>
              <a:t>05  문제 해결 과정</a:t>
            </a:r>
            <a:endParaRPr lang="en-US" sz="1200" dirty="0"/>
          </a:p>
        </p:txBody>
      </p:sp>
      <p:sp>
        <p:nvSpPr>
          <p:cNvPr id="3" name="Text 1"/>
          <p:cNvSpPr txBox="1"/>
          <p:nvPr/>
        </p:nvSpPr>
        <p:spPr>
          <a:xfrm>
            <a:off x="502920" y="594360"/>
            <a:ext cx="10972800" cy="685800"/>
          </a:xfrm>
          <a:prstGeom prst="rect">
            <a:avLst/>
          </a:prstGeom>
          <a:noFill/>
          <a:ln/>
        </p:spPr>
        <p:txBody>
          <a:bodyPr wrap="square" lIns="0" tIns="0" rIns="0" bIns="0" rtlCol="0" anchor="ctr"/>
          <a:lstStyle/>
          <a:p>
            <a:pPr indent="0" marL="0">
              <a:buNone/>
            </a:pPr>
            <a:r>
              <a:rPr lang="en-US" sz="3000" b="1" dirty="0">
                <a:solidFill>
                  <a:srgbClr val="14284B"/>
                </a:solidFill>
                <a:latin typeface="Malgun Gothic" pitchFamily="34" charset="0"/>
                <a:ea typeface="Malgun Gothic" pitchFamily="34" charset="-122"/>
                <a:cs typeface="Malgun Gothic" pitchFamily="34" charset="-120"/>
              </a:rPr>
              <a:t>출차할 때 입차 사진을 잃어버림</a:t>
            </a:r>
            <a:endParaRPr lang="en-US" sz="3000" dirty="0"/>
          </a:p>
        </p:txBody>
      </p:sp>
      <p:sp>
        <p:nvSpPr>
          <p:cNvPr id="4" name="Text 2"/>
          <p:cNvSpPr txBox="1"/>
          <p:nvPr/>
        </p:nvSpPr>
        <p:spPr>
          <a:xfrm>
            <a:off x="502920" y="6446520"/>
            <a:ext cx="4572000" cy="228600"/>
          </a:xfrm>
          <a:prstGeom prst="rect">
            <a:avLst/>
          </a:prstGeom>
          <a:noFill/>
          <a:ln/>
        </p:spPr>
        <p:txBody>
          <a:bodyPr wrap="square" lIns="0" tIns="0" rIns="0" bIns="0" rtlCol="0" anchor="ctr"/>
          <a:lstStyle/>
          <a:p>
            <a:pPr indent="0" marL="0">
              <a:buNone/>
            </a:pPr>
            <a:r>
              <a:rPr lang="en-US" sz="900" dirty="0">
                <a:solidFill>
                  <a:srgbClr val="9AA3B2"/>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22</a:t>
            </a:r>
            <a:endParaRPr lang="en-US" sz="900" dirty="0"/>
          </a:p>
        </p:txBody>
      </p:sp>
      <p:sp>
        <p:nvSpPr>
          <p:cNvPr id="7" name="Text 4"/>
          <p:cNvSpPr txBox="1"/>
          <p:nvPr/>
        </p:nvSpPr>
        <p:spPr>
          <a:xfrm>
            <a:off x="822960" y="1737360"/>
            <a:ext cx="3383280" cy="457200"/>
          </a:xfrm>
          <a:prstGeom prst="rect">
            <a:avLst/>
          </a:prstGeom>
          <a:noFill/>
          <a:ln/>
        </p:spPr>
        <p:txBody>
          <a:bodyPr wrap="square" lIns="0" tIns="0" rIns="0" bIns="0" rtlCol="0" anchor="ctr"/>
          <a:lstStyle/>
          <a:p>
            <a:pPr indent="0" marL="0">
              <a:buNone/>
            </a:pPr>
            <a:r>
              <a:rPr lang="en-US" sz="1800" b="1" dirty="0">
                <a:solidFill>
                  <a:srgbClr val="14284B"/>
                </a:solidFill>
                <a:latin typeface="Malgun Gothic" pitchFamily="34" charset="0"/>
                <a:ea typeface="Malgun Gothic" pitchFamily="34" charset="-122"/>
                <a:cs typeface="Malgun Gothic" pitchFamily="34" charset="-120"/>
              </a:rPr>
              <a:t>문제</a:t>
            </a:r>
            <a:endParaRPr lang="en-US" sz="1800" dirty="0"/>
          </a:p>
        </p:txBody>
      </p:sp>
      <p:sp>
        <p:nvSpPr>
          <p:cNvPr id="8" name="Shape 5"/>
          <p:cNvSpPr/>
          <p:nvPr/>
        </p:nvSpPr>
        <p:spPr>
          <a:xfrm>
            <a:off x="822960" y="2286000"/>
            <a:ext cx="3383280" cy="0"/>
          </a:xfrm>
          <a:prstGeom prst="line">
            <a:avLst/>
          </a:prstGeom>
          <a:noFill/>
          <a:ln w="9525">
            <a:solidFill>
              <a:srgbClr val="E3E8EF"/>
            </a:solidFill>
            <a:prstDash val="solid"/>
          </a:ln>
        </p:spPr>
      </p:sp>
      <p:sp>
        <p:nvSpPr>
          <p:cNvPr id="9" name="Text 6"/>
          <p:cNvSpPr txBox="1"/>
          <p:nvPr/>
        </p:nvSpPr>
        <p:spPr>
          <a:xfrm>
            <a:off x="822960" y="2514600"/>
            <a:ext cx="3383280" cy="3200400"/>
          </a:xfrm>
          <a:prstGeom prst="rect">
            <a:avLst/>
          </a:prstGeom>
          <a:noFill/>
          <a:ln/>
        </p:spPr>
        <p:txBody>
          <a:bodyPr wrap="square" lIns="0" tIns="0" rIns="0" bIns="0" rtlCol="0" anchor="t"/>
          <a:lstStyle/>
          <a:p>
            <a:pPr indent="0" marL="0">
              <a:spcAft>
                <a:spcPts val="800"/>
              </a:spcAft>
              <a:buNone/>
            </a:pPr>
            <a:r>
              <a:rPr lang="en-US" sz="1600" dirty="0">
                <a:solidFill>
                  <a:srgbClr val="1B2333"/>
                </a:solidFill>
                <a:latin typeface="Malgun Gothic" pitchFamily="34" charset="0"/>
                <a:ea typeface="Malgun Gothic" pitchFamily="34" charset="-122"/>
                <a:cs typeface="Malgun Gothic" pitchFamily="34" charset="-120"/>
              </a:rPr>
              <a:t>서버를 다시 켜면 출차 검사에 쓸 입차 사진을 찾지 못해 게이트아웃이 실패</a:t>
            </a:r>
            <a:endParaRPr lang="en-US" sz="1600" dirty="0"/>
          </a:p>
        </p:txBody>
      </p:sp>
      <p:sp>
        <p:nvSpPr>
          <p:cNvPr id="10" name="Text 7"/>
          <p:cNvSpPr txBox="1"/>
          <p:nvPr/>
        </p:nvSpPr>
        <p:spPr>
          <a:xfrm>
            <a:off x="4572000" y="1737360"/>
            <a:ext cx="3383280" cy="457200"/>
          </a:xfrm>
          <a:prstGeom prst="rect">
            <a:avLst/>
          </a:prstGeom>
          <a:noFill/>
          <a:ln/>
        </p:spPr>
        <p:txBody>
          <a:bodyPr wrap="square" lIns="0" tIns="0" rIns="0" bIns="0" rtlCol="0" anchor="ctr"/>
          <a:lstStyle/>
          <a:p>
            <a:pPr indent="0" marL="0">
              <a:buNone/>
            </a:pPr>
            <a:r>
              <a:rPr lang="en-US" sz="1800" b="1" dirty="0">
                <a:solidFill>
                  <a:srgbClr val="14284B"/>
                </a:solidFill>
                <a:latin typeface="Malgun Gothic" pitchFamily="34" charset="0"/>
                <a:ea typeface="Malgun Gothic" pitchFamily="34" charset="-122"/>
                <a:cs typeface="Malgun Gothic" pitchFamily="34" charset="-120"/>
              </a:rPr>
              <a:t>원인</a:t>
            </a:r>
            <a:endParaRPr lang="en-US" sz="1800" dirty="0"/>
          </a:p>
        </p:txBody>
      </p:sp>
      <p:sp>
        <p:nvSpPr>
          <p:cNvPr id="11" name="Shape 8"/>
          <p:cNvSpPr/>
          <p:nvPr/>
        </p:nvSpPr>
        <p:spPr>
          <a:xfrm>
            <a:off x="4572000" y="2286000"/>
            <a:ext cx="3383280" cy="0"/>
          </a:xfrm>
          <a:prstGeom prst="line">
            <a:avLst/>
          </a:prstGeom>
          <a:noFill/>
          <a:ln w="9525">
            <a:solidFill>
              <a:srgbClr val="E3E8EF"/>
            </a:solidFill>
            <a:prstDash val="solid"/>
          </a:ln>
        </p:spPr>
      </p:sp>
      <p:sp>
        <p:nvSpPr>
          <p:cNvPr id="12" name="Text 9"/>
          <p:cNvSpPr txBox="1"/>
          <p:nvPr/>
        </p:nvSpPr>
        <p:spPr>
          <a:xfrm>
            <a:off x="4572000" y="2514600"/>
            <a:ext cx="3383280" cy="3200400"/>
          </a:xfrm>
          <a:prstGeom prst="rect">
            <a:avLst/>
          </a:prstGeom>
          <a:noFill/>
          <a:ln/>
        </p:spPr>
        <p:txBody>
          <a:bodyPr wrap="square" lIns="0" tIns="0" rIns="0" bIns="0" rtlCol="0" anchor="t"/>
          <a:lstStyle/>
          <a:p>
            <a:pPr indent="0" marL="0">
              <a:spcAft>
                <a:spcPts val="800"/>
              </a:spcAft>
              <a:buNone/>
            </a:pPr>
            <a:r>
              <a:rPr lang="en-US" sz="1600" dirty="0">
                <a:solidFill>
                  <a:srgbClr val="1B2333"/>
                </a:solidFill>
                <a:latin typeface="Malgun Gothic" pitchFamily="34" charset="0"/>
                <a:ea typeface="Malgun Gothic" pitchFamily="34" charset="-122"/>
                <a:cs typeface="Malgun Gothic" pitchFamily="34" charset="-120"/>
              </a:rPr>
              <a:t>입차 사진 위치를 메모리에만 기억하고 있어서, 재시작하면 사라짐</a:t>
            </a:r>
            <a:endParaRPr lang="en-US" sz="1600" dirty="0"/>
          </a:p>
        </p:txBody>
      </p:sp>
      <p:sp>
        <p:nvSpPr>
          <p:cNvPr id="13" name="Text 10"/>
          <p:cNvSpPr txBox="1"/>
          <p:nvPr/>
        </p:nvSpPr>
        <p:spPr>
          <a:xfrm>
            <a:off x="8321040" y="1737360"/>
            <a:ext cx="3383280" cy="457200"/>
          </a:xfrm>
          <a:prstGeom prst="rect">
            <a:avLst/>
          </a:prstGeom>
          <a:noFill/>
          <a:ln/>
        </p:spPr>
        <p:txBody>
          <a:bodyPr wrap="square" lIns="0" tIns="0" rIns="0" bIns="0" rtlCol="0" anchor="ctr"/>
          <a:lstStyle/>
          <a:p>
            <a:pPr indent="0" marL="0">
              <a:buNone/>
            </a:pPr>
            <a:r>
              <a:rPr lang="en-US" sz="1800" b="1" dirty="0">
                <a:solidFill>
                  <a:srgbClr val="F28C28"/>
                </a:solidFill>
                <a:latin typeface="Malgun Gothic" pitchFamily="34" charset="0"/>
                <a:ea typeface="Malgun Gothic" pitchFamily="34" charset="-122"/>
                <a:cs typeface="Malgun Gothic" pitchFamily="34" charset="-120"/>
              </a:rPr>
              <a:t>해결</a:t>
            </a:r>
            <a:endParaRPr lang="en-US" sz="1800" dirty="0"/>
          </a:p>
        </p:txBody>
      </p:sp>
      <p:sp>
        <p:nvSpPr>
          <p:cNvPr id="14" name="Shape 11"/>
          <p:cNvSpPr/>
          <p:nvPr/>
        </p:nvSpPr>
        <p:spPr>
          <a:xfrm>
            <a:off x="8321040" y="2286000"/>
            <a:ext cx="3383280" cy="0"/>
          </a:xfrm>
          <a:prstGeom prst="line">
            <a:avLst/>
          </a:prstGeom>
          <a:noFill/>
          <a:ln w="9525">
            <a:solidFill>
              <a:srgbClr val="E3E8EF"/>
            </a:solidFill>
            <a:prstDash val="solid"/>
          </a:ln>
        </p:spPr>
      </p:sp>
      <p:sp>
        <p:nvSpPr>
          <p:cNvPr id="15" name="Text 12"/>
          <p:cNvSpPr txBox="1"/>
          <p:nvPr/>
        </p:nvSpPr>
        <p:spPr>
          <a:xfrm>
            <a:off x="8321040" y="2514600"/>
            <a:ext cx="3383280" cy="3200400"/>
          </a:xfrm>
          <a:prstGeom prst="rect">
            <a:avLst/>
          </a:prstGeom>
          <a:noFill/>
          <a:ln/>
        </p:spPr>
        <p:txBody>
          <a:bodyPr wrap="square" lIns="0" tIns="0" rIns="0" bIns="0" rtlCol="0" anchor="t"/>
          <a:lstStyle/>
          <a:p>
            <a:pPr indent="0" marL="0">
              <a:spcAft>
                <a:spcPts val="800"/>
              </a:spcAft>
              <a:buNone/>
            </a:pPr>
            <a:r>
              <a:rPr lang="en-US" sz="1600" dirty="0">
                <a:solidFill>
                  <a:srgbClr val="1B2333"/>
                </a:solidFill>
                <a:latin typeface="Malgun Gothic" pitchFamily="34" charset="0"/>
                <a:ea typeface="Malgun Gothic" pitchFamily="34" charset="-122"/>
                <a:cs typeface="Malgun Gothic" pitchFamily="34" charset="-120"/>
              </a:rPr>
              <a:t>메모리에 없으면 사진 폴더를 순서대로 다시 찾도록 변경, 서버를 켤 때 중복 사진도 정리</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7315200" cy="274320"/>
          </a:xfrm>
          <a:prstGeom prst="rect">
            <a:avLst/>
          </a:prstGeom>
          <a:noFill/>
          <a:ln/>
        </p:spPr>
        <p:txBody>
          <a:bodyPr wrap="square" lIns="0" tIns="0" rIns="0" bIns="0" rtlCol="0" anchor="ctr"/>
          <a:lstStyle/>
          <a:p>
            <a:pPr indent="0" marL="0">
              <a:buNone/>
            </a:pPr>
            <a:r>
              <a:rPr lang="en-US" sz="1200" b="1" dirty="0">
                <a:solidFill>
                  <a:srgbClr val="F28C28"/>
                </a:solidFill>
                <a:latin typeface="Malgun Gothic" pitchFamily="34" charset="0"/>
                <a:ea typeface="Malgun Gothic" pitchFamily="34" charset="-122"/>
                <a:cs typeface="Malgun Gothic" pitchFamily="34" charset="-120"/>
              </a:rPr>
              <a:t>05  문제 해결 과정</a:t>
            </a:r>
            <a:endParaRPr lang="en-US" sz="1200" dirty="0"/>
          </a:p>
        </p:txBody>
      </p:sp>
      <p:sp>
        <p:nvSpPr>
          <p:cNvPr id="3" name="Text 1"/>
          <p:cNvSpPr txBox="1"/>
          <p:nvPr/>
        </p:nvSpPr>
        <p:spPr>
          <a:xfrm>
            <a:off x="502920" y="594360"/>
            <a:ext cx="10972800" cy="685800"/>
          </a:xfrm>
          <a:prstGeom prst="rect">
            <a:avLst/>
          </a:prstGeom>
          <a:noFill/>
          <a:ln/>
        </p:spPr>
        <p:txBody>
          <a:bodyPr wrap="square" lIns="0" tIns="0" rIns="0" bIns="0" rtlCol="0" anchor="ctr"/>
          <a:lstStyle/>
          <a:p>
            <a:pPr indent="0" marL="0">
              <a:buNone/>
            </a:pPr>
            <a:r>
              <a:rPr lang="en-US" sz="3000" b="1" dirty="0">
                <a:solidFill>
                  <a:srgbClr val="14284B"/>
                </a:solidFill>
                <a:latin typeface="Malgun Gothic" pitchFamily="34" charset="0"/>
                <a:ea typeface="Malgun Gothic" pitchFamily="34" charset="-122"/>
                <a:cs typeface="Malgun Gothic" pitchFamily="34" charset="-120"/>
              </a:rPr>
              <a:t>같은 차량을 두 번 계량</a:t>
            </a:r>
            <a:endParaRPr lang="en-US" sz="3000" dirty="0"/>
          </a:p>
        </p:txBody>
      </p:sp>
      <p:sp>
        <p:nvSpPr>
          <p:cNvPr id="4" name="Text 2"/>
          <p:cNvSpPr txBox="1"/>
          <p:nvPr/>
        </p:nvSpPr>
        <p:spPr>
          <a:xfrm>
            <a:off x="502920" y="6446520"/>
            <a:ext cx="4572000" cy="228600"/>
          </a:xfrm>
          <a:prstGeom prst="rect">
            <a:avLst/>
          </a:prstGeom>
          <a:noFill/>
          <a:ln/>
        </p:spPr>
        <p:txBody>
          <a:bodyPr wrap="square" lIns="0" tIns="0" rIns="0" bIns="0" rtlCol="0" anchor="ctr"/>
          <a:lstStyle/>
          <a:p>
            <a:pPr indent="0" marL="0">
              <a:buNone/>
            </a:pPr>
            <a:r>
              <a:rPr lang="en-US" sz="900" dirty="0">
                <a:solidFill>
                  <a:srgbClr val="9AA3B2"/>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23</a:t>
            </a:r>
            <a:endParaRPr lang="en-US" sz="900" dirty="0"/>
          </a:p>
        </p:txBody>
      </p:sp>
      <p:sp>
        <p:nvSpPr>
          <p:cNvPr id="7" name="Text 4"/>
          <p:cNvSpPr txBox="1"/>
          <p:nvPr/>
        </p:nvSpPr>
        <p:spPr>
          <a:xfrm>
            <a:off x="822960" y="1737360"/>
            <a:ext cx="3383280" cy="457200"/>
          </a:xfrm>
          <a:prstGeom prst="rect">
            <a:avLst/>
          </a:prstGeom>
          <a:noFill/>
          <a:ln/>
        </p:spPr>
        <p:txBody>
          <a:bodyPr wrap="square" lIns="0" tIns="0" rIns="0" bIns="0" rtlCol="0" anchor="ctr"/>
          <a:lstStyle/>
          <a:p>
            <a:pPr indent="0" marL="0">
              <a:buNone/>
            </a:pPr>
            <a:r>
              <a:rPr lang="en-US" sz="1800" b="1" dirty="0">
                <a:solidFill>
                  <a:srgbClr val="14284B"/>
                </a:solidFill>
                <a:latin typeface="Malgun Gothic" pitchFamily="34" charset="0"/>
                <a:ea typeface="Malgun Gothic" pitchFamily="34" charset="-122"/>
                <a:cs typeface="Malgun Gothic" pitchFamily="34" charset="-120"/>
              </a:rPr>
              <a:t>문제</a:t>
            </a:r>
            <a:endParaRPr lang="en-US" sz="1800" dirty="0"/>
          </a:p>
        </p:txBody>
      </p:sp>
      <p:sp>
        <p:nvSpPr>
          <p:cNvPr id="8" name="Shape 5"/>
          <p:cNvSpPr/>
          <p:nvPr/>
        </p:nvSpPr>
        <p:spPr>
          <a:xfrm>
            <a:off x="822960" y="2286000"/>
            <a:ext cx="3383280" cy="0"/>
          </a:xfrm>
          <a:prstGeom prst="line">
            <a:avLst/>
          </a:prstGeom>
          <a:noFill/>
          <a:ln w="9525">
            <a:solidFill>
              <a:srgbClr val="E3E8EF"/>
            </a:solidFill>
            <a:prstDash val="solid"/>
          </a:ln>
        </p:spPr>
      </p:sp>
      <p:sp>
        <p:nvSpPr>
          <p:cNvPr id="9" name="Text 6"/>
          <p:cNvSpPr txBox="1"/>
          <p:nvPr/>
        </p:nvSpPr>
        <p:spPr>
          <a:xfrm>
            <a:off x="822960" y="2514600"/>
            <a:ext cx="3383280" cy="3200400"/>
          </a:xfrm>
          <a:prstGeom prst="rect">
            <a:avLst/>
          </a:prstGeom>
          <a:noFill/>
          <a:ln/>
        </p:spPr>
        <p:txBody>
          <a:bodyPr wrap="square" lIns="0" tIns="0" rIns="0" bIns="0" rtlCol="0" anchor="t"/>
          <a:lstStyle/>
          <a:p>
            <a:pPr indent="0" marL="0">
              <a:spcAft>
                <a:spcPts val="800"/>
              </a:spcAft>
              <a:buNone/>
            </a:pPr>
            <a:r>
              <a:rPr lang="en-US" sz="1600" dirty="0">
                <a:solidFill>
                  <a:srgbClr val="1B2333"/>
                </a:solidFill>
                <a:latin typeface="Malgun Gothic" pitchFamily="34" charset="0"/>
                <a:ea typeface="Malgun Gothic" pitchFamily="34" charset="-122"/>
                <a:cs typeface="Malgun Gothic" pitchFamily="34" charset="-120"/>
              </a:rPr>
              <a:t>출차 기록까지 검사소 대기열에 올라와서 같은 차량이 두 번 계량됨</a:t>
            </a:r>
            <a:endParaRPr lang="en-US" sz="1600" dirty="0"/>
          </a:p>
        </p:txBody>
      </p:sp>
      <p:sp>
        <p:nvSpPr>
          <p:cNvPr id="10" name="Text 7"/>
          <p:cNvSpPr txBox="1"/>
          <p:nvPr/>
        </p:nvSpPr>
        <p:spPr>
          <a:xfrm>
            <a:off x="4572000" y="1737360"/>
            <a:ext cx="3383280" cy="457200"/>
          </a:xfrm>
          <a:prstGeom prst="rect">
            <a:avLst/>
          </a:prstGeom>
          <a:noFill/>
          <a:ln/>
        </p:spPr>
        <p:txBody>
          <a:bodyPr wrap="square" lIns="0" tIns="0" rIns="0" bIns="0" rtlCol="0" anchor="ctr"/>
          <a:lstStyle/>
          <a:p>
            <a:pPr indent="0" marL="0">
              <a:buNone/>
            </a:pPr>
            <a:r>
              <a:rPr lang="en-US" sz="1800" b="1" dirty="0">
                <a:solidFill>
                  <a:srgbClr val="14284B"/>
                </a:solidFill>
                <a:latin typeface="Malgun Gothic" pitchFamily="34" charset="0"/>
                <a:ea typeface="Malgun Gothic" pitchFamily="34" charset="-122"/>
                <a:cs typeface="Malgun Gothic" pitchFamily="34" charset="-120"/>
              </a:rPr>
              <a:t>원인</a:t>
            </a:r>
            <a:endParaRPr lang="en-US" sz="1800" dirty="0"/>
          </a:p>
        </p:txBody>
      </p:sp>
      <p:sp>
        <p:nvSpPr>
          <p:cNvPr id="11" name="Shape 8"/>
          <p:cNvSpPr/>
          <p:nvPr/>
        </p:nvSpPr>
        <p:spPr>
          <a:xfrm>
            <a:off x="4572000" y="2286000"/>
            <a:ext cx="3383280" cy="0"/>
          </a:xfrm>
          <a:prstGeom prst="line">
            <a:avLst/>
          </a:prstGeom>
          <a:noFill/>
          <a:ln w="9525">
            <a:solidFill>
              <a:srgbClr val="E3E8EF"/>
            </a:solidFill>
            <a:prstDash val="solid"/>
          </a:ln>
        </p:spPr>
      </p:sp>
      <p:sp>
        <p:nvSpPr>
          <p:cNvPr id="12" name="Text 9"/>
          <p:cNvSpPr txBox="1"/>
          <p:nvPr/>
        </p:nvSpPr>
        <p:spPr>
          <a:xfrm>
            <a:off x="4572000" y="2514600"/>
            <a:ext cx="3383280" cy="3200400"/>
          </a:xfrm>
          <a:prstGeom prst="rect">
            <a:avLst/>
          </a:prstGeom>
          <a:noFill/>
          <a:ln/>
        </p:spPr>
        <p:txBody>
          <a:bodyPr wrap="square" lIns="0" tIns="0" rIns="0" bIns="0" rtlCol="0" anchor="t"/>
          <a:lstStyle/>
          <a:p>
            <a:pPr indent="0" marL="0">
              <a:spcAft>
                <a:spcPts val="800"/>
              </a:spcAft>
              <a:buNone/>
            </a:pPr>
            <a:r>
              <a:rPr lang="en-US" sz="1600" dirty="0">
                <a:solidFill>
                  <a:srgbClr val="1B2333"/>
                </a:solidFill>
                <a:latin typeface="Malgun Gothic" pitchFamily="34" charset="0"/>
                <a:ea typeface="Malgun Gothic" pitchFamily="34" charset="-122"/>
                <a:cs typeface="Malgun Gothic" pitchFamily="34" charset="-120"/>
              </a:rPr>
              <a:t>대기열이 입차와 출차를 구분하지 않고 게이트 기록을 전부 가져옴</a:t>
            </a:r>
            <a:endParaRPr lang="en-US" sz="1600" dirty="0"/>
          </a:p>
        </p:txBody>
      </p:sp>
      <p:sp>
        <p:nvSpPr>
          <p:cNvPr id="13" name="Text 10"/>
          <p:cNvSpPr txBox="1"/>
          <p:nvPr/>
        </p:nvSpPr>
        <p:spPr>
          <a:xfrm>
            <a:off x="8321040" y="1737360"/>
            <a:ext cx="3383280" cy="457200"/>
          </a:xfrm>
          <a:prstGeom prst="rect">
            <a:avLst/>
          </a:prstGeom>
          <a:noFill/>
          <a:ln/>
        </p:spPr>
        <p:txBody>
          <a:bodyPr wrap="square" lIns="0" tIns="0" rIns="0" bIns="0" rtlCol="0" anchor="ctr"/>
          <a:lstStyle/>
          <a:p>
            <a:pPr indent="0" marL="0">
              <a:buNone/>
            </a:pPr>
            <a:r>
              <a:rPr lang="en-US" sz="1800" b="1" dirty="0">
                <a:solidFill>
                  <a:srgbClr val="F28C28"/>
                </a:solidFill>
                <a:latin typeface="Malgun Gothic" pitchFamily="34" charset="0"/>
                <a:ea typeface="Malgun Gothic" pitchFamily="34" charset="-122"/>
                <a:cs typeface="Malgun Gothic" pitchFamily="34" charset="-120"/>
              </a:rPr>
              <a:t>해결</a:t>
            </a:r>
            <a:endParaRPr lang="en-US" sz="1800" dirty="0"/>
          </a:p>
        </p:txBody>
      </p:sp>
      <p:sp>
        <p:nvSpPr>
          <p:cNvPr id="14" name="Shape 11"/>
          <p:cNvSpPr/>
          <p:nvPr/>
        </p:nvSpPr>
        <p:spPr>
          <a:xfrm>
            <a:off x="8321040" y="2286000"/>
            <a:ext cx="3383280" cy="0"/>
          </a:xfrm>
          <a:prstGeom prst="line">
            <a:avLst/>
          </a:prstGeom>
          <a:noFill/>
          <a:ln w="9525">
            <a:solidFill>
              <a:srgbClr val="E3E8EF"/>
            </a:solidFill>
            <a:prstDash val="solid"/>
          </a:ln>
        </p:spPr>
      </p:sp>
      <p:sp>
        <p:nvSpPr>
          <p:cNvPr id="15" name="Text 12"/>
          <p:cNvSpPr txBox="1"/>
          <p:nvPr/>
        </p:nvSpPr>
        <p:spPr>
          <a:xfrm>
            <a:off x="8321040" y="2514600"/>
            <a:ext cx="3383280" cy="3200400"/>
          </a:xfrm>
          <a:prstGeom prst="rect">
            <a:avLst/>
          </a:prstGeom>
          <a:noFill/>
          <a:ln/>
        </p:spPr>
        <p:txBody>
          <a:bodyPr wrap="square" lIns="0" tIns="0" rIns="0" bIns="0" rtlCol="0" anchor="t"/>
          <a:lstStyle/>
          <a:p>
            <a:pPr indent="0" marL="0">
              <a:spcAft>
                <a:spcPts val="800"/>
              </a:spcAft>
              <a:buNone/>
            </a:pPr>
            <a:r>
              <a:rPr lang="en-US" sz="1600" dirty="0">
                <a:solidFill>
                  <a:srgbClr val="1B2333"/>
                </a:solidFill>
                <a:latin typeface="Malgun Gothic" pitchFamily="34" charset="0"/>
                <a:ea typeface="Malgun Gothic" pitchFamily="34" charset="-122"/>
                <a:cs typeface="Malgun Gothic" pitchFamily="34" charset="-120"/>
              </a:rPr>
              <a:t>출차 기록과 이미 계량한 차량은 대기열에서 제외, 서버에서도 두 번째 계량을 거부</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7315200" cy="274320"/>
          </a:xfrm>
          <a:prstGeom prst="rect">
            <a:avLst/>
          </a:prstGeom>
          <a:noFill/>
          <a:ln/>
        </p:spPr>
        <p:txBody>
          <a:bodyPr wrap="square" lIns="0" tIns="0" rIns="0" bIns="0" rtlCol="0" anchor="ctr"/>
          <a:lstStyle/>
          <a:p>
            <a:pPr indent="0" marL="0">
              <a:buNone/>
            </a:pPr>
            <a:r>
              <a:rPr lang="en-US" sz="1200" b="1" dirty="0">
                <a:solidFill>
                  <a:srgbClr val="F28C28"/>
                </a:solidFill>
                <a:latin typeface="Malgun Gothic" pitchFamily="34" charset="0"/>
                <a:ea typeface="Malgun Gothic" pitchFamily="34" charset="-122"/>
                <a:cs typeface="Malgun Gothic" pitchFamily="34" charset="-120"/>
              </a:rPr>
              <a:t>05  문제 해결 과정</a:t>
            </a:r>
            <a:endParaRPr lang="en-US" sz="1200" dirty="0"/>
          </a:p>
        </p:txBody>
      </p:sp>
      <p:sp>
        <p:nvSpPr>
          <p:cNvPr id="3" name="Text 1"/>
          <p:cNvSpPr txBox="1"/>
          <p:nvPr/>
        </p:nvSpPr>
        <p:spPr>
          <a:xfrm>
            <a:off x="502920" y="594360"/>
            <a:ext cx="10972800" cy="685800"/>
          </a:xfrm>
          <a:prstGeom prst="rect">
            <a:avLst/>
          </a:prstGeom>
          <a:noFill/>
          <a:ln/>
        </p:spPr>
        <p:txBody>
          <a:bodyPr wrap="square" lIns="0" tIns="0" rIns="0" bIns="0" rtlCol="0" anchor="ctr"/>
          <a:lstStyle/>
          <a:p>
            <a:pPr indent="0" marL="0">
              <a:buNone/>
            </a:pPr>
            <a:r>
              <a:rPr lang="en-US" sz="3000" b="1" dirty="0">
                <a:solidFill>
                  <a:srgbClr val="14284B"/>
                </a:solidFill>
                <a:latin typeface="Malgun Gothic" pitchFamily="34" charset="0"/>
                <a:ea typeface="Malgun Gothic" pitchFamily="34" charset="-122"/>
                <a:cs typeface="Malgun Gothic" pitchFamily="34" charset="-120"/>
              </a:rPr>
              <a:t>과적 차량이 출차 가능</a:t>
            </a:r>
            <a:endParaRPr lang="en-US" sz="3000" dirty="0"/>
          </a:p>
        </p:txBody>
      </p:sp>
      <p:sp>
        <p:nvSpPr>
          <p:cNvPr id="4" name="Text 2"/>
          <p:cNvSpPr txBox="1"/>
          <p:nvPr/>
        </p:nvSpPr>
        <p:spPr>
          <a:xfrm>
            <a:off x="502920" y="6446520"/>
            <a:ext cx="4572000" cy="228600"/>
          </a:xfrm>
          <a:prstGeom prst="rect">
            <a:avLst/>
          </a:prstGeom>
          <a:noFill/>
          <a:ln/>
        </p:spPr>
        <p:txBody>
          <a:bodyPr wrap="square" lIns="0" tIns="0" rIns="0" bIns="0" rtlCol="0" anchor="ctr"/>
          <a:lstStyle/>
          <a:p>
            <a:pPr indent="0" marL="0">
              <a:buNone/>
            </a:pPr>
            <a:r>
              <a:rPr lang="en-US" sz="900" dirty="0">
                <a:solidFill>
                  <a:srgbClr val="9AA3B2"/>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24</a:t>
            </a:r>
            <a:endParaRPr lang="en-US" sz="900" dirty="0"/>
          </a:p>
        </p:txBody>
      </p:sp>
      <p:sp>
        <p:nvSpPr>
          <p:cNvPr id="7" name="Text 4"/>
          <p:cNvSpPr txBox="1"/>
          <p:nvPr/>
        </p:nvSpPr>
        <p:spPr>
          <a:xfrm>
            <a:off x="822960" y="1737360"/>
            <a:ext cx="3383280" cy="457200"/>
          </a:xfrm>
          <a:prstGeom prst="rect">
            <a:avLst/>
          </a:prstGeom>
          <a:noFill/>
          <a:ln/>
        </p:spPr>
        <p:txBody>
          <a:bodyPr wrap="square" lIns="0" tIns="0" rIns="0" bIns="0" rtlCol="0" anchor="ctr"/>
          <a:lstStyle/>
          <a:p>
            <a:pPr indent="0" marL="0">
              <a:buNone/>
            </a:pPr>
            <a:r>
              <a:rPr lang="en-US" sz="1800" b="1" dirty="0">
                <a:solidFill>
                  <a:srgbClr val="14284B"/>
                </a:solidFill>
                <a:latin typeface="Malgun Gothic" pitchFamily="34" charset="0"/>
                <a:ea typeface="Malgun Gothic" pitchFamily="34" charset="-122"/>
                <a:cs typeface="Malgun Gothic" pitchFamily="34" charset="-120"/>
              </a:rPr>
              <a:t>문제</a:t>
            </a:r>
            <a:endParaRPr lang="en-US" sz="1800" dirty="0"/>
          </a:p>
        </p:txBody>
      </p:sp>
      <p:sp>
        <p:nvSpPr>
          <p:cNvPr id="8" name="Shape 5"/>
          <p:cNvSpPr/>
          <p:nvPr/>
        </p:nvSpPr>
        <p:spPr>
          <a:xfrm>
            <a:off x="822960" y="2286000"/>
            <a:ext cx="3383280" cy="0"/>
          </a:xfrm>
          <a:prstGeom prst="line">
            <a:avLst/>
          </a:prstGeom>
          <a:noFill/>
          <a:ln w="9525">
            <a:solidFill>
              <a:srgbClr val="E3E8EF"/>
            </a:solidFill>
            <a:prstDash val="solid"/>
          </a:ln>
        </p:spPr>
      </p:sp>
      <p:sp>
        <p:nvSpPr>
          <p:cNvPr id="9" name="Text 6"/>
          <p:cNvSpPr txBox="1"/>
          <p:nvPr/>
        </p:nvSpPr>
        <p:spPr>
          <a:xfrm>
            <a:off x="822960" y="2514600"/>
            <a:ext cx="3383280" cy="3200400"/>
          </a:xfrm>
          <a:prstGeom prst="rect">
            <a:avLst/>
          </a:prstGeom>
          <a:noFill/>
          <a:ln/>
        </p:spPr>
        <p:txBody>
          <a:bodyPr wrap="square" lIns="0" tIns="0" rIns="0" bIns="0" rtlCol="0" anchor="t"/>
          <a:lstStyle/>
          <a:p>
            <a:pPr indent="0" marL="0">
              <a:spcAft>
                <a:spcPts val="800"/>
              </a:spcAft>
              <a:buNone/>
            </a:pPr>
            <a:r>
              <a:rPr lang="en-US" sz="1600" dirty="0">
                <a:solidFill>
                  <a:srgbClr val="1B2333"/>
                </a:solidFill>
                <a:latin typeface="Malgun Gothic" pitchFamily="34" charset="0"/>
                <a:ea typeface="Malgun Gothic" pitchFamily="34" charset="-122"/>
                <a:cs typeface="Malgun Gothic" pitchFamily="34" charset="-120"/>
              </a:rPr>
              <a:t>과적 판정을 받은 차량도 게이트아웃 버튼을 누를 수 있었음</a:t>
            </a:r>
            <a:endParaRPr lang="en-US" sz="1600" dirty="0"/>
          </a:p>
        </p:txBody>
      </p:sp>
      <p:sp>
        <p:nvSpPr>
          <p:cNvPr id="10" name="Text 7"/>
          <p:cNvSpPr txBox="1"/>
          <p:nvPr/>
        </p:nvSpPr>
        <p:spPr>
          <a:xfrm>
            <a:off x="4572000" y="1737360"/>
            <a:ext cx="3383280" cy="457200"/>
          </a:xfrm>
          <a:prstGeom prst="rect">
            <a:avLst/>
          </a:prstGeom>
          <a:noFill/>
          <a:ln/>
        </p:spPr>
        <p:txBody>
          <a:bodyPr wrap="square" lIns="0" tIns="0" rIns="0" bIns="0" rtlCol="0" anchor="ctr"/>
          <a:lstStyle/>
          <a:p>
            <a:pPr indent="0" marL="0">
              <a:buNone/>
            </a:pPr>
            <a:r>
              <a:rPr lang="en-US" sz="1800" b="1" dirty="0">
                <a:solidFill>
                  <a:srgbClr val="14284B"/>
                </a:solidFill>
                <a:latin typeface="Malgun Gothic" pitchFamily="34" charset="0"/>
                <a:ea typeface="Malgun Gothic" pitchFamily="34" charset="-122"/>
                <a:cs typeface="Malgun Gothic" pitchFamily="34" charset="-120"/>
              </a:rPr>
              <a:t>원인</a:t>
            </a:r>
            <a:endParaRPr lang="en-US" sz="1800" dirty="0"/>
          </a:p>
        </p:txBody>
      </p:sp>
      <p:sp>
        <p:nvSpPr>
          <p:cNvPr id="11" name="Shape 8"/>
          <p:cNvSpPr/>
          <p:nvPr/>
        </p:nvSpPr>
        <p:spPr>
          <a:xfrm>
            <a:off x="4572000" y="2286000"/>
            <a:ext cx="3383280" cy="0"/>
          </a:xfrm>
          <a:prstGeom prst="line">
            <a:avLst/>
          </a:prstGeom>
          <a:noFill/>
          <a:ln w="9525">
            <a:solidFill>
              <a:srgbClr val="E3E8EF"/>
            </a:solidFill>
            <a:prstDash val="solid"/>
          </a:ln>
        </p:spPr>
      </p:sp>
      <p:sp>
        <p:nvSpPr>
          <p:cNvPr id="12" name="Text 9"/>
          <p:cNvSpPr txBox="1"/>
          <p:nvPr/>
        </p:nvSpPr>
        <p:spPr>
          <a:xfrm>
            <a:off x="4572000" y="2514600"/>
            <a:ext cx="3383280" cy="3200400"/>
          </a:xfrm>
          <a:prstGeom prst="rect">
            <a:avLst/>
          </a:prstGeom>
          <a:noFill/>
          <a:ln/>
        </p:spPr>
        <p:txBody>
          <a:bodyPr wrap="square" lIns="0" tIns="0" rIns="0" bIns="0" rtlCol="0" anchor="t"/>
          <a:lstStyle/>
          <a:p>
            <a:pPr indent="0" marL="0">
              <a:spcAft>
                <a:spcPts val="800"/>
              </a:spcAft>
              <a:buNone/>
            </a:pPr>
            <a:r>
              <a:rPr lang="en-US" sz="1600" dirty="0">
                <a:solidFill>
                  <a:srgbClr val="1B2333"/>
                </a:solidFill>
                <a:latin typeface="Malgun Gothic" pitchFamily="34" charset="0"/>
                <a:ea typeface="Malgun Gothic" pitchFamily="34" charset="-122"/>
                <a:cs typeface="Malgun Gothic" pitchFamily="34" charset="-120"/>
              </a:rPr>
              <a:t>출차 조건에 과적 결과가 빠져 있었음</a:t>
            </a:r>
            <a:endParaRPr lang="en-US" sz="1600" dirty="0"/>
          </a:p>
        </p:txBody>
      </p:sp>
      <p:sp>
        <p:nvSpPr>
          <p:cNvPr id="13" name="Text 10"/>
          <p:cNvSpPr txBox="1"/>
          <p:nvPr/>
        </p:nvSpPr>
        <p:spPr>
          <a:xfrm>
            <a:off x="8321040" y="1737360"/>
            <a:ext cx="3383280" cy="457200"/>
          </a:xfrm>
          <a:prstGeom prst="rect">
            <a:avLst/>
          </a:prstGeom>
          <a:noFill/>
          <a:ln/>
        </p:spPr>
        <p:txBody>
          <a:bodyPr wrap="square" lIns="0" tIns="0" rIns="0" bIns="0" rtlCol="0" anchor="ctr"/>
          <a:lstStyle/>
          <a:p>
            <a:pPr indent="0" marL="0">
              <a:buNone/>
            </a:pPr>
            <a:r>
              <a:rPr lang="en-US" sz="1800" b="1" dirty="0">
                <a:solidFill>
                  <a:srgbClr val="F28C28"/>
                </a:solidFill>
                <a:latin typeface="Malgun Gothic" pitchFamily="34" charset="0"/>
                <a:ea typeface="Malgun Gothic" pitchFamily="34" charset="-122"/>
                <a:cs typeface="Malgun Gothic" pitchFamily="34" charset="-120"/>
              </a:rPr>
              <a:t>해결</a:t>
            </a:r>
            <a:endParaRPr lang="en-US" sz="1800" dirty="0"/>
          </a:p>
        </p:txBody>
      </p:sp>
      <p:sp>
        <p:nvSpPr>
          <p:cNvPr id="14" name="Shape 11"/>
          <p:cNvSpPr/>
          <p:nvPr/>
        </p:nvSpPr>
        <p:spPr>
          <a:xfrm>
            <a:off x="8321040" y="2286000"/>
            <a:ext cx="3383280" cy="0"/>
          </a:xfrm>
          <a:prstGeom prst="line">
            <a:avLst/>
          </a:prstGeom>
          <a:noFill/>
          <a:ln w="9525">
            <a:solidFill>
              <a:srgbClr val="E3E8EF"/>
            </a:solidFill>
            <a:prstDash val="solid"/>
          </a:ln>
        </p:spPr>
      </p:sp>
      <p:sp>
        <p:nvSpPr>
          <p:cNvPr id="15" name="Text 12"/>
          <p:cNvSpPr txBox="1"/>
          <p:nvPr/>
        </p:nvSpPr>
        <p:spPr>
          <a:xfrm>
            <a:off x="8321040" y="2514600"/>
            <a:ext cx="3383280" cy="3200400"/>
          </a:xfrm>
          <a:prstGeom prst="rect">
            <a:avLst/>
          </a:prstGeom>
          <a:noFill/>
          <a:ln/>
        </p:spPr>
        <p:txBody>
          <a:bodyPr wrap="square" lIns="0" tIns="0" rIns="0" bIns="0" rtlCol="0" anchor="t"/>
          <a:lstStyle/>
          <a:p>
            <a:pPr indent="0" marL="0">
              <a:spcAft>
                <a:spcPts val="800"/>
              </a:spcAft>
              <a:buNone/>
            </a:pPr>
            <a:r>
              <a:rPr lang="en-US" sz="1600" dirty="0">
                <a:solidFill>
                  <a:srgbClr val="1B2333"/>
                </a:solidFill>
                <a:latin typeface="Malgun Gothic" pitchFamily="34" charset="0"/>
                <a:ea typeface="Malgun Gothic" pitchFamily="34" charset="-122"/>
                <a:cs typeface="Malgun Gothic" pitchFamily="34" charset="-120"/>
              </a:rPr>
              <a:t>화면에서는 과적 통과 차량만 버튼을 켜고, OCR 서버에서도 DB를 다시 확인해 과적이면 거부</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2103120"/>
            <a:ext cx="2743200" cy="1097280"/>
          </a:xfrm>
          <a:prstGeom prst="rect">
            <a:avLst/>
          </a:prstGeom>
          <a:noFill/>
          <a:ln/>
        </p:spPr>
        <p:txBody>
          <a:bodyPr wrap="square" lIns="0" tIns="0" rIns="0" bIns="0" rtlCol="0" anchor="ctr"/>
          <a:lstStyle/>
          <a:p>
            <a:pPr indent="0" marL="0">
              <a:buNone/>
            </a:pPr>
            <a:r>
              <a:rPr lang="en-US" sz="6600" b="1" dirty="0">
                <a:solidFill>
                  <a:srgbClr val="F28C28"/>
                </a:solidFill>
                <a:latin typeface="Malgun Gothic" pitchFamily="34" charset="0"/>
                <a:ea typeface="Malgun Gothic" pitchFamily="34" charset="-122"/>
                <a:cs typeface="Malgun Gothic" pitchFamily="34" charset="-120"/>
              </a:rPr>
              <a:t>06</a:t>
            </a:r>
            <a:endParaRPr lang="en-US" sz="6600" dirty="0"/>
          </a:p>
        </p:txBody>
      </p:sp>
      <p:sp>
        <p:nvSpPr>
          <p:cNvPr id="3" name="Text 1"/>
          <p:cNvSpPr txBox="1"/>
          <p:nvPr/>
        </p:nvSpPr>
        <p:spPr>
          <a:xfrm>
            <a:off x="822960" y="3200400"/>
            <a:ext cx="10058400" cy="822960"/>
          </a:xfrm>
          <a:prstGeom prst="rect">
            <a:avLst/>
          </a:prstGeom>
          <a:noFill/>
          <a:ln/>
        </p:spPr>
        <p:txBody>
          <a:bodyPr wrap="square" lIns="0" tIns="0" rIns="0" bIns="0" rtlCol="0" anchor="ctr"/>
          <a:lstStyle/>
          <a:p>
            <a:pPr indent="0" marL="0">
              <a:buNone/>
            </a:pPr>
            <a:r>
              <a:rPr lang="en-US" sz="3600" b="1" dirty="0">
                <a:solidFill>
                  <a:srgbClr val="14284B"/>
                </a:solidFill>
                <a:latin typeface="Malgun Gothic" pitchFamily="34" charset="0"/>
                <a:ea typeface="Malgun Gothic" pitchFamily="34" charset="-122"/>
                <a:cs typeface="Malgun Gothic" pitchFamily="34" charset="-120"/>
              </a:rPr>
              <a:t>회고 및 향후 계획</a:t>
            </a:r>
            <a:endParaRPr lang="en-US" sz="3600" dirty="0"/>
          </a:p>
        </p:txBody>
      </p:sp>
      <p:sp>
        <p:nvSpPr>
          <p:cNvPr id="4" name="Text 2"/>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7315200" cy="274320"/>
          </a:xfrm>
          <a:prstGeom prst="rect">
            <a:avLst/>
          </a:prstGeom>
          <a:noFill/>
          <a:ln/>
        </p:spPr>
        <p:txBody>
          <a:bodyPr wrap="square" lIns="0" tIns="0" rIns="0" bIns="0" rtlCol="0" anchor="ctr"/>
          <a:lstStyle/>
          <a:p>
            <a:pPr indent="0" marL="0">
              <a:buNone/>
            </a:pPr>
            <a:r>
              <a:rPr lang="en-US" sz="1200" b="1" dirty="0">
                <a:solidFill>
                  <a:srgbClr val="F28C28"/>
                </a:solidFill>
                <a:latin typeface="Malgun Gothic" pitchFamily="34" charset="0"/>
                <a:ea typeface="Malgun Gothic" pitchFamily="34" charset="-122"/>
                <a:cs typeface="Malgun Gothic" pitchFamily="34" charset="-120"/>
              </a:rPr>
              <a:t>06  회고 및 향후 계획</a:t>
            </a:r>
            <a:endParaRPr lang="en-US" sz="1200" dirty="0"/>
          </a:p>
        </p:txBody>
      </p:sp>
      <p:sp>
        <p:nvSpPr>
          <p:cNvPr id="3" name="Text 1"/>
          <p:cNvSpPr txBox="1"/>
          <p:nvPr/>
        </p:nvSpPr>
        <p:spPr>
          <a:xfrm>
            <a:off x="502920" y="594360"/>
            <a:ext cx="10972800" cy="685800"/>
          </a:xfrm>
          <a:prstGeom prst="rect">
            <a:avLst/>
          </a:prstGeom>
          <a:noFill/>
          <a:ln/>
        </p:spPr>
        <p:txBody>
          <a:bodyPr wrap="square" lIns="0" tIns="0" rIns="0" bIns="0" rtlCol="0" anchor="ctr"/>
          <a:lstStyle/>
          <a:p>
            <a:pPr indent="0" marL="0">
              <a:buNone/>
            </a:pPr>
            <a:r>
              <a:rPr lang="en-US" sz="3000" b="1" dirty="0">
                <a:solidFill>
                  <a:srgbClr val="14284B"/>
                </a:solidFill>
                <a:latin typeface="Malgun Gothic" pitchFamily="34" charset="0"/>
                <a:ea typeface="Malgun Gothic" pitchFamily="34" charset="-122"/>
                <a:cs typeface="Malgun Gothic" pitchFamily="34" charset="-120"/>
              </a:rPr>
              <a:t>회고</a:t>
            </a:r>
            <a:endParaRPr lang="en-US" sz="3000" dirty="0"/>
          </a:p>
        </p:txBody>
      </p:sp>
      <p:sp>
        <p:nvSpPr>
          <p:cNvPr id="4" name="Text 2"/>
          <p:cNvSpPr txBox="1"/>
          <p:nvPr/>
        </p:nvSpPr>
        <p:spPr>
          <a:xfrm>
            <a:off x="502920" y="6446520"/>
            <a:ext cx="4572000" cy="228600"/>
          </a:xfrm>
          <a:prstGeom prst="rect">
            <a:avLst/>
          </a:prstGeom>
          <a:noFill/>
          <a:ln/>
        </p:spPr>
        <p:txBody>
          <a:bodyPr wrap="square" lIns="0" tIns="0" rIns="0" bIns="0" rtlCol="0" anchor="ctr"/>
          <a:lstStyle/>
          <a:p>
            <a:pPr indent="0" marL="0">
              <a:buNone/>
            </a:pPr>
            <a:r>
              <a:rPr lang="en-US" sz="900" dirty="0">
                <a:solidFill>
                  <a:srgbClr val="9AA3B2"/>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26</a:t>
            </a:r>
            <a:endParaRPr lang="en-US" sz="900" dirty="0"/>
          </a:p>
        </p:txBody>
      </p:sp>
      <p:sp>
        <p:nvSpPr>
          <p:cNvPr id="7" name="Text 4"/>
          <p:cNvSpPr txBox="1"/>
          <p:nvPr/>
        </p:nvSpPr>
        <p:spPr>
          <a:xfrm>
            <a:off x="822960" y="1737360"/>
            <a:ext cx="5029200" cy="457200"/>
          </a:xfrm>
          <a:prstGeom prst="rect">
            <a:avLst/>
          </a:prstGeom>
          <a:noFill/>
          <a:ln/>
        </p:spPr>
        <p:txBody>
          <a:bodyPr wrap="square" lIns="0" tIns="0" rIns="0" bIns="0" rtlCol="0" anchor="ctr"/>
          <a:lstStyle/>
          <a:p>
            <a:pPr indent="0" marL="0">
              <a:buNone/>
            </a:pPr>
            <a:r>
              <a:rPr lang="en-US" sz="2000" b="1" dirty="0">
                <a:solidFill>
                  <a:srgbClr val="14284B"/>
                </a:solidFill>
                <a:latin typeface="Malgun Gothic" pitchFamily="34" charset="0"/>
                <a:ea typeface="Malgun Gothic" pitchFamily="34" charset="-122"/>
                <a:cs typeface="Malgun Gothic" pitchFamily="34" charset="-120"/>
              </a:rPr>
              <a:t>잘한 점</a:t>
            </a:r>
            <a:endParaRPr lang="en-US" sz="2000" dirty="0"/>
          </a:p>
        </p:txBody>
      </p:sp>
      <p:sp>
        <p:nvSpPr>
          <p:cNvPr id="8" name="Text 5"/>
          <p:cNvSpPr txBox="1"/>
          <p:nvPr/>
        </p:nvSpPr>
        <p:spPr>
          <a:xfrm>
            <a:off x="6400800" y="1737360"/>
            <a:ext cx="5029200" cy="457200"/>
          </a:xfrm>
          <a:prstGeom prst="rect">
            <a:avLst/>
          </a:prstGeom>
          <a:noFill/>
          <a:ln/>
        </p:spPr>
        <p:txBody>
          <a:bodyPr wrap="square" lIns="0" tIns="0" rIns="0" bIns="0" rtlCol="0" anchor="ctr"/>
          <a:lstStyle/>
          <a:p>
            <a:pPr indent="0" marL="0">
              <a:buNone/>
            </a:pPr>
            <a:r>
              <a:rPr lang="en-US" sz="2000" b="1" dirty="0">
                <a:solidFill>
                  <a:srgbClr val="F28C28"/>
                </a:solidFill>
                <a:latin typeface="Malgun Gothic" pitchFamily="34" charset="0"/>
                <a:ea typeface="Malgun Gothic" pitchFamily="34" charset="-122"/>
                <a:cs typeface="Malgun Gothic" pitchFamily="34" charset="-120"/>
              </a:rPr>
              <a:t>아쉬운 점</a:t>
            </a:r>
            <a:endParaRPr lang="en-US" sz="2000" dirty="0"/>
          </a:p>
        </p:txBody>
      </p:sp>
      <p:sp>
        <p:nvSpPr>
          <p:cNvPr id="9" name="Shape 6"/>
          <p:cNvSpPr/>
          <p:nvPr/>
        </p:nvSpPr>
        <p:spPr>
          <a:xfrm>
            <a:off x="822960" y="2286000"/>
            <a:ext cx="5029200" cy="0"/>
          </a:xfrm>
          <a:prstGeom prst="line">
            <a:avLst/>
          </a:prstGeom>
          <a:noFill/>
          <a:ln w="9525">
            <a:solidFill>
              <a:srgbClr val="E3E8EF"/>
            </a:solidFill>
            <a:prstDash val="solid"/>
          </a:ln>
        </p:spPr>
      </p:sp>
      <p:sp>
        <p:nvSpPr>
          <p:cNvPr id="10" name="Shape 7"/>
          <p:cNvSpPr/>
          <p:nvPr/>
        </p:nvSpPr>
        <p:spPr>
          <a:xfrm>
            <a:off x="6400800" y="2286000"/>
            <a:ext cx="5029200" cy="0"/>
          </a:xfrm>
          <a:prstGeom prst="line">
            <a:avLst/>
          </a:prstGeom>
          <a:noFill/>
          <a:ln w="9525">
            <a:solidFill>
              <a:srgbClr val="E3E8EF"/>
            </a:solidFill>
            <a:prstDash val="solid"/>
          </a:ln>
        </p:spPr>
      </p:sp>
      <p:sp>
        <p:nvSpPr>
          <p:cNvPr id="11" name="Text 8"/>
          <p:cNvSpPr txBox="1"/>
          <p:nvPr/>
        </p:nvSpPr>
        <p:spPr>
          <a:xfrm>
            <a:off x="822960" y="2514600"/>
            <a:ext cx="5029200" cy="2743200"/>
          </a:xfrm>
          <a:prstGeom prst="rect">
            <a:avLst/>
          </a:prstGeom>
          <a:noFill/>
          <a:ln/>
        </p:spPr>
        <p:txBody>
          <a:bodyPr wrap="square" lIns="0" tIns="0" rIns="0" bIns="0" rtlCol="0" anchor="t"/>
          <a:lstStyle/>
          <a:p>
            <a:pPr indent="0" marL="0">
              <a:spcAft>
                <a:spcPts val="1600"/>
              </a:spcAft>
              <a:buNone/>
            </a:pPr>
            <a:r>
              <a:rPr lang="en-US" sz="1700" dirty="0">
                <a:solidFill>
                  <a:srgbClr val="1B2333"/>
                </a:solidFill>
                <a:latin typeface="Malgun Gothic" pitchFamily="34" charset="0"/>
                <a:ea typeface="Malgun Gothic" pitchFamily="34" charset="-122"/>
                <a:cs typeface="Malgun Gothic" pitchFamily="34" charset="-120"/>
              </a:rPr>
              <a:t>입차 · 계량 · 출차를 하나의 흐름으로 연결</a:t>
            </a:r>
            <a:endParaRPr lang="en-US" sz="1700" dirty="0"/>
          </a:p>
          <a:p>
            <a:pPr indent="0" marL="0">
              <a:spcAft>
                <a:spcPts val="1600"/>
              </a:spcAft>
              <a:buNone/>
            </a:pPr>
            <a:r>
              <a:rPr lang="en-US" sz="1700" dirty="0">
                <a:solidFill>
                  <a:srgbClr val="1B2333"/>
                </a:solidFill>
                <a:latin typeface="Malgun Gothic" pitchFamily="34" charset="0"/>
                <a:ea typeface="Malgun Gothic" pitchFamily="34" charset="-122"/>
                <a:cs typeface="Malgun Gothic" pitchFamily="34" charset="-120"/>
              </a:rPr>
              <a:t>번호판 인식 모델을 직접 학습</a:t>
            </a:r>
            <a:endParaRPr lang="en-US" sz="1700" dirty="0"/>
          </a:p>
          <a:p>
            <a:pPr indent="0" marL="0">
              <a:spcAft>
                <a:spcPts val="1600"/>
              </a:spcAft>
              <a:buNone/>
            </a:pPr>
            <a:r>
              <a:rPr lang="en-US" sz="1700" dirty="0">
                <a:solidFill>
                  <a:srgbClr val="1B2333"/>
                </a:solidFill>
                <a:latin typeface="Malgun Gothic" pitchFamily="34" charset="0"/>
                <a:ea typeface="Malgun Gothic" pitchFamily="34" charset="-122"/>
                <a:cs typeface="Malgun Gothic" pitchFamily="34" charset="-120"/>
              </a:rPr>
              <a:t>과적 판정을 서버에 두어 신뢰성 확보</a:t>
            </a:r>
            <a:endParaRPr lang="en-US" sz="1700" dirty="0"/>
          </a:p>
        </p:txBody>
      </p:sp>
      <p:sp>
        <p:nvSpPr>
          <p:cNvPr id="12" name="Text 9"/>
          <p:cNvSpPr txBox="1"/>
          <p:nvPr/>
        </p:nvSpPr>
        <p:spPr>
          <a:xfrm>
            <a:off x="6400800" y="2514600"/>
            <a:ext cx="5029200" cy="2743200"/>
          </a:xfrm>
          <a:prstGeom prst="rect">
            <a:avLst/>
          </a:prstGeom>
          <a:noFill/>
          <a:ln/>
        </p:spPr>
        <p:txBody>
          <a:bodyPr wrap="square" lIns="0" tIns="0" rIns="0" bIns="0" rtlCol="0" anchor="t"/>
          <a:lstStyle/>
          <a:p>
            <a:pPr indent="0" marL="0">
              <a:spcAft>
                <a:spcPts val="1600"/>
              </a:spcAft>
              <a:buNone/>
            </a:pPr>
            <a:r>
              <a:rPr lang="en-US" sz="1700" dirty="0">
                <a:solidFill>
                  <a:srgbClr val="1B2333"/>
                </a:solidFill>
                <a:latin typeface="Malgun Gothic" pitchFamily="34" charset="0"/>
                <a:ea typeface="Malgun Gothic" pitchFamily="34" charset="-122"/>
                <a:cs typeface="Malgun Gothic" pitchFamily="34" charset="-120"/>
              </a:rPr>
              <a:t>실제 축중기가 없어 무게는 시뮬레이션</a:t>
            </a:r>
            <a:endParaRPr lang="en-US" sz="1700" dirty="0"/>
          </a:p>
          <a:p>
            <a:pPr indent="0" marL="0">
              <a:spcAft>
                <a:spcPts val="1600"/>
              </a:spcAft>
              <a:buNone/>
            </a:pPr>
            <a:r>
              <a:rPr lang="en-US" sz="1700" dirty="0">
                <a:solidFill>
                  <a:srgbClr val="1B2333"/>
                </a:solidFill>
                <a:latin typeface="Malgun Gothic" pitchFamily="34" charset="0"/>
                <a:ea typeface="Malgun Gothic" pitchFamily="34" charset="-122"/>
                <a:cs typeface="Malgun Gothic" pitchFamily="34" charset="-120"/>
              </a:rPr>
              <a:t>팀원별 코드 병합에 많은 시간 소요</a:t>
            </a:r>
            <a:endParaRPr lang="en-US" sz="1700" dirty="0"/>
          </a:p>
          <a:p>
            <a:pPr indent="0" marL="0">
              <a:spcAft>
                <a:spcPts val="1600"/>
              </a:spcAft>
              <a:buNone/>
            </a:pPr>
            <a:r>
              <a:rPr lang="en-US" sz="1700" dirty="0">
                <a:solidFill>
                  <a:srgbClr val="1B2333"/>
                </a:solidFill>
                <a:latin typeface="Malgun Gothic" pitchFamily="34" charset="0"/>
                <a:ea typeface="Malgun Gothic" pitchFamily="34" charset="-122"/>
                <a:cs typeface="Malgun Gothic" pitchFamily="34" charset="-120"/>
              </a:rPr>
              <a:t>시연 시나리오를 늦게 준비</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7315200" cy="274320"/>
          </a:xfrm>
          <a:prstGeom prst="rect">
            <a:avLst/>
          </a:prstGeom>
          <a:noFill/>
          <a:ln/>
        </p:spPr>
        <p:txBody>
          <a:bodyPr wrap="square" lIns="0" tIns="0" rIns="0" bIns="0" rtlCol="0" anchor="ctr"/>
          <a:lstStyle/>
          <a:p>
            <a:pPr indent="0" marL="0">
              <a:buNone/>
            </a:pPr>
            <a:r>
              <a:rPr lang="en-US" sz="1200" b="1" dirty="0">
                <a:solidFill>
                  <a:srgbClr val="F28C28"/>
                </a:solidFill>
                <a:latin typeface="Malgun Gothic" pitchFamily="34" charset="0"/>
                <a:ea typeface="Malgun Gothic" pitchFamily="34" charset="-122"/>
                <a:cs typeface="Malgun Gothic" pitchFamily="34" charset="-120"/>
              </a:rPr>
              <a:t>06  회고 및 향후 계획</a:t>
            </a:r>
            <a:endParaRPr lang="en-US" sz="1200" dirty="0"/>
          </a:p>
        </p:txBody>
      </p:sp>
      <p:sp>
        <p:nvSpPr>
          <p:cNvPr id="3" name="Text 1"/>
          <p:cNvSpPr txBox="1"/>
          <p:nvPr/>
        </p:nvSpPr>
        <p:spPr>
          <a:xfrm>
            <a:off x="502920" y="594360"/>
            <a:ext cx="10972800" cy="685800"/>
          </a:xfrm>
          <a:prstGeom prst="rect">
            <a:avLst/>
          </a:prstGeom>
          <a:noFill/>
          <a:ln/>
        </p:spPr>
        <p:txBody>
          <a:bodyPr wrap="square" lIns="0" tIns="0" rIns="0" bIns="0" rtlCol="0" anchor="ctr"/>
          <a:lstStyle/>
          <a:p>
            <a:pPr indent="0" marL="0">
              <a:buNone/>
            </a:pPr>
            <a:r>
              <a:rPr lang="en-US" sz="3000" b="1" dirty="0">
                <a:solidFill>
                  <a:srgbClr val="14284B"/>
                </a:solidFill>
                <a:latin typeface="Malgun Gothic" pitchFamily="34" charset="0"/>
                <a:ea typeface="Malgun Gothic" pitchFamily="34" charset="-122"/>
                <a:cs typeface="Malgun Gothic" pitchFamily="34" charset="-120"/>
              </a:rPr>
              <a:t>앞으로 해보고 싶은 것</a:t>
            </a:r>
            <a:endParaRPr lang="en-US" sz="3000" dirty="0"/>
          </a:p>
        </p:txBody>
      </p:sp>
      <p:sp>
        <p:nvSpPr>
          <p:cNvPr id="4" name="Text 2"/>
          <p:cNvSpPr txBox="1"/>
          <p:nvPr/>
        </p:nvSpPr>
        <p:spPr>
          <a:xfrm>
            <a:off x="502920" y="6446520"/>
            <a:ext cx="4572000" cy="228600"/>
          </a:xfrm>
          <a:prstGeom prst="rect">
            <a:avLst/>
          </a:prstGeom>
          <a:noFill/>
          <a:ln/>
        </p:spPr>
        <p:txBody>
          <a:bodyPr wrap="square" lIns="0" tIns="0" rIns="0" bIns="0" rtlCol="0" anchor="ctr"/>
          <a:lstStyle/>
          <a:p>
            <a:pPr indent="0" marL="0">
              <a:buNone/>
            </a:pPr>
            <a:r>
              <a:rPr lang="en-US" sz="900" dirty="0">
                <a:solidFill>
                  <a:srgbClr val="9AA3B2"/>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247120" y="6446520"/>
            <a:ext cx="457200" cy="228600"/>
          </a:xfrm>
          <a:prstGeom prst="rect">
            <a:avLst/>
          </a:prstGeom>
          <a:noFill/>
          <a:ln/>
        </p:spPr>
        <p:txBody>
          <a:bodyPr wrap="square" lIns="0" tIns="0" rIns="0" bIns="0" rtlCol="0" anchor="ctr"/>
          <a:lstStyle/>
          <a:p>
            <a:pPr algn="r" indent="0" marL="0">
              <a:buNone/>
            </a:pPr>
            <a:r>
              <a:rPr lang="en-US" sz="900" dirty="0">
                <a:solidFill>
                  <a:srgbClr val="9AA3B2"/>
                </a:solidFill>
                <a:latin typeface="Malgun Gothic" pitchFamily="34" charset="0"/>
                <a:ea typeface="Malgun Gothic" pitchFamily="34" charset="-122"/>
                <a:cs typeface="Malgun Gothic" pitchFamily="34" charset="-120"/>
              </a:rPr>
              <a:t>27</a:t>
            </a:r>
            <a:endParaRPr lang="en-US" sz="900" dirty="0"/>
          </a:p>
        </p:txBody>
      </p:sp>
      <p:sp>
        <p:nvSpPr>
          <p:cNvPr id="7" name="Text 4"/>
          <p:cNvSpPr txBox="1"/>
          <p:nvPr/>
        </p:nvSpPr>
        <p:spPr>
          <a:xfrm>
            <a:off x="822960" y="1737360"/>
            <a:ext cx="914400" cy="731520"/>
          </a:xfrm>
          <a:prstGeom prst="rect">
            <a:avLst/>
          </a:prstGeom>
          <a:noFill/>
          <a:ln/>
        </p:spPr>
        <p:txBody>
          <a:bodyPr wrap="square" lIns="0" tIns="0" rIns="0" bIns="0" rtlCol="0" anchor="ctr"/>
          <a:lstStyle/>
          <a:p>
            <a:pPr indent="0" marL="0">
              <a:buNone/>
            </a:pPr>
            <a:r>
              <a:rPr lang="en-US" sz="3200" b="1" dirty="0">
                <a:solidFill>
                  <a:srgbClr val="F28C28"/>
                </a:solidFill>
                <a:latin typeface="Malgun Gothic" pitchFamily="34" charset="0"/>
                <a:ea typeface="Malgun Gothic" pitchFamily="34" charset="-122"/>
                <a:cs typeface="Malgun Gothic" pitchFamily="34" charset="-120"/>
              </a:rPr>
              <a:t>01</a:t>
            </a:r>
            <a:endParaRPr lang="en-US" sz="3200" dirty="0"/>
          </a:p>
        </p:txBody>
      </p:sp>
      <p:sp>
        <p:nvSpPr>
          <p:cNvPr id="8" name="Text 5"/>
          <p:cNvSpPr txBox="1"/>
          <p:nvPr/>
        </p:nvSpPr>
        <p:spPr>
          <a:xfrm>
            <a:off x="1828800" y="1783080"/>
            <a:ext cx="3291840" cy="640080"/>
          </a:xfrm>
          <a:prstGeom prst="rect">
            <a:avLst/>
          </a:prstGeom>
          <a:noFill/>
          <a:ln/>
        </p:spPr>
        <p:txBody>
          <a:bodyPr wrap="square" lIns="0" tIns="0" rIns="0" bIns="0" rtlCol="0" anchor="ctr"/>
          <a:lstStyle/>
          <a:p>
            <a:pPr indent="0" marL="0">
              <a:buNone/>
            </a:pPr>
            <a:r>
              <a:rPr lang="en-US" sz="2200" b="1" dirty="0">
                <a:solidFill>
                  <a:srgbClr val="14284B"/>
                </a:solidFill>
                <a:latin typeface="Malgun Gothic" pitchFamily="34" charset="0"/>
                <a:ea typeface="Malgun Gothic" pitchFamily="34" charset="-122"/>
                <a:cs typeface="Malgun Gothic" pitchFamily="34" charset="-120"/>
              </a:rPr>
              <a:t>실제 장비 연동</a:t>
            </a:r>
            <a:endParaRPr lang="en-US" sz="2200" dirty="0"/>
          </a:p>
        </p:txBody>
      </p:sp>
      <p:sp>
        <p:nvSpPr>
          <p:cNvPr id="9" name="Text 6"/>
          <p:cNvSpPr txBox="1"/>
          <p:nvPr/>
        </p:nvSpPr>
        <p:spPr>
          <a:xfrm>
            <a:off x="5212080" y="1783080"/>
            <a:ext cx="6217920" cy="640080"/>
          </a:xfrm>
          <a:prstGeom prst="rect">
            <a:avLst/>
          </a:prstGeom>
          <a:noFill/>
          <a:ln/>
        </p:spPr>
        <p:txBody>
          <a:bodyPr wrap="square" lIns="0" tIns="0" rIns="0" bIns="0" rtlCol="0" anchor="ctr"/>
          <a:lstStyle/>
          <a:p>
            <a:pPr indent="0" marL="0">
              <a:buNone/>
            </a:pPr>
            <a:r>
              <a:rPr lang="en-US" sz="1700" dirty="0">
                <a:solidFill>
                  <a:srgbClr val="1B2333"/>
                </a:solidFill>
                <a:latin typeface="Malgun Gothic" pitchFamily="34" charset="0"/>
                <a:ea typeface="Malgun Gothic" pitchFamily="34" charset="-122"/>
                <a:cs typeface="Malgun Gothic" pitchFamily="34" charset="-120"/>
              </a:rPr>
              <a:t>축중기 측정값과 게이트 카메라를 직접 연결</a:t>
            </a:r>
            <a:endParaRPr lang="en-US" sz="1700" dirty="0"/>
          </a:p>
        </p:txBody>
      </p:sp>
      <p:sp>
        <p:nvSpPr>
          <p:cNvPr id="10" name="Shape 7"/>
          <p:cNvSpPr/>
          <p:nvPr/>
        </p:nvSpPr>
        <p:spPr>
          <a:xfrm>
            <a:off x="822960" y="2697480"/>
            <a:ext cx="10607040" cy="0"/>
          </a:xfrm>
          <a:prstGeom prst="line">
            <a:avLst/>
          </a:prstGeom>
          <a:noFill/>
          <a:ln w="9525">
            <a:solidFill>
              <a:srgbClr val="E3E8EF"/>
            </a:solidFill>
            <a:prstDash val="solid"/>
          </a:ln>
        </p:spPr>
      </p:sp>
      <p:sp>
        <p:nvSpPr>
          <p:cNvPr id="11" name="Text 8"/>
          <p:cNvSpPr txBox="1"/>
          <p:nvPr/>
        </p:nvSpPr>
        <p:spPr>
          <a:xfrm>
            <a:off x="822960" y="3063240"/>
            <a:ext cx="914400" cy="731520"/>
          </a:xfrm>
          <a:prstGeom prst="rect">
            <a:avLst/>
          </a:prstGeom>
          <a:noFill/>
          <a:ln/>
        </p:spPr>
        <p:txBody>
          <a:bodyPr wrap="square" lIns="0" tIns="0" rIns="0" bIns="0" rtlCol="0" anchor="ctr"/>
          <a:lstStyle/>
          <a:p>
            <a:pPr indent="0" marL="0">
              <a:buNone/>
            </a:pPr>
            <a:r>
              <a:rPr lang="en-US" sz="3200" b="1" dirty="0">
                <a:solidFill>
                  <a:srgbClr val="F28C28"/>
                </a:solidFill>
                <a:latin typeface="Malgun Gothic" pitchFamily="34" charset="0"/>
                <a:ea typeface="Malgun Gothic" pitchFamily="34" charset="-122"/>
                <a:cs typeface="Malgun Gothic" pitchFamily="34" charset="-120"/>
              </a:rPr>
              <a:t>02</a:t>
            </a:r>
            <a:endParaRPr lang="en-US" sz="3200" dirty="0"/>
          </a:p>
        </p:txBody>
      </p:sp>
      <p:sp>
        <p:nvSpPr>
          <p:cNvPr id="12" name="Text 9"/>
          <p:cNvSpPr txBox="1"/>
          <p:nvPr/>
        </p:nvSpPr>
        <p:spPr>
          <a:xfrm>
            <a:off x="1828800" y="3108960"/>
            <a:ext cx="3291840" cy="640080"/>
          </a:xfrm>
          <a:prstGeom prst="rect">
            <a:avLst/>
          </a:prstGeom>
          <a:noFill/>
          <a:ln/>
        </p:spPr>
        <p:txBody>
          <a:bodyPr wrap="square" lIns="0" tIns="0" rIns="0" bIns="0" rtlCol="0" anchor="ctr"/>
          <a:lstStyle/>
          <a:p>
            <a:pPr indent="0" marL="0">
              <a:buNone/>
            </a:pPr>
            <a:r>
              <a:rPr lang="en-US" sz="2200" b="1" dirty="0">
                <a:solidFill>
                  <a:srgbClr val="14284B"/>
                </a:solidFill>
                <a:latin typeface="Malgun Gothic" pitchFamily="34" charset="0"/>
                <a:ea typeface="Malgun Gothic" pitchFamily="34" charset="-122"/>
                <a:cs typeface="Malgun Gothic" pitchFamily="34" charset="-120"/>
              </a:rPr>
              <a:t>모바일 알림</a:t>
            </a:r>
            <a:endParaRPr lang="en-US" sz="2200" dirty="0"/>
          </a:p>
        </p:txBody>
      </p:sp>
      <p:sp>
        <p:nvSpPr>
          <p:cNvPr id="13" name="Text 10"/>
          <p:cNvSpPr txBox="1"/>
          <p:nvPr/>
        </p:nvSpPr>
        <p:spPr>
          <a:xfrm>
            <a:off x="5212080" y="3108960"/>
            <a:ext cx="6217920" cy="640080"/>
          </a:xfrm>
          <a:prstGeom prst="rect">
            <a:avLst/>
          </a:prstGeom>
          <a:noFill/>
          <a:ln/>
        </p:spPr>
        <p:txBody>
          <a:bodyPr wrap="square" lIns="0" tIns="0" rIns="0" bIns="0" rtlCol="0" anchor="ctr"/>
          <a:lstStyle/>
          <a:p>
            <a:pPr indent="0" marL="0">
              <a:buNone/>
            </a:pPr>
            <a:r>
              <a:rPr lang="en-US" sz="1700" dirty="0">
                <a:solidFill>
                  <a:srgbClr val="1B2333"/>
                </a:solidFill>
                <a:latin typeface="Malgun Gothic" pitchFamily="34" charset="0"/>
                <a:ea typeface="Malgun Gothic" pitchFamily="34" charset="-122"/>
                <a:cs typeface="Malgun Gothic" pitchFamily="34" charset="-120"/>
              </a:rPr>
              <a:t>과적 · 출차 결과를 기사에게 바로 전달</a:t>
            </a:r>
            <a:endParaRPr lang="en-US" sz="1700" dirty="0"/>
          </a:p>
        </p:txBody>
      </p:sp>
      <p:sp>
        <p:nvSpPr>
          <p:cNvPr id="14" name="Shape 11"/>
          <p:cNvSpPr/>
          <p:nvPr/>
        </p:nvSpPr>
        <p:spPr>
          <a:xfrm>
            <a:off x="822960" y="4023360"/>
            <a:ext cx="10607040" cy="0"/>
          </a:xfrm>
          <a:prstGeom prst="line">
            <a:avLst/>
          </a:prstGeom>
          <a:noFill/>
          <a:ln w="9525">
            <a:solidFill>
              <a:srgbClr val="E3E8EF"/>
            </a:solidFill>
            <a:prstDash val="solid"/>
          </a:ln>
        </p:spPr>
      </p:sp>
      <p:sp>
        <p:nvSpPr>
          <p:cNvPr id="15" name="Text 12"/>
          <p:cNvSpPr txBox="1"/>
          <p:nvPr/>
        </p:nvSpPr>
        <p:spPr>
          <a:xfrm>
            <a:off x="822960" y="4389120"/>
            <a:ext cx="914400" cy="731520"/>
          </a:xfrm>
          <a:prstGeom prst="rect">
            <a:avLst/>
          </a:prstGeom>
          <a:noFill/>
          <a:ln/>
        </p:spPr>
        <p:txBody>
          <a:bodyPr wrap="square" lIns="0" tIns="0" rIns="0" bIns="0" rtlCol="0" anchor="ctr"/>
          <a:lstStyle/>
          <a:p>
            <a:pPr indent="0" marL="0">
              <a:buNone/>
            </a:pPr>
            <a:r>
              <a:rPr lang="en-US" sz="3200" b="1" dirty="0">
                <a:solidFill>
                  <a:srgbClr val="F28C28"/>
                </a:solidFill>
                <a:latin typeface="Malgun Gothic" pitchFamily="34" charset="0"/>
                <a:ea typeface="Malgun Gothic" pitchFamily="34" charset="-122"/>
                <a:cs typeface="Malgun Gothic" pitchFamily="34" charset="-120"/>
              </a:rPr>
              <a:t>03</a:t>
            </a:r>
            <a:endParaRPr lang="en-US" sz="3200" dirty="0"/>
          </a:p>
        </p:txBody>
      </p:sp>
      <p:sp>
        <p:nvSpPr>
          <p:cNvPr id="16" name="Text 13"/>
          <p:cNvSpPr txBox="1"/>
          <p:nvPr/>
        </p:nvSpPr>
        <p:spPr>
          <a:xfrm>
            <a:off x="1828800" y="4434840"/>
            <a:ext cx="3291840" cy="640080"/>
          </a:xfrm>
          <a:prstGeom prst="rect">
            <a:avLst/>
          </a:prstGeom>
          <a:noFill/>
          <a:ln/>
        </p:spPr>
        <p:txBody>
          <a:bodyPr wrap="square" lIns="0" tIns="0" rIns="0" bIns="0" rtlCol="0" anchor="ctr"/>
          <a:lstStyle/>
          <a:p>
            <a:pPr indent="0" marL="0">
              <a:buNone/>
            </a:pPr>
            <a:r>
              <a:rPr lang="en-US" sz="2200" b="1" dirty="0">
                <a:solidFill>
                  <a:srgbClr val="14284B"/>
                </a:solidFill>
                <a:latin typeface="Malgun Gothic" pitchFamily="34" charset="0"/>
                <a:ea typeface="Malgun Gothic" pitchFamily="34" charset="-122"/>
                <a:cs typeface="Malgun Gothic" pitchFamily="34" charset="-120"/>
              </a:rPr>
              <a:t>인식 성능 개선</a:t>
            </a:r>
            <a:endParaRPr lang="en-US" sz="2200" dirty="0"/>
          </a:p>
        </p:txBody>
      </p:sp>
      <p:sp>
        <p:nvSpPr>
          <p:cNvPr id="17" name="Text 14"/>
          <p:cNvSpPr txBox="1"/>
          <p:nvPr/>
        </p:nvSpPr>
        <p:spPr>
          <a:xfrm>
            <a:off x="5212080" y="4434840"/>
            <a:ext cx="6217920" cy="640080"/>
          </a:xfrm>
          <a:prstGeom prst="rect">
            <a:avLst/>
          </a:prstGeom>
          <a:noFill/>
          <a:ln/>
        </p:spPr>
        <p:txBody>
          <a:bodyPr wrap="square" lIns="0" tIns="0" rIns="0" bIns="0" rtlCol="0" anchor="ctr"/>
          <a:lstStyle/>
          <a:p>
            <a:pPr indent="0" marL="0">
              <a:buNone/>
            </a:pPr>
            <a:r>
              <a:rPr lang="en-US" sz="1700" dirty="0">
                <a:solidFill>
                  <a:srgbClr val="1B2333"/>
                </a:solidFill>
                <a:latin typeface="Malgun Gothic" pitchFamily="34" charset="0"/>
                <a:ea typeface="Malgun Gothic" pitchFamily="34" charset="-122"/>
                <a:cs typeface="Malgun Gothic" pitchFamily="34" charset="-120"/>
              </a:rPr>
              <a:t>야간 · 악천후 사진 추가 학습</a:t>
            </a:r>
            <a:endParaRPr lang="en-US" sz="1700" dirty="0"/>
          </a:p>
        </p:txBody>
      </p:sp>
      <p:sp>
        <p:nvSpPr>
          <p:cNvPr id="18" name="Shape 15"/>
          <p:cNvSpPr/>
          <p:nvPr/>
        </p:nvSpPr>
        <p:spPr>
          <a:xfrm>
            <a:off x="822960" y="5349240"/>
            <a:ext cx="10607040" cy="0"/>
          </a:xfrm>
          <a:prstGeom prst="line">
            <a:avLst/>
          </a:prstGeom>
          <a:noFill/>
          <a:ln w="9525">
            <a:solidFill>
              <a:srgbClr val="E3E8EF"/>
            </a:solidFill>
            <a:prstDash val="solid"/>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284B"/>
        </a:solidFill>
      </p:bgPr>
    </p:bg>
    <p:spTree>
      <p:nvGrpSpPr>
        <p:cNvPr id="1" name=""/>
        <p:cNvGrpSpPr/>
        <p:nvPr/>
      </p:nvGrpSpPr>
      <p:grpSpPr>
        <a:xfrm>
          <a:off x="0" y="0"/>
          <a:ext cx="0" cy="0"/>
          <a:chOff x="0" y="0"/>
          <a:chExt cx="0" cy="0"/>
        </a:xfrm>
      </p:grpSpPr>
      <p:sp>
        <p:nvSpPr>
          <p:cNvPr id="2" name="Text 0"/>
          <p:cNvSpPr txBox="1"/>
          <p:nvPr/>
        </p:nvSpPr>
        <p:spPr>
          <a:xfrm>
            <a:off x="822960" y="2377440"/>
            <a:ext cx="10058400" cy="1097280"/>
          </a:xfrm>
          <a:prstGeom prst="rect">
            <a:avLst/>
          </a:prstGeom>
          <a:noFill/>
          <a:ln/>
        </p:spPr>
        <p:txBody>
          <a:bodyPr wrap="square" lIns="0" tIns="0" rIns="0" bIns="0" rtlCol="0" anchor="ctr"/>
          <a:lstStyle/>
          <a:p>
            <a:pPr indent="0" marL="0">
              <a:buNone/>
            </a:pPr>
            <a:r>
              <a:rPr lang="en-US" sz="5400" b="1" dirty="0">
                <a:solidFill>
                  <a:srgbClr val="FFFFFF"/>
                </a:solidFill>
                <a:latin typeface="Malgun Gothic" pitchFamily="34" charset="0"/>
                <a:ea typeface="Malgun Gothic" pitchFamily="34" charset="-122"/>
                <a:cs typeface="Malgun Gothic" pitchFamily="34" charset="-120"/>
              </a:rPr>
              <a:t>감사합니다</a:t>
            </a:r>
            <a:endParaRPr lang="en-US" sz="5400" dirty="0"/>
          </a:p>
        </p:txBody>
      </p:sp>
      <p:sp>
        <p:nvSpPr>
          <p:cNvPr id="3" name="Text 1"/>
          <p:cNvSpPr txBox="1"/>
          <p:nvPr/>
        </p:nvSpPr>
        <p:spPr>
          <a:xfrm>
            <a:off x="822960" y="3474720"/>
            <a:ext cx="10058400" cy="548640"/>
          </a:xfrm>
          <a:prstGeom prst="rect">
            <a:avLst/>
          </a:prstGeom>
          <a:noFill/>
          <a:ln/>
        </p:spPr>
        <p:txBody>
          <a:bodyPr wrap="square" lIns="0" tIns="0" rIns="0" bIns="0" rtlCol="0" anchor="ctr"/>
          <a:lstStyle/>
          <a:p>
            <a:pPr indent="0" marL="0">
              <a:buNone/>
            </a:pPr>
            <a:r>
              <a:rPr lang="en-US" sz="2200" dirty="0">
                <a:solidFill>
                  <a:srgbClr val="F28C28"/>
                </a:solidFill>
                <a:latin typeface="Malgun Gothic" pitchFamily="34" charset="0"/>
                <a:ea typeface="Malgun Gothic" pitchFamily="34" charset="-122"/>
                <a:cs typeface="Malgun Gothic" pitchFamily="34" charset="-120"/>
              </a:rPr>
              <a:t>질문 받겠습니다</a:t>
            </a:r>
            <a:endParaRPr lang="en-US" sz="2200" dirty="0"/>
          </a:p>
        </p:txBody>
      </p:sp>
      <p:sp>
        <p:nvSpPr>
          <p:cNvPr id="4" name="Text 2"/>
          <p:cNvSpPr txBox="1"/>
          <p:nvPr/>
        </p:nvSpPr>
        <p:spPr>
          <a:xfrm>
            <a:off x="822960" y="5760720"/>
            <a:ext cx="5486400" cy="365760"/>
          </a:xfrm>
          <a:prstGeom prst="rect">
            <a:avLst/>
          </a:prstGeom>
          <a:noFill/>
          <a:ln/>
        </p:spPr>
        <p:txBody>
          <a:bodyPr wrap="square" lIns="0" tIns="0" rIns="0" bIns="0" rtlCol="0" anchor="ctr"/>
          <a:lstStyle/>
          <a:p>
            <a:pPr indent="0" marL="0">
              <a:buNone/>
            </a:pPr>
            <a:r>
              <a:rPr lang="en-US" sz="1500" dirty="0">
                <a:solidFill>
                  <a:srgbClr val="D6DEEA"/>
                </a:solidFill>
                <a:latin typeface="Malgun Gothic" pitchFamily="34" charset="0"/>
                <a:ea typeface="Malgun Gothic" pitchFamily="34" charset="-122"/>
                <a:cs typeface="Malgun Gothic" pitchFamily="34" charset="-120"/>
              </a:rPr>
              <a:t>S Cargo  ·  못먹어도 S카고</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 Cargo 최종 발표</dc:title>
  <dc:subject>PptxGenJS Presentation</dc:subject>
  <dc:creator>PptxGenJS</dc:creator>
  <cp:lastModifiedBy>PptxGenJS</cp:lastModifiedBy>
  <cp:revision>1</cp:revision>
  <dcterms:created xsi:type="dcterms:W3CDTF">2026-10-06T04:44:38Z</dcterms:created>
  <dcterms:modified xsi:type="dcterms:W3CDTF">2026-10-06T04:44:38Z</dcterms:modified>
</cp:coreProperties>
</file>