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48307dd-a4a1-97fd-17f9-313d01389ae6}">
          <p14:sldIdLst>
            <p14:sldId id="256"/>
          </p14:sldIdLst>
        </p14:section>
        <p14:section name="전체 흐름" id="{0adcdc08-088e-3060-caed-d10db727395c}">
          <p14:sldIdLst>
            <p14:sldId id="257"/>
          </p14:sldIdLst>
        </p14:section>
        <p14:section name="OCR" id="{be328f63-4bab-57ed-70de-cd77dc35ac82}">
          <p14:sldIdLst>
            <p14:sldId id="258"/>
            <p14:sldId id="259"/>
            <p14:sldId id="260"/>
            <p14:sldId id="261"/>
          </p14:sldIdLst>
        </p14:section>
        <p14:section name="과적" id="{4e138a7a-d916-a1db-c0b2-f823683c8f09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정리" id="{1ff21cbe-8b8e-c5e7-f3f3-44ef158f612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E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게이트 OCR · 과적 검사 기술 정리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사용 기술 상세 + 과적 무게가 어떻게 (랜덤으로) 만들어지고 판정되는가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</a:rPr>
              <a:t>SafeCargo  ·  FastAPI OCR + 검사소 계량  ·  2026.10.06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전체 흐름 — 사진 한 장에서 출차까지</a:t>
            </a:r>
            <a:endParaRPr lang="en-US" sz="3000" dirty="0"/>
          </a:p>
        </p:txBody>
      </p:sp>
      <p:sp>
        <p:nvSpPr>
          <p:cNvPr id="3" name="f0"/>
          <p:cNvSpPr/>
          <p:nvPr/>
        </p:nvSpPr>
        <p:spPr>
          <a:xfrm>
            <a:off x="54864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게이트 사진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게이트_수신함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폴더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12598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7" name="f1"/>
          <p:cNvSpPr/>
          <p:nvPr/>
        </p:nvSpPr>
        <p:spPr>
          <a:xfrm>
            <a:off x="244602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4602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OCR 인식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4602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FastAPI :8001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YOLO11 + CRNN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f2"/>
          <p:cNvSpPr/>
          <p:nvPr/>
        </p:nvSpPr>
        <p:spPr>
          <a:xfrm>
            <a:off x="434340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게이트 기록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Spring :8080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gate_logs 저장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2074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f3"/>
          <p:cNvSpPr/>
          <p:nvPr/>
        </p:nvSpPr>
        <p:spPr>
          <a:xfrm>
            <a:off x="624078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078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검사소 계량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078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Vue 화면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축중 시뮬레이션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9" name="f4"/>
          <p:cNvSpPr/>
          <p:nvPr/>
        </p:nvSpPr>
        <p:spPr>
          <a:xfrm>
            <a:off x="813816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과적 판정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Spring 서버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overload_checks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71550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3" name="f5"/>
          <p:cNvSpPr/>
          <p:nvPr/>
        </p:nvSpPr>
        <p:spPr>
          <a:xfrm>
            <a:off x="1003554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3554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게이트아웃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3554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과적 통과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차량만 출차</a:t>
            </a:r>
            <a:endParaRPr lang="en-US" sz="1150" dirty="0"/>
          </a:p>
        </p:txBody>
      </p:sp>
      <p:sp>
        <p:nvSpPr>
          <p:cNvPr id="26" name="p1"/>
          <p:cNvSpPr/>
          <p:nvPr/>
        </p:nvSpPr>
        <p:spPr>
          <a:xfrm>
            <a:off x="548640" y="35661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3703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Python (OCR)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1605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번호판 위치 찾기 · 글자 읽기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등록차량 매칭 → 차단기 판정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출차 시 과적 통과 재확인</a:t>
            </a:r>
            <a:endParaRPr lang="en-US" sz="1300" dirty="0"/>
          </a:p>
        </p:txBody>
      </p:sp>
      <p:sp>
        <p:nvSpPr>
          <p:cNvPr id="29" name="p2"/>
          <p:cNvSpPr/>
          <p:nvPr/>
        </p:nvSpPr>
        <p:spPr>
          <a:xfrm>
            <a:off x="4325112" y="35661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07992" y="3703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Vue (검사소 화면)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07992" y="41605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축별 무게를 랜덤 생성(시뮬레이션)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영상에 맞춰 판독 애니메이션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자동 계량 모드</a:t>
            </a:r>
            <a:endParaRPr lang="en-US" sz="1300" dirty="0"/>
          </a:p>
        </p:txBody>
      </p:sp>
      <p:sp>
        <p:nvSpPr>
          <p:cNvPr id="32" name="p3"/>
          <p:cNvSpPr/>
          <p:nvPr/>
        </p:nvSpPr>
        <p:spPr>
          <a:xfrm>
            <a:off x="8092440" y="35661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3703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Spring (판정)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1605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축하중 · 총중량 · 적재중량 판정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과적 기록 저장 · 재계량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위반 시 알림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01  게이트 OCR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6"/>
                </a:solidFill>
              </a:rPr>
              <a:t>YOLO11 번호판 탐지 · CRNN(BiLSTM + Attention + CTC) 문자 인식 · FastAPI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OCR 사용 기술 상세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OCR</a:t>
            </a:r>
            <a:endParaRPr lang="en-US" sz="13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66751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세부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Ultralytics YOLO11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번호판 위치 탐지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runs/*/weights/best.pt 중 mAP 높은 모델 자동 선택, conf 0.25 · IoU 0.5 · imgsz 960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PyTorch CRNN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번호판 글자 인식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입력 48×320 흑백 → CNN → BiLSTM 2층 → Multi-Head Attention(4 head) → CTC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CTC 디코딩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글자열 확정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beam search 상위 후보로 지역명 혼동 보정, 신뢰도 0.5 미만이면 보조 인식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EasyOCR (ko, en)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보조 인식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CRNN 신뢰도가 낮을 때만 사용, 번호판 형식 검사를 통과해야 채택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OpenCV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전처리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탐지 신뢰도 0.7 미만이면 여백 확대 + CLAHE 대비 보정 + 샤프닝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FastAPI · Uvicorn · Pydantic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OCR 서버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/scan (ENTRY/EXIT), GET /health, /images 사진 제공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pg8000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DB 조회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trucks 등록차량 매칭, 출차 시 overload_checks 최신 판정 확인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requests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백엔드 연동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Spring에 로그인(세션) 후 POST /api/v1/gate-logs 로 게이트 기록 등록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OCR 인식 과정 (recognize_one)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OCR</a:t>
            </a:r>
            <a:endParaRPr lang="en-US" sz="1300" dirty="0"/>
          </a:p>
        </p:txBody>
      </p:sp>
      <p:sp>
        <p:nvSpPr>
          <p:cNvPr id="4" name="f0"/>
          <p:cNvSpPr/>
          <p:nvPr/>
        </p:nvSpPr>
        <p:spPr>
          <a:xfrm>
            <a:off x="54864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① 이미지 읽기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cv2.imread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초고해상도면 imgsz 2배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12598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f1"/>
          <p:cNvSpPr/>
          <p:nvPr/>
        </p:nvSpPr>
        <p:spPr>
          <a:xfrm>
            <a:off x="244602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602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② YOLO 탐지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4602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가장 높은 신뢰도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박스 1개 선택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f2"/>
          <p:cNvSpPr/>
          <p:nvPr/>
        </p:nvSpPr>
        <p:spPr>
          <a:xfrm>
            <a:off x="434340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③ 크롭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여백 18%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(낮은 신뢰도 30%·아래 65%)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2074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f3"/>
          <p:cNvSpPr/>
          <p:nvPr/>
        </p:nvSpPr>
        <p:spPr>
          <a:xfrm>
            <a:off x="624078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078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④ 보정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078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신뢰도&lt;0.7 이면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CLAHE + 샤프닝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f4"/>
          <p:cNvSpPr/>
          <p:nvPr/>
        </p:nvSpPr>
        <p:spPr>
          <a:xfrm>
            <a:off x="813816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⑤ 줄 수 판별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박스 가로세로 비율로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1줄 / 2줄 번호판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71550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f5"/>
          <p:cNvSpPr/>
          <p:nvPr/>
        </p:nvSpPr>
        <p:spPr>
          <a:xfrm>
            <a:off x="1003554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554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⑥ 글자 인식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3554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CRNN → 부족하면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EasyOCR</a:t>
            </a:r>
            <a:endParaRPr lang="en-US" sz="1150" dirty="0"/>
          </a:p>
        </p:txBody>
      </p:sp>
      <p:sp>
        <p:nvSpPr>
          <p:cNvPr id="27" name="v1"/>
          <p:cNvSpPr/>
          <p:nvPr/>
        </p:nvSpPr>
        <p:spPr>
          <a:xfrm>
            <a:off x="548640" y="356616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결과 검증 (오인식 차단)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공백 제거 · 번호판 형식 정규식 검사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보조 인식(EasyOCR)은 자릿수 규칙까지 통과해야 채택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말이 안 되는 번호는 "판독불가"로 처리</a:t>
            </a:r>
            <a:endParaRPr lang="en-US" sz="1300" dirty="0"/>
          </a:p>
        </p:txBody>
      </p:sp>
      <p:sp>
        <p:nvSpPr>
          <p:cNvPr id="30" name="v2"/>
          <p:cNvSpPr/>
          <p:nvPr/>
        </p:nvSpPr>
        <p:spPr>
          <a:xfrm>
            <a:off x="6309360" y="356616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판정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trucks 테이블에 있으면 AUTHORIZED → 차단기 개방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없으면 DENIED (미등록 차량 알림)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못 읽으면 판독불가 → 사람이 확인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gate_api.py — 게이트인 / 게이트아웃 처리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OCR</a:t>
            </a:r>
            <a:endParaRPr lang="en-US" sz="13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48463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ENTRY (게이트인)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EXIT (게이트아웃)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요청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/scan?scanType=ENTRY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/scan?scanType=EXIT&amp;vehicleNo=번호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사진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수신함에서 새 사진 1장 (중복 사진은 시작 시 정리)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입차 때 쓴 같은 사진 재사용 (메모리 → 없으면 폴더 재검색)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비교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인식 번호 ↔ trucks 등록차량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인식 번호 ↔ 입차 차량번호 (다르면 VEHICLE_MISMATCH)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추가 조건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이번 입차 이후 최신 과적 검사가 정상(is_violation=false)이어야 함, 아니면 409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저장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Spring에 게이트 기록 등록 → 상하차 작업 시작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Spring에 게이트 기록 등록 → 최종 출차 처리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사진 이동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처리 후 processed 폴더로 이동, 입차 사진·시각 기억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출차 완료 시 기억한 사진·시각 연결 해제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02  과적 검사 (검사소 계량)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6"/>
                </a:solidFill>
              </a:rPr>
              <a:t>무게는 화면에서 랜덤 생성(시뮬레이션) → 판정은 서버에서 규칙대로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과적 검사 사용 기술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과적</a:t>
            </a:r>
            <a:endParaRPr lang="en-US" sz="13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5895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어디에 썼나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Vue 3 (AdminWeighbridge.vue)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축중 시뮬레이션(simulateTargets), 판독 애니메이션, 자동 계량, 저장 요청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Math.random()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적재율 · 앞축 무게 · 축별 분배 비율 · 좌우 바퀴 비율을 범위 안에서 랜덤 생성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HTML5 Video + requestAnimationFrame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WB-01 카메라 영상 시간에 맞춰 축별 숫자가 차오르는 연출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Spring Boot (WeighbridgeService)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축하중 · 총중량 · 적재중량 판정, overload_checks 저장, 재계량, 중복 계량 차단(409)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JPA · PostgreSQL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trucks(최대적재량) · containers(자체중량/최대총중량) 조회, 결과 저장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Leaflet + OpenStreetMap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 → 검사소 → 목적지 이동 경로 미니 지도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총중량은 이렇게 구성된다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과적</a:t>
            </a:r>
            <a:endParaRPr lang="en-US" sz="1300" dirty="0"/>
          </a:p>
        </p:txBody>
      </p:sp>
      <p:sp>
        <p:nvSpPr>
          <p:cNvPr id="4" name="bar0"/>
          <p:cNvSpPr/>
          <p:nvPr/>
        </p:nvSpPr>
        <p:spPr>
          <a:xfrm>
            <a:off x="548640" y="146304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트럭 자중  (고정값)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5축 이상(세미): 14,500kg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4축 이하(카고): 9,000kg</a:t>
            </a:r>
            <a:endParaRPr lang="en-US" sz="1200" dirty="0"/>
          </a:p>
        </p:txBody>
      </p:sp>
      <p:sp>
        <p:nvSpPr>
          <p:cNvPr id="7" name="bar1"/>
          <p:cNvSpPr/>
          <p:nvPr/>
        </p:nvSpPr>
        <p:spPr>
          <a:xfrm>
            <a:off x="3383280" y="146304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컨테이너 자중  (DB 값)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containers.tare_weight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(없으면 0)</a:t>
            </a:r>
            <a:endParaRPr lang="en-US" sz="1200" dirty="0"/>
          </a:p>
        </p:txBody>
      </p:sp>
      <p:sp>
        <p:nvSpPr>
          <p:cNvPr id="10" name="bar2"/>
          <p:cNvSpPr/>
          <p:nvPr/>
        </p:nvSpPr>
        <p:spPr>
          <a:xfrm>
            <a:off x="5669280" y="1463040"/>
            <a:ext cx="384048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463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화물  (랜덤)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최대적재량 × 적재율 − 컨테이너 자중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= 총중량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83280" y="3520440"/>
            <a:ext cx="6126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83280" y="3611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적재중량(VGM) = 컨테이너 자중 + 화물 → 차량 최대적재량과 비교</a:t>
            </a:r>
            <a:endParaRPr lang="en-US" sz="1300" dirty="0"/>
          </a:p>
        </p:txBody>
      </p:sp>
      <p:sp>
        <p:nvSpPr>
          <p:cNvPr id="16" name="why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왜 이렇게 나눴나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00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총중량(40t 기준)과 적재중량(최대적재량 기준)을 따로 판정하기 위해 무게를 세 덩어리로 나눔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트럭 자중은 차종별 평균값, 컨테이너 자중은 DB 실제 값, 화물만 랜덤 → 차량·컨테이너가 바뀌면 결과도 자연스럽게 달라짐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랜덤 생성 규칙 (simulateTargets)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과적</a:t>
            </a:r>
            <a:endParaRPr lang="en-US" sz="1300" dirty="0"/>
          </a:p>
        </p:txBody>
      </p:sp>
      <p:graphicFrame>
        <p:nvGraphicFramePr>
          <p:cNvPr id="1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6035040"/>
                <a:gridCol w="21945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계산식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랜덤 범위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최대적재량 (rated)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trucks.max_load_weight, 없으면 세미 26,000 / 카고 12,000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고정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적재율 (loadRatio) — 첫 계량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0.75 + random × 0.5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75% ~ 125%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적재율 — 재계량(감량 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 + random × 0.25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70% ~ 95%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화물 (cargo)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max(0, rated × 적재율 − 컨테이너 자중), 컨테이너 적재가능량 이하로 제한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적재율에 따라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앞축(조향축) 무게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세미 6,200 + random × 900 / 카고 5,600 + random × 800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세미 6.2~7.1t / 카고 5.6~6.4t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나머지 축 분배 비율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축마다 0.9 + random × 0.2 (세미 뒤쪽 축은 × 1.05)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±10%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좌우 바퀴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왼쪽 = 축무게 × (0.47 + random × 0.06), 오른쪽 = 나머지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좌 47~53%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반올림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모두 10kg 단위, 오차는 마지막 축에 더해 합계를 정확히 맞춤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예시 계산 — 5축 세미트레일러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과적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조건: 최대적재량 27,000kg · 컨테이너 자중 3,800kg</a:t>
            </a:r>
            <a:endParaRPr lang="en-US" sz="1500" dirty="0"/>
          </a:p>
        </p:txBody>
      </p:sp>
      <p:graphicFrame>
        <p:nvGraphicFramePr>
          <p:cNvPr id="1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10896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적재율 85% (정상)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적재율 100% (과적)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적재율 120% (과적)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화물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27,000×0.85−3,800 = 18,150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27,000×1.00−3,800 = 23,200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27,000×1.20−3,800 = 28,600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적재중량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21,950  (기준 29,700 이하 ✔)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27,000  (✔)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32,400  (✖ 110% 초과)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총중량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14,500+3,800+18,150 = 36,450 ✔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41,500  (✖ 40t 초과)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46,900  (✖ 40t 초과)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축 무게 (예)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앞축 ≈6,600 / 나머지 4축 ≈7,460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앞축 ≈6,600 / 나머지 ≈8,730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앞축 ≈6,600 / 나머지 ≈10,080 ✖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판정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통과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과적 (총중량)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과적 (축하중·총중량·적재중량)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→ 같은 차량이라도 적재율 랜덤값에 따라 통과/과적이 나뉨. 세미트레일러는 트럭 자중이 커서 총중량 기준에 먼저 걸리기 쉬움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서버 판정 규칙 (WeighbridgeService)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판정</a:t>
            </a:r>
            <a:endParaRPr lang="en-US" sz="1300" dirty="0"/>
          </a:p>
        </p:txBody>
      </p:sp>
      <p:sp>
        <p:nvSpPr>
          <p:cNvPr id="4" name="r0"/>
          <p:cNvSpPr/>
          <p:nvPr/>
        </p:nvSpPr>
        <p:spPr>
          <a:xfrm>
            <a:off x="548640" y="13716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축하중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축 하나라도 10,000kg 초과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AXLE</a:t>
            </a:r>
            <a:endParaRPr lang="en-US" sz="1200" dirty="0"/>
          </a:p>
        </p:txBody>
      </p:sp>
      <p:sp>
        <p:nvSpPr>
          <p:cNvPr id="8" name="r1"/>
          <p:cNvSpPr/>
          <p:nvPr/>
        </p:nvSpPr>
        <p:spPr>
          <a:xfrm>
            <a:off x="4343400" y="13716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총중량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모든 축 합계 40,000kg 초과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GROSS</a:t>
            </a:r>
            <a:endParaRPr lang="en-US" sz="1200" dirty="0"/>
          </a:p>
        </p:txBody>
      </p:sp>
      <p:sp>
        <p:nvSpPr>
          <p:cNvPr id="12" name="r2"/>
          <p:cNvSpPr/>
          <p:nvPr/>
        </p:nvSpPr>
        <p:spPr>
          <a:xfrm>
            <a:off x="8138160" y="13716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적재중량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컨테이너 자중 + 화물 &gt; 최대적재량 × 1.1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PAYLOAD</a:t>
            </a:r>
            <a:endParaRPr lang="en-US" sz="1200" dirty="0"/>
          </a:p>
        </p:txBody>
      </p:sp>
      <p:sp>
        <p:nvSpPr>
          <p:cNvPr id="16" name="a1"/>
          <p:cNvSpPr/>
          <p:nvPr/>
        </p:nvSpPr>
        <p:spPr>
          <a:xfrm>
            <a:off x="548640" y="3429000"/>
            <a:ext cx="53035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66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판정 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233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하나라도 걸리면 is_violation = true, is_passed =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위반 사유를 문장으로 저장 (예: "4축 10,100kg 초과")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과적이면 관리자 · 소속 기업에 알림</a:t>
            </a:r>
            <a:endParaRPr lang="en-US" sz="1300" dirty="0"/>
          </a:p>
        </p:txBody>
      </p:sp>
      <p:sp>
        <p:nvSpPr>
          <p:cNvPr id="19" name="a2"/>
          <p:cNvSpPr/>
          <p:nvPr/>
        </p:nvSpPr>
        <p:spPr>
          <a:xfrm>
            <a:off x="6309360" y="3429000"/>
            <a:ext cx="53035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566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재계량 · 중복 차단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0233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과적 차량은 [재계량] → 감량 범위(70~95%)로 다시 생성 후 재판정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재계량 횟수(retry_count) +1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이번 방문에 이미 계량한 차량 · 출차 기록은 다시 계량 불가 (409)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 연출 · 자동 계량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과적</a:t>
            </a:r>
            <a:endParaRPr lang="en-US" sz="1300" dirty="0"/>
          </a:p>
        </p:txBody>
      </p:sp>
      <p:sp>
        <p:nvSpPr>
          <p:cNvPr id="4" name="f0"/>
          <p:cNvSpPr/>
          <p:nvPr/>
        </p:nvSpPr>
        <p:spPr>
          <a:xfrm>
            <a:off x="548640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 ~ 2.9초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영상 재생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차량 진입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05456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f1"/>
          <p:cNvSpPr/>
          <p:nvPr/>
        </p:nvSpPr>
        <p:spPr>
          <a:xfrm>
            <a:off x="2825496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25496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2.9초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25496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판독 카드 표시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f2"/>
          <p:cNvSpPr/>
          <p:nvPr/>
        </p:nvSpPr>
        <p:spPr>
          <a:xfrm>
            <a:off x="5102352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3.3 ~ 4.6초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축별 무게가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순서대로 차오름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f3"/>
          <p:cNvSpPr/>
          <p:nvPr/>
        </p:nvSpPr>
        <p:spPr>
          <a:xfrm>
            <a:off x="7379208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9208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4.7 ~ 5.3초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총중량 확정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f4"/>
          <p:cNvSpPr/>
          <p:nvPr/>
        </p:nvSpPr>
        <p:spPr>
          <a:xfrm>
            <a:off x="9656064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56064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5.6초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판정 배지 표시</a:t>
            </a:r>
            <a:endParaRPr lang="en-US" sz="1150" dirty="0"/>
          </a:p>
        </p:txBody>
      </p:sp>
      <p:sp>
        <p:nvSpPr>
          <p:cNvPr id="23" name="m1"/>
          <p:cNvSpPr/>
          <p:nvPr/>
        </p:nvSpPr>
        <p:spPr>
          <a:xfrm>
            <a:off x="548640" y="356616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구현 방식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무게는 계측 시작 순간 한 번에 랜덤 생성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requestAnimationFrame 으로 영상 시간에 맞춰 0 → 목표값까지 증가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영상 재생이 막히면 실제 경과 시간으로 같은 순서 진행</a:t>
            </a:r>
            <a:endParaRPr lang="en-US" sz="1300" dirty="0"/>
          </a:p>
        </p:txBody>
      </p:sp>
      <p:sp>
        <p:nvSpPr>
          <p:cNvPr id="26" name="m2"/>
          <p:cNvSpPr/>
          <p:nvPr/>
        </p:nvSpPr>
        <p:spPr>
          <a:xfrm>
            <a:off x="6309360" y="356616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자동 계량 모드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대기열 첫 차량 선택 → 0.8초 뒤 계측 시작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계측 끝나면 자동 저장(서버 판정)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4초 카운트다운 후 다음 차량, 사람이 조작하면 자동 꺼짐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정리 · 실제 장비로 바꾼다면</a:t>
            </a:r>
            <a:endParaRPr lang="en-US" sz="3000" dirty="0"/>
          </a:p>
        </p:txBody>
      </p:sp>
      <p:graphicFrame>
        <p:nvGraphicFramePr>
          <p:cNvPr id="1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75488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지금 (시연)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실제 장비 연동 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번호판 인식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수신함 폴더의 사진을 OCR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 카메라가 같은 폴더에 사진 저장 → 그대로 사용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축별 무게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화면에서 랜덤 생성 (simulateTargets)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축중기(계량대) 측정값을 받아 같은 형식으로 전송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과적 판정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서버가 축 무게로 판정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변경 없음 — 서버는 들어온 축 무게만 보고 판정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적재중량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컨테이너 자중 + 랜덤 화물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VGM 신고값 또는 계측값 사용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핵심: 무게 "생성"만 시뮬레이션이고, "판정 · 저장 · 출차 통제"는 실제 로직 그대로 동작한다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argo">
  <a:themeElements>
    <a:clrScheme name="SafeCargo">
      <a:dk1>
        <a:srgbClr val="1B2333"/>
      </a:dk1>
      <a:lt1>
        <a:srgbClr val="FFFFFF"/>
      </a:lt1>
      <a:dk2>
        <a:srgbClr val="14284B"/>
      </a:dk2>
      <a:lt2>
        <a:srgbClr val="EEF2F8"/>
      </a:lt2>
      <a:accent1>
        <a:srgbClr val="F28C28"/>
      </a:accent1>
      <a:accent2>
        <a:srgbClr val="1F6FB2"/>
      </a:accent2>
      <a:accent3>
        <a:srgbClr val="2E8B57"/>
      </a:accent3>
      <a:accent4>
        <a:srgbClr val="7B4FB0"/>
      </a:accent4>
      <a:accent5>
        <a:srgbClr val="5B6B84"/>
      </a:accent5>
      <a:accent6>
        <a:srgbClr val="FCE7D2"/>
      </a:accent6>
      <a:hlink>
        <a:srgbClr val="1F5FAF"/>
      </a:hlink>
      <a:folHlink>
        <a:srgbClr val="6B4FA0"/>
      </a:folHlink>
    </a:clrScheme>
    <a:fontScheme name="SafeCar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· 과적 기술 정리</dc:title>
  <dc:subject>PptxGenJS Presentation</dc:subject>
  <dc:creator>PptxGenJS</dc:creator>
  <cp:lastModifiedBy>PptxGenJS</cp:lastModifiedBy>
  <cp:revision>1</cp:revision>
  <dcterms:created xsi:type="dcterms:W3CDTF">2026-10-06T00:51:04Z</dcterms:created>
  <dcterms:modified xsi:type="dcterms:W3CDTF">2026-10-06T00:51:04Z</dcterms:modified>
</cp:coreProperties>
</file>