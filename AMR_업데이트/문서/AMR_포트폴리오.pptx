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774e0e00-b00f-b306-0701-3f8a18d843ad}">
          <p14:sldIdLst>
            <p14:sldId id="256"/>
            <p14:sldId id="257"/>
            <p14:sldId id="258"/>
          </p14:sldIdLst>
        </p14:section>
        <p14:section name="구조" id="{90d4beb2-f217-0ee7-d35a-ca13cc359cab}">
          <p14:sldIdLst>
            <p14:sldId id="259"/>
          </p14:sldIdLst>
        </p14:section>
        <p14:section name="핵심 기능" id="{b033379b-3b08-f5b3-1f6a-f079d76c495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기술" id="{5945c0a5-d05c-45e8-afcb-4985f67ef1b7}">
          <p14:sldIdLst>
            <p14:sldId id="266"/>
            <p14:sldId id="267"/>
          </p14:sldIdLst>
        </p14:section>
        <p14:section name="트러블슈팅" id="{07d95a22-ecf7-e67e-af65-7f71d8f2666f}">
          <p14:sldIdLst>
            <p14:sldId id="268"/>
          </p14:sldIdLst>
        </p14:section>
        <p14:section name="마무리" id="{c6e01e2b-2f2c-c2db-be48-99e3e53d1111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6002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69748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Shape 0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9525">
            <a:solidFill>
              <a:srgbClr val="D3DCE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736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 AMR Digital Twin · 개인 포트폴리오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1" descr="허브 3D 디지털 트윈 화면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xt_2"/>
          <p:cNvSpPr txBox="1"/>
          <p:nvPr/>
        </p:nvSpPr>
        <p:spPr>
          <a:xfrm>
            <a:off x="45720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PERSONAL PORTFOLIO  ·  1인 개발</a:t>
            </a:r>
            <a:endParaRPr lang="en-US" sz="1100" dirty="0"/>
          </a:p>
        </p:txBody>
      </p:sp>
      <p:sp>
        <p:nvSpPr>
          <p:cNvPr id="4" name="txt_3"/>
          <p:cNvSpPr txBox="1"/>
          <p:nvPr/>
        </p:nvSpPr>
        <p:spPr>
          <a:xfrm>
            <a:off x="457200" y="1325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AMR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트윈 관제</a:t>
            </a:r>
            <a:endParaRPr lang="en-US" sz="3200" dirty="0"/>
          </a:p>
        </p:txBody>
      </p:sp>
      <p:sp>
        <p:nvSpPr>
          <p:cNvPr id="5" name="txt_4"/>
          <p:cNvSpPr txBox="1"/>
          <p:nvPr/>
        </p:nvSpPr>
        <p:spPr>
          <a:xfrm>
            <a:off x="457200" y="2743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허브의 AMR을 3D로 보고, 고장 전에 정비하고,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드나드는 차량을 번호판 OCR로 판정하는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모바일 관제 시스템</a:t>
            </a:r>
            <a:endParaRPr lang="en-US" sz="1200" dirty="0"/>
          </a:p>
        </p:txBody>
      </p:sp>
      <p:sp>
        <p:nvSpPr>
          <p:cNvPr id="6" name="cover_rule"/>
          <p:cNvSpPr/>
          <p:nvPr/>
        </p:nvSpPr>
        <p:spPr>
          <a:xfrm>
            <a:off x="457200" y="3840480"/>
            <a:ext cx="4023360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7" name="txt_5"/>
          <p:cNvSpPr txBox="1"/>
          <p:nvPr/>
        </p:nvSpPr>
        <p:spPr>
          <a:xfrm>
            <a:off x="457200" y="39502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Three.js · Vue 3 · Capacitor · Spring Boot · PostgreSQL · FastAPI</a:t>
            </a:r>
            <a:endParaRPr lang="en-US" sz="950" dirty="0"/>
          </a:p>
        </p:txBody>
      </p:sp>
      <p:sp>
        <p:nvSpPr>
          <p:cNvPr id="8" name="txt_6"/>
          <p:cNvSpPr txBox="1"/>
          <p:nvPr/>
        </p:nvSpPr>
        <p:spPr>
          <a:xfrm>
            <a:off x="457200" y="4224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  ·  S-CARGO 팀 프로젝트의 허브 파트를 혼자 확장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7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2200" dirty="0"/>
          </a:p>
        </p:txBody>
      </p:sp>
      <p:sp>
        <p:nvSpPr>
          <p:cNvPr id="4" name="card_8"/>
          <p:cNvSpPr/>
          <p:nvPr/>
        </p:nvSpPr>
        <p:spPr>
          <a:xfrm>
            <a:off x="457200" y="1261872"/>
            <a:ext cx="192024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5" name="txt_9"/>
          <p:cNvSpPr txBox="1"/>
          <p:nvPr/>
        </p:nvSpPr>
        <p:spPr>
          <a:xfrm>
            <a:off x="640080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~7,500줄</a:t>
            </a:r>
            <a:endParaRPr lang="en-US" sz="2400" dirty="0"/>
          </a:p>
        </p:txBody>
      </p:sp>
      <p:sp>
        <p:nvSpPr>
          <p:cNvPr id="6" name="txt_10"/>
          <p:cNvSpPr txBox="1"/>
          <p:nvPr/>
        </p:nvSpPr>
        <p:spPr>
          <a:xfrm>
            <a:off x="64008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작성한 코드</a:t>
            </a:r>
            <a:endParaRPr lang="en-US" sz="1000" dirty="0"/>
          </a:p>
        </p:txBody>
      </p:sp>
      <p:sp>
        <p:nvSpPr>
          <p:cNvPr id="7" name="card_11"/>
          <p:cNvSpPr/>
          <p:nvPr/>
        </p:nvSpPr>
        <p:spPr>
          <a:xfrm>
            <a:off x="2560320" y="1261872"/>
            <a:ext cx="192024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8" name="txt_12"/>
          <p:cNvSpPr txBox="1"/>
          <p:nvPr/>
        </p:nvSpPr>
        <p:spPr>
          <a:xfrm>
            <a:off x="2743200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영역</a:t>
            </a:r>
            <a:endParaRPr lang="en-US" sz="2400" dirty="0"/>
          </a:p>
        </p:txBody>
      </p:sp>
      <p:sp>
        <p:nvSpPr>
          <p:cNvPr id="9" name="txt_13"/>
          <p:cNvSpPr txBox="1"/>
          <p:nvPr/>
        </p:nvSpPr>
        <p:spPr>
          <a:xfrm>
            <a:off x="274320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연결한 기술 영역</a:t>
            </a:r>
            <a:endParaRPr lang="en-US" sz="1000" dirty="0"/>
          </a:p>
        </p:txBody>
      </p:sp>
      <p:sp>
        <p:nvSpPr>
          <p:cNvPr id="10" name="card_14"/>
          <p:cNvSpPr/>
          <p:nvPr/>
        </p:nvSpPr>
        <p:spPr>
          <a:xfrm>
            <a:off x="4663440" y="1261872"/>
            <a:ext cx="192024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txt_15"/>
          <p:cNvSpPr txBox="1"/>
          <p:nvPr/>
        </p:nvSpPr>
        <p:spPr>
          <a:xfrm>
            <a:off x="4846320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22</a:t>
            </a:r>
            <a:endParaRPr lang="en-US" sz="2400" dirty="0"/>
          </a:p>
        </p:txBody>
      </p:sp>
      <p:sp>
        <p:nvSpPr>
          <p:cNvPr id="12" name="txt_16"/>
          <p:cNvSpPr txBox="1"/>
          <p:nvPr/>
        </p:nvSpPr>
        <p:spPr>
          <a:xfrm>
            <a:off x="484632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 · REST API</a:t>
            </a:r>
            <a:endParaRPr lang="en-US" sz="1000" dirty="0"/>
          </a:p>
        </p:txBody>
      </p:sp>
      <p:sp>
        <p:nvSpPr>
          <p:cNvPr id="13" name="card_17"/>
          <p:cNvSpPr/>
          <p:nvPr/>
        </p:nvSpPr>
        <p:spPr>
          <a:xfrm>
            <a:off x="6766560" y="1261872"/>
            <a:ext cx="192024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4" name="txt_18"/>
          <p:cNvSpPr txBox="1"/>
          <p:nvPr/>
        </p:nvSpPr>
        <p:spPr>
          <a:xfrm>
            <a:off x="6949440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→ 0</a:t>
            </a:r>
            <a:endParaRPr lang="en-US" sz="2400" dirty="0"/>
          </a:p>
        </p:txBody>
      </p:sp>
      <p:sp>
        <p:nvSpPr>
          <p:cNvPr id="15" name="txt_19"/>
          <p:cNvSpPr txBox="1"/>
          <p:nvPr/>
        </p:nvSpPr>
        <p:spPr>
          <a:xfrm>
            <a:off x="694944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교차로 겹침 (600초 시뮬)</a:t>
            </a:r>
            <a:endParaRPr lang="en-US" sz="1000" dirty="0"/>
          </a:p>
        </p:txBody>
      </p:sp>
      <p:sp>
        <p:nvSpPr>
          <p:cNvPr id="16" name="card_20"/>
          <p:cNvSpPr/>
          <p:nvPr/>
        </p:nvSpPr>
        <p:spPr>
          <a:xfrm>
            <a:off x="457200" y="2587752"/>
            <a:ext cx="8229600" cy="524256"/>
          </a:xfrm>
          <a:prstGeom prst="roundRect">
            <a:avLst>
              <a:gd name="adj" fmla="val 10465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7" name="bar_21"/>
          <p:cNvSpPr/>
          <p:nvPr/>
        </p:nvSpPr>
        <p:spPr>
          <a:xfrm>
            <a:off x="457200" y="2715768"/>
            <a:ext cx="45720" cy="2682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xt_22"/>
          <p:cNvSpPr txBox="1"/>
          <p:nvPr/>
        </p:nvSpPr>
        <p:spPr>
          <a:xfrm>
            <a:off x="685800" y="2587752"/>
            <a:ext cx="82296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300" dirty="0"/>
          </a:p>
        </p:txBody>
      </p:sp>
      <p:sp>
        <p:nvSpPr>
          <p:cNvPr id="19" name="txt_23"/>
          <p:cNvSpPr txBox="1"/>
          <p:nvPr/>
        </p:nvSpPr>
        <p:spPr>
          <a:xfrm>
            <a:off x="1554480" y="2587752"/>
            <a:ext cx="694944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AMR 고장 = 물류 정지 · 입출차 확인은 사람 손 · 관리자는 현장에 없음</a:t>
            </a:r>
            <a:endParaRPr lang="en-US" sz="1150" dirty="0"/>
          </a:p>
        </p:txBody>
      </p:sp>
      <p:sp>
        <p:nvSpPr>
          <p:cNvPr id="20" name="card_24"/>
          <p:cNvSpPr/>
          <p:nvPr/>
        </p:nvSpPr>
        <p:spPr>
          <a:xfrm>
            <a:off x="457200" y="3249168"/>
            <a:ext cx="8229600" cy="524256"/>
          </a:xfrm>
          <a:prstGeom prst="roundRect">
            <a:avLst>
              <a:gd name="adj" fmla="val 10465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21" name="bar_25"/>
          <p:cNvSpPr/>
          <p:nvPr/>
        </p:nvSpPr>
        <p:spPr>
          <a:xfrm>
            <a:off x="457200" y="3377184"/>
            <a:ext cx="45720" cy="2682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xt_26"/>
          <p:cNvSpPr txBox="1"/>
          <p:nvPr/>
        </p:nvSpPr>
        <p:spPr>
          <a:xfrm>
            <a:off x="685800" y="3249168"/>
            <a:ext cx="82296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300" dirty="0"/>
          </a:p>
        </p:txBody>
      </p:sp>
      <p:sp>
        <p:nvSpPr>
          <p:cNvPr id="23" name="txt_27"/>
          <p:cNvSpPr txBox="1"/>
          <p:nvPr/>
        </p:nvSpPr>
        <p:spPr>
          <a:xfrm>
            <a:off x="1554480" y="3249168"/>
            <a:ext cx="694944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트윈으로 현장을 보고, 진동 추세로 고장 전에 자동 정비, 게이트 OCR로 차량 판정</a:t>
            </a:r>
            <a:endParaRPr lang="en-US" sz="1150" dirty="0"/>
          </a:p>
        </p:txBody>
      </p:sp>
      <p:sp>
        <p:nvSpPr>
          <p:cNvPr id="24" name="card_28"/>
          <p:cNvSpPr/>
          <p:nvPr/>
        </p:nvSpPr>
        <p:spPr>
          <a:xfrm>
            <a:off x="457200" y="3910584"/>
            <a:ext cx="8229600" cy="524256"/>
          </a:xfrm>
          <a:prstGeom prst="roundRect">
            <a:avLst>
              <a:gd name="adj" fmla="val 10465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25" name="bar_29"/>
          <p:cNvSpPr/>
          <p:nvPr/>
        </p:nvSpPr>
        <p:spPr>
          <a:xfrm>
            <a:off x="457200" y="4038600"/>
            <a:ext cx="45720" cy="26822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xt_30"/>
          <p:cNvSpPr txBox="1"/>
          <p:nvPr/>
        </p:nvSpPr>
        <p:spPr>
          <a:xfrm>
            <a:off x="685800" y="3910584"/>
            <a:ext cx="82296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</p:txBody>
      </p:sp>
      <p:sp>
        <p:nvSpPr>
          <p:cNvPr id="27" name="txt_31"/>
          <p:cNvSpPr txBox="1"/>
          <p:nvPr/>
        </p:nvSpPr>
        <p:spPr>
          <a:xfrm>
            <a:off x="1554480" y="3910584"/>
            <a:ext cx="694944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앱 · DB가 2초 안에 같은 상태 공유, 관리자는 웹 QR로 앱에 로그인해 기준만 조정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32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ROLE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3D · 웹 · 앱 · 서버 · DB · AI 연동까지 혼자</a:t>
            </a:r>
            <a:endParaRPr lang="en-US" sz="2200" dirty="0"/>
          </a:p>
        </p:txBody>
      </p:sp>
      <p:graphicFrame>
        <p:nvGraphicFramePr>
          <p:cNvPr id="4" name="table_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·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 업무 흐름(입차 → 하차 → 보관 → 출고 → 출차) 정의, 관리자 화면 구성, DB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트윈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Three.js로 창고 · 랙 · AMR · 지게차 · 트럭 · 게이트를 코드로 모델링, 시뮬레이터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경로(통로 → 간선 → 통로), 칸 예약, 앞차 감지, 교차로 예약, 고장 예측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Vue 관제 화면, Capacitor 안드로이드 앱 (홈 요약 · 통계 · 물류 · 로봇 · 알림)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· 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Spring Boot REST 22개, JPA 엔티티 12개, KPI 집계 쿼리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코드(TOTP) · QR 직접 구현, 24시간 토큰, AMR API 잠금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66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연동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1차에서 만든 번호판 OCR(YOLO + CRNN)을 FastAPI로 허브 입출구에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34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웹이 현장이 되고, 모두가 같은 DB를 본다</a:t>
            </a:r>
            <a:endParaRPr lang="en-US" sz="2200" dirty="0"/>
          </a:p>
        </p:txBody>
      </p:sp>
      <p:sp>
        <p:nvSpPr>
          <p:cNvPr id="4" name="card_35"/>
          <p:cNvSpPr/>
          <p:nvPr/>
        </p:nvSpPr>
        <p:spPr>
          <a:xfrm>
            <a:off x="457200" y="1261872"/>
            <a:ext cx="237744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xt_36"/>
          <p:cNvSpPr txBox="1"/>
          <p:nvPr/>
        </p:nvSpPr>
        <p:spPr>
          <a:xfrm>
            <a:off x="640080" y="1399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3D 관제 (현장)</a:t>
            </a:r>
            <a:endParaRPr lang="en-US" sz="1300" dirty="0"/>
          </a:p>
        </p:txBody>
      </p:sp>
      <p:sp>
        <p:nvSpPr>
          <p:cNvPr id="6" name="txt_37"/>
          <p:cNvSpPr txBox="1"/>
          <p:nvPr/>
        </p:nvSpPr>
        <p:spPr>
          <a:xfrm>
            <a:off x="640080" y="17647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 3 + Three.js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시뮬레이터가 센서 · 운반 데이터 생산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카드 · 바로가기 시점</a:t>
            </a:r>
            <a:endParaRPr lang="en-US" sz="1000" dirty="0"/>
          </a:p>
        </p:txBody>
      </p:sp>
      <p:sp>
        <p:nvSpPr>
          <p:cNvPr id="7" name="card_38"/>
          <p:cNvSpPr/>
          <p:nvPr/>
        </p:nvSpPr>
        <p:spPr>
          <a:xfrm>
            <a:off x="457200" y="2816352"/>
            <a:ext cx="237744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xt_39"/>
          <p:cNvSpPr txBox="1"/>
          <p:nvPr/>
        </p:nvSpPr>
        <p:spPr>
          <a:xfrm>
            <a:off x="640080" y="29535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앱</a:t>
            </a:r>
            <a:endParaRPr lang="en-US" sz="1300" dirty="0"/>
          </a:p>
        </p:txBody>
      </p:sp>
      <p:sp>
        <p:nvSpPr>
          <p:cNvPr id="9" name="txt_40"/>
          <p:cNvSpPr txBox="1"/>
          <p:nvPr/>
        </p:nvSpPr>
        <p:spPr>
          <a:xfrm>
            <a:off x="640080" y="33192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Capacitor 7 (Android)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요약 · 통계 · 물류 · 로봇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조정 · 휴대폰 알림</a:t>
            </a:r>
            <a:endParaRPr lang="en-US" sz="1000" dirty="0"/>
          </a:p>
        </p:txBody>
      </p:sp>
      <p:sp>
        <p:nvSpPr>
          <p:cNvPr id="10" name="card_41"/>
          <p:cNvSpPr/>
          <p:nvPr/>
        </p:nvSpPr>
        <p:spPr>
          <a:xfrm>
            <a:off x="3383280" y="1261872"/>
            <a:ext cx="2377440" cy="288036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xt_42"/>
          <p:cNvSpPr txBox="1"/>
          <p:nvPr/>
        </p:nvSpPr>
        <p:spPr>
          <a:xfrm>
            <a:off x="3566160" y="1399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12" name="txt_43"/>
          <p:cNvSpPr txBox="1"/>
          <p:nvPr/>
        </p:nvSpPr>
        <p:spPr>
          <a:xfrm>
            <a:off x="3566160" y="1764792"/>
            <a:ext cx="2011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/api/amr  REST 22개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· 예측 · 정비 · 기준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입출차 판정 · KPI 집계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인증: 웹 = 관리자 로그인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D4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앱 = 24시간 토큰</a:t>
            </a:r>
            <a:endParaRPr lang="en-US" sz="1000" dirty="0"/>
          </a:p>
        </p:txBody>
      </p:sp>
      <p:sp>
        <p:nvSpPr>
          <p:cNvPr id="13" name="card_44"/>
          <p:cNvSpPr/>
          <p:nvPr/>
        </p:nvSpPr>
        <p:spPr>
          <a:xfrm>
            <a:off x="6309360" y="1261872"/>
            <a:ext cx="237744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xt_45"/>
          <p:cNvSpPr txBox="1"/>
          <p:nvPr/>
        </p:nvSpPr>
        <p:spPr>
          <a:xfrm>
            <a:off x="6492240" y="1399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5" name="txt_46"/>
          <p:cNvSpPr txBox="1"/>
          <p:nvPr/>
        </p:nvSpPr>
        <p:spPr>
          <a:xfrm>
            <a:off x="6492240" y="17647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12개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· 센서 · 예측 · 정비 · 이벤트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· 입출차 · 운반 · 인증</a:t>
            </a:r>
            <a:endParaRPr lang="en-US" sz="1000" dirty="0"/>
          </a:p>
        </p:txBody>
      </p:sp>
      <p:sp>
        <p:nvSpPr>
          <p:cNvPr id="16" name="card_47"/>
          <p:cNvSpPr/>
          <p:nvPr/>
        </p:nvSpPr>
        <p:spPr>
          <a:xfrm>
            <a:off x="6309360" y="2816352"/>
            <a:ext cx="2377440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txt_48"/>
          <p:cNvSpPr txBox="1"/>
          <p:nvPr/>
        </p:nvSpPr>
        <p:spPr>
          <a:xfrm>
            <a:off x="6492240" y="29535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서버</a:t>
            </a:r>
            <a:endParaRPr lang="en-US" sz="1300" dirty="0"/>
          </a:p>
        </p:txBody>
      </p:sp>
      <p:sp>
        <p:nvSpPr>
          <p:cNvPr id="18" name="txt_49"/>
          <p:cNvSpPr txBox="1"/>
          <p:nvPr/>
        </p:nvSpPr>
        <p:spPr>
          <a:xfrm>
            <a:off x="6492240" y="331927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YOLO + CRNN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입구 · 출구 번호판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(1차 프로젝트 모델 재사용)</a:t>
            </a:r>
            <a:endParaRPr lang="en-US" sz="1000" dirty="0"/>
          </a:p>
        </p:txBody>
      </p:sp>
      <p:sp>
        <p:nvSpPr>
          <p:cNvPr id="19" name="arrow_50"/>
          <p:cNvSpPr/>
          <p:nvPr/>
        </p:nvSpPr>
        <p:spPr>
          <a:xfrm>
            <a:off x="2889504" y="1924812"/>
            <a:ext cx="43891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arrow_51"/>
          <p:cNvSpPr/>
          <p:nvPr/>
        </p:nvSpPr>
        <p:spPr>
          <a:xfrm>
            <a:off x="2889504" y="3479292"/>
            <a:ext cx="438912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arrow_52"/>
          <p:cNvSpPr/>
          <p:nvPr/>
        </p:nvSpPr>
        <p:spPr>
          <a:xfrm>
            <a:off x="5815584" y="1924812"/>
            <a:ext cx="43891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2" name="arrow_53"/>
          <p:cNvSpPr/>
          <p:nvPr/>
        </p:nvSpPr>
        <p:spPr>
          <a:xfrm>
            <a:off x="5815584" y="3479292"/>
            <a:ext cx="438912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54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01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디지털 트윈</a:t>
            </a:r>
            <a:endParaRPr lang="en-US" sz="2200" dirty="0"/>
          </a:p>
        </p:txBody>
      </p:sp>
      <p:sp>
        <p:nvSpPr>
          <p:cNvPr id="4" name="txt_55"/>
          <p:cNvSpPr txBox="1"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전체를 코드로 모델링하고, 시뮬레이터가 실제처럼 움직인다</a:t>
            </a:r>
            <a:endParaRPr lang="en-US" sz="1150" dirty="0"/>
          </a:p>
        </p:txBody>
      </p:sp>
      <p:pic>
        <p:nvPicPr>
          <p:cNvPr id="5" name="img_56" descr="3D 디지털 트윈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61872"/>
            <a:ext cx="4846320" cy="3172968"/>
          </a:xfrm>
          <a:prstGeom prst="rect">
            <a:avLst/>
          </a:prstGeom>
        </p:spPr>
      </p:pic>
      <p:sp>
        <p:nvSpPr>
          <p:cNvPr id="6" name="card_57"/>
          <p:cNvSpPr/>
          <p:nvPr/>
        </p:nvSpPr>
        <p:spPr>
          <a:xfrm>
            <a:off x="5577840" y="1261872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58"/>
          <p:cNvSpPr/>
          <p:nvPr/>
        </p:nvSpPr>
        <p:spPr>
          <a:xfrm>
            <a:off x="5577840" y="1371600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xt_59"/>
          <p:cNvSpPr txBox="1"/>
          <p:nvPr/>
        </p:nvSpPr>
        <p:spPr>
          <a:xfrm>
            <a:off x="5760720" y="13533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Three.js로 직접 모델링</a:t>
            </a:r>
            <a:endParaRPr lang="en-US" sz="1150" dirty="0"/>
          </a:p>
        </p:txBody>
      </p:sp>
      <p:sp>
        <p:nvSpPr>
          <p:cNvPr id="9" name="txt_60"/>
          <p:cNvSpPr txBox="1"/>
          <p:nvPr/>
        </p:nvSpPr>
        <p:spPr>
          <a:xfrm>
            <a:off x="5760720" y="1627632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모델 없이 도형 + CanvasTexture, 랙 수백 개도 InstancedMesh로 가볍게</a:t>
            </a:r>
            <a:endParaRPr lang="en-US" sz="950" dirty="0"/>
          </a:p>
        </p:txBody>
      </p:sp>
      <p:sp>
        <p:nvSpPr>
          <p:cNvPr id="10" name="card_61"/>
          <p:cNvSpPr/>
          <p:nvPr/>
        </p:nvSpPr>
        <p:spPr>
          <a:xfrm>
            <a:off x="5577840" y="2055114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62"/>
          <p:cNvSpPr/>
          <p:nvPr/>
        </p:nvSpPr>
        <p:spPr>
          <a:xfrm>
            <a:off x="5577840" y="2164842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63"/>
          <p:cNvSpPr txBox="1"/>
          <p:nvPr/>
        </p:nvSpPr>
        <p:spPr>
          <a:xfrm>
            <a:off x="5760720" y="214655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그리기 분리</a:t>
            </a:r>
            <a:endParaRPr lang="en-US" sz="1150" dirty="0"/>
          </a:p>
        </p:txBody>
      </p:sp>
      <p:sp>
        <p:nvSpPr>
          <p:cNvPr id="13" name="txt_64"/>
          <p:cNvSpPr txBox="1"/>
          <p:nvPr/>
        </p:nvSpPr>
        <p:spPr>
          <a:xfrm>
            <a:off x="5760720" y="2420874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amrSim(계산) · amrScene3d(그리기) → 웹과 앱이 같은 파일 사용</a:t>
            </a:r>
            <a:endParaRPr lang="en-US" sz="950" dirty="0"/>
          </a:p>
        </p:txBody>
      </p:sp>
      <p:sp>
        <p:nvSpPr>
          <p:cNvPr id="14" name="card_65"/>
          <p:cNvSpPr/>
          <p:nvPr/>
        </p:nvSpPr>
        <p:spPr>
          <a:xfrm>
            <a:off x="5577840" y="2848356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66"/>
          <p:cNvSpPr/>
          <p:nvPr/>
        </p:nvSpPr>
        <p:spPr>
          <a:xfrm>
            <a:off x="5577840" y="2958084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xt_67"/>
          <p:cNvSpPr txBox="1"/>
          <p:nvPr/>
        </p:nvSpPr>
        <p:spPr>
          <a:xfrm>
            <a:off x="5760720" y="29397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앱처럼 조작</a:t>
            </a:r>
            <a:endParaRPr lang="en-US" sz="1150" dirty="0"/>
          </a:p>
        </p:txBody>
      </p:sp>
      <p:sp>
        <p:nvSpPr>
          <p:cNvPr id="17" name="txt_68"/>
          <p:cNvSpPr txBox="1"/>
          <p:nvPr/>
        </p:nvSpPr>
        <p:spPr>
          <a:xfrm>
            <a:off x="5760720" y="3214116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이동 · 회전 제한 · 바로가기 7곳 · 게이트 자동 따라가기</a:t>
            </a:r>
            <a:endParaRPr lang="en-US" sz="950" dirty="0"/>
          </a:p>
        </p:txBody>
      </p:sp>
      <p:sp>
        <p:nvSpPr>
          <p:cNvPr id="18" name="card_69"/>
          <p:cNvSpPr/>
          <p:nvPr/>
        </p:nvSpPr>
        <p:spPr>
          <a:xfrm>
            <a:off x="5577840" y="3641598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70"/>
          <p:cNvSpPr/>
          <p:nvPr/>
        </p:nvSpPr>
        <p:spPr>
          <a:xfrm>
            <a:off x="5577840" y="3751326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xt_71"/>
          <p:cNvSpPr txBox="1"/>
          <p:nvPr/>
        </p:nvSpPr>
        <p:spPr>
          <a:xfrm>
            <a:off x="5760720" y="373303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· 라이트 모드</a:t>
            </a:r>
            <a:endParaRPr lang="en-US" sz="1150" dirty="0"/>
          </a:p>
        </p:txBody>
      </p:sp>
      <p:sp>
        <p:nvSpPr>
          <p:cNvPr id="21" name="txt_72"/>
          <p:cNvSpPr txBox="1"/>
          <p:nvPr/>
        </p:nvSpPr>
        <p:spPr>
          <a:xfrm>
            <a:off x="5760720" y="4007358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평면도로도 보고, 밝은 사무실 화면에서도 잘 보이게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73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02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 · 자동 운영</a:t>
            </a:r>
            <a:endParaRPr lang="en-US" sz="2200" dirty="0"/>
          </a:p>
        </p:txBody>
      </p:sp>
      <p:sp>
        <p:nvSpPr>
          <p:cNvPr id="4" name="txt_74"/>
          <p:cNvSpPr txBox="1"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진동이 오르면 남은 수명을 계산하고, 관리자가 정한 기준에서 자동 정비 · 충전</a:t>
            </a:r>
            <a:endParaRPr lang="en-US" sz="1150" dirty="0"/>
          </a:p>
        </p:txBody>
      </p:sp>
      <p:pic>
        <p:nvPicPr>
          <p:cNvPr id="5" name="img_75" descr="예지보전 · 자동 운영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61872"/>
            <a:ext cx="4846320" cy="3172968"/>
          </a:xfrm>
          <a:prstGeom prst="rect">
            <a:avLst/>
          </a:prstGeom>
        </p:spPr>
      </p:pic>
      <p:sp>
        <p:nvSpPr>
          <p:cNvPr id="6" name="card_76"/>
          <p:cNvSpPr/>
          <p:nvPr/>
        </p:nvSpPr>
        <p:spPr>
          <a:xfrm>
            <a:off x="5577840" y="1261872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77"/>
          <p:cNvSpPr/>
          <p:nvPr/>
        </p:nvSpPr>
        <p:spPr>
          <a:xfrm>
            <a:off x="5577840" y="1371600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xt_78"/>
          <p:cNvSpPr txBox="1"/>
          <p:nvPr/>
        </p:nvSpPr>
        <p:spPr>
          <a:xfrm>
            <a:off x="5760720" y="13533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2초 저장</a:t>
            </a:r>
            <a:endParaRPr lang="en-US" sz="1150" dirty="0"/>
          </a:p>
        </p:txBody>
      </p:sp>
      <p:sp>
        <p:nvSpPr>
          <p:cNvPr id="9" name="txt_79"/>
          <p:cNvSpPr txBox="1"/>
          <p:nvPr/>
        </p:nvSpPr>
        <p:spPr>
          <a:xfrm>
            <a:off x="5760720" y="1627632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 · 온도 · 배터리 · 건강점수를 DB에 시계열로</a:t>
            </a:r>
            <a:endParaRPr lang="en-US" sz="950" dirty="0"/>
          </a:p>
        </p:txBody>
      </p:sp>
      <p:sp>
        <p:nvSpPr>
          <p:cNvPr id="10" name="card_80"/>
          <p:cNvSpPr/>
          <p:nvPr/>
        </p:nvSpPr>
        <p:spPr>
          <a:xfrm>
            <a:off x="5577840" y="2055114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81"/>
          <p:cNvSpPr/>
          <p:nvPr/>
        </p:nvSpPr>
        <p:spPr>
          <a:xfrm>
            <a:off x="5577840" y="2164842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82"/>
          <p:cNvSpPr txBox="1"/>
          <p:nvPr/>
        </p:nvSpPr>
        <p:spPr>
          <a:xfrm>
            <a:off x="5760720" y="214655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수명 계산</a:t>
            </a:r>
            <a:endParaRPr lang="en-US" sz="1150" dirty="0"/>
          </a:p>
        </p:txBody>
      </p:sp>
      <p:sp>
        <p:nvSpPr>
          <p:cNvPr id="13" name="txt_83"/>
          <p:cNvSpPr txBox="1"/>
          <p:nvPr/>
        </p:nvSpPr>
        <p:spPr>
          <a:xfrm>
            <a:off x="5760720" y="2420874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진동 추세(최소제곱 기울기)로 고장까지 시간 추정</a:t>
            </a:r>
            <a:endParaRPr lang="en-US" sz="950" dirty="0"/>
          </a:p>
        </p:txBody>
      </p:sp>
      <p:sp>
        <p:nvSpPr>
          <p:cNvPr id="14" name="card_84"/>
          <p:cNvSpPr/>
          <p:nvPr/>
        </p:nvSpPr>
        <p:spPr>
          <a:xfrm>
            <a:off x="5577840" y="2848356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85"/>
          <p:cNvSpPr/>
          <p:nvPr/>
        </p:nvSpPr>
        <p:spPr>
          <a:xfrm>
            <a:off x="5577840" y="2958084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xt_86"/>
          <p:cNvSpPr txBox="1"/>
          <p:nvPr/>
        </p:nvSpPr>
        <p:spPr>
          <a:xfrm>
            <a:off x="5760720" y="29397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대신 기준</a:t>
            </a:r>
            <a:endParaRPr lang="en-US" sz="1150" dirty="0"/>
          </a:p>
        </p:txBody>
      </p:sp>
      <p:sp>
        <p:nvSpPr>
          <p:cNvPr id="17" name="txt_87"/>
          <p:cNvSpPr txBox="1"/>
          <p:nvPr/>
        </p:nvSpPr>
        <p:spPr>
          <a:xfrm>
            <a:off x="5760720" y="3214116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버튼은 놓치면 고장 → 정비 · 충전 기준만 정하면 자동</a:t>
            </a:r>
            <a:endParaRPr lang="en-US" sz="950" dirty="0"/>
          </a:p>
        </p:txBody>
      </p:sp>
      <p:sp>
        <p:nvSpPr>
          <p:cNvPr id="18" name="card_88"/>
          <p:cNvSpPr/>
          <p:nvPr/>
        </p:nvSpPr>
        <p:spPr>
          <a:xfrm>
            <a:off x="5577840" y="3641598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89"/>
          <p:cNvSpPr/>
          <p:nvPr/>
        </p:nvSpPr>
        <p:spPr>
          <a:xfrm>
            <a:off x="5577840" y="3751326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xt_90"/>
          <p:cNvSpPr txBox="1"/>
          <p:nvPr/>
        </p:nvSpPr>
        <p:spPr>
          <a:xfrm>
            <a:off x="5760720" y="373303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 않는 물류</a:t>
            </a:r>
            <a:endParaRPr lang="en-US" sz="1150" dirty="0"/>
          </a:p>
        </p:txBody>
      </p:sp>
      <p:sp>
        <p:nvSpPr>
          <p:cNvPr id="21" name="txt_91"/>
          <p:cNvSpPr txBox="1"/>
          <p:nvPr/>
        </p:nvSpPr>
        <p:spPr>
          <a:xfrm>
            <a:off x="5760720" y="4007358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정비 중에는 예비 AMR-05가 바로 이어받음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92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03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입출차 OCR · 바코드</a:t>
            </a:r>
            <a:endParaRPr lang="en-US" sz="2200" dirty="0"/>
          </a:p>
        </p:txBody>
      </p:sp>
      <p:sp>
        <p:nvSpPr>
          <p:cNvPr id="4" name="txt_93"/>
          <p:cNvSpPr txBox="1"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1차에서 만든 번호판 OCR을 허브 입구 · 출구에 연결하고, 차종은 DB로 판정</a:t>
            </a:r>
            <a:endParaRPr lang="en-US" sz="1150" dirty="0"/>
          </a:p>
        </p:txBody>
      </p:sp>
      <p:pic>
        <p:nvPicPr>
          <p:cNvPr id="5" name="img_94" descr="입출차 OCR · 바코드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61872"/>
            <a:ext cx="4846320" cy="3172968"/>
          </a:xfrm>
          <a:prstGeom prst="rect">
            <a:avLst/>
          </a:prstGeom>
        </p:spPr>
      </p:pic>
      <p:sp>
        <p:nvSpPr>
          <p:cNvPr id="6" name="card_95"/>
          <p:cNvSpPr/>
          <p:nvPr/>
        </p:nvSpPr>
        <p:spPr>
          <a:xfrm>
            <a:off x="5577840" y="1261872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96"/>
          <p:cNvSpPr/>
          <p:nvPr/>
        </p:nvSpPr>
        <p:spPr>
          <a:xfrm>
            <a:off x="5577840" y="1371600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xt_97"/>
          <p:cNvSpPr txBox="1"/>
          <p:nvPr/>
        </p:nvSpPr>
        <p:spPr>
          <a:xfrm>
            <a:off x="5760720" y="13533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게이트에서 정지 → 인식</a:t>
            </a:r>
            <a:endParaRPr lang="en-US" sz="1150" dirty="0"/>
          </a:p>
        </p:txBody>
      </p:sp>
      <p:sp>
        <p:nvSpPr>
          <p:cNvPr id="9" name="txt_98"/>
          <p:cNvSpPr txBox="1"/>
          <p:nvPr/>
        </p:nvSpPr>
        <p:spPr>
          <a:xfrm>
            <a:off x="5760720" y="1627632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트럭이 카메라 앞에 멈추면 YOLO + CRNN으로 번호판 인식</a:t>
            </a:r>
            <a:endParaRPr lang="en-US" sz="950" dirty="0"/>
          </a:p>
        </p:txBody>
      </p:sp>
      <p:sp>
        <p:nvSpPr>
          <p:cNvPr id="10" name="card_99"/>
          <p:cNvSpPr/>
          <p:nvPr/>
        </p:nvSpPr>
        <p:spPr>
          <a:xfrm>
            <a:off x="5577840" y="2055114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100"/>
          <p:cNvSpPr/>
          <p:nvPr/>
        </p:nvSpPr>
        <p:spPr>
          <a:xfrm>
            <a:off x="5577840" y="2164842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101"/>
          <p:cNvSpPr txBox="1"/>
          <p:nvPr/>
        </p:nvSpPr>
        <p:spPr>
          <a:xfrm>
            <a:off x="5760720" y="214655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판정</a:t>
            </a:r>
            <a:endParaRPr lang="en-US" sz="1150" dirty="0"/>
          </a:p>
        </p:txBody>
      </p:sp>
      <p:sp>
        <p:nvSpPr>
          <p:cNvPr id="13" name="txt_102"/>
          <p:cNvSpPr txBox="1"/>
          <p:nvPr/>
        </p:nvSpPr>
        <p:spPr>
          <a:xfrm>
            <a:off x="5760720" y="2420874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화물차 → 입고 도크 · 택배차 → 출고 도크 · 미등록 → 회차</a:t>
            </a:r>
            <a:endParaRPr lang="en-US" sz="950" dirty="0"/>
          </a:p>
        </p:txBody>
      </p:sp>
      <p:sp>
        <p:nvSpPr>
          <p:cNvPr id="14" name="card_103"/>
          <p:cNvSpPr/>
          <p:nvPr/>
        </p:nvSpPr>
        <p:spPr>
          <a:xfrm>
            <a:off x="5577840" y="2848356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104"/>
          <p:cNvSpPr/>
          <p:nvPr/>
        </p:nvSpPr>
        <p:spPr>
          <a:xfrm>
            <a:off x="5577840" y="2958084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xt_105"/>
          <p:cNvSpPr txBox="1"/>
          <p:nvPr/>
        </p:nvSpPr>
        <p:spPr>
          <a:xfrm>
            <a:off x="5760720" y="29397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3D에 그대로</a:t>
            </a:r>
            <a:endParaRPr lang="en-US" sz="1150" dirty="0"/>
          </a:p>
        </p:txBody>
      </p:sp>
      <p:sp>
        <p:nvSpPr>
          <p:cNvPr id="17" name="txt_106"/>
          <p:cNvSpPr txBox="1"/>
          <p:nvPr/>
        </p:nvSpPr>
        <p:spPr>
          <a:xfrm>
            <a:off x="5760720" y="3214116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번호판 글자가 인식 결과로 바뀌고, 출차 때 실린 상자 수 기록</a:t>
            </a:r>
            <a:endParaRPr lang="en-US" sz="950" dirty="0"/>
          </a:p>
        </p:txBody>
      </p:sp>
      <p:sp>
        <p:nvSpPr>
          <p:cNvPr id="18" name="card_107"/>
          <p:cNvSpPr/>
          <p:nvPr/>
        </p:nvSpPr>
        <p:spPr>
          <a:xfrm>
            <a:off x="5577840" y="3641598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108"/>
          <p:cNvSpPr/>
          <p:nvPr/>
        </p:nvSpPr>
        <p:spPr>
          <a:xfrm>
            <a:off x="5577840" y="3751326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xt_109"/>
          <p:cNvSpPr txBox="1"/>
          <p:nvPr/>
        </p:nvSpPr>
        <p:spPr>
          <a:xfrm>
            <a:off x="5760720" y="373303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 EAN-13</a:t>
            </a:r>
            <a:endParaRPr lang="en-US" sz="1150" dirty="0"/>
          </a:p>
        </p:txBody>
      </p:sp>
      <p:sp>
        <p:nvSpPr>
          <p:cNvPr id="21" name="txt_110"/>
          <p:cNvSpPr txBox="1"/>
          <p:nvPr/>
        </p:nvSpPr>
        <p:spPr>
          <a:xfrm>
            <a:off x="5760720" y="4007358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바코드 폴더와 같은 번호 체계를 코드로 직접 그림 (검증숫자 계산)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11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04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교차로 예약</a:t>
            </a:r>
            <a:endParaRPr lang="en-US" sz="2200" dirty="0"/>
          </a:p>
        </p:txBody>
      </p:sp>
      <p:sp>
        <p:nvSpPr>
          <p:cNvPr id="4" name="txt_112"/>
          <p:cNvSpPr txBox="1"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통로 × 간선 교차로 10곳을 한 번에 한 대만 지나가게 해서 겹침 0</a:t>
            </a:r>
            <a:endParaRPr lang="en-US" sz="1150" dirty="0"/>
          </a:p>
        </p:txBody>
      </p:sp>
      <p:pic>
        <p:nvPicPr>
          <p:cNvPr id="5" name="img_113" descr="교차로 예약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61872"/>
            <a:ext cx="4846320" cy="3172968"/>
          </a:xfrm>
          <a:prstGeom prst="rect">
            <a:avLst/>
          </a:prstGeom>
        </p:spPr>
      </p:pic>
      <p:sp>
        <p:nvSpPr>
          <p:cNvPr id="6" name="card_114"/>
          <p:cNvSpPr/>
          <p:nvPr/>
        </p:nvSpPr>
        <p:spPr>
          <a:xfrm>
            <a:off x="5577840" y="1261872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7" name="bar_115"/>
          <p:cNvSpPr/>
          <p:nvPr/>
        </p:nvSpPr>
        <p:spPr>
          <a:xfrm>
            <a:off x="5577840" y="1371600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xt_116"/>
          <p:cNvSpPr txBox="1"/>
          <p:nvPr/>
        </p:nvSpPr>
        <p:spPr>
          <a:xfrm>
            <a:off x="5760720" y="13533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요청</a:t>
            </a:r>
            <a:endParaRPr lang="en-US" sz="1150" dirty="0"/>
          </a:p>
        </p:txBody>
      </p:sp>
      <p:sp>
        <p:nvSpPr>
          <p:cNvPr id="9" name="txt_117"/>
          <p:cNvSpPr txBox="1"/>
          <p:nvPr/>
        </p:nvSpPr>
        <p:spPr>
          <a:xfrm>
            <a:off x="5760720" y="1627632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앞 2.2m 안의 교차로를 예약, 비어 있으면 통과</a:t>
            </a:r>
            <a:endParaRPr lang="en-US" sz="950" dirty="0"/>
          </a:p>
        </p:txBody>
      </p:sp>
      <p:sp>
        <p:nvSpPr>
          <p:cNvPr id="10" name="card_118"/>
          <p:cNvSpPr/>
          <p:nvPr/>
        </p:nvSpPr>
        <p:spPr>
          <a:xfrm>
            <a:off x="5577840" y="2055114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1" name="bar_119"/>
          <p:cNvSpPr/>
          <p:nvPr/>
        </p:nvSpPr>
        <p:spPr>
          <a:xfrm>
            <a:off x="5577840" y="2164842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120"/>
          <p:cNvSpPr txBox="1"/>
          <p:nvPr/>
        </p:nvSpPr>
        <p:spPr>
          <a:xfrm>
            <a:off x="5760720" y="214655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멈추기</a:t>
            </a:r>
            <a:endParaRPr lang="en-US" sz="1150" dirty="0"/>
          </a:p>
        </p:txBody>
      </p:sp>
      <p:sp>
        <p:nvSpPr>
          <p:cNvPr id="13" name="txt_121"/>
          <p:cNvSpPr txBox="1"/>
          <p:nvPr/>
        </p:nvSpPr>
        <p:spPr>
          <a:xfrm>
            <a:off x="5760720" y="2420874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제동 거리 √(2 · 감속 · 거리)로 속도를 줄여 교차로 앞에 정지</a:t>
            </a:r>
            <a:endParaRPr lang="en-US" sz="950" dirty="0"/>
          </a:p>
        </p:txBody>
      </p:sp>
      <p:sp>
        <p:nvSpPr>
          <p:cNvPr id="14" name="card_122"/>
          <p:cNvSpPr/>
          <p:nvPr/>
        </p:nvSpPr>
        <p:spPr>
          <a:xfrm>
            <a:off x="5577840" y="2848356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5" name="bar_123"/>
          <p:cNvSpPr/>
          <p:nvPr/>
        </p:nvSpPr>
        <p:spPr>
          <a:xfrm>
            <a:off x="5577840" y="2958084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xt_124"/>
          <p:cNvSpPr txBox="1"/>
          <p:nvPr/>
        </p:nvSpPr>
        <p:spPr>
          <a:xfrm>
            <a:off x="5760720" y="29397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교착 방지</a:t>
            </a:r>
            <a:endParaRPr lang="en-US" sz="1150" dirty="0"/>
          </a:p>
        </p:txBody>
      </p:sp>
      <p:sp>
        <p:nvSpPr>
          <p:cNvPr id="17" name="txt_125"/>
          <p:cNvSpPr txBox="1"/>
          <p:nvPr/>
        </p:nvSpPr>
        <p:spPr>
          <a:xfrm>
            <a:off x="5760720" y="3214116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3.5초 막히고 상대도 멈춰 있으면 양보 규칙</a:t>
            </a:r>
            <a:endParaRPr lang="en-US" sz="950" dirty="0"/>
          </a:p>
        </p:txBody>
      </p:sp>
      <p:sp>
        <p:nvSpPr>
          <p:cNvPr id="18" name="card_126"/>
          <p:cNvSpPr/>
          <p:nvPr/>
        </p:nvSpPr>
        <p:spPr>
          <a:xfrm>
            <a:off x="5577840" y="3641598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9" name="bar_127"/>
          <p:cNvSpPr/>
          <p:nvPr/>
        </p:nvSpPr>
        <p:spPr>
          <a:xfrm>
            <a:off x="5577840" y="3751326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xt_128"/>
          <p:cNvSpPr txBox="1"/>
          <p:nvPr/>
        </p:nvSpPr>
        <p:spPr>
          <a:xfrm>
            <a:off x="5760720" y="373303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수치로 검증</a:t>
            </a:r>
            <a:endParaRPr lang="en-US" sz="1150" dirty="0"/>
          </a:p>
        </p:txBody>
      </p:sp>
      <p:sp>
        <p:nvSpPr>
          <p:cNvPr id="21" name="txt_129"/>
          <p:cNvSpPr txBox="1"/>
          <p:nvPr/>
        </p:nvSpPr>
        <p:spPr>
          <a:xfrm>
            <a:off x="5760720" y="4007358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600초 시뮬: 겹침 41 → 0, 처리량 유지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30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05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통계 · 관리자 앱</a:t>
            </a:r>
            <a:endParaRPr lang="en-US" sz="2200" dirty="0"/>
          </a:p>
        </p:txBody>
      </p:sp>
      <p:sp>
        <p:nvSpPr>
          <p:cNvPr id="4" name="txt_131"/>
          <p:cNvSpPr txBox="1"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쌓기만 하던 데이터를 운영 지표로, 앱은 관리자가 한눈에</a:t>
            </a:r>
            <a:endParaRPr lang="en-US" sz="1150" dirty="0"/>
          </a:p>
        </p:txBody>
      </p:sp>
      <p:sp>
        <p:nvSpPr>
          <p:cNvPr id="5" name="frame_132"/>
          <p:cNvSpPr/>
          <p:nvPr/>
        </p:nvSpPr>
        <p:spPr>
          <a:xfrm>
            <a:off x="457200" y="1261872"/>
            <a:ext cx="484632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g_133" descr="KPI 통계 · 관리자 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2100"/>
            <a:ext cx="4846320" cy="2572512"/>
          </a:xfrm>
          <a:prstGeom prst="rect">
            <a:avLst/>
          </a:prstGeom>
        </p:spPr>
      </p:pic>
      <p:sp>
        <p:nvSpPr>
          <p:cNvPr id="7" name="card_134"/>
          <p:cNvSpPr/>
          <p:nvPr/>
        </p:nvSpPr>
        <p:spPr>
          <a:xfrm>
            <a:off x="5577840" y="1261872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8" name="bar_135"/>
          <p:cNvSpPr/>
          <p:nvPr/>
        </p:nvSpPr>
        <p:spPr>
          <a:xfrm>
            <a:off x="5577840" y="1371600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xt_136"/>
          <p:cNvSpPr txBox="1"/>
          <p:nvPr/>
        </p:nvSpPr>
        <p:spPr>
          <a:xfrm>
            <a:off x="5760720" y="13533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API 하나</a:t>
            </a:r>
            <a:endParaRPr lang="en-US" sz="1150" dirty="0"/>
          </a:p>
        </p:txBody>
      </p:sp>
      <p:sp>
        <p:nvSpPr>
          <p:cNvPr id="10" name="txt_137"/>
          <p:cNvSpPr txBox="1"/>
          <p:nvPr/>
        </p:nvSpPr>
        <p:spPr>
          <a:xfrm>
            <a:off x="5760720" y="1627632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 · 시간대별 · 가동률 · 운반 시간 · 교차로 대기 · OCR 신뢰도</a:t>
            </a:r>
            <a:endParaRPr lang="en-US" sz="950" dirty="0"/>
          </a:p>
        </p:txBody>
      </p:sp>
      <p:sp>
        <p:nvSpPr>
          <p:cNvPr id="11" name="card_138"/>
          <p:cNvSpPr/>
          <p:nvPr/>
        </p:nvSpPr>
        <p:spPr>
          <a:xfrm>
            <a:off x="5577840" y="2055114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2" name="bar_139"/>
          <p:cNvSpPr/>
          <p:nvPr/>
        </p:nvSpPr>
        <p:spPr>
          <a:xfrm>
            <a:off x="5577840" y="2164842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xt_140"/>
          <p:cNvSpPr txBox="1"/>
          <p:nvPr/>
        </p:nvSpPr>
        <p:spPr>
          <a:xfrm>
            <a:off x="5760720" y="214655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홈 = 할 일</a:t>
            </a:r>
            <a:endParaRPr lang="en-US" sz="1150" dirty="0"/>
          </a:p>
        </p:txBody>
      </p:sp>
      <p:sp>
        <p:nvSpPr>
          <p:cNvPr id="14" name="txt_141"/>
          <p:cNvSpPr txBox="1"/>
          <p:nvPr/>
        </p:nvSpPr>
        <p:spPr>
          <a:xfrm>
            <a:off x="5760720" y="2420874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차량 · 정비 · 배터리 부족만 모아 보여 주고, 누르면 해당 화면</a:t>
            </a:r>
            <a:endParaRPr lang="en-US" sz="950" dirty="0"/>
          </a:p>
        </p:txBody>
      </p:sp>
      <p:sp>
        <p:nvSpPr>
          <p:cNvPr id="15" name="card_142"/>
          <p:cNvSpPr/>
          <p:nvPr/>
        </p:nvSpPr>
        <p:spPr>
          <a:xfrm>
            <a:off x="5577840" y="2848356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6" name="bar_143"/>
          <p:cNvSpPr/>
          <p:nvPr/>
        </p:nvSpPr>
        <p:spPr>
          <a:xfrm>
            <a:off x="5577840" y="2958084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xt_144"/>
          <p:cNvSpPr txBox="1"/>
          <p:nvPr/>
        </p:nvSpPr>
        <p:spPr>
          <a:xfrm>
            <a:off x="5760720" y="29397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알림</a:t>
            </a:r>
            <a:endParaRPr lang="en-US" sz="1150" dirty="0"/>
          </a:p>
        </p:txBody>
      </p:sp>
      <p:sp>
        <p:nvSpPr>
          <p:cNvPr id="18" name="txt_145"/>
          <p:cNvSpPr txBox="1"/>
          <p:nvPr/>
        </p:nvSpPr>
        <p:spPr>
          <a:xfrm>
            <a:off x="5760720" y="3214116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· 정비 예약만 알림, 나머지는 앱 안에서</a:t>
            </a:r>
            <a:endParaRPr lang="en-US" sz="950" dirty="0"/>
          </a:p>
        </p:txBody>
      </p:sp>
      <p:sp>
        <p:nvSpPr>
          <p:cNvPr id="19" name="card_146"/>
          <p:cNvSpPr/>
          <p:nvPr/>
        </p:nvSpPr>
        <p:spPr>
          <a:xfrm>
            <a:off x="5577840" y="3641598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20" name="bar_147"/>
          <p:cNvSpPr/>
          <p:nvPr/>
        </p:nvSpPr>
        <p:spPr>
          <a:xfrm>
            <a:off x="5577840" y="3751326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xt_148"/>
          <p:cNvSpPr txBox="1"/>
          <p:nvPr/>
        </p:nvSpPr>
        <p:spPr>
          <a:xfrm>
            <a:off x="5760720" y="373303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WiFi 연결</a:t>
            </a:r>
            <a:endParaRPr lang="en-US" sz="1150" dirty="0"/>
          </a:p>
        </p:txBody>
      </p:sp>
      <p:sp>
        <p:nvSpPr>
          <p:cNvPr id="22" name="txt_149"/>
          <p:cNvSpPr txBox="1"/>
          <p:nvPr/>
        </p:nvSpPr>
        <p:spPr>
          <a:xfrm>
            <a:off x="5760720" y="4007358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 사설망 차단을 CapacitorHttp(네이티브 통신)로 해결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50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06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연결 인증 (QR · OTP)</a:t>
            </a:r>
            <a:endParaRPr lang="en-US" sz="2200" dirty="0"/>
          </a:p>
        </p:txBody>
      </p:sp>
      <p:sp>
        <p:nvSpPr>
          <p:cNvPr id="4" name="txt_151"/>
          <p:cNvSpPr txBox="1"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관리자로 로그인한 웹에만 뜨는 QR을 앱으로 찍으면 24시간 로그인</a:t>
            </a:r>
            <a:endParaRPr lang="en-US" sz="1150" dirty="0"/>
          </a:p>
        </p:txBody>
      </p:sp>
      <p:sp>
        <p:nvSpPr>
          <p:cNvPr id="5" name="frame_152"/>
          <p:cNvSpPr/>
          <p:nvPr/>
        </p:nvSpPr>
        <p:spPr>
          <a:xfrm>
            <a:off x="457200" y="1261872"/>
            <a:ext cx="4846320" cy="31729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g_153" descr="앱 연결 인증 (QR · OTP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88" y="1261872"/>
            <a:ext cx="3877144" cy="3172968"/>
          </a:xfrm>
          <a:prstGeom prst="rect">
            <a:avLst/>
          </a:prstGeom>
        </p:spPr>
      </p:pic>
      <p:sp>
        <p:nvSpPr>
          <p:cNvPr id="7" name="card_154"/>
          <p:cNvSpPr/>
          <p:nvPr/>
        </p:nvSpPr>
        <p:spPr>
          <a:xfrm>
            <a:off x="5577840" y="1261872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8" name="bar_155"/>
          <p:cNvSpPr/>
          <p:nvPr/>
        </p:nvSpPr>
        <p:spPr>
          <a:xfrm>
            <a:off x="5577840" y="1371600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xt_156"/>
          <p:cNvSpPr txBox="1"/>
          <p:nvPr/>
        </p:nvSpPr>
        <p:spPr>
          <a:xfrm>
            <a:off x="5760720" y="13533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 코드 · QR 표시</a:t>
            </a:r>
            <a:endParaRPr lang="en-US" sz="1150" dirty="0"/>
          </a:p>
        </p:txBody>
      </p:sp>
      <p:sp>
        <p:nvSpPr>
          <p:cNvPr id="10" name="txt_157"/>
          <p:cNvSpPr txBox="1"/>
          <p:nvPr/>
        </p:nvSpPr>
        <p:spPr>
          <a:xfrm>
            <a:off x="5760720" y="1627632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관리자 로그인 화면에만 30초마다 바뀌는 6자리와 QR</a:t>
            </a:r>
            <a:endParaRPr lang="en-US" sz="950" dirty="0"/>
          </a:p>
        </p:txBody>
      </p:sp>
      <p:sp>
        <p:nvSpPr>
          <p:cNvPr id="11" name="card_158"/>
          <p:cNvSpPr/>
          <p:nvPr/>
        </p:nvSpPr>
        <p:spPr>
          <a:xfrm>
            <a:off x="5577840" y="2055114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2" name="bar_159"/>
          <p:cNvSpPr/>
          <p:nvPr/>
        </p:nvSpPr>
        <p:spPr>
          <a:xfrm>
            <a:off x="5577840" y="2164842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xt_160"/>
          <p:cNvSpPr txBox="1"/>
          <p:nvPr/>
        </p:nvSpPr>
        <p:spPr>
          <a:xfrm>
            <a:off x="5760720" y="214655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찍으면 주소까지</a:t>
            </a:r>
            <a:endParaRPr lang="en-US" sz="1150" dirty="0"/>
          </a:p>
        </p:txBody>
      </p:sp>
      <p:sp>
        <p:nvSpPr>
          <p:cNvPr id="14" name="txt_161"/>
          <p:cNvSpPr txBox="1"/>
          <p:nvPr/>
        </p:nvSpPr>
        <p:spPr>
          <a:xfrm>
            <a:off x="5760720" y="2420874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QR에 노트북 와이파이 주소 포함 → 노트북이 바뀌어도 앱 설정 없이 연결</a:t>
            </a:r>
            <a:endParaRPr lang="en-US" sz="950" dirty="0"/>
          </a:p>
        </p:txBody>
      </p:sp>
      <p:sp>
        <p:nvSpPr>
          <p:cNvPr id="15" name="card_162"/>
          <p:cNvSpPr/>
          <p:nvPr/>
        </p:nvSpPr>
        <p:spPr>
          <a:xfrm>
            <a:off x="5577840" y="2848356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16" name="bar_163"/>
          <p:cNvSpPr/>
          <p:nvPr/>
        </p:nvSpPr>
        <p:spPr>
          <a:xfrm>
            <a:off x="5577840" y="2958084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xt_164"/>
          <p:cNvSpPr txBox="1"/>
          <p:nvPr/>
        </p:nvSpPr>
        <p:spPr>
          <a:xfrm>
            <a:off x="5760720" y="29397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원리대로 직접 구현</a:t>
            </a:r>
            <a:endParaRPr lang="en-US" sz="1150" dirty="0"/>
          </a:p>
        </p:txBody>
      </p:sp>
      <p:sp>
        <p:nvSpPr>
          <p:cNvPr id="18" name="txt_165"/>
          <p:cNvSpPr txBox="1"/>
          <p:nvPr/>
        </p:nvSpPr>
        <p:spPr>
          <a:xfrm>
            <a:off x="5760720" y="3214116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TOTP(HmacSHA1 · 30초)와 QR 인코더를 라이브러리 없이, 표준 테스트 값으로 검증</a:t>
            </a:r>
            <a:endParaRPr lang="en-US" sz="950" dirty="0"/>
          </a:p>
        </p:txBody>
      </p:sp>
      <p:sp>
        <p:nvSpPr>
          <p:cNvPr id="19" name="card_166"/>
          <p:cNvSpPr/>
          <p:nvPr/>
        </p:nvSpPr>
        <p:spPr>
          <a:xfrm>
            <a:off x="5577840" y="3641598"/>
            <a:ext cx="3108960" cy="701802"/>
          </a:xfrm>
          <a:prstGeom prst="roundRect">
            <a:avLst>
              <a:gd name="adj" fmla="val 7818"/>
            </a:avLst>
          </a:prstGeom>
          <a:solidFill>
            <a:schemeClr val="bg1"/>
          </a:solidFill>
          <a:ln w="9525">
            <a:solidFill>
              <a:srgbClr val="D3DCE4"/>
            </a:solidFill>
            <a:prstDash val="solid"/>
          </a:ln>
        </p:spPr>
      </p:sp>
      <p:sp>
        <p:nvSpPr>
          <p:cNvPr id="20" name="bar_167"/>
          <p:cNvSpPr/>
          <p:nvPr/>
        </p:nvSpPr>
        <p:spPr>
          <a:xfrm>
            <a:off x="5577840" y="3751326"/>
            <a:ext cx="45720" cy="48234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xt_168"/>
          <p:cNvSpPr txBox="1"/>
          <p:nvPr/>
        </p:nvSpPr>
        <p:spPr>
          <a:xfrm>
            <a:off x="5760720" y="373303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</a:t>
            </a:r>
            <a:endParaRPr lang="en-US" sz="1150" dirty="0"/>
          </a:p>
        </p:txBody>
      </p:sp>
      <p:sp>
        <p:nvSpPr>
          <p:cNvPr id="22" name="txt_169"/>
          <p:cNvSpPr txBox="1"/>
          <p:nvPr/>
        </p:nvSpPr>
        <p:spPr>
          <a:xfrm>
            <a:off x="5760720" y="4007358"/>
            <a:ext cx="281635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 실패 1분 잠금 · 코드 재사용 금지 · 토큰 해시 저장 · 모든 앱 로그아웃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70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스택과 선택 이유</a:t>
            </a:r>
            <a:endParaRPr lang="en-US" sz="2200" dirty="0"/>
          </a:p>
        </p:txBody>
      </p:sp>
      <p:graphicFrame>
        <p:nvGraphicFramePr>
          <p:cNvPr id="12" name="table_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566160"/>
                <a:gridCol w="3566160"/>
              </a:tblGrid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골랐나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Three.js r160 (InstancedMesh · CSS2D · Ortho)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화면에 바로 넣고, 같은 코드를 앱에서도 쓰려고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Vue 3 + Vite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프로젝트 관리자 화면과 같은 스택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Capacitor 7 · CapacitorHttp · 알림 · ML Kit 스캐너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코드 재사용 + 네이티브 통신 · 알림 · QR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Spring Boot 3 · JPA · RestTemplate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백엔드와 같은 스택, OCR 서버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시계열 센서 저장 · 집계 쿼리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 · YOLO · CRNN (1차 자작 모델)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학습한 번호판 모델 재사용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TOTP(RFC 6238) · 자작 QR 인코더 · SHA-256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 없이 원리대로 구현해 설명 가능하게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Playwright · 목업 서버 · Node 시뮬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화면과 알고리즘을 수치로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172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설계: 테이블 12개</a:t>
            </a:r>
            <a:endParaRPr lang="en-US" sz="2200" dirty="0"/>
          </a:p>
        </p:txBody>
      </p:sp>
      <p:sp>
        <p:nvSpPr>
          <p:cNvPr id="4" name="card_173"/>
          <p:cNvSpPr/>
          <p:nvPr/>
        </p:nvSpPr>
        <p:spPr>
          <a:xfrm>
            <a:off x="457200" y="1261872"/>
            <a:ext cx="1920240" cy="27432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xt_174"/>
          <p:cNvSpPr txBox="1"/>
          <p:nvPr/>
        </p:nvSpPr>
        <p:spPr>
          <a:xfrm>
            <a:off x="640080" y="1399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· 예지보전</a:t>
            </a:r>
            <a:endParaRPr lang="en-US" sz="1250" dirty="0"/>
          </a:p>
        </p:txBody>
      </p:sp>
      <p:sp>
        <p:nvSpPr>
          <p:cNvPr id="6" name="tbl_175"/>
          <p:cNvSpPr/>
          <p:nvPr/>
        </p:nvSpPr>
        <p:spPr>
          <a:xfrm>
            <a:off x="594360" y="1828800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7" name="txt_176"/>
          <p:cNvSpPr txBox="1"/>
          <p:nvPr/>
        </p:nvSpPr>
        <p:spPr>
          <a:xfrm>
            <a:off x="704088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hubs</a:t>
            </a:r>
            <a:endParaRPr lang="en-US" sz="1000" dirty="0"/>
          </a:p>
        </p:txBody>
      </p:sp>
      <p:sp>
        <p:nvSpPr>
          <p:cNvPr id="8" name="tbl_177"/>
          <p:cNvSpPr/>
          <p:nvPr/>
        </p:nvSpPr>
        <p:spPr>
          <a:xfrm>
            <a:off x="594360" y="2249424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9" name="txt_178"/>
          <p:cNvSpPr txBox="1"/>
          <p:nvPr/>
        </p:nvSpPr>
        <p:spPr>
          <a:xfrm>
            <a:off x="704088" y="2249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amr_robots</a:t>
            </a:r>
            <a:endParaRPr lang="en-US" sz="1000" dirty="0"/>
          </a:p>
        </p:txBody>
      </p:sp>
      <p:sp>
        <p:nvSpPr>
          <p:cNvPr id="10" name="tbl_179"/>
          <p:cNvSpPr/>
          <p:nvPr/>
        </p:nvSpPr>
        <p:spPr>
          <a:xfrm>
            <a:off x="594360" y="2670048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11" name="txt_180"/>
          <p:cNvSpPr txBox="1"/>
          <p:nvPr/>
        </p:nvSpPr>
        <p:spPr>
          <a:xfrm>
            <a:off x="704088" y="2670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amr_telemetry</a:t>
            </a:r>
            <a:endParaRPr lang="en-US" sz="1000" dirty="0"/>
          </a:p>
        </p:txBody>
      </p:sp>
      <p:sp>
        <p:nvSpPr>
          <p:cNvPr id="12" name="tbl_181"/>
          <p:cNvSpPr/>
          <p:nvPr/>
        </p:nvSpPr>
        <p:spPr>
          <a:xfrm>
            <a:off x="594360" y="3090672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13" name="txt_182"/>
          <p:cNvSpPr txBox="1"/>
          <p:nvPr/>
        </p:nvSpPr>
        <p:spPr>
          <a:xfrm>
            <a:off x="704088" y="3090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amr_predictions</a:t>
            </a:r>
            <a:endParaRPr lang="en-US" sz="1000" dirty="0"/>
          </a:p>
        </p:txBody>
      </p:sp>
      <p:sp>
        <p:nvSpPr>
          <p:cNvPr id="14" name="tbl_183"/>
          <p:cNvSpPr/>
          <p:nvPr/>
        </p:nvSpPr>
        <p:spPr>
          <a:xfrm>
            <a:off x="594360" y="3511296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15" name="txt_184"/>
          <p:cNvSpPr txBox="1"/>
          <p:nvPr/>
        </p:nvSpPr>
        <p:spPr>
          <a:xfrm>
            <a:off x="704088" y="35112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amr_maintenance</a:t>
            </a:r>
            <a:endParaRPr lang="en-US" sz="1000" dirty="0"/>
          </a:p>
        </p:txBody>
      </p:sp>
      <p:sp>
        <p:nvSpPr>
          <p:cNvPr id="16" name="card_185"/>
          <p:cNvSpPr/>
          <p:nvPr/>
        </p:nvSpPr>
        <p:spPr>
          <a:xfrm>
            <a:off x="2560320" y="1261872"/>
            <a:ext cx="1920240" cy="27432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txt_186"/>
          <p:cNvSpPr txBox="1"/>
          <p:nvPr/>
        </p:nvSpPr>
        <p:spPr>
          <a:xfrm>
            <a:off x="2743200" y="1399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기록</a:t>
            </a:r>
            <a:endParaRPr lang="en-US" sz="1250" dirty="0"/>
          </a:p>
        </p:txBody>
      </p:sp>
      <p:sp>
        <p:nvSpPr>
          <p:cNvPr id="18" name="tbl_187"/>
          <p:cNvSpPr/>
          <p:nvPr/>
        </p:nvSpPr>
        <p:spPr>
          <a:xfrm>
            <a:off x="2697480" y="1828800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19" name="txt_188"/>
          <p:cNvSpPr txBox="1"/>
          <p:nvPr/>
        </p:nvSpPr>
        <p:spPr>
          <a:xfrm>
            <a:off x="2807208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hub_events</a:t>
            </a:r>
            <a:endParaRPr lang="en-US" sz="1000" dirty="0"/>
          </a:p>
        </p:txBody>
      </p:sp>
      <p:sp>
        <p:nvSpPr>
          <p:cNvPr id="20" name="tbl_189"/>
          <p:cNvSpPr/>
          <p:nvPr/>
        </p:nvSpPr>
        <p:spPr>
          <a:xfrm>
            <a:off x="2697480" y="2249424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21" name="txt_190"/>
          <p:cNvSpPr txBox="1"/>
          <p:nvPr/>
        </p:nvSpPr>
        <p:spPr>
          <a:xfrm>
            <a:off x="2807208" y="2249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amr_settings</a:t>
            </a:r>
            <a:endParaRPr lang="en-US" sz="1000" dirty="0"/>
          </a:p>
        </p:txBody>
      </p:sp>
      <p:sp>
        <p:nvSpPr>
          <p:cNvPr id="22" name="tbl_191"/>
          <p:cNvSpPr/>
          <p:nvPr/>
        </p:nvSpPr>
        <p:spPr>
          <a:xfrm>
            <a:off x="2697480" y="2670048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23" name="txt_192"/>
          <p:cNvSpPr txBox="1"/>
          <p:nvPr/>
        </p:nvSpPr>
        <p:spPr>
          <a:xfrm>
            <a:off x="2807208" y="2670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amr_task_logs</a:t>
            </a:r>
            <a:endParaRPr lang="en-US" sz="1000" dirty="0"/>
          </a:p>
        </p:txBody>
      </p:sp>
      <p:sp>
        <p:nvSpPr>
          <p:cNvPr id="24" name="card_193"/>
          <p:cNvSpPr/>
          <p:nvPr/>
        </p:nvSpPr>
        <p:spPr>
          <a:xfrm>
            <a:off x="4663440" y="1261872"/>
            <a:ext cx="1920240" cy="27432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5" name="txt_194"/>
          <p:cNvSpPr txBox="1"/>
          <p:nvPr/>
        </p:nvSpPr>
        <p:spPr>
          <a:xfrm>
            <a:off x="4846320" y="1399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입출차</a:t>
            </a:r>
            <a:endParaRPr lang="en-US" sz="1250" dirty="0"/>
          </a:p>
        </p:txBody>
      </p:sp>
      <p:sp>
        <p:nvSpPr>
          <p:cNvPr id="26" name="tbl_195"/>
          <p:cNvSpPr/>
          <p:nvPr/>
        </p:nvSpPr>
        <p:spPr>
          <a:xfrm>
            <a:off x="4800600" y="1828800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27" name="txt_196"/>
          <p:cNvSpPr txBox="1"/>
          <p:nvPr/>
        </p:nvSpPr>
        <p:spPr>
          <a:xfrm>
            <a:off x="4910328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hub_vehicles</a:t>
            </a:r>
            <a:endParaRPr lang="en-US" sz="1000" dirty="0"/>
          </a:p>
        </p:txBody>
      </p:sp>
      <p:sp>
        <p:nvSpPr>
          <p:cNvPr id="28" name="tbl_197"/>
          <p:cNvSpPr/>
          <p:nvPr/>
        </p:nvSpPr>
        <p:spPr>
          <a:xfrm>
            <a:off x="4800600" y="2249424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29" name="txt_198"/>
          <p:cNvSpPr txBox="1"/>
          <p:nvPr/>
        </p:nvSpPr>
        <p:spPr>
          <a:xfrm>
            <a:off x="4910328" y="2249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hub_vehicle_logs</a:t>
            </a:r>
            <a:endParaRPr lang="en-US" sz="1000" dirty="0"/>
          </a:p>
        </p:txBody>
      </p:sp>
      <p:sp>
        <p:nvSpPr>
          <p:cNvPr id="30" name="card_199"/>
          <p:cNvSpPr/>
          <p:nvPr/>
        </p:nvSpPr>
        <p:spPr>
          <a:xfrm>
            <a:off x="6766560" y="1261872"/>
            <a:ext cx="1920240" cy="27432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31" name="txt_200"/>
          <p:cNvSpPr txBox="1"/>
          <p:nvPr/>
        </p:nvSpPr>
        <p:spPr>
          <a:xfrm>
            <a:off x="6949440" y="1399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인증</a:t>
            </a:r>
            <a:endParaRPr lang="en-US" sz="1250" dirty="0"/>
          </a:p>
        </p:txBody>
      </p:sp>
      <p:sp>
        <p:nvSpPr>
          <p:cNvPr id="32" name="tbl_201"/>
          <p:cNvSpPr/>
          <p:nvPr/>
        </p:nvSpPr>
        <p:spPr>
          <a:xfrm>
            <a:off x="6903720" y="1828800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33" name="txt_202"/>
          <p:cNvSpPr txBox="1"/>
          <p:nvPr/>
        </p:nvSpPr>
        <p:spPr>
          <a:xfrm>
            <a:off x="7013448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amr_otp_keys</a:t>
            </a:r>
            <a:endParaRPr lang="en-US" sz="1000" dirty="0"/>
          </a:p>
        </p:txBody>
      </p:sp>
      <p:sp>
        <p:nvSpPr>
          <p:cNvPr id="34" name="tbl_203"/>
          <p:cNvSpPr/>
          <p:nvPr/>
        </p:nvSpPr>
        <p:spPr>
          <a:xfrm>
            <a:off x="6903720" y="2249424"/>
            <a:ext cx="1645920" cy="329184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6350">
            <a:solidFill>
              <a:srgbClr val="D3DCE4"/>
            </a:solidFill>
            <a:prstDash val="solid"/>
          </a:ln>
        </p:spPr>
      </p:sp>
      <p:sp>
        <p:nvSpPr>
          <p:cNvPr id="35" name="txt_204"/>
          <p:cNvSpPr txBox="1"/>
          <p:nvPr/>
        </p:nvSpPr>
        <p:spPr>
          <a:xfrm>
            <a:off x="7013448" y="2249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amr_auth_tokens</a:t>
            </a:r>
            <a:endParaRPr lang="en-US" sz="1000" dirty="0"/>
          </a:p>
        </p:txBody>
      </p:sp>
      <p:sp>
        <p:nvSpPr>
          <p:cNvPr id="36" name="txt_205"/>
          <p:cNvSpPr txBox="1"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· 집계는 서버에서: 차종 = hub_vehicles 조회 · 가동률 = telemetry 상태 비율(JPQL group by) · 처리량 = task_logs 집계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206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 TOP 6</a:t>
            </a:r>
            <a:endParaRPr lang="en-US" sz="2200" dirty="0"/>
          </a:p>
        </p:txBody>
      </p:sp>
      <p:graphicFrame>
        <p:nvGraphicFramePr>
          <p:cNvPr id="14" name="table_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80360"/>
                <a:gridCol w="2880360"/>
              </a:tblGrid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앱만 WiFi 서버 연결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사설 IP · 다른 출처 요청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CapacitorHttp(네이티브 통신)로 전환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교차로에서 로봇이 겹침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로봇이 앞차만 보고 교차 지점은 관리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교차로 예약 + 제동 거리 감속 → 겹침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입차 인식이 '나갈 때'처럼 보임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게이트가 화면 밖 · 인식이 빨라 정지 장면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게이트를 도크 쪽으로, 최소 2.5초 정지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 서버 실행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python이 새로 깔린 3.14 (패키지 없음)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아나콘다 yolo 환경을 자동으로 찾아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/state 503 · 승인 500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불완전 테이블 선생성 · 파라미터 이름 누락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 검사 후 재생성 · @PathVariable("id")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방금 바꾼 기준이 되돌아감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폴링 응답이 로컬 변경을 덮어씀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후 3초 원격값 무시 + 디바운스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_208"/>
          <p:cNvSpPr txBox="1"/>
          <p:nvPr/>
        </p:nvSpPr>
        <p:spPr>
          <a:xfrm>
            <a:off x="457200" y="219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9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 · 한계 · 다음 단계</a:t>
            </a:r>
            <a:endParaRPr lang="en-US" sz="2200" dirty="0"/>
          </a:p>
        </p:txBody>
      </p:sp>
      <p:sp>
        <p:nvSpPr>
          <p:cNvPr id="4" name="card_209"/>
          <p:cNvSpPr/>
          <p:nvPr/>
        </p:nvSpPr>
        <p:spPr>
          <a:xfrm>
            <a:off x="457200" y="1261872"/>
            <a:ext cx="2621280" cy="2514600"/>
          </a:xfrm>
          <a:prstGeom prst="roundRect">
            <a:avLst>
              <a:gd name="adj" fmla="val 2182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xt_210"/>
          <p:cNvSpPr txBox="1"/>
          <p:nvPr/>
        </p:nvSpPr>
        <p:spPr>
          <a:xfrm>
            <a:off x="658368" y="1399032"/>
            <a:ext cx="2218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350" dirty="0"/>
          </a:p>
        </p:txBody>
      </p:sp>
      <p:sp>
        <p:nvSpPr>
          <p:cNvPr id="6" name="dot_211"/>
          <p:cNvSpPr/>
          <p:nvPr/>
        </p:nvSpPr>
        <p:spPr>
          <a:xfrm>
            <a:off x="676656" y="196596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xt_212"/>
          <p:cNvSpPr txBox="1"/>
          <p:nvPr/>
        </p:nvSpPr>
        <p:spPr>
          <a:xfrm>
            <a:off x="868680" y="1883664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관제는 '보여주기'보다 '놓치지 않게 하기'</a:t>
            </a:r>
            <a:endParaRPr lang="en-US" sz="1100" dirty="0"/>
          </a:p>
        </p:txBody>
      </p:sp>
      <p:sp>
        <p:nvSpPr>
          <p:cNvPr id="8" name="dot_213"/>
          <p:cNvSpPr/>
          <p:nvPr/>
        </p:nvSpPr>
        <p:spPr>
          <a:xfrm>
            <a:off x="676656" y="256946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xt_214"/>
          <p:cNvSpPr txBox="1"/>
          <p:nvPr/>
        </p:nvSpPr>
        <p:spPr>
          <a:xfrm>
            <a:off x="868680" y="2487168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AI가 아니라 데이터(DB)로 해야 설명 가능</a:t>
            </a:r>
            <a:endParaRPr lang="en-US" sz="1100" dirty="0"/>
          </a:p>
        </p:txBody>
      </p:sp>
      <p:sp>
        <p:nvSpPr>
          <p:cNvPr id="10" name="dot_215"/>
          <p:cNvSpPr/>
          <p:nvPr/>
        </p:nvSpPr>
        <p:spPr>
          <a:xfrm>
            <a:off x="676656" y="31729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xt_216"/>
          <p:cNvSpPr txBox="1"/>
          <p:nvPr/>
        </p:nvSpPr>
        <p:spPr>
          <a:xfrm>
            <a:off x="868680" y="3090672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수치로 검증해야 설득된다 (겹침 41 → 0)</a:t>
            </a:r>
            <a:endParaRPr lang="en-US" sz="1100" dirty="0"/>
          </a:p>
        </p:txBody>
      </p:sp>
      <p:sp>
        <p:nvSpPr>
          <p:cNvPr id="12" name="card_217"/>
          <p:cNvSpPr/>
          <p:nvPr/>
        </p:nvSpPr>
        <p:spPr>
          <a:xfrm>
            <a:off x="3261360" y="1261872"/>
            <a:ext cx="2621280" cy="2514600"/>
          </a:xfrm>
          <a:prstGeom prst="roundRect">
            <a:avLst>
              <a:gd name="adj" fmla="val 218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txt_218"/>
          <p:cNvSpPr txBox="1"/>
          <p:nvPr/>
        </p:nvSpPr>
        <p:spPr>
          <a:xfrm>
            <a:off x="3462528" y="1399032"/>
            <a:ext cx="2218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한계</a:t>
            </a:r>
            <a:endParaRPr lang="en-US" sz="1350" dirty="0"/>
          </a:p>
        </p:txBody>
      </p:sp>
      <p:sp>
        <p:nvSpPr>
          <p:cNvPr id="14" name="dot_219"/>
          <p:cNvSpPr/>
          <p:nvPr/>
        </p:nvSpPr>
        <p:spPr>
          <a:xfrm>
            <a:off x="3480816" y="196596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xt_220"/>
          <p:cNvSpPr txBox="1"/>
          <p:nvPr/>
        </p:nvSpPr>
        <p:spPr>
          <a:xfrm>
            <a:off x="3672840" y="1883664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· 로봇은 시뮬레이션 데이터</a:t>
            </a:r>
            <a:endParaRPr lang="en-US" sz="1100" dirty="0"/>
          </a:p>
        </p:txBody>
      </p:sp>
      <p:sp>
        <p:nvSpPr>
          <p:cNvPr id="16" name="dot_221"/>
          <p:cNvSpPr/>
          <p:nvPr/>
        </p:nvSpPr>
        <p:spPr>
          <a:xfrm>
            <a:off x="3480816" y="2569464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xt_222"/>
          <p:cNvSpPr txBox="1"/>
          <p:nvPr/>
        </p:nvSpPr>
        <p:spPr>
          <a:xfrm>
            <a:off x="3672840" y="2487168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예측은 규칙 기반 (학습 모델 아님)</a:t>
            </a:r>
            <a:endParaRPr lang="en-US" sz="1100" dirty="0"/>
          </a:p>
        </p:txBody>
      </p:sp>
      <p:sp>
        <p:nvSpPr>
          <p:cNvPr id="18" name="dot_223"/>
          <p:cNvSpPr/>
          <p:nvPr/>
        </p:nvSpPr>
        <p:spPr>
          <a:xfrm>
            <a:off x="3480816" y="3172968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xt_224"/>
          <p:cNvSpPr txBox="1"/>
          <p:nvPr/>
        </p:nvSpPr>
        <p:spPr>
          <a:xfrm>
            <a:off x="3672840" y="3090672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WiFi 시연용 (https 아님)</a:t>
            </a:r>
            <a:endParaRPr lang="en-US" sz="1100" dirty="0"/>
          </a:p>
        </p:txBody>
      </p:sp>
      <p:sp>
        <p:nvSpPr>
          <p:cNvPr id="20" name="card_225"/>
          <p:cNvSpPr/>
          <p:nvPr/>
        </p:nvSpPr>
        <p:spPr>
          <a:xfrm>
            <a:off x="6065520" y="1261872"/>
            <a:ext cx="2621280" cy="2514600"/>
          </a:xfrm>
          <a:prstGeom prst="roundRect">
            <a:avLst>
              <a:gd name="adj" fmla="val 2182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1" name="txt_226"/>
          <p:cNvSpPr txBox="1"/>
          <p:nvPr/>
        </p:nvSpPr>
        <p:spPr>
          <a:xfrm>
            <a:off x="6266688" y="1399032"/>
            <a:ext cx="2218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350" dirty="0"/>
          </a:p>
        </p:txBody>
      </p:sp>
      <p:sp>
        <p:nvSpPr>
          <p:cNvPr id="22" name="dot_227"/>
          <p:cNvSpPr/>
          <p:nvPr/>
        </p:nvSpPr>
        <p:spPr>
          <a:xfrm>
            <a:off x="6284976" y="196596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xt_228"/>
          <p:cNvSpPr txBox="1"/>
          <p:nvPr/>
        </p:nvSpPr>
        <p:spPr>
          <a:xfrm>
            <a:off x="6477000" y="1883664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데이터로 이상탐지 · 회귀 모델</a:t>
            </a:r>
            <a:endParaRPr lang="en-US" sz="1100" dirty="0"/>
          </a:p>
        </p:txBody>
      </p:sp>
      <p:sp>
        <p:nvSpPr>
          <p:cNvPr id="24" name="dot_229"/>
          <p:cNvSpPr/>
          <p:nvPr/>
        </p:nvSpPr>
        <p:spPr>
          <a:xfrm>
            <a:off x="6284976" y="256946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xt_230"/>
          <p:cNvSpPr txBox="1"/>
          <p:nvPr/>
        </p:nvSpPr>
        <p:spPr>
          <a:xfrm>
            <a:off x="6477000" y="2487168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SSE/웹소켓 실시간 푸시</a:t>
            </a:r>
            <a:endParaRPr lang="en-US" sz="1100" dirty="0"/>
          </a:p>
        </p:txBody>
      </p:sp>
      <p:sp>
        <p:nvSpPr>
          <p:cNvPr id="26" name="dot_231"/>
          <p:cNvSpPr/>
          <p:nvPr/>
        </p:nvSpPr>
        <p:spPr>
          <a:xfrm>
            <a:off x="6284976" y="317296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xt_232"/>
          <p:cNvSpPr txBox="1"/>
          <p:nvPr/>
        </p:nvSpPr>
        <p:spPr>
          <a:xfrm>
            <a:off x="6477000" y="3090672"/>
            <a:ext cx="2026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· 권한 세분화 (조회 / 조작)</a:t>
            </a:r>
            <a:endParaRPr lang="en-US" sz="1100" dirty="0"/>
          </a:p>
        </p:txBody>
      </p:sp>
      <p:sp>
        <p:nvSpPr>
          <p:cNvPr id="28" name="summary"/>
          <p:cNvSpPr/>
          <p:nvPr/>
        </p:nvSpPr>
        <p:spPr>
          <a:xfrm>
            <a:off x="457200" y="3959352"/>
            <a:ext cx="8229600" cy="475488"/>
          </a:xfrm>
          <a:prstGeom prst="roundRect">
            <a:avLst>
              <a:gd name="adj" fmla="val 115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xt_233"/>
          <p:cNvSpPr txBox="1"/>
          <p:nvPr/>
        </p:nvSpPr>
        <p:spPr>
          <a:xfrm>
            <a:off x="685800" y="39593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정리 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현장(3D) · 판정(DB) · 인식(AI) · 관리자 손(앱) · 보안(QR 인증)을 혼자 한 흐름으로 묶은 프로젝트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697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AMR 디지털 트윈 관제 · 3D · 웹 · 앱 · 서버 · DB · AI 연동 1인 개발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시연: 웹 관제 화면 → QR로 관리자 앱 연결 → 번호판 OCR 서버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b AMR Portfolio">
  <a:themeElements>
    <a:clrScheme name="Hub AMR Portfolio">
      <a:dk1>
        <a:srgbClr val="0B1520"/>
      </a:dk1>
      <a:lt1>
        <a:srgbClr val="FFFFFF"/>
      </a:lt1>
      <a:dk2>
        <a:srgbClr val="46566A"/>
      </a:dk2>
      <a:lt2>
        <a:srgbClr val="F1F5F8"/>
      </a:lt2>
      <a:accent1>
        <a:srgbClr val="0FA996"/>
      </a:accent1>
      <a:accent2>
        <a:srgbClr val="D98A1F"/>
      </a:accent2>
      <a:accent3>
        <a:srgbClr val="D9474C"/>
      </a:accent3>
      <a:accent4>
        <a:srgbClr val="2B9F62"/>
      </a:accent4>
      <a:accent5>
        <a:srgbClr val="3FE0CC"/>
      </a:accent5>
      <a:accent6>
        <a:srgbClr val="8796A6"/>
      </a:accent6>
      <a:hlink>
        <a:srgbClr val="0FA996"/>
      </a:hlink>
      <a:folHlink>
        <a:srgbClr val="46566A"/>
      </a:folHlink>
    </a:clrScheme>
    <a:fontScheme name="Hub AMR Portfolio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허브 AMR 디지털 트윈 관제 · 개인 포트폴리오</dc:title>
  <dc:subject>PptxGenJS Presentation</dc:subject>
  <dc:creator>PptxGenJS</dc:creator>
  <cp:lastModifiedBy>PptxGenJS</cp:lastModifiedBy>
  <cp:revision>1</cp:revision>
  <dcterms:created xsi:type="dcterms:W3CDTF">2026-10-16T00:58:31Z</dcterms:created>
  <dcterms:modified xsi:type="dcterms:W3CDTF">2026-10-16T00:58:31Z</dcterms:modified>
</cp:coreProperties>
</file>