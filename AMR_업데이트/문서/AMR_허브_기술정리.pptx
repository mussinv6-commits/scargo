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4a71eed2-b439-01f3-5506-bc5445879986}">
          <p14:sldIdLst>
            <p14:sldId id="256"/>
            <p14:sldId id="257"/>
            <p14:sldId id="258"/>
          </p14:sldIdLst>
        </p14:section>
        <p14:section name="작업 내용" id="{034e354c-6ac0-bab0-ba00-f52ac6cb760d}">
          <p14:sldIdLst>
            <p14:sldId id="259"/>
            <p14:sldId id="260"/>
            <p14:sldId id="261"/>
            <p14:sldId id="262"/>
          </p14:sldIdLst>
        </p14:section>
        <p14:section name="사용 기술" id="{5e7470aa-6be0-f076-6c45-0e4a501aa7eb}">
          <p14:sldIdLst>
            <p14:sldId id="263"/>
            <p14:sldId id="264"/>
          </p14:sldIdLst>
        </p14:section>
        <p14:section name="트러블슈팅" id="{3e098a3e-624f-8c6f-e4aa-614f3938a6e6}">
          <p14:sldIdLst>
            <p14:sldId id="265"/>
            <p14:sldId id="266"/>
            <p14:sldId id="267"/>
          </p14:sldIdLst>
        </p14:section>
        <p14:section name="다음 작업" id="{31c4eb4f-eed9-6a20-2b74-0c998fd313ab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허브 AMR 관제(3D 디지털 트윈 + 관리자 앱 + DB) 작업을 정리한 자료. 작업 진행에 맞춰 계속 갱신한다.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웹이 현장 역할(데이터 생산)을 하고, 앱은 서버 상태를 따라간다. 앱에서 기준을 바꾸면 DB에 저장되고 웹이 2초 폴링으로 반영한다.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49377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1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6"/>
                </a:solidFill>
              </a:rPr>
              <a:t>S-CARGO 2차 · 허브 AMR 파트 작업 정리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_img" descr="p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0"/>
            <a:ext cx="3840480" cy="5143500"/>
          </a:xfrm>
          <a:prstGeom prst="rect">
            <a:avLst/>
          </a:prstGeom>
        </p:spPr>
      </p:pic>
      <p:sp>
        <p:nvSpPr>
          <p:cNvPr id="3" name="txt_1"/>
          <p:cNvSpPr txBox="1"/>
          <p:nvPr/>
        </p:nvSpPr>
        <p:spPr>
          <a:xfrm>
            <a:off x="54864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S-CARGO 2차 · 허브 파트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허브 AMR 관제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작업 정리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8346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작업 내용 · 사용 기술 · 트러블슈팅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2026.10.15 기준 · 작업하면서 계속 갱신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앱에서 바꾼 운영 기준이 2초 안에 웹 3D에 반영된다</a:t>
            </a:r>
            <a:endParaRPr lang="en-US" sz="2100" dirty="0"/>
          </a:p>
        </p:txBody>
      </p:sp>
      <p:sp>
        <p:nvSpPr>
          <p:cNvPr id="3" name="card_2"/>
          <p:cNvSpPr/>
          <p:nvPr/>
        </p:nvSpPr>
        <p:spPr>
          <a:xfrm>
            <a:off x="457200" y="105156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4" name="txt_3"/>
          <p:cNvSpPr txBox="1"/>
          <p:nvPr/>
        </p:nvSpPr>
        <p:spPr>
          <a:xfrm>
            <a:off x="640080" y="11887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3</a:t>
            </a:r>
            <a:endParaRPr lang="en-US" sz="4800" dirty="0"/>
          </a:p>
        </p:txBody>
      </p:sp>
      <p:sp>
        <p:nvSpPr>
          <p:cNvPr id="5" name="txt_4"/>
          <p:cNvSpPr txBox="1"/>
          <p:nvPr/>
        </p:nvSpPr>
        <p:spPr>
          <a:xfrm>
            <a:off x="640080" y="2103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화면 연동</a:t>
            </a:r>
            <a:endParaRPr lang="en-US" sz="1400" dirty="0"/>
          </a:p>
        </p:txBody>
      </p:sp>
      <p:sp>
        <p:nvSpPr>
          <p:cNvPr id="6" name="txt_5"/>
          <p:cNvSpPr txBox="1"/>
          <p:nvPr/>
        </p:nvSpPr>
        <p:spPr>
          <a:xfrm>
            <a:off x="640080" y="24505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웹 3D 관제 · 관리자 앱 · DB</a:t>
            </a:r>
            <a:endParaRPr lang="en-US" sz="950" dirty="0"/>
          </a:p>
        </p:txBody>
      </p:sp>
      <p:sp>
        <p:nvSpPr>
          <p:cNvPr id="7" name="card_6"/>
          <p:cNvSpPr/>
          <p:nvPr/>
        </p:nvSpPr>
        <p:spPr>
          <a:xfrm>
            <a:off x="2532888" y="105156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8" name="txt_7"/>
          <p:cNvSpPr txBox="1"/>
          <p:nvPr/>
        </p:nvSpPr>
        <p:spPr>
          <a:xfrm>
            <a:off x="2715768" y="11887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10</a:t>
            </a:r>
            <a:endParaRPr lang="en-US" sz="4800" dirty="0"/>
          </a:p>
        </p:txBody>
      </p:sp>
      <p:sp>
        <p:nvSpPr>
          <p:cNvPr id="9" name="txt_8"/>
          <p:cNvSpPr txBox="1"/>
          <p:nvPr/>
        </p:nvSpPr>
        <p:spPr>
          <a:xfrm>
            <a:off x="2715768" y="2103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DB 테이블</a:t>
            </a:r>
            <a:endParaRPr lang="en-US" sz="1400" dirty="0"/>
          </a:p>
        </p:txBody>
      </p:sp>
      <p:sp>
        <p:nvSpPr>
          <p:cNvPr id="10" name="txt_9"/>
          <p:cNvSpPr txBox="1"/>
          <p:nvPr/>
        </p:nvSpPr>
        <p:spPr>
          <a:xfrm>
            <a:off x="2715768" y="24505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로봇·센서·예측·정비·이벤트·기준·입출차·작업</a:t>
            </a:r>
            <a:endParaRPr lang="en-US" sz="950" dirty="0"/>
          </a:p>
        </p:txBody>
      </p:sp>
      <p:sp>
        <p:nvSpPr>
          <p:cNvPr id="11" name="card_10"/>
          <p:cNvSpPr/>
          <p:nvPr/>
        </p:nvSpPr>
        <p:spPr>
          <a:xfrm>
            <a:off x="4608576" y="105156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2" name="txt_11"/>
          <p:cNvSpPr txBox="1"/>
          <p:nvPr/>
        </p:nvSpPr>
        <p:spPr>
          <a:xfrm>
            <a:off x="4791456" y="11887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17</a:t>
            </a:r>
            <a:endParaRPr lang="en-US" sz="4800" dirty="0"/>
          </a:p>
        </p:txBody>
      </p:sp>
      <p:sp>
        <p:nvSpPr>
          <p:cNvPr id="13" name="txt_12"/>
          <p:cNvSpPr txBox="1"/>
          <p:nvPr/>
        </p:nvSpPr>
        <p:spPr>
          <a:xfrm>
            <a:off x="4791456" y="2103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REST API</a:t>
            </a:r>
            <a:endParaRPr lang="en-US" sz="1400" dirty="0"/>
          </a:p>
        </p:txBody>
      </p:sp>
      <p:sp>
        <p:nvSpPr>
          <p:cNvPr id="14" name="txt_13"/>
          <p:cNvSpPr txBox="1"/>
          <p:nvPr/>
        </p:nvSpPr>
        <p:spPr>
          <a:xfrm>
            <a:off x="4791456" y="24505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/api/amr — 상태·센서·정비·기준·입출차·KPI</a:t>
            </a:r>
            <a:endParaRPr lang="en-US" sz="950" dirty="0"/>
          </a:p>
        </p:txBody>
      </p:sp>
      <p:sp>
        <p:nvSpPr>
          <p:cNvPr id="15" name="card_14"/>
          <p:cNvSpPr/>
          <p:nvPr/>
        </p:nvSpPr>
        <p:spPr>
          <a:xfrm>
            <a:off x="6684264" y="105156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6" name="txt_15"/>
          <p:cNvSpPr txBox="1"/>
          <p:nvPr/>
        </p:nvSpPr>
        <p:spPr>
          <a:xfrm>
            <a:off x="6867144" y="11887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18</a:t>
            </a:r>
            <a:endParaRPr lang="en-US" sz="4800" dirty="0"/>
          </a:p>
        </p:txBody>
      </p:sp>
      <p:sp>
        <p:nvSpPr>
          <p:cNvPr id="17" name="txt_16"/>
          <p:cNvSpPr txBox="1"/>
          <p:nvPr/>
        </p:nvSpPr>
        <p:spPr>
          <a:xfrm>
            <a:off x="6867144" y="2103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해결한 문제</a:t>
            </a:r>
            <a:endParaRPr lang="en-US" sz="1400" dirty="0"/>
          </a:p>
        </p:txBody>
      </p:sp>
      <p:sp>
        <p:nvSpPr>
          <p:cNvPr id="18" name="txt_17"/>
          <p:cNvSpPr txBox="1"/>
          <p:nvPr/>
        </p:nvSpPr>
        <p:spPr>
          <a:xfrm>
            <a:off x="6867144" y="24505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연결·백엔드·코드 트러블슈팅</a:t>
            </a:r>
            <a:endParaRPr lang="en-US" sz="950" dirty="0"/>
          </a:p>
        </p:txBody>
      </p:sp>
      <p:sp>
        <p:nvSpPr>
          <p:cNvPr id="19" name="card_18"/>
          <p:cNvSpPr/>
          <p:nvPr/>
        </p:nvSpPr>
        <p:spPr>
          <a:xfrm>
            <a:off x="457200" y="3291840"/>
            <a:ext cx="8229600" cy="1234440"/>
          </a:xfrm>
          <a:prstGeom prst="roundRect">
            <a:avLst>
              <a:gd name="adj" fmla="val 592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xt_19"/>
          <p:cNvSpPr txBox="1"/>
          <p:nvPr/>
        </p:nvSpPr>
        <p:spPr>
          <a:xfrm>
            <a:off x="73152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한 줄 요약</a:t>
            </a:r>
            <a:endParaRPr lang="en-US" sz="1000" dirty="0"/>
          </a:p>
        </p:txBody>
      </p:sp>
      <p:sp>
        <p:nvSpPr>
          <p:cNvPr id="21" name="txt_20"/>
          <p:cNvSpPr txBox="1"/>
          <p:nvPr/>
        </p:nvSpPr>
        <p:spPr>
          <a:xfrm>
            <a:off x="731520" y="373075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허브 안의 AMR을 3D로 보여주고, 센서로 고장을 미리 예측해 관리자가 정한 기준대로 자동 정비·충전한다. 관리자는 웹이나 앱에서 기준만 조정하고, 모든 기록은 DB에 남는다.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웹이 현장 데이터를 만들고, 앱과 웹이 같은 DB를 본다</a:t>
            </a:r>
            <a:endParaRPr lang="en-US" sz="2100" dirty="0"/>
          </a:p>
        </p:txBody>
      </p:sp>
      <p:sp>
        <p:nvSpPr>
          <p:cNvPr id="3" name="card_21"/>
          <p:cNvSpPr/>
          <p:nvPr/>
        </p:nvSpPr>
        <p:spPr>
          <a:xfrm>
            <a:off x="457200" y="1051560"/>
            <a:ext cx="251460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txt_22"/>
          <p:cNvSpPr txBox="1"/>
          <p:nvPr/>
        </p:nvSpPr>
        <p:spPr>
          <a:xfrm>
            <a:off x="640080" y="1170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웹 3D 관제</a:t>
            </a:r>
            <a:endParaRPr lang="en-US" sz="1400" dirty="0"/>
          </a:p>
        </p:txBody>
      </p:sp>
      <p:sp>
        <p:nvSpPr>
          <p:cNvPr id="5" name="txt_23"/>
          <p:cNvSpPr txBox="1"/>
          <p:nvPr/>
        </p:nvSpPr>
        <p:spPr>
          <a:xfrm>
            <a:off x="640080" y="1508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Vue 3 + Three.js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현장 시뮬레이터 = 데이터 생산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관리자 기준 설정 카드</a:t>
            </a:r>
            <a:endParaRPr lang="en-US" sz="1000" dirty="0"/>
          </a:p>
        </p:txBody>
      </p:sp>
      <p:sp>
        <p:nvSpPr>
          <p:cNvPr id="6" name="card_24"/>
          <p:cNvSpPr/>
          <p:nvPr/>
        </p:nvSpPr>
        <p:spPr>
          <a:xfrm>
            <a:off x="457200" y="2971800"/>
            <a:ext cx="251460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7" name="txt_25"/>
          <p:cNvSpPr txBox="1"/>
          <p:nvPr/>
        </p:nvSpPr>
        <p:spPr>
          <a:xfrm>
            <a:off x="640080" y="30906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관리자 앱 (APK)</a:t>
            </a:r>
            <a:endParaRPr lang="en-US" sz="1400" dirty="0"/>
          </a:p>
        </p:txBody>
      </p:sp>
      <p:sp>
        <p:nvSpPr>
          <p:cNvPr id="8" name="txt_26"/>
          <p:cNvSpPr txBox="1"/>
          <p:nvPr/>
        </p:nvSpPr>
        <p:spPr>
          <a:xfrm>
            <a:off x="640080" y="34290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Capacitor 7 · Android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서버 상태를 2초마다 따라감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정비·충전 기준 조정</a:t>
            </a:r>
            <a:endParaRPr lang="en-US" sz="1000" dirty="0"/>
          </a:p>
        </p:txBody>
      </p:sp>
      <p:sp>
        <p:nvSpPr>
          <p:cNvPr id="9" name="card_27"/>
          <p:cNvSpPr/>
          <p:nvPr/>
        </p:nvSpPr>
        <p:spPr>
          <a:xfrm>
            <a:off x="3611880" y="1737360"/>
            <a:ext cx="2423160" cy="201168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xt_28"/>
          <p:cNvSpPr txBox="1"/>
          <p:nvPr/>
        </p:nvSpPr>
        <p:spPr>
          <a:xfrm>
            <a:off x="379476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Spring Boot 3</a:t>
            </a:r>
            <a:endParaRPr lang="en-US" sz="1400" dirty="0"/>
          </a:p>
        </p:txBody>
      </p:sp>
      <p:sp>
        <p:nvSpPr>
          <p:cNvPr id="11" name="txt_29"/>
          <p:cNvSpPr txBox="1"/>
          <p:nvPr/>
        </p:nvSpPr>
        <p:spPr>
          <a:xfrm>
            <a:off x="3794760" y="2212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/api/amr</a:t>
            </a:r>
            <a:endParaRPr lang="en-US" sz="1100" dirty="0"/>
          </a:p>
        </p:txBody>
      </p:sp>
      <p:sp>
        <p:nvSpPr>
          <p:cNvPr id="12" name="txt_30"/>
          <p:cNvSpPr txBox="1"/>
          <p:nvPr/>
        </p:nvSpPr>
        <p:spPr>
          <a:xfrm>
            <a:off x="3794760" y="25603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D4DE"/>
                </a:solidFill>
              </a:rPr>
              <a:t>센서 저장 · 고장 예측 기록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4DE"/>
                </a:solidFill>
              </a:rPr>
              <a:t>자동 정비 (예비 AMR-05 투입)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4DE"/>
                </a:solidFill>
              </a:rPr>
              <a:t>운영 기준 저장 · 이벤트 로그</a:t>
            </a:r>
            <a:endParaRPr lang="en-US" sz="950" dirty="0"/>
          </a:p>
        </p:txBody>
      </p:sp>
      <p:sp>
        <p:nvSpPr>
          <p:cNvPr id="13" name="card_31"/>
          <p:cNvSpPr/>
          <p:nvPr/>
        </p:nvSpPr>
        <p:spPr>
          <a:xfrm>
            <a:off x="6675120" y="1737360"/>
            <a:ext cx="201168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4" name="txt_32"/>
          <p:cNvSpPr txBox="1"/>
          <p:nvPr/>
        </p:nvSpPr>
        <p:spPr>
          <a:xfrm>
            <a:off x="685800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15" name="txt_33"/>
          <p:cNvSpPr txBox="1"/>
          <p:nvPr/>
        </p:nvSpPr>
        <p:spPr>
          <a:xfrm>
            <a:off x="6858000" y="22402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scargo DB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허브 AMR 10개 테이블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JPA ddl-auto update</a:t>
            </a:r>
            <a:endParaRPr lang="en-US" sz="1000" dirty="0"/>
          </a:p>
        </p:txBody>
      </p:sp>
      <p:sp>
        <p:nvSpPr>
          <p:cNvPr id="16" name="arrow_34"/>
          <p:cNvSpPr/>
          <p:nvPr/>
        </p:nvSpPr>
        <p:spPr>
          <a:xfrm>
            <a:off x="2971800" y="1783080"/>
            <a:ext cx="640080" cy="5486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txt_35"/>
          <p:cNvSpPr txBox="1"/>
          <p:nvPr/>
        </p:nvSpPr>
        <p:spPr>
          <a:xfrm>
            <a:off x="2834640" y="1417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센서 POST · 2초</a:t>
            </a:r>
            <a:endParaRPr lang="en-US" sz="850" dirty="0"/>
          </a:p>
        </p:txBody>
      </p:sp>
      <p:sp>
        <p:nvSpPr>
          <p:cNvPr id="18" name="arrow_36"/>
          <p:cNvSpPr/>
          <p:nvPr/>
        </p:nvSpPr>
        <p:spPr>
          <a:xfrm>
            <a:off x="2971800" y="3703320"/>
            <a:ext cx="640080" cy="-54864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9" name="txt_37"/>
          <p:cNvSpPr txBox="1"/>
          <p:nvPr/>
        </p:nvSpPr>
        <p:spPr>
          <a:xfrm>
            <a:off x="2834640" y="3840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2"/>
                </a:solidFill>
              </a:rPr>
              <a:t>state GET · 2초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chemeClr val="accent2"/>
                </a:solidFill>
              </a:rPr>
              <a:t>기준 PUT</a:t>
            </a:r>
            <a:endParaRPr lang="en-US" sz="850" dirty="0"/>
          </a:p>
        </p:txBody>
      </p:sp>
      <p:sp>
        <p:nvSpPr>
          <p:cNvPr id="20" name="arrow_38"/>
          <p:cNvSpPr/>
          <p:nvPr/>
        </p:nvSpPr>
        <p:spPr>
          <a:xfrm>
            <a:off x="6035040" y="2743200"/>
            <a:ext cx="6400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1" name="txt_39"/>
          <p:cNvSpPr txBox="1"/>
          <p:nvPr/>
        </p:nvSpPr>
        <p:spPr>
          <a:xfrm>
            <a:off x="6035040" y="2468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JPA</a:t>
            </a:r>
            <a:endParaRPr lang="en-US" sz="850" dirty="0"/>
          </a:p>
        </p:txBody>
      </p:sp>
      <p:sp>
        <p:nvSpPr>
          <p:cNvPr id="22" name="txt_40"/>
          <p:cNvSpPr txBox="1"/>
          <p:nvPr/>
        </p:nvSpPr>
        <p:spPr>
          <a:xfrm>
            <a:off x="6309360" y="3977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폰 연결: WiFi(CapacitorHttp) · USB(adb reverse) 모두 확인 완료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3D 트윈에서 시작해 DB · 앱 연동, 자동 운영까지</a:t>
            </a:r>
            <a:endParaRPr lang="en-US" sz="2100" dirty="0"/>
          </a:p>
        </p:txBody>
      </p:sp>
      <p:sp>
        <p:nvSpPr>
          <p:cNvPr id="3" name="timeline"/>
          <p:cNvSpPr/>
          <p:nvPr/>
        </p:nvSpPr>
        <p:spPr>
          <a:xfrm>
            <a:off x="685800" y="1600200"/>
            <a:ext cx="7772400" cy="0"/>
          </a:xfrm>
          <a:prstGeom prst="line">
            <a:avLst/>
          </a:prstGeom>
          <a:noFill/>
          <a:ln w="25400">
            <a:solidFill>
              <a:srgbClr val="C3CED8"/>
            </a:solidFill>
            <a:prstDash val="solid"/>
          </a:ln>
        </p:spPr>
      </p:sp>
      <p:sp>
        <p:nvSpPr>
          <p:cNvPr id="4" name="dot_41"/>
          <p:cNvSpPr/>
          <p:nvPr/>
        </p:nvSpPr>
        <p:spPr>
          <a:xfrm>
            <a:off x="521208" y="143560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xt_42"/>
          <p:cNvSpPr txBox="1"/>
          <p:nvPr/>
        </p:nvSpPr>
        <p:spPr>
          <a:xfrm>
            <a:off x="521208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xt_43"/>
          <p:cNvSpPr txBox="1"/>
          <p:nvPr/>
        </p:nvSpPr>
        <p:spPr>
          <a:xfrm>
            <a:off x="45720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10.08</a:t>
            </a:r>
            <a:endParaRPr lang="en-US" sz="1100" dirty="0"/>
          </a:p>
        </p:txBody>
      </p:sp>
      <p:sp>
        <p:nvSpPr>
          <p:cNvPr id="7" name="txt_44"/>
          <p:cNvSpPr txBox="1"/>
          <p:nvPr/>
        </p:nvSpPr>
        <p:spPr>
          <a:xfrm>
            <a:off x="457200" y="22128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3D 디지털 트윈</a:t>
            </a:r>
            <a:endParaRPr lang="en-US" sz="1300" dirty="0"/>
          </a:p>
        </p:txBody>
      </p:sp>
      <p:sp>
        <p:nvSpPr>
          <p:cNvPr id="8" name="txt_45"/>
          <p:cNvSpPr txBox="1"/>
          <p:nvPr/>
        </p:nvSpPr>
        <p:spPr>
          <a:xfrm>
            <a:off x="457200" y="2578608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허브 창고·AMR·지게차·트럭 흐름, 예지보전 시나리오</a:t>
            </a:r>
            <a:endParaRPr lang="en-US" sz="950" dirty="0"/>
          </a:p>
        </p:txBody>
      </p:sp>
      <p:sp>
        <p:nvSpPr>
          <p:cNvPr id="9" name="dot_46"/>
          <p:cNvSpPr/>
          <p:nvPr/>
        </p:nvSpPr>
        <p:spPr>
          <a:xfrm>
            <a:off x="2185416" y="1435608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xt_47"/>
          <p:cNvSpPr txBox="1"/>
          <p:nvPr/>
        </p:nvSpPr>
        <p:spPr>
          <a:xfrm>
            <a:off x="2185416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xt_48"/>
          <p:cNvSpPr txBox="1"/>
          <p:nvPr/>
        </p:nvSpPr>
        <p:spPr>
          <a:xfrm>
            <a:off x="2121408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10.13</a:t>
            </a:r>
            <a:endParaRPr lang="en-US" sz="1100" dirty="0"/>
          </a:p>
        </p:txBody>
      </p:sp>
      <p:sp>
        <p:nvSpPr>
          <p:cNvPr id="12" name="txt_49"/>
          <p:cNvSpPr txBox="1"/>
          <p:nvPr/>
        </p:nvSpPr>
        <p:spPr>
          <a:xfrm>
            <a:off x="2121408" y="22128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저장소 정리</a:t>
            </a:r>
            <a:endParaRPr lang="en-US" sz="1300" dirty="0"/>
          </a:p>
        </p:txBody>
      </p:sp>
      <p:sp>
        <p:nvSpPr>
          <p:cNvPr id="13" name="txt_50"/>
          <p:cNvSpPr txBox="1"/>
          <p:nvPr/>
        </p:nvSpPr>
        <p:spPr>
          <a:xfrm>
            <a:off x="2121408" y="2578608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팀 저장소 feature 브랜치, 최종파일 기준 통합</a:t>
            </a:r>
            <a:endParaRPr lang="en-US" sz="950" dirty="0"/>
          </a:p>
        </p:txBody>
      </p:sp>
      <p:sp>
        <p:nvSpPr>
          <p:cNvPr id="14" name="dot_51"/>
          <p:cNvSpPr/>
          <p:nvPr/>
        </p:nvSpPr>
        <p:spPr>
          <a:xfrm>
            <a:off x="3849624" y="143560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xt_52"/>
          <p:cNvSpPr txBox="1"/>
          <p:nvPr/>
        </p:nvSpPr>
        <p:spPr>
          <a:xfrm>
            <a:off x="3849624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xt_53"/>
          <p:cNvSpPr txBox="1"/>
          <p:nvPr/>
        </p:nvSpPr>
        <p:spPr>
          <a:xfrm>
            <a:off x="3785616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10.14</a:t>
            </a:r>
            <a:endParaRPr lang="en-US" sz="1100" dirty="0"/>
          </a:p>
        </p:txBody>
      </p:sp>
      <p:sp>
        <p:nvSpPr>
          <p:cNvPr id="17" name="txt_54"/>
          <p:cNvSpPr txBox="1"/>
          <p:nvPr/>
        </p:nvSpPr>
        <p:spPr>
          <a:xfrm>
            <a:off x="3785616" y="22128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DB · 앱 연동</a:t>
            </a:r>
            <a:endParaRPr lang="en-US" sz="1300" dirty="0"/>
          </a:p>
        </p:txBody>
      </p:sp>
      <p:sp>
        <p:nvSpPr>
          <p:cNvPr id="18" name="txt_55"/>
          <p:cNvSpPr txBox="1"/>
          <p:nvPr/>
        </p:nvSpPr>
        <p:spPr>
          <a:xfrm>
            <a:off x="3785616" y="2578608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2D·라이트 모드, DB 7테이블, 앱↔웹 실시간, 권역 인천·서울·경기</a:t>
            </a:r>
            <a:endParaRPr lang="en-US" sz="950" dirty="0"/>
          </a:p>
        </p:txBody>
      </p:sp>
      <p:sp>
        <p:nvSpPr>
          <p:cNvPr id="19" name="dot_56"/>
          <p:cNvSpPr/>
          <p:nvPr/>
        </p:nvSpPr>
        <p:spPr>
          <a:xfrm>
            <a:off x="5513832" y="143560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xt_57"/>
          <p:cNvSpPr txBox="1"/>
          <p:nvPr/>
        </p:nvSpPr>
        <p:spPr>
          <a:xfrm>
            <a:off x="5513832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xt_58"/>
          <p:cNvSpPr txBox="1"/>
          <p:nvPr/>
        </p:nvSpPr>
        <p:spPr>
          <a:xfrm>
            <a:off x="5449824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10.15</a:t>
            </a:r>
            <a:endParaRPr lang="en-US" sz="1100" dirty="0"/>
          </a:p>
        </p:txBody>
      </p:sp>
      <p:sp>
        <p:nvSpPr>
          <p:cNvPr id="22" name="txt_59"/>
          <p:cNvSpPr txBox="1"/>
          <p:nvPr/>
        </p:nvSpPr>
        <p:spPr>
          <a:xfrm>
            <a:off x="5449824" y="22128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운영 기준 자동화</a:t>
            </a:r>
            <a:endParaRPr lang="en-US" sz="1300" dirty="0"/>
          </a:p>
        </p:txBody>
      </p:sp>
      <p:sp>
        <p:nvSpPr>
          <p:cNvPr id="23" name="txt_60"/>
          <p:cNvSpPr txBox="1"/>
          <p:nvPr/>
        </p:nvSpPr>
        <p:spPr>
          <a:xfrm>
            <a:off x="5449824" y="2578608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정비·충전 기준 설정, 정비 대상 자동 선택</a:t>
            </a:r>
            <a:endParaRPr lang="en-US" sz="950" dirty="0"/>
          </a:p>
        </p:txBody>
      </p:sp>
      <p:sp>
        <p:nvSpPr>
          <p:cNvPr id="24" name="dot_61"/>
          <p:cNvSpPr/>
          <p:nvPr/>
        </p:nvSpPr>
        <p:spPr>
          <a:xfrm>
            <a:off x="7178040" y="143560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xt_62"/>
          <p:cNvSpPr txBox="1"/>
          <p:nvPr/>
        </p:nvSpPr>
        <p:spPr>
          <a:xfrm>
            <a:off x="7178040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txt_63"/>
          <p:cNvSpPr txBox="1"/>
          <p:nvPr/>
        </p:nvSpPr>
        <p:spPr>
          <a:xfrm>
            <a:off x="7114032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10.15</a:t>
            </a:r>
            <a:endParaRPr lang="en-US" sz="1100" dirty="0"/>
          </a:p>
        </p:txBody>
      </p:sp>
      <p:sp>
        <p:nvSpPr>
          <p:cNvPr id="27" name="txt_64"/>
          <p:cNvSpPr txBox="1"/>
          <p:nvPr/>
        </p:nvSpPr>
        <p:spPr>
          <a:xfrm>
            <a:off x="7114032" y="22128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OCR · 교차로 · KPI</a:t>
            </a:r>
            <a:endParaRPr lang="en-US" sz="1300" dirty="0"/>
          </a:p>
        </p:txBody>
      </p:sp>
      <p:sp>
        <p:nvSpPr>
          <p:cNvPr id="28" name="txt_65"/>
          <p:cNvSpPr txBox="1"/>
          <p:nvPr/>
        </p:nvSpPr>
        <p:spPr>
          <a:xfrm>
            <a:off x="7114032" y="2578608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입출차 OCR · 바코드, 교차로 예약, KPI 통계, 앱 정리</a:t>
            </a:r>
            <a:endParaRPr lang="en-US" sz="950" dirty="0"/>
          </a:p>
        </p:txBody>
      </p:sp>
      <p:sp>
        <p:nvSpPr>
          <p:cNvPr id="29" name="card_66"/>
          <p:cNvSpPr/>
          <p:nvPr/>
        </p:nvSpPr>
        <p:spPr>
          <a:xfrm>
            <a:off x="457200" y="388620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30" name="txt_67"/>
          <p:cNvSpPr txBox="1"/>
          <p:nvPr/>
        </p:nvSpPr>
        <p:spPr>
          <a:xfrm>
            <a:off x="685800" y="3931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결과물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웹 관제 화면(AdminAmrTwin) · 관리자 앱 APK · 백엔드 com.scargo.amr 패키지 · DB 스크립트 · 깃허브 feature/amr-link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같은 허브를 웹은 넓게, 앱은 한 손으로 본다</a:t>
            </a:r>
            <a:endParaRPr lang="en-US" sz="2100" dirty="0"/>
          </a:p>
        </p:txBody>
      </p:sp>
      <p:pic>
        <p:nvPicPr>
          <p:cNvPr id="3" name="web_shot" descr="웹 3D 관제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5760720" cy="3564082"/>
          </a:xfrm>
          <a:prstGeom prst="rect">
            <a:avLst/>
          </a:prstGeom>
        </p:spPr>
      </p:pic>
      <p:sp>
        <p:nvSpPr>
          <p:cNvPr id="4" name="txt_68"/>
          <p:cNvSpPr txBox="1"/>
          <p:nvPr/>
        </p:nvSpPr>
        <p:spPr>
          <a:xfrm>
            <a:off x="457200" y="452420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웹 관제 — 3D 트윈 · 운영 기준 카드(왼쪽 위) · 로봇 상태 · 보관 현황</a:t>
            </a:r>
            <a:endParaRPr lang="en-US" sz="950" dirty="0"/>
          </a:p>
        </p:txBody>
      </p:sp>
      <p:pic>
        <p:nvPicPr>
          <p:cNvPr id="5" name="app_shot" descr="관리자 앱 홈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668" y="914400"/>
            <a:ext cx="1499984" cy="3246120"/>
          </a:xfrm>
          <a:prstGeom prst="rect">
            <a:avLst/>
          </a:prstGeom>
        </p:spPr>
      </p:pic>
      <p:sp>
        <p:nvSpPr>
          <p:cNvPr id="6" name="txt_69"/>
          <p:cNvSpPr txBox="1"/>
          <p:nvPr/>
        </p:nvSpPr>
        <p:spPr>
          <a:xfrm>
            <a:off x="6446520" y="42062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관리자 앱 — DB 연동 · 정비/충전 기준</a:t>
            </a:r>
            <a:endParaRPr lang="en-US" sz="950" dirty="0"/>
          </a:p>
        </p:txBody>
      </p:sp>
      <p:sp>
        <p:nvSpPr>
          <p:cNvPr id="7" name="txt_70"/>
          <p:cNvSpPr txBox="1"/>
          <p:nvPr/>
        </p:nvSpPr>
        <p:spPr>
          <a:xfrm>
            <a:off x="6446520" y="44348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앱에서 바꾸면 웹에 '최근 변경: 앱 · 관리자'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관리자는 기준만 정하고, 정비와 충전은 자동으로 돈다</a:t>
            </a:r>
            <a:endParaRPr lang="en-US" sz="2100" dirty="0"/>
          </a:p>
        </p:txBody>
      </p:sp>
      <p:pic>
        <p:nvPicPr>
          <p:cNvPr id="3" name="pm_shot" descr="AMR 고장 예측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4023360" cy="2263140"/>
          </a:xfrm>
          <a:prstGeom prst="rect">
            <a:avLst/>
          </a:prstGeom>
        </p:spPr>
      </p:pic>
      <p:sp>
        <p:nvSpPr>
          <p:cNvPr id="4" name="txt_71"/>
          <p:cNvSpPr txBox="1"/>
          <p:nvPr/>
        </p:nvSpPr>
        <p:spPr>
          <a:xfrm>
            <a:off x="457200" y="328726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누적 운반량이 가장 많은 AMR에서 진동이 오르고, 남은 수명이 기준 이하가 되면 정비 예약</a:t>
            </a:r>
            <a:endParaRPr lang="en-US" sz="950" dirty="0"/>
          </a:p>
        </p:txBody>
      </p:sp>
      <p:sp>
        <p:nvSpPr>
          <p:cNvPr id="5" name="card_72"/>
          <p:cNvSpPr/>
          <p:nvPr/>
        </p:nvSpPr>
        <p:spPr>
          <a:xfrm>
            <a:off x="4709160" y="960120"/>
            <a:ext cx="397764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6" name="dot_73"/>
          <p:cNvSpPr/>
          <p:nvPr/>
        </p:nvSpPr>
        <p:spPr>
          <a:xfrm>
            <a:off x="4846320" y="1179576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xt_74"/>
          <p:cNvSpPr txBox="1"/>
          <p:nvPr/>
        </p:nvSpPr>
        <p:spPr>
          <a:xfrm>
            <a:off x="4846320" y="1179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xt_75"/>
          <p:cNvSpPr txBox="1"/>
          <p:nvPr/>
        </p:nvSpPr>
        <p:spPr>
          <a:xfrm>
            <a:off x="5303520" y="1051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센서 수집</a:t>
            </a:r>
            <a:endParaRPr lang="en-US" sz="1200" dirty="0"/>
          </a:p>
        </p:txBody>
      </p:sp>
      <p:sp>
        <p:nvSpPr>
          <p:cNvPr id="9" name="txt_76"/>
          <p:cNvSpPr txBox="1"/>
          <p:nvPr/>
        </p:nvSpPr>
        <p:spPr>
          <a:xfrm>
            <a:off x="530352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진동 · 모터 온도 · 배터리 · 건강점수를 2초마다 DB 저장</a:t>
            </a:r>
            <a:endParaRPr lang="en-US" sz="900" dirty="0"/>
          </a:p>
        </p:txBody>
      </p:sp>
      <p:sp>
        <p:nvSpPr>
          <p:cNvPr id="10" name="card_77"/>
          <p:cNvSpPr/>
          <p:nvPr/>
        </p:nvSpPr>
        <p:spPr>
          <a:xfrm>
            <a:off x="4709160" y="1856232"/>
            <a:ext cx="397764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1" name="dot_78"/>
          <p:cNvSpPr/>
          <p:nvPr/>
        </p:nvSpPr>
        <p:spPr>
          <a:xfrm>
            <a:off x="4846320" y="207568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xt_79"/>
          <p:cNvSpPr txBox="1"/>
          <p:nvPr/>
        </p:nvSpPr>
        <p:spPr>
          <a:xfrm>
            <a:off x="4846320" y="2075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xt_80"/>
          <p:cNvSpPr txBox="1"/>
          <p:nvPr/>
        </p:nvSpPr>
        <p:spPr>
          <a:xfrm>
            <a:off x="5303520" y="19476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남은 수명 예측</a:t>
            </a:r>
            <a:endParaRPr lang="en-US" sz="1200" dirty="0"/>
          </a:p>
        </p:txBody>
      </p:sp>
      <p:sp>
        <p:nvSpPr>
          <p:cNvPr id="14" name="txt_81"/>
          <p:cNvSpPr txBox="1"/>
          <p:nvPr/>
        </p:nvSpPr>
        <p:spPr>
          <a:xfrm>
            <a:off x="5303520" y="22219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진동 추세로 고장까지 남은 시간 계산</a:t>
            </a:r>
            <a:endParaRPr lang="en-US" sz="900" dirty="0"/>
          </a:p>
        </p:txBody>
      </p:sp>
      <p:sp>
        <p:nvSpPr>
          <p:cNvPr id="15" name="card_82"/>
          <p:cNvSpPr/>
          <p:nvPr/>
        </p:nvSpPr>
        <p:spPr>
          <a:xfrm>
            <a:off x="4709160" y="2752344"/>
            <a:ext cx="397764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6" name="dot_83"/>
          <p:cNvSpPr/>
          <p:nvPr/>
        </p:nvSpPr>
        <p:spPr>
          <a:xfrm>
            <a:off x="4846320" y="297180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xt_84"/>
          <p:cNvSpPr txBox="1"/>
          <p:nvPr/>
        </p:nvSpPr>
        <p:spPr>
          <a:xfrm>
            <a:off x="484632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xt_85"/>
          <p:cNvSpPr txBox="1"/>
          <p:nvPr/>
        </p:nvSpPr>
        <p:spPr>
          <a:xfrm>
            <a:off x="5303520" y="284378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자동 정비</a:t>
            </a:r>
            <a:endParaRPr lang="en-US" sz="1200" dirty="0"/>
          </a:p>
        </p:txBody>
      </p:sp>
      <p:sp>
        <p:nvSpPr>
          <p:cNvPr id="19" name="txt_86"/>
          <p:cNvSpPr txBox="1"/>
          <p:nvPr/>
        </p:nvSpPr>
        <p:spPr>
          <a:xfrm>
            <a:off x="5303520" y="31181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남은 수명 ≤ 정비 기준(기본 24시간) → 정비 예약, 예비 AMR-05 투입</a:t>
            </a:r>
            <a:endParaRPr lang="en-US" sz="900" dirty="0"/>
          </a:p>
        </p:txBody>
      </p:sp>
      <p:sp>
        <p:nvSpPr>
          <p:cNvPr id="20" name="card_87"/>
          <p:cNvSpPr/>
          <p:nvPr/>
        </p:nvSpPr>
        <p:spPr>
          <a:xfrm>
            <a:off x="4709160" y="3648456"/>
            <a:ext cx="397764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1" name="dot_88"/>
          <p:cNvSpPr/>
          <p:nvPr/>
        </p:nvSpPr>
        <p:spPr>
          <a:xfrm>
            <a:off x="4846320" y="386791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xt_89"/>
          <p:cNvSpPr txBox="1"/>
          <p:nvPr/>
        </p:nvSpPr>
        <p:spPr>
          <a:xfrm>
            <a:off x="4846320" y="3867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xt_90"/>
          <p:cNvSpPr txBox="1"/>
          <p:nvPr/>
        </p:nvSpPr>
        <p:spPr>
          <a:xfrm>
            <a:off x="5303520" y="373989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자동 충전</a:t>
            </a:r>
            <a:endParaRPr lang="en-US" sz="1200" dirty="0"/>
          </a:p>
        </p:txBody>
      </p:sp>
      <p:sp>
        <p:nvSpPr>
          <p:cNvPr id="24" name="txt_91"/>
          <p:cNvSpPr txBox="1"/>
          <p:nvPr/>
        </p:nvSpPr>
        <p:spPr>
          <a:xfrm>
            <a:off x="5303520" y="40142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배터리 ≤ 충전 기준(기본 30%) → 작업 끝나고 충전, 90%까지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만들면서 바꾼 설계 판단 4가지</a:t>
            </a:r>
            <a:endParaRPr lang="en-US" sz="2100" dirty="0"/>
          </a:p>
        </p:txBody>
      </p:sp>
      <p:sp>
        <p:nvSpPr>
          <p:cNvPr id="3" name="txt_92"/>
          <p:cNvSpPr txBox="1"/>
          <p:nvPr/>
        </p:nvSpPr>
        <p:spPr>
          <a:xfrm>
            <a:off x="457200" y="914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이전</a:t>
            </a:r>
            <a:endParaRPr lang="en-US" sz="1000" dirty="0"/>
          </a:p>
        </p:txBody>
      </p:sp>
      <p:sp>
        <p:nvSpPr>
          <p:cNvPr id="4" name="txt_93"/>
          <p:cNvSpPr txBox="1"/>
          <p:nvPr/>
        </p:nvSpPr>
        <p:spPr>
          <a:xfrm>
            <a:off x="2971800" y="914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변경</a:t>
            </a:r>
            <a:endParaRPr lang="en-US" sz="1000" dirty="0"/>
          </a:p>
        </p:txBody>
      </p:sp>
      <p:sp>
        <p:nvSpPr>
          <p:cNvPr id="5" name="txt_94"/>
          <p:cNvSpPr txBox="1"/>
          <p:nvPr/>
        </p:nvSpPr>
        <p:spPr>
          <a:xfrm>
            <a:off x="5623560" y="914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이유</a:t>
            </a:r>
            <a:endParaRPr lang="en-US" sz="1000" dirty="0"/>
          </a:p>
        </p:txBody>
      </p:sp>
      <p:sp>
        <p:nvSpPr>
          <p:cNvPr id="6" name="card_95"/>
          <p:cNvSpPr/>
          <p:nvPr/>
        </p:nvSpPr>
        <p:spPr>
          <a:xfrm>
            <a:off x="457200" y="1261872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E3E9E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7" name="txt_96"/>
          <p:cNvSpPr txBox="1"/>
          <p:nvPr/>
        </p:nvSpPr>
        <p:spPr>
          <a:xfrm>
            <a:off x="594360" y="1261872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정비 승인 버튼</a:t>
            </a:r>
            <a:endParaRPr lang="en-US" sz="1100" dirty="0"/>
          </a:p>
        </p:txBody>
      </p:sp>
      <p:sp>
        <p:nvSpPr>
          <p:cNvPr id="8" name="txt_97"/>
          <p:cNvSpPr txBox="1"/>
          <p:nvPr/>
        </p:nvSpPr>
        <p:spPr>
          <a:xfrm>
            <a:off x="2697480" y="1261872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card_98"/>
          <p:cNvSpPr/>
          <p:nvPr/>
        </p:nvSpPr>
        <p:spPr>
          <a:xfrm>
            <a:off x="2971800" y="1261872"/>
            <a:ext cx="246888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" name="txt_99"/>
          <p:cNvSpPr txBox="1"/>
          <p:nvPr/>
        </p:nvSpPr>
        <p:spPr>
          <a:xfrm>
            <a:off x="3108960" y="1261872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운영 기준 설정 (자동 정비·충전)</a:t>
            </a:r>
            <a:endParaRPr lang="en-US" sz="1100" dirty="0"/>
          </a:p>
        </p:txBody>
      </p:sp>
      <p:sp>
        <p:nvSpPr>
          <p:cNvPr id="11" name="txt_100"/>
          <p:cNvSpPr txBox="1"/>
          <p:nvPr/>
        </p:nvSpPr>
        <p:spPr>
          <a:xfrm>
            <a:off x="5623560" y="1261872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버튼을 놓치면 그대로 고장. 관리자는 기준만 정하는 게 맞다</a:t>
            </a:r>
            <a:endParaRPr lang="en-US" sz="950" dirty="0"/>
          </a:p>
        </p:txBody>
      </p:sp>
      <p:sp>
        <p:nvSpPr>
          <p:cNvPr id="12" name="card_101"/>
          <p:cNvSpPr/>
          <p:nvPr/>
        </p:nvSpPr>
        <p:spPr>
          <a:xfrm>
            <a:off x="457200" y="2112264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E3E9E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3" name="txt_102"/>
          <p:cNvSpPr txBox="1"/>
          <p:nvPr/>
        </p:nvSpPr>
        <p:spPr>
          <a:xfrm>
            <a:off x="594360" y="2112264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톨게이트 OCR 결과 조회</a:t>
            </a:r>
            <a:endParaRPr lang="en-US" sz="1100" dirty="0"/>
          </a:p>
        </p:txBody>
      </p:sp>
      <p:sp>
        <p:nvSpPr>
          <p:cNvPr id="14" name="txt_103"/>
          <p:cNvSpPr txBox="1"/>
          <p:nvPr/>
        </p:nvSpPr>
        <p:spPr>
          <a:xfrm>
            <a:off x="2697480" y="2112264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card_104"/>
          <p:cNvSpPr/>
          <p:nvPr/>
        </p:nvSpPr>
        <p:spPr>
          <a:xfrm>
            <a:off x="2971800" y="2112264"/>
            <a:ext cx="246888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txt_105"/>
          <p:cNvSpPr txBox="1"/>
          <p:nvPr/>
        </p:nvSpPr>
        <p:spPr>
          <a:xfrm>
            <a:off x="3108960" y="2112264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허브 입구에 자체 OCR</a:t>
            </a:r>
            <a:endParaRPr lang="en-US" sz="1100" dirty="0"/>
          </a:p>
        </p:txBody>
      </p:sp>
      <p:sp>
        <p:nvSpPr>
          <p:cNvPr id="17" name="txt_106"/>
          <p:cNvSpPr txBox="1"/>
          <p:nvPr/>
        </p:nvSpPr>
        <p:spPr>
          <a:xfrm>
            <a:off x="5623560" y="2112264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톨게이트 OCR 정보는 허브에서 조회 불가 → 기존 YOLO+CRNN 모델 재사용</a:t>
            </a:r>
            <a:endParaRPr lang="en-US" sz="950" dirty="0"/>
          </a:p>
        </p:txBody>
      </p:sp>
      <p:sp>
        <p:nvSpPr>
          <p:cNvPr id="18" name="card_107"/>
          <p:cNvSpPr/>
          <p:nvPr/>
        </p:nvSpPr>
        <p:spPr>
          <a:xfrm>
            <a:off x="457200" y="2962656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E3E9E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9" name="txt_108"/>
          <p:cNvSpPr txBox="1"/>
          <p:nvPr/>
        </p:nvSpPr>
        <p:spPr>
          <a:xfrm>
            <a:off x="594360" y="2962656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영상으로 차종 분류</a:t>
            </a:r>
            <a:endParaRPr lang="en-US" sz="1100" dirty="0"/>
          </a:p>
        </p:txBody>
      </p:sp>
      <p:sp>
        <p:nvSpPr>
          <p:cNvPr id="20" name="txt_109"/>
          <p:cNvSpPr txBox="1"/>
          <p:nvPr/>
        </p:nvSpPr>
        <p:spPr>
          <a:xfrm>
            <a:off x="2697480" y="2962656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card_110"/>
          <p:cNvSpPr/>
          <p:nvPr/>
        </p:nvSpPr>
        <p:spPr>
          <a:xfrm>
            <a:off x="2971800" y="2962656"/>
            <a:ext cx="246888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2" name="txt_111"/>
          <p:cNvSpPr txBox="1"/>
          <p:nvPr/>
        </p:nvSpPr>
        <p:spPr>
          <a:xfrm>
            <a:off x="3108960" y="2962656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DB 등록 정보로 판정</a:t>
            </a:r>
            <a:endParaRPr lang="en-US" sz="1100" dirty="0"/>
          </a:p>
        </p:txBody>
      </p:sp>
      <p:sp>
        <p:nvSpPr>
          <p:cNvPr id="23" name="txt_112"/>
          <p:cNvSpPr txBox="1"/>
          <p:nvPr/>
        </p:nvSpPr>
        <p:spPr>
          <a:xfrm>
            <a:off x="5623560" y="2962656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화물차·택배차를 번호로 조회해 도크 배정, 미등록은 차단</a:t>
            </a:r>
            <a:endParaRPr lang="en-US" sz="950" dirty="0"/>
          </a:p>
        </p:txBody>
      </p:sp>
      <p:sp>
        <p:nvSpPr>
          <p:cNvPr id="24" name="card_113"/>
          <p:cNvSpPr/>
          <p:nvPr/>
        </p:nvSpPr>
        <p:spPr>
          <a:xfrm>
            <a:off x="457200" y="3813048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E3E9E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5" name="txt_114"/>
          <p:cNvSpPr txBox="1"/>
          <p:nvPr/>
        </p:nvSpPr>
        <p:spPr>
          <a:xfrm>
            <a:off x="594360" y="381304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항상 AMR-03 고장</a:t>
            </a:r>
            <a:endParaRPr lang="en-US" sz="1100" dirty="0"/>
          </a:p>
        </p:txBody>
      </p:sp>
      <p:sp>
        <p:nvSpPr>
          <p:cNvPr id="26" name="txt_115"/>
          <p:cNvSpPr txBox="1"/>
          <p:nvPr/>
        </p:nvSpPr>
        <p:spPr>
          <a:xfrm>
            <a:off x="2697480" y="3813048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card_116"/>
          <p:cNvSpPr/>
          <p:nvPr/>
        </p:nvSpPr>
        <p:spPr>
          <a:xfrm>
            <a:off x="2971800" y="3813048"/>
            <a:ext cx="246888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8" name="txt_117"/>
          <p:cNvSpPr txBox="1"/>
          <p:nvPr/>
        </p:nvSpPr>
        <p:spPr>
          <a:xfrm>
            <a:off x="3108960" y="3813048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누적 운반량 기준 선택</a:t>
            </a:r>
            <a:endParaRPr lang="en-US" sz="1100" dirty="0"/>
          </a:p>
        </p:txBody>
      </p:sp>
      <p:sp>
        <p:nvSpPr>
          <p:cNvPr id="29" name="txt_118"/>
          <p:cNvSpPr txBox="1"/>
          <p:nvPr/>
        </p:nvSpPr>
        <p:spPr>
          <a:xfrm>
            <a:off x="5623560" y="3813048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가장 많이 일한 로봇이 먼저 닳는 게 자연스럽다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사용 기술 — 3D · 웹 · 앱 · 백엔드 · AI</a:t>
            </a:r>
            <a:endParaRPr lang="en-US" sz="2100" dirty="0"/>
          </a:p>
        </p:txBody>
      </p:sp>
      <p:graphicFrame>
        <p:nvGraphicFramePr>
          <p:cNvPr id="9" name="stack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206240"/>
                <a:gridCol w="29260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영역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기술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쓴 곳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3D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Three.js r160 — OrbitControls · OrthographicCamera · CSS2DRenderer · UnrealBloom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허브 트윈, 2D 평면 모드, 로봇 라벨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웹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Vue 3 + Vite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관리자 관제 화면 AdminAmrTwin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앱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Capacitor 7 + Android Studio · CapacitorHttp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관리자 앱 APK, 사설 IP 통신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백엔드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Spring Boot 3 · JPA · Lombok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com.scargo.amr, REST 17개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DB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PostgreSQL (scargo)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AMR 10개 테이블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연동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REST 2초 폴링 · adb reverse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앱↔웹 동기화, USB 연결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AI · OCR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YOLO + CRNN · FastAPI (gate_api.py)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허브 입구 · 출구 번호판 인식 (/hub/scan)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Playwright · Mock API 서버 · Node 시뮬 테스트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브라우저 2개 동시 동기화 확인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DB 테이블 10개와 /api/amr 엔드포인트</a:t>
            </a:r>
            <a:endParaRPr lang="en-US" sz="2100" dirty="0"/>
          </a:p>
        </p:txBody>
      </p:sp>
      <p:graphicFrame>
        <p:nvGraphicFramePr>
          <p:cNvPr id="10" name="db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393192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2423160"/>
              </a:tblGrid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테이블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</a:rPr>
                        <a:t>내용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</a:rPr>
                        <a:t>hubs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</a:rPr>
                        <a:t>허브 (HUB-ICH-01)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</a:rPr>
                        <a:t>amr_robots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</a:rPr>
                        <a:t>AMR 5대 + 지게차, 홈 위치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</a:rPr>
                        <a:t>amr_telemetry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</a:rPr>
                        <a:t>2초 센서 기록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</a:rPr>
                        <a:t>amr_predictions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</a:rPr>
                        <a:t>고장 예측 · 남은 수명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</a:rPr>
                        <a:t>amr_maintenance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</a:rPr>
                        <a:t>정비 예약·승인·시작·완료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</a:rPr>
                        <a:t>hub_events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</a:rPr>
                        <a:t>이벤트 로그 (충전·기준 변경)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</a:rPr>
                        <a:t>amr_settings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</a:rPr>
                        <a:t>정비·충전 기준, 변경자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</a:rPr>
                        <a:t>hub_vehicles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</a:rPr>
                        <a:t>등록 차량 · 차종 (화물차/택배차)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</a:rPr>
                        <a:t>hub_vehicle_logs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</a:rPr>
                        <a:t>입출차 OCR 기록 · 판정 · 바코드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tx1"/>
                          </a:solidFill>
                        </a:rPr>
                        <a:t>amr_task_logs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</a:rPr>
                        <a:t>운반 1건 기록 (KPI 집계)</a:t>
                      </a:r>
                      <a:endParaRPr lang="en-US" sz="8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card_119"/>
          <p:cNvSpPr/>
          <p:nvPr/>
        </p:nvSpPr>
        <p:spPr>
          <a:xfrm>
            <a:off x="4663440" y="914400"/>
            <a:ext cx="4023360" cy="3611880"/>
          </a:xfrm>
          <a:prstGeom prst="roundRect">
            <a:avLst>
              <a:gd name="adj" fmla="val 2025"/>
            </a:avLst>
          </a:prstGeom>
          <a:solidFill>
            <a:schemeClr val="bg1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txt_120"/>
          <p:cNvSpPr txBox="1"/>
          <p:nvPr/>
        </p:nvSpPr>
        <p:spPr>
          <a:xfrm>
            <a:off x="4892040" y="10241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/api/amr</a:t>
            </a:r>
            <a:endParaRPr lang="en-US" sz="1400" dirty="0"/>
          </a:p>
        </p:txBody>
      </p:sp>
      <p:sp>
        <p:nvSpPr>
          <p:cNvPr id="6" name="method_121"/>
          <p:cNvSpPr/>
          <p:nvPr/>
        </p:nvSpPr>
        <p:spPr>
          <a:xfrm>
            <a:off x="4892040" y="1371600"/>
            <a:ext cx="777240" cy="329184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txt_122"/>
          <p:cNvSpPr txBox="1"/>
          <p:nvPr/>
        </p:nvSpPr>
        <p:spPr>
          <a:xfrm>
            <a:off x="4892040" y="13716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GET</a:t>
            </a:r>
            <a:endParaRPr lang="en-US" sz="900" dirty="0"/>
          </a:p>
        </p:txBody>
      </p:sp>
      <p:sp>
        <p:nvSpPr>
          <p:cNvPr id="8" name="txt_123"/>
          <p:cNvSpPr txBox="1"/>
          <p:nvPr/>
        </p:nvSpPr>
        <p:spPr>
          <a:xfrm>
            <a:off x="5760720" y="13716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/health · /state</a:t>
            </a:r>
            <a:endParaRPr lang="en-US" sz="950" dirty="0"/>
          </a:p>
        </p:txBody>
      </p:sp>
      <p:sp>
        <p:nvSpPr>
          <p:cNvPr id="9" name="method_124"/>
          <p:cNvSpPr/>
          <p:nvPr/>
        </p:nvSpPr>
        <p:spPr>
          <a:xfrm>
            <a:off x="4892040" y="1737360"/>
            <a:ext cx="777240" cy="329184"/>
          </a:xfrm>
          <a:prstGeom prst="roundRect">
            <a:avLst>
              <a:gd name="adj" fmla="val 13889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xt_125"/>
          <p:cNvSpPr txBox="1"/>
          <p:nvPr/>
        </p:nvSpPr>
        <p:spPr>
          <a:xfrm>
            <a:off x="4892040" y="173736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POST</a:t>
            </a:r>
            <a:endParaRPr lang="en-US" sz="900" dirty="0"/>
          </a:p>
        </p:txBody>
      </p:sp>
      <p:sp>
        <p:nvSpPr>
          <p:cNvPr id="11" name="txt_126"/>
          <p:cNvSpPr txBox="1"/>
          <p:nvPr/>
        </p:nvSpPr>
        <p:spPr>
          <a:xfrm>
            <a:off x="5760720" y="17373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/telemetry · /predictions · /events</a:t>
            </a:r>
            <a:endParaRPr lang="en-US" sz="950" dirty="0"/>
          </a:p>
        </p:txBody>
      </p:sp>
      <p:sp>
        <p:nvSpPr>
          <p:cNvPr id="12" name="method_127"/>
          <p:cNvSpPr/>
          <p:nvPr/>
        </p:nvSpPr>
        <p:spPr>
          <a:xfrm>
            <a:off x="4892040" y="2103120"/>
            <a:ext cx="777240" cy="329184"/>
          </a:xfrm>
          <a:prstGeom prst="roundRect">
            <a:avLst>
              <a:gd name="adj" fmla="val 13889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xt_128"/>
          <p:cNvSpPr txBox="1"/>
          <p:nvPr/>
        </p:nvSpPr>
        <p:spPr>
          <a:xfrm>
            <a:off x="4892040" y="210312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POST</a:t>
            </a:r>
            <a:endParaRPr lang="en-US" sz="900" dirty="0"/>
          </a:p>
        </p:txBody>
      </p:sp>
      <p:sp>
        <p:nvSpPr>
          <p:cNvPr id="14" name="txt_129"/>
          <p:cNvSpPr txBox="1"/>
          <p:nvPr/>
        </p:nvSpPr>
        <p:spPr>
          <a:xfrm>
            <a:off x="5760720" y="21031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/maintenance/{id}/approve · start · done</a:t>
            </a:r>
            <a:endParaRPr lang="en-US" sz="950" dirty="0"/>
          </a:p>
        </p:txBody>
      </p:sp>
      <p:sp>
        <p:nvSpPr>
          <p:cNvPr id="15" name="method_130"/>
          <p:cNvSpPr/>
          <p:nvPr/>
        </p:nvSpPr>
        <p:spPr>
          <a:xfrm>
            <a:off x="4892040" y="2468880"/>
            <a:ext cx="777240" cy="329184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xt_131"/>
          <p:cNvSpPr txBox="1"/>
          <p:nvPr/>
        </p:nvSpPr>
        <p:spPr>
          <a:xfrm>
            <a:off x="4892040" y="246888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GET</a:t>
            </a:r>
            <a:endParaRPr lang="en-US" sz="900" dirty="0"/>
          </a:p>
        </p:txBody>
      </p:sp>
      <p:sp>
        <p:nvSpPr>
          <p:cNvPr id="17" name="txt_132"/>
          <p:cNvSpPr txBox="1"/>
          <p:nvPr/>
        </p:nvSpPr>
        <p:spPr>
          <a:xfrm>
            <a:off x="5760720" y="24688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/maintenance · /robots/{code}/telemetry</a:t>
            </a:r>
            <a:endParaRPr lang="en-US" sz="950" dirty="0"/>
          </a:p>
        </p:txBody>
      </p:sp>
      <p:sp>
        <p:nvSpPr>
          <p:cNvPr id="18" name="method_133"/>
          <p:cNvSpPr/>
          <p:nvPr/>
        </p:nvSpPr>
        <p:spPr>
          <a:xfrm>
            <a:off x="4892040" y="2834640"/>
            <a:ext cx="777240" cy="329184"/>
          </a:xfrm>
          <a:prstGeom prst="roundRect">
            <a:avLst>
              <a:gd name="adj" fmla="val 13889"/>
            </a:avLst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txt_134"/>
          <p:cNvSpPr txBox="1"/>
          <p:nvPr/>
        </p:nvSpPr>
        <p:spPr>
          <a:xfrm>
            <a:off x="4892040" y="283464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GET·PUT</a:t>
            </a:r>
            <a:endParaRPr lang="en-US" sz="900" dirty="0"/>
          </a:p>
        </p:txBody>
      </p:sp>
      <p:sp>
        <p:nvSpPr>
          <p:cNvPr id="20" name="txt_135"/>
          <p:cNvSpPr txBox="1"/>
          <p:nvPr/>
        </p:nvSpPr>
        <p:spPr>
          <a:xfrm>
            <a:off x="5760720" y="28346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/settings  (운영 기준)</a:t>
            </a:r>
            <a:endParaRPr lang="en-US" sz="950" dirty="0"/>
          </a:p>
        </p:txBody>
      </p:sp>
      <p:sp>
        <p:nvSpPr>
          <p:cNvPr id="21" name="method_136"/>
          <p:cNvSpPr/>
          <p:nvPr/>
        </p:nvSpPr>
        <p:spPr>
          <a:xfrm>
            <a:off x="4892040" y="3200400"/>
            <a:ext cx="777240" cy="329184"/>
          </a:xfrm>
          <a:prstGeom prst="roundRect">
            <a:avLst>
              <a:gd name="adj" fmla="val 13889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xt_137"/>
          <p:cNvSpPr txBox="1"/>
          <p:nvPr/>
        </p:nvSpPr>
        <p:spPr>
          <a:xfrm>
            <a:off x="4892040" y="32004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POST</a:t>
            </a:r>
            <a:endParaRPr lang="en-US" sz="900" dirty="0"/>
          </a:p>
        </p:txBody>
      </p:sp>
      <p:sp>
        <p:nvSpPr>
          <p:cNvPr id="23" name="txt_138"/>
          <p:cNvSpPr txBox="1"/>
          <p:nvPr/>
        </p:nvSpPr>
        <p:spPr>
          <a:xfrm>
            <a:off x="5760720" y="32004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/vehicles/scan  (입출차 OCR)</a:t>
            </a:r>
            <a:endParaRPr lang="en-US" sz="950" dirty="0"/>
          </a:p>
        </p:txBody>
      </p:sp>
      <p:sp>
        <p:nvSpPr>
          <p:cNvPr id="24" name="method_139"/>
          <p:cNvSpPr/>
          <p:nvPr/>
        </p:nvSpPr>
        <p:spPr>
          <a:xfrm>
            <a:off x="4892040" y="3566160"/>
            <a:ext cx="777240" cy="329184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txt_140"/>
          <p:cNvSpPr txBox="1"/>
          <p:nvPr/>
        </p:nvSpPr>
        <p:spPr>
          <a:xfrm>
            <a:off x="4892040" y="356616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GET</a:t>
            </a:r>
            <a:endParaRPr lang="en-US" sz="900" dirty="0"/>
          </a:p>
        </p:txBody>
      </p:sp>
      <p:sp>
        <p:nvSpPr>
          <p:cNvPr id="26" name="txt_141"/>
          <p:cNvSpPr txBox="1"/>
          <p:nvPr/>
        </p:nvSpPr>
        <p:spPr>
          <a:xfrm>
            <a:off x="5760720" y="35661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/vehicles · /vehicles/registry</a:t>
            </a:r>
            <a:endParaRPr lang="en-US" sz="950" dirty="0"/>
          </a:p>
        </p:txBody>
      </p:sp>
      <p:sp>
        <p:nvSpPr>
          <p:cNvPr id="27" name="method_142"/>
          <p:cNvSpPr/>
          <p:nvPr/>
        </p:nvSpPr>
        <p:spPr>
          <a:xfrm>
            <a:off x="4892040" y="3931920"/>
            <a:ext cx="777240" cy="329184"/>
          </a:xfrm>
          <a:prstGeom prst="roundRect">
            <a:avLst>
              <a:gd name="adj" fmla="val 13889"/>
            </a:avLst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txt_143"/>
          <p:cNvSpPr txBox="1"/>
          <p:nvPr/>
        </p:nvSpPr>
        <p:spPr>
          <a:xfrm>
            <a:off x="4892040" y="393192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POST·GET</a:t>
            </a:r>
            <a:endParaRPr lang="en-US" sz="900" dirty="0"/>
          </a:p>
        </p:txBody>
      </p:sp>
      <p:sp>
        <p:nvSpPr>
          <p:cNvPr id="29" name="txt_144"/>
          <p:cNvSpPr txBox="1"/>
          <p:nvPr/>
        </p:nvSpPr>
        <p:spPr>
          <a:xfrm>
            <a:off x="5760720" y="39319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/tasks · /kpi  (KPI 통계)</a:t>
            </a:r>
            <a:endParaRPr lang="en-US" sz="950" dirty="0"/>
          </a:p>
        </p:txBody>
      </p:sp>
      <p:sp>
        <p:nvSpPr>
          <p:cNvPr id="30" name="txt_145"/>
          <p:cNvSpPr txBox="1"/>
          <p:nvPr/>
        </p:nvSpPr>
        <p:spPr>
          <a:xfrm>
            <a:off x="4892040" y="41605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/state 한 번에 로봇·정비·이벤트·기준·입출차를 내려줘서 앱은 이것만 폴링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트러블슈팅 ① 환경 · 연결</a:t>
            </a:r>
            <a:endParaRPr lang="en-US" sz="2100" dirty="0"/>
          </a:p>
        </p:txBody>
      </p:sp>
      <p:graphicFrame>
        <p:nvGraphicFramePr>
          <p:cNvPr id="11" name="trouble_table_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651760"/>
                <a:gridCol w="3063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문제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원인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해결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앱 WiFi 서버 연결 실패 (폰 크롬은 됨)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앱 WebView가 사설 IP 요청 차단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CapacitorHttp 네이티브 통신 적용 → WiFi 연결 확인 (10.15)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앱에서 localhost:8080 안 됨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Capacitor가 localhost를 앱 자체 주소로 가로챔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127.0.0.1:8080 사용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PowerShell adb 명령 오류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환경변수 경로 실행에 &amp; 연산자 누락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&amp; "$env:LOCALAPPDATA\…\adb.exe" reverse tcp:8080 tcp:8080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폰에서 노트북 8080 접속 불가 의심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방화벽 인바운드 규칙 없음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"SCargo 8080" 인바운드 규칙 추가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웹에 "DB 오프라인" 표시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STS가 새 Java 파일을 컴파일 안 함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F5 → Project Clean → 백엔드 재시작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깃허브 업로드 bat 실패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번들의 기준 커밋(main)이 로컬에 없음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bat에서 git fetch origin main 먼저 실행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트러블슈팅 ② 백엔드 · DB</a:t>
            </a:r>
            <a:endParaRPr lang="en-US" sz="2100" dirty="0"/>
          </a:p>
        </p:txBody>
      </p:sp>
      <p:graphicFrame>
        <p:nvGraphicFramePr>
          <p:cNvPr id="12" name="trouble_table_1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651760"/>
                <a:gridCol w="3063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문제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원인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해결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/api/amr/state 503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SQL 실행 전 JPA가 컬럼 빠진 테이블을 먼저 생성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컬럼 검사 후 DROP → 병합 SQL 재실행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bat에서 psql 비밀번호 입력 불가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bat 창에서 키 입력이 막힘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pgAdmin Query Tool에서 SQL 실행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정비 승인 POST 500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STS 컴파일에 파라미터 이름 정보 없음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@PathVariable("id"), @RequestParam(name=…) 명시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Map.of 컴파일 오류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Map.of는 최대 10쌍까지만 가능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Map.ofEntries로 변경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끝난 정비가 계속 화면에 남음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미완료 정비 레코드가 쌓임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30분 지난 미완료 건은 제외·취소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같은 로봇 예측이 중복 저장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2초마다 예측 POST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로봇별 열린 예측이 있으면 재사용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트러블슈팅 ③ 앱 · 웹 코드</a:t>
            </a:r>
            <a:endParaRPr lang="en-US" sz="2100" dirty="0"/>
          </a:p>
        </p:txBody>
      </p:sp>
      <p:graphicFrame>
        <p:nvGraphicFramePr>
          <p:cNvPr id="13" name="trouble_table_1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651760"/>
                <a:gridCol w="3063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문제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원인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해결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웹 "Cannot access 'sim' before initialization"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시뮬 생성 전에 이벤트 콜백이 실행 (TDZ)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simRef 가드로 생성 후에만 접근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카드 교체 후 DB 동기화 멈춤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dbTimer 코드가 같이 지워짐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타이머 복구, 화면 종료 시 해제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저사양·백그라운드에서 동기화 지연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프레임 누적 시간으로 전송 주기 계산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setInterval 2초로 분리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항상 AMR-03만 고장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고장 대상이 고정값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누적 운반량 최다 AMR 자동 선택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방금 바꾼 기준이 되돌아감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폴링 응답이 로컬 변경을 덮어씀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변경 후 3초 원격값 무시 + 400ms 디바운스 저장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정비 승인 버튼이 의미 없음 (피드백)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놓치면 고장, 관제가 아닌 클릭 업무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2"/>
                          </a:solidFill>
                        </a:rPr>
                        <a:t>운영 기준 설정 + 자동 정비·충전으로 교체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완료: 허브 입구 · 출구 OCR로 들어오는 차를 판정한다</a:t>
            </a:r>
            <a:endParaRPr lang="en-US" sz="2100" dirty="0"/>
          </a:p>
        </p:txBody>
      </p:sp>
      <p:sp>
        <p:nvSpPr>
          <p:cNvPr id="3" name="card_149"/>
          <p:cNvSpPr/>
          <p:nvPr/>
        </p:nvSpPr>
        <p:spPr>
          <a:xfrm>
            <a:off x="457200" y="1517904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txt_150"/>
          <p:cNvSpPr txBox="1"/>
          <p:nvPr/>
        </p:nvSpPr>
        <p:spPr>
          <a:xfrm>
            <a:off x="594360" y="160934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허브 입구 카메라</a:t>
            </a:r>
            <a:endParaRPr lang="en-US" sz="1200" dirty="0"/>
          </a:p>
        </p:txBody>
      </p:sp>
      <p:sp>
        <p:nvSpPr>
          <p:cNvPr id="5" name="txt_151"/>
          <p:cNvSpPr txBox="1"/>
          <p:nvPr/>
        </p:nvSpPr>
        <p:spPr>
          <a:xfrm>
            <a:off x="594360" y="1975104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gate_api.py /scan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YOLO + CRNN</a:t>
            </a:r>
            <a:endParaRPr lang="en-US" sz="950" dirty="0"/>
          </a:p>
        </p:txBody>
      </p:sp>
      <p:sp>
        <p:nvSpPr>
          <p:cNvPr id="6" name="arrow_152"/>
          <p:cNvSpPr/>
          <p:nvPr/>
        </p:nvSpPr>
        <p:spPr>
          <a:xfrm>
            <a:off x="2377440" y="2130552"/>
            <a:ext cx="4114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" name="card_153"/>
          <p:cNvSpPr/>
          <p:nvPr/>
        </p:nvSpPr>
        <p:spPr>
          <a:xfrm>
            <a:off x="2788920" y="1517904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txt_154"/>
          <p:cNvSpPr txBox="1"/>
          <p:nvPr/>
        </p:nvSpPr>
        <p:spPr>
          <a:xfrm>
            <a:off x="2926080" y="160934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DB 차량 조회</a:t>
            </a:r>
            <a:endParaRPr lang="en-US" sz="1200" dirty="0"/>
          </a:p>
        </p:txBody>
      </p:sp>
      <p:sp>
        <p:nvSpPr>
          <p:cNvPr id="9" name="txt_155"/>
          <p:cNvSpPr txBox="1"/>
          <p:nvPr/>
        </p:nvSpPr>
        <p:spPr>
          <a:xfrm>
            <a:off x="2926080" y="1975104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trucks 테이블에서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번호 → 차종</a:t>
            </a:r>
            <a:endParaRPr lang="en-US" sz="950" dirty="0"/>
          </a:p>
        </p:txBody>
      </p:sp>
      <p:sp>
        <p:nvSpPr>
          <p:cNvPr id="10" name="arrow_156"/>
          <p:cNvSpPr/>
          <p:nvPr/>
        </p:nvSpPr>
        <p:spPr>
          <a:xfrm>
            <a:off x="4709160" y="2130552"/>
            <a:ext cx="4114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branch"/>
          <p:cNvSpPr/>
          <p:nvPr/>
        </p:nvSpPr>
        <p:spPr>
          <a:xfrm>
            <a:off x="5120640" y="1234440"/>
            <a:ext cx="0" cy="179222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2" name="arrow_157"/>
          <p:cNvSpPr/>
          <p:nvPr/>
        </p:nvSpPr>
        <p:spPr>
          <a:xfrm>
            <a:off x="5120640" y="1234440"/>
            <a:ext cx="3200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card_158"/>
          <p:cNvSpPr/>
          <p:nvPr/>
        </p:nvSpPr>
        <p:spPr>
          <a:xfrm>
            <a:off x="5440680" y="914400"/>
            <a:ext cx="324612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dot_159"/>
          <p:cNvSpPr/>
          <p:nvPr/>
        </p:nvSpPr>
        <p:spPr>
          <a:xfrm>
            <a:off x="5559552" y="106984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xt_160"/>
          <p:cNvSpPr txBox="1"/>
          <p:nvPr/>
        </p:nvSpPr>
        <p:spPr>
          <a:xfrm>
            <a:off x="5559552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6" name="txt_161"/>
          <p:cNvSpPr txBox="1"/>
          <p:nvPr/>
        </p:nvSpPr>
        <p:spPr>
          <a:xfrm>
            <a:off x="5989320" y="9692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화물차</a:t>
            </a:r>
            <a:endParaRPr lang="en-US" sz="1200" dirty="0"/>
          </a:p>
        </p:txBody>
      </p:sp>
      <p:sp>
        <p:nvSpPr>
          <p:cNvPr id="17" name="txt_162"/>
          <p:cNvSpPr txBox="1"/>
          <p:nvPr/>
        </p:nvSpPr>
        <p:spPr>
          <a:xfrm>
            <a:off x="5989320" y="12435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입고 도크 → 하차 → AMR 운반</a:t>
            </a:r>
            <a:endParaRPr lang="en-US" sz="950" dirty="0"/>
          </a:p>
        </p:txBody>
      </p:sp>
      <p:sp>
        <p:nvSpPr>
          <p:cNvPr id="18" name="arrow_163"/>
          <p:cNvSpPr/>
          <p:nvPr/>
        </p:nvSpPr>
        <p:spPr>
          <a:xfrm>
            <a:off x="5120640" y="2130552"/>
            <a:ext cx="3200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card_164"/>
          <p:cNvSpPr/>
          <p:nvPr/>
        </p:nvSpPr>
        <p:spPr>
          <a:xfrm>
            <a:off x="5440680" y="1810512"/>
            <a:ext cx="324612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20" name="dot_165"/>
          <p:cNvSpPr/>
          <p:nvPr/>
        </p:nvSpPr>
        <p:spPr>
          <a:xfrm>
            <a:off x="5559552" y="1965960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xt_166"/>
          <p:cNvSpPr txBox="1"/>
          <p:nvPr/>
        </p:nvSpPr>
        <p:spPr>
          <a:xfrm>
            <a:off x="5559552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2" name="txt_167"/>
          <p:cNvSpPr txBox="1"/>
          <p:nvPr/>
        </p:nvSpPr>
        <p:spPr>
          <a:xfrm>
            <a:off x="5989320" y="18653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택배차</a:t>
            </a:r>
            <a:endParaRPr lang="en-US" sz="1200" dirty="0"/>
          </a:p>
        </p:txBody>
      </p:sp>
      <p:sp>
        <p:nvSpPr>
          <p:cNvPr id="23" name="txt_168"/>
          <p:cNvSpPr txBox="1"/>
          <p:nvPr/>
        </p:nvSpPr>
        <p:spPr>
          <a:xfrm>
            <a:off x="5989320" y="21396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권역 출고 도크 (인천·서울·경기)</a:t>
            </a:r>
            <a:endParaRPr lang="en-US" sz="950" dirty="0"/>
          </a:p>
        </p:txBody>
      </p:sp>
      <p:sp>
        <p:nvSpPr>
          <p:cNvPr id="24" name="arrow_169"/>
          <p:cNvSpPr/>
          <p:nvPr/>
        </p:nvSpPr>
        <p:spPr>
          <a:xfrm>
            <a:off x="5120640" y="3026664"/>
            <a:ext cx="3200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5" name="card_170"/>
          <p:cNvSpPr/>
          <p:nvPr/>
        </p:nvSpPr>
        <p:spPr>
          <a:xfrm>
            <a:off x="5440680" y="2706624"/>
            <a:ext cx="324612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6" name="dot_171"/>
          <p:cNvSpPr/>
          <p:nvPr/>
        </p:nvSpPr>
        <p:spPr>
          <a:xfrm>
            <a:off x="5559552" y="286207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txt_172"/>
          <p:cNvSpPr txBox="1"/>
          <p:nvPr/>
        </p:nvSpPr>
        <p:spPr>
          <a:xfrm>
            <a:off x="5559552" y="2862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8" name="txt_173"/>
          <p:cNvSpPr txBox="1"/>
          <p:nvPr/>
        </p:nvSpPr>
        <p:spPr>
          <a:xfrm>
            <a:off x="5989320" y="2761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미등록</a:t>
            </a:r>
            <a:endParaRPr lang="en-US" sz="1200" dirty="0"/>
          </a:p>
        </p:txBody>
      </p:sp>
      <p:sp>
        <p:nvSpPr>
          <p:cNvPr id="29" name="txt_174"/>
          <p:cNvSpPr txBox="1"/>
          <p:nvPr/>
        </p:nvSpPr>
        <p:spPr>
          <a:xfrm>
            <a:off x="5989320" y="30358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차단 + 관제 알림</a:t>
            </a:r>
            <a:endParaRPr lang="en-US" sz="950" dirty="0"/>
          </a:p>
        </p:txBody>
      </p:sp>
      <p:sp>
        <p:nvSpPr>
          <p:cNvPr id="30" name="card_175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txt_176"/>
          <p:cNvSpPr txBox="1"/>
          <p:nvPr/>
        </p:nvSpPr>
        <p:spPr>
          <a:xfrm>
            <a:off x="731520" y="38404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3D 연결  </a:t>
            </a:r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인식된 번호가 3D 입고 트럭 번호판과 말풍선에 그대로 표시된다. 톨게이트 OCR은 다른 모델이고 허브에서 조회하지 않는다.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다음 작업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이 자료는 작업이 끝날 때마다 갱신</a:t>
            </a:r>
            <a:endParaRPr lang="en-US" sz="1300" dirty="0"/>
          </a:p>
        </p:txBody>
      </p:sp>
      <p:sp>
        <p:nvSpPr>
          <p:cNvPr id="4" name="dot_177"/>
          <p:cNvSpPr/>
          <p:nvPr/>
        </p:nvSpPr>
        <p:spPr>
          <a:xfrm>
            <a:off x="5760720" y="73152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xt_178"/>
          <p:cNvSpPr txBox="1"/>
          <p:nvPr/>
        </p:nvSpPr>
        <p:spPr>
          <a:xfrm>
            <a:off x="5760720" y="731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xt_179"/>
          <p:cNvSpPr txBox="1"/>
          <p:nvPr/>
        </p:nvSpPr>
        <p:spPr>
          <a:xfrm>
            <a:off x="6263640" y="685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시연</a:t>
            </a:r>
            <a:endParaRPr lang="en-US" sz="1200" dirty="0"/>
          </a:p>
        </p:txBody>
      </p:sp>
      <p:sp>
        <p:nvSpPr>
          <p:cNvPr id="7" name="txt_180"/>
          <p:cNvSpPr txBox="1"/>
          <p:nvPr/>
        </p:nvSpPr>
        <p:spPr>
          <a:xfrm>
            <a:off x="6263640" y="9784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6C3"/>
                </a:solidFill>
              </a:rPr>
              <a:t>입출차 OCR · 앱 기준 변경 장면 녹화</a:t>
            </a:r>
            <a:endParaRPr lang="en-US" sz="900" dirty="0"/>
          </a:p>
        </p:txBody>
      </p:sp>
      <p:sp>
        <p:nvSpPr>
          <p:cNvPr id="8" name="dot_181"/>
          <p:cNvSpPr/>
          <p:nvPr/>
        </p:nvSpPr>
        <p:spPr>
          <a:xfrm>
            <a:off x="5760720" y="1517904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xt_182"/>
          <p:cNvSpPr txBox="1"/>
          <p:nvPr/>
        </p:nvSpPr>
        <p:spPr>
          <a:xfrm>
            <a:off x="5760720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xt_183"/>
          <p:cNvSpPr txBox="1"/>
          <p:nvPr/>
        </p:nvSpPr>
        <p:spPr>
          <a:xfrm>
            <a:off x="6263640" y="14721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OCR 실기기</a:t>
            </a:r>
            <a:endParaRPr lang="en-US" sz="1200" dirty="0"/>
          </a:p>
        </p:txBody>
      </p:sp>
      <p:sp>
        <p:nvSpPr>
          <p:cNvPr id="11" name="txt_184"/>
          <p:cNvSpPr txBox="1"/>
          <p:nvPr/>
        </p:nvSpPr>
        <p:spPr>
          <a:xfrm>
            <a:off x="6263640" y="17647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6C3"/>
                </a:solidFill>
              </a:rPr>
              <a:t>노트북 gate_api.py로 입출차 인식 확인</a:t>
            </a:r>
            <a:endParaRPr lang="en-US" sz="900" dirty="0"/>
          </a:p>
        </p:txBody>
      </p:sp>
      <p:sp>
        <p:nvSpPr>
          <p:cNvPr id="12" name="dot_185"/>
          <p:cNvSpPr/>
          <p:nvPr/>
        </p:nvSpPr>
        <p:spPr>
          <a:xfrm>
            <a:off x="5760720" y="2304288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xt_186"/>
          <p:cNvSpPr txBox="1"/>
          <p:nvPr/>
        </p:nvSpPr>
        <p:spPr>
          <a:xfrm>
            <a:off x="5760720" y="2304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xt_187"/>
          <p:cNvSpPr txBox="1"/>
          <p:nvPr/>
        </p:nvSpPr>
        <p:spPr>
          <a:xfrm>
            <a:off x="6263640" y="2258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이름</a:t>
            </a:r>
            <a:endParaRPr lang="en-US" sz="1200" dirty="0"/>
          </a:p>
        </p:txBody>
      </p:sp>
      <p:sp>
        <p:nvSpPr>
          <p:cNvPr id="15" name="txt_188"/>
          <p:cNvSpPr txBox="1"/>
          <p:nvPr/>
        </p:nvSpPr>
        <p:spPr>
          <a:xfrm>
            <a:off x="6263640" y="25511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6C3"/>
                </a:solidFill>
              </a:rPr>
              <a:t>허브 브랜드명 확정 (S-BOT 후보)</a:t>
            </a:r>
            <a:endParaRPr lang="en-US" sz="900" dirty="0"/>
          </a:p>
        </p:txBody>
      </p:sp>
      <p:sp>
        <p:nvSpPr>
          <p:cNvPr id="16" name="dot_189"/>
          <p:cNvSpPr/>
          <p:nvPr/>
        </p:nvSpPr>
        <p:spPr>
          <a:xfrm>
            <a:off x="5760720" y="309067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xt_190"/>
          <p:cNvSpPr txBox="1"/>
          <p:nvPr/>
        </p:nvSpPr>
        <p:spPr>
          <a:xfrm>
            <a:off x="5760720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xt_191"/>
          <p:cNvSpPr txBox="1"/>
          <p:nvPr/>
        </p:nvSpPr>
        <p:spPr>
          <a:xfrm>
            <a:off x="6263640" y="3044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업로드</a:t>
            </a:r>
            <a:endParaRPr lang="en-US" sz="1200" dirty="0"/>
          </a:p>
        </p:txBody>
      </p:sp>
      <p:sp>
        <p:nvSpPr>
          <p:cNvPr id="19" name="txt_192"/>
          <p:cNvSpPr txBox="1"/>
          <p:nvPr/>
        </p:nvSpPr>
        <p:spPr>
          <a:xfrm>
            <a:off x="6263640" y="3337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6C3"/>
                </a:solidFill>
              </a:rPr>
              <a:t>깃허브 feature/amr-link 푸시 (커밋 3개)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ARGO AMR">
  <a:themeElements>
    <a:clrScheme name="SCARGO AMR">
      <a:dk1>
        <a:srgbClr val="0B1520"/>
      </a:dk1>
      <a:lt1>
        <a:srgbClr val="FFFFFF"/>
      </a:lt1>
      <a:dk2>
        <a:srgbClr val="3A4A5C"/>
      </a:dk2>
      <a:lt2>
        <a:srgbClr val="EEF3F7"/>
      </a:lt2>
      <a:accent1>
        <a:srgbClr val="0FA996"/>
      </a:accent1>
      <a:accent2>
        <a:srgbClr val="E8962A"/>
      </a:accent2>
      <a:accent3>
        <a:srgbClr val="E5484D"/>
      </a:accent3>
      <a:accent4>
        <a:srgbClr val="2FB36B"/>
      </a:accent4>
      <a:accent5>
        <a:srgbClr val="3FE0CC"/>
      </a:accent5>
      <a:accent6>
        <a:srgbClr val="8A99A8"/>
      </a:accent6>
      <a:hlink>
        <a:srgbClr val="0FA996"/>
      </a:hlink>
      <a:folHlink>
        <a:srgbClr val="3A4A5C"/>
      </a:folHlink>
    </a:clrScheme>
    <a:fontScheme name="SCARGO AMR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허브 AMR 관제 작업 정리</dc:title>
  <dc:subject>PptxGenJS Presentation</dc:subject>
  <dc:creator>PptxGenJS</dc:creator>
  <cp:lastModifiedBy>PptxGenJS</cp:lastModifiedBy>
  <cp:revision>1</cp:revision>
  <dcterms:created xsi:type="dcterms:W3CDTF">2026-10-15T13:04:03Z</dcterms:created>
  <dcterms:modified xsi:type="dcterms:W3CDTF">2026-10-15T13:04:03Z</dcterms:modified>
</cp:coreProperties>
</file>