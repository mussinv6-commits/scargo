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8fcbc2fd-5269-45c6-1de7-fc68b01d2917}">
          <p14:sldIdLst>
            <p14:sldId id="256"/>
            <p14:sldId id="257"/>
          </p14:sldIdLst>
        </p14:section>
        <p14:section name="기능" id="{27c883b7-78e7-329f-7d22-307f89ff9a9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시연" id="{aec494fb-6d07-df61-8363-974cd80dcde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600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Shape 0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9525">
            <a:solidFill>
              <a:srgbClr val="D3DCE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736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 AMR · 핵심 기능 정리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1" descr="허브 3D 화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xt_2"/>
          <p:cNvSpPr txBox="1"/>
          <p:nvPr/>
        </p:nvSpPr>
        <p:spPr>
          <a:xfrm>
            <a:off x="45720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4" name="txt_3"/>
          <p:cNvSpPr txBox="1"/>
          <p:nvPr/>
        </p:nvSpPr>
        <p:spPr>
          <a:xfrm>
            <a:off x="457200" y="1325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AMR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정리</a:t>
            </a:r>
            <a:endParaRPr lang="en-US" sz="3200" dirty="0"/>
          </a:p>
        </p:txBody>
      </p:sp>
      <p:sp>
        <p:nvSpPr>
          <p:cNvPr id="5" name="txt_4"/>
          <p:cNvSpPr txBox="1"/>
          <p:nvPr/>
        </p:nvSpPr>
        <p:spPr>
          <a:xfrm>
            <a:off x="457200" y="2743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9가지를 한 장씩: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 · 어떻게 동작 · 쓴 기술 · 시연 포인트</a:t>
            </a:r>
            <a:endParaRPr lang="en-US" sz="1200" dirty="0"/>
          </a:p>
        </p:txBody>
      </p:sp>
      <p:sp>
        <p:nvSpPr>
          <p:cNvPr id="6" name="txt_5"/>
          <p:cNvSpPr txBox="1"/>
          <p:nvPr/>
        </p:nvSpPr>
        <p:spPr>
          <a:xfrm>
            <a:off x="457200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2026.10.16 기준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6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9가지 한눈에</a:t>
            </a:r>
            <a:endParaRPr lang="en-US" sz="2200" dirty="0"/>
          </a:p>
        </p:txBody>
      </p:sp>
      <p:graphicFrame>
        <p:nvGraphicFramePr>
          <p:cNvPr id="3" name="table_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4754880"/>
                <a:gridCol w="1188720"/>
              </a:tblGrid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디지털 트윈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허브를 코드로 모델링, AMR · 지게차 · 트럭이 실제처럼 움직임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예지보전 · 자동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진동 추세로 남은 수명 계산 → 기준 이하면 자동 정비 · 예비기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앱 · 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입출차 OCR · 바코드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게이트에서 번호판 인식, 차종은 DB로 판정, 상자는 EAN-13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OCR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 10곳을 한 대씩만 통과 → 겹침 41 →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(시뮬)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처리량 · 가동률 · 운반 시간 · 교차로 대기 · OCR 신뢰도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 카드 · 통계 · 물류 · 로봇 · 3D, 기준 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웹의 QR을 찍으면 주소 + 로그인, 24시간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→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우선순위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긴급만 / 긴급 + 주의 / 전부 중 골라서 휴대폰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조작 · 게이트 자동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이동 · 바로가기 7곳 · OCR 때 게이트로 자동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8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01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디지털 트윈</a:t>
            </a:r>
            <a:endParaRPr lang="en-US" sz="2200" dirty="0"/>
          </a:p>
        </p:txBody>
      </p:sp>
      <p:sp>
        <p:nvSpPr>
          <p:cNvPr id="4" name="frame_9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10" descr="3D 디지털 트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6439"/>
            <a:ext cx="4206240" cy="2583833"/>
          </a:xfrm>
          <a:prstGeom prst="rect">
            <a:avLst/>
          </a:prstGeom>
        </p:spPr>
      </p:pic>
      <p:sp>
        <p:nvSpPr>
          <p:cNvPr id="6" name="card_11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2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13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14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전체를 코드로 모델링하고, 시뮬레이터가 실제처럼 움직인다</a:t>
            </a:r>
            <a:endParaRPr lang="en-US" sz="1150" dirty="0"/>
          </a:p>
        </p:txBody>
      </p:sp>
      <p:sp>
        <p:nvSpPr>
          <p:cNvPr id="10" name="card_15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6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7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18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· 랙 · AMR · 지게차 · 트럭 · 게이트를 도형으로 직접 만들고, 계산(amrSim)과 그리기(amrScene3d)를 나눔</a:t>
            </a:r>
            <a:endParaRPr lang="en-US" sz="1050" dirty="0"/>
          </a:p>
        </p:txBody>
      </p:sp>
      <p:sp>
        <p:nvSpPr>
          <p:cNvPr id="14" name="card_19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20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21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22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 r160 · InstancedMesh · CanvasTexture · CSS2D · 2D(Ortho) 모드</a:t>
            </a:r>
            <a:endParaRPr lang="en-US" sz="1050" dirty="0"/>
          </a:p>
        </p:txBody>
      </p:sp>
      <p:sp>
        <p:nvSpPr>
          <p:cNvPr id="18" name="card_23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24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25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26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연출로 정상 → 이상 → 예측 → 정비 → 복귀 5단계가 흘러가는 것 보여 주기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7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02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· 자동 운영</a:t>
            </a:r>
            <a:endParaRPr lang="en-US" sz="2200" dirty="0"/>
          </a:p>
        </p:txBody>
      </p:sp>
      <p:sp>
        <p:nvSpPr>
          <p:cNvPr id="4" name="frame_28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29" descr="예지보전 · 자동 운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65351"/>
            <a:ext cx="4206240" cy="2366010"/>
          </a:xfrm>
          <a:prstGeom prst="rect">
            <a:avLst/>
          </a:prstGeom>
        </p:spPr>
      </p:pic>
      <p:sp>
        <p:nvSpPr>
          <p:cNvPr id="6" name="card_30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31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32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33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나기 전에 정비하고, 그동안 예비 로봇이 일을 이어받는다</a:t>
            </a:r>
            <a:endParaRPr lang="en-US" sz="1150" dirty="0"/>
          </a:p>
        </p:txBody>
      </p:sp>
      <p:sp>
        <p:nvSpPr>
          <p:cNvPr id="10" name="card_34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35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36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37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2초 저장 → 진동 추세(최소제곱 기울기)로 남은 수명 계산 → 기준 이하면 자동 정비 예약</a:t>
            </a:r>
            <a:endParaRPr lang="en-US" sz="1050" dirty="0"/>
          </a:p>
        </p:txBody>
      </p:sp>
      <p:sp>
        <p:nvSpPr>
          <p:cNvPr id="14" name="card_38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39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40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41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JPA · PostgreSQL (amr_telemetry · predictions · maintenance)</a:t>
            </a:r>
            <a:endParaRPr lang="en-US" sz="1050" dirty="0"/>
          </a:p>
        </p:txBody>
      </p:sp>
      <p:sp>
        <p:nvSpPr>
          <p:cNvPr id="18" name="card_42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43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44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45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AMR-03 진동이 오르고 → 정비 스테이션 이동 → AMR-05가 대신 일하는 장면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46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03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 OCR · 바코드</a:t>
            </a:r>
            <a:endParaRPr lang="en-US" sz="2200" dirty="0"/>
          </a:p>
        </p:txBody>
      </p:sp>
      <p:sp>
        <p:nvSpPr>
          <p:cNvPr id="4" name="frame_47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48" descr="입출차 OCR · 바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6439"/>
            <a:ext cx="4206240" cy="2583833"/>
          </a:xfrm>
          <a:prstGeom prst="rect">
            <a:avLst/>
          </a:prstGeom>
        </p:spPr>
      </p:pic>
      <p:sp>
        <p:nvSpPr>
          <p:cNvPr id="6" name="card_49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50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51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52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트럭이 게이트에 서면 번호판을 읽고, 등록 여부는 DB가 판정한다</a:t>
            </a:r>
            <a:endParaRPr lang="en-US" sz="1150" dirty="0"/>
          </a:p>
        </p:txBody>
      </p:sp>
      <p:sp>
        <p:nvSpPr>
          <p:cNvPr id="10" name="card_53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54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55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56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정지(최소 2.5초) → OCR 서버 인식 → 등록 화물차 입고 · 택배차 출고 · 미등록 회차</a:t>
            </a:r>
            <a:endParaRPr lang="en-US" sz="1050" dirty="0"/>
          </a:p>
        </p:txBody>
      </p:sp>
      <p:sp>
        <p:nvSpPr>
          <p:cNvPr id="14" name="card_57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58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59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60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YOLO · CRNN (1차 자작 모델) · RestTemplate · EAN-13 바코드 직접 생성</a:t>
            </a:r>
            <a:endParaRPr lang="en-US" sz="1050" dirty="0"/>
          </a:p>
        </p:txBody>
      </p:sp>
      <p:sp>
        <p:nvSpPr>
          <p:cNvPr id="18" name="card_61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62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63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64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미등록 차량이 막히는 장면 + 앱 물류 탭에 인식 사진 · 신뢰도가 뜨는 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65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04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 예약</a:t>
            </a:r>
            <a:endParaRPr lang="en-US" sz="2200" dirty="0"/>
          </a:p>
        </p:txBody>
      </p:sp>
      <p:sp>
        <p:nvSpPr>
          <p:cNvPr id="4" name="frame_66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67" descr="교차로 예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6439"/>
            <a:ext cx="4206240" cy="2583833"/>
          </a:xfrm>
          <a:prstGeom prst="rect">
            <a:avLst/>
          </a:prstGeom>
        </p:spPr>
      </p:pic>
      <p:sp>
        <p:nvSpPr>
          <p:cNvPr id="6" name="card_68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69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70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71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교차로를 미리 예약해서 한 번에 한 대만 지나가게 한다</a:t>
            </a:r>
            <a:endParaRPr lang="en-US" sz="1150" dirty="0"/>
          </a:p>
        </p:txBody>
      </p:sp>
      <p:sp>
        <p:nvSpPr>
          <p:cNvPr id="10" name="card_72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73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74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75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앞 교차로 예약 → 비어 있으면 통과, 아니면 제동 거리만큼 감속해 앞에서 정지 · 3.5초 막히면 양보</a:t>
            </a:r>
            <a:endParaRPr lang="en-US" sz="1050" dirty="0"/>
          </a:p>
        </p:txBody>
      </p:sp>
      <p:sp>
        <p:nvSpPr>
          <p:cNvPr id="14" name="card_76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77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78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79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자작 시뮬레이터 알고리즘 · Node 600초 시뮬 테스트</a:t>
            </a:r>
            <a:endParaRPr lang="en-US" sz="1050" dirty="0"/>
          </a:p>
        </p:txBody>
      </p:sp>
      <p:sp>
        <p:nvSpPr>
          <p:cNvPr id="18" name="card_80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81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82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83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 앞에서 멈췄다 지나가는 로봇 + '교차로 대기 0.7초' 표시 (겹침 41 → 0)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84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05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통계</a:t>
            </a:r>
            <a:endParaRPr lang="en-US" sz="2200" dirty="0"/>
          </a:p>
        </p:txBody>
      </p:sp>
      <p:sp>
        <p:nvSpPr>
          <p:cNvPr id="4" name="frame_85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86" descr="KPI 통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133" y="1261872"/>
            <a:ext cx="2538374" cy="3172968"/>
          </a:xfrm>
          <a:prstGeom prst="rect">
            <a:avLst/>
          </a:prstGeom>
        </p:spPr>
      </p:pic>
      <p:sp>
        <p:nvSpPr>
          <p:cNvPr id="6" name="card_87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88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89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90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쌓아만 두던 데이터를 운영 지표로 보여 준다</a:t>
            </a:r>
            <a:endParaRPr lang="en-US" sz="1150" dirty="0"/>
          </a:p>
        </p:txBody>
      </p:sp>
      <p:sp>
        <p:nvSpPr>
          <p:cNvPr id="10" name="card_91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92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93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94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운반 1건마다 기록(amr_task_logs) → /kpi 하나로 처리량 · 시간대별 · 가동률 · 평균 운반 · 교차로 대기 · OCR 신뢰도</a:t>
            </a:r>
            <a:endParaRPr lang="en-US" sz="1050" dirty="0"/>
          </a:p>
        </p:txBody>
      </p:sp>
      <p:sp>
        <p:nvSpPr>
          <p:cNvPr id="14" name="card_95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96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97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98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JPQL group by 집계 · 오늘 0시(한국 시간) 기준 · 10초마다 갱신</a:t>
            </a:r>
            <a:endParaRPr lang="en-US" sz="1050" dirty="0"/>
          </a:p>
        </p:txBody>
      </p:sp>
      <p:sp>
        <p:nvSpPr>
          <p:cNvPr id="18" name="card_99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00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01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102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오른쪽 KPI 카드와 앱 통계 탭이 같은 숫자인 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03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06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앱</a:t>
            </a:r>
            <a:endParaRPr lang="en-US" sz="2200" dirty="0"/>
          </a:p>
        </p:txBody>
      </p:sp>
      <p:sp>
        <p:nvSpPr>
          <p:cNvPr id="4" name="frame_104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105" descr="관리자 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1983"/>
            <a:ext cx="4206240" cy="2232746"/>
          </a:xfrm>
          <a:prstGeom prst="rect">
            <a:avLst/>
          </a:prstGeom>
        </p:spPr>
      </p:pic>
      <p:sp>
        <p:nvSpPr>
          <p:cNvPr id="6" name="card_106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07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108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109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휴대폰으로 '지금 볼 것'만 빠르게 확인한다</a:t>
            </a:r>
            <a:endParaRPr lang="en-US" sz="1150" dirty="0"/>
          </a:p>
        </p:txBody>
      </p:sp>
      <p:sp>
        <p:nvSpPr>
          <p:cNvPr id="10" name="card_110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11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12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113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할 일 카드(차단 · 정비 · 배터리) → 누르면 해당 화면, 통계 · 물류 · 로봇 · 3D 탭</a:t>
            </a:r>
            <a:endParaRPr lang="en-US" sz="1050" dirty="0"/>
          </a:p>
        </p:txBody>
      </p:sp>
      <p:sp>
        <p:nvSpPr>
          <p:cNvPr id="14" name="card_114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15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116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117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Capacitor 7 · CapacitorHttp(WiFi 통신) · 웹과 같은 3D 코드 재사용</a:t>
            </a:r>
            <a:endParaRPr lang="en-US" sz="1050" dirty="0"/>
          </a:p>
        </p:txBody>
      </p:sp>
      <p:sp>
        <p:nvSpPr>
          <p:cNvPr id="18" name="card_118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19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20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121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앱에서 기준을 바꾸면 2초 안에 웹 3D 로봇이 그 기준으로 움직이는 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22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07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연결 인증 (QR · OTP)</a:t>
            </a:r>
            <a:endParaRPr lang="en-US" sz="2200" dirty="0"/>
          </a:p>
        </p:txBody>
      </p:sp>
      <p:sp>
        <p:nvSpPr>
          <p:cNvPr id="4" name="frame_123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124" descr="앱 연결 인증 (QR · OT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" y="1261872"/>
            <a:ext cx="3877144" cy="3172968"/>
          </a:xfrm>
          <a:prstGeom prst="rect">
            <a:avLst/>
          </a:prstGeom>
        </p:spPr>
      </p:pic>
      <p:sp>
        <p:nvSpPr>
          <p:cNvPr id="6" name="card_125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26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127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128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관리자로 로그인한 웹에만 뜨는 QR을 찍어야 앱이 열린다</a:t>
            </a:r>
            <a:endParaRPr lang="en-US" sz="1150" dirty="0"/>
          </a:p>
        </p:txBody>
      </p:sp>
      <p:sp>
        <p:nvSpPr>
          <p:cNvPr id="10" name="card_129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30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31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132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30초마다 바뀌는 6자리 + QR(노트북 주소 포함) → 앱이 찍거나 입력 → 24시간 토큰</a:t>
            </a:r>
            <a:endParaRPr lang="en-US" sz="1050" dirty="0"/>
          </a:p>
        </p:txBody>
      </p:sp>
      <p:sp>
        <p:nvSpPr>
          <p:cNvPr id="14" name="card_133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34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135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136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TOTP(RFC 6238) · 자작 QR 인코더 · ML Kit 스캐너 · SHA-256 토큰 해시 · 5회 실패 1분 잠금</a:t>
            </a:r>
            <a:endParaRPr lang="en-US" sz="1050" dirty="0"/>
          </a:p>
        </p:txBody>
      </p:sp>
      <p:sp>
        <p:nvSpPr>
          <p:cNvPr id="18" name="card_137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38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39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140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[QR] 버튼 누르기 → 휴대폰으로 찍기 → 주소 입력 없이 바로 로그인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41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08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우선순위</a:t>
            </a:r>
            <a:endParaRPr lang="en-US" sz="2200" dirty="0"/>
          </a:p>
        </p:txBody>
      </p:sp>
      <p:sp>
        <p:nvSpPr>
          <p:cNvPr id="4" name="frame_142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143" descr="알림 우선순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7229" y="1261872"/>
            <a:ext cx="1466182" cy="3172968"/>
          </a:xfrm>
          <a:prstGeom prst="rect">
            <a:avLst/>
          </a:prstGeom>
        </p:spPr>
      </p:pic>
      <p:sp>
        <p:nvSpPr>
          <p:cNvPr id="6" name="card_144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45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146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147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정말 급한 것만 휴대폰으로 받는다</a:t>
            </a:r>
            <a:endParaRPr lang="en-US" sz="1150" dirty="0"/>
          </a:p>
        </p:txBody>
      </p:sp>
      <p:sp>
        <p:nvSpPr>
          <p:cNvPr id="10" name="card_148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49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50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151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긴급(차단 · 서버 끊김) / 주의(고장 예측 · 정비 예약 · 진동) / 정보(정비 진행 · 충전) 3단계</a:t>
            </a:r>
            <a:endParaRPr lang="en-US" sz="1050" dirty="0"/>
          </a:p>
        </p:txBody>
      </p:sp>
      <p:sp>
        <p:nvSpPr>
          <p:cNvPr id="14" name="card_152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53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154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155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Capacitor LocalNotifications · 설정은 기기에 저장 · 서버 15초 끊김 감지</a:t>
            </a:r>
            <a:endParaRPr lang="en-US" sz="1050" dirty="0"/>
          </a:p>
        </p:txBody>
      </p:sp>
      <p:sp>
        <p:nvSpPr>
          <p:cNvPr id="18" name="card_156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57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58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159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'긴급만'이면 정비는 울리지 않고 알림 탭에만 쌓이는 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60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09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조작 · 게이트 자동</a:t>
            </a:r>
            <a:endParaRPr lang="en-US" sz="2200" dirty="0"/>
          </a:p>
        </p:txBody>
      </p:sp>
      <p:sp>
        <p:nvSpPr>
          <p:cNvPr id="4" name="frame_161"/>
          <p:cNvSpPr/>
          <p:nvPr/>
        </p:nvSpPr>
        <p:spPr>
          <a:xfrm>
            <a:off x="457200" y="1261872"/>
            <a:ext cx="420624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g_162" descr="지도 조작 · 게이트 자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852" y="1261872"/>
            <a:ext cx="3444937" cy="3172968"/>
          </a:xfrm>
          <a:prstGeom prst="rect">
            <a:avLst/>
          </a:prstGeom>
        </p:spPr>
      </p:pic>
      <p:sp>
        <p:nvSpPr>
          <p:cNvPr id="6" name="card_163"/>
          <p:cNvSpPr/>
          <p:nvPr/>
        </p:nvSpPr>
        <p:spPr>
          <a:xfrm>
            <a:off x="4892040" y="1261872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64"/>
          <p:cNvSpPr/>
          <p:nvPr/>
        </p:nvSpPr>
        <p:spPr>
          <a:xfrm>
            <a:off x="4892040" y="1371600"/>
            <a:ext cx="45720" cy="49149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xt_165"/>
          <p:cNvSpPr txBox="1"/>
          <p:nvPr/>
        </p:nvSpPr>
        <p:spPr>
          <a:xfrm>
            <a:off x="5056632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950" dirty="0"/>
          </a:p>
        </p:txBody>
      </p:sp>
      <p:sp>
        <p:nvSpPr>
          <p:cNvPr id="9" name="txt_166"/>
          <p:cNvSpPr txBox="1"/>
          <p:nvPr/>
        </p:nvSpPr>
        <p:spPr>
          <a:xfrm>
            <a:off x="5056632" y="1591056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앱처럼 움직이고, 차가 오면 게이트를 자동으로 보여 준다</a:t>
            </a:r>
            <a:endParaRPr lang="en-US" sz="1150" dirty="0"/>
          </a:p>
        </p:txBody>
      </p:sp>
      <p:sp>
        <p:nvSpPr>
          <p:cNvPr id="10" name="card_167"/>
          <p:cNvSpPr/>
          <p:nvPr/>
        </p:nvSpPr>
        <p:spPr>
          <a:xfrm>
            <a:off x="4892040" y="2082546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68"/>
          <p:cNvSpPr/>
          <p:nvPr/>
        </p:nvSpPr>
        <p:spPr>
          <a:xfrm>
            <a:off x="4892040" y="2192274"/>
            <a:ext cx="45720" cy="491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69"/>
          <p:cNvSpPr txBox="1"/>
          <p:nvPr/>
        </p:nvSpPr>
        <p:spPr>
          <a:xfrm>
            <a:off x="5056632" y="217398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3" name="txt_170"/>
          <p:cNvSpPr txBox="1"/>
          <p:nvPr/>
        </p:nvSpPr>
        <p:spPr>
          <a:xfrm>
            <a:off x="5056632" y="2411730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이동 · 회전 제한 · 바로가기 7곳 · OCR 시작 시 게이트 6초 → 원래 자리 복귀 (입구 · 출구)</a:t>
            </a:r>
            <a:endParaRPr lang="en-US" sz="1050" dirty="0"/>
          </a:p>
        </p:txBody>
      </p:sp>
      <p:sp>
        <p:nvSpPr>
          <p:cNvPr id="14" name="card_171"/>
          <p:cNvSpPr/>
          <p:nvPr/>
        </p:nvSpPr>
        <p:spPr>
          <a:xfrm>
            <a:off x="4892040" y="2903220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72"/>
          <p:cNvSpPr/>
          <p:nvPr/>
        </p:nvSpPr>
        <p:spPr>
          <a:xfrm>
            <a:off x="4892040" y="3012948"/>
            <a:ext cx="45720" cy="4914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_173"/>
          <p:cNvSpPr txBox="1"/>
          <p:nvPr/>
        </p:nvSpPr>
        <p:spPr>
          <a:xfrm>
            <a:off x="5056632" y="29946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950" dirty="0"/>
          </a:p>
        </p:txBody>
      </p:sp>
      <p:sp>
        <p:nvSpPr>
          <p:cNvPr id="17" name="txt_174"/>
          <p:cNvSpPr txBox="1"/>
          <p:nvPr/>
        </p:nvSpPr>
        <p:spPr>
          <a:xfrm>
            <a:off x="5056632" y="3232404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OrbitControls(지도 방식) · 부지 경계 제한 · 시점 저장 · 복원</a:t>
            </a:r>
            <a:endParaRPr lang="en-US" sz="1050" dirty="0"/>
          </a:p>
        </p:txBody>
      </p:sp>
      <p:sp>
        <p:nvSpPr>
          <p:cNvPr id="18" name="card_175"/>
          <p:cNvSpPr/>
          <p:nvPr/>
        </p:nvSpPr>
        <p:spPr>
          <a:xfrm>
            <a:off x="4892040" y="3723894"/>
            <a:ext cx="3794760" cy="710946"/>
          </a:xfrm>
          <a:prstGeom prst="roundRect">
            <a:avLst>
              <a:gd name="adj" fmla="val 77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76"/>
          <p:cNvSpPr/>
          <p:nvPr/>
        </p:nvSpPr>
        <p:spPr>
          <a:xfrm>
            <a:off x="4892040" y="3833622"/>
            <a:ext cx="45720" cy="49149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77"/>
          <p:cNvSpPr txBox="1"/>
          <p:nvPr/>
        </p:nvSpPr>
        <p:spPr>
          <a:xfrm>
            <a:off x="5056632" y="38153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950" dirty="0"/>
          </a:p>
        </p:txBody>
      </p:sp>
      <p:sp>
        <p:nvSpPr>
          <p:cNvPr id="21" name="txt_178"/>
          <p:cNvSpPr txBox="1"/>
          <p:nvPr/>
        </p:nvSpPr>
        <p:spPr>
          <a:xfrm>
            <a:off x="5056632" y="4053078"/>
            <a:ext cx="350215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아무 데나 옮겨 둔 상태에서 트럭이 오면 게이트로 갔다 돌아오는 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79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 (약 5분)</a:t>
            </a:r>
            <a:endParaRPr lang="en-US" sz="2200" dirty="0"/>
          </a:p>
        </p:txBody>
      </p:sp>
      <p:graphicFrame>
        <p:nvGraphicFramePr>
          <p:cNvPr id="13" name="table_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480560"/>
                <a:gridCol w="1188720"/>
              </a:tblGrid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관제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트윈 · KPI 카드 · 바로가기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 · 05 · 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트럭 입차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자동 → OCR 인식 · 미등록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· 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[QR] 버튼 → 휴대폰으로 찍어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예지보전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진동 상승 → 자동 정비 예약 · 예비기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 카드 · 통계 · 알림 설정(긴급만)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 · 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 앞 정지 → 통과, 겹침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b AMR Portfolio">
  <a:themeElements>
    <a:clrScheme name="Hub AMR Portfolio">
      <a:dk1>
        <a:srgbClr val="0B1520"/>
      </a:dk1>
      <a:lt1>
        <a:srgbClr val="FFFFFF"/>
      </a:lt1>
      <a:dk2>
        <a:srgbClr val="46566A"/>
      </a:dk2>
      <a:lt2>
        <a:srgbClr val="F1F5F8"/>
      </a:lt2>
      <a:accent1>
        <a:srgbClr val="0FA996"/>
      </a:accent1>
      <a:accent2>
        <a:srgbClr val="D98A1F"/>
      </a:accent2>
      <a:accent3>
        <a:srgbClr val="D9474C"/>
      </a:accent3>
      <a:accent4>
        <a:srgbClr val="2B9F62"/>
      </a:accent4>
      <a:accent5>
        <a:srgbClr val="3FE0CC"/>
      </a:accent5>
      <a:accent6>
        <a:srgbClr val="8796A6"/>
      </a:accent6>
      <a:hlink>
        <a:srgbClr val="0FA996"/>
      </a:hlink>
      <a:folHlink>
        <a:srgbClr val="46566A"/>
      </a:folHlink>
    </a:clrScheme>
    <a:fontScheme name="Hub AMR Portfolio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허브 AMR 핵심 기능 정리</dc:title>
  <dc:subject>PptxGenJS Presentation</dc:subject>
  <dc:creator>PptxGenJS</dc:creator>
  <cp:lastModifiedBy>PptxGenJS</cp:lastModifiedBy>
  <cp:revision>1</cp:revision>
  <dcterms:created xsi:type="dcterms:W3CDTF">2026-10-16T01:56:13Z</dcterms:created>
  <dcterms:modified xsi:type="dcterms:W3CDTF">2026-10-16T01:56:13Z</dcterms:modified>
</cp:coreProperties>
</file>