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8429c6c5-3565-52ea-dc3e-2fcb0971a836}">
          <p14:sldIdLst>
            <p14:sldId id="256"/>
            <p14:sldId id="257"/>
          </p14:sldIdLst>
        </p14:section>
        <p14:section name="1 · 3D 트윈" id="{bc12957f-5a97-69a3-5fcd-baeef58e14c6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2 · 경로 · 충돌" id="{368acf80-2f5e-76bf-2151-ab7589516aa3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3 · 예지보전" id="{2385c662-2081-a424-139c-878880e1eb41}">
          <p14:sldIdLst>
            <p14:sldId id="271"/>
            <p14:sldId id="272"/>
            <p14:sldId id="273"/>
            <p14:sldId id="274"/>
          </p14:sldIdLst>
        </p14:section>
        <p14:section name="4 · 앱 연결" id="{a270d5c0-2cac-b3e3-5030-9a2105fc7244}">
          <p14:sldIdLst>
            <p14:sldId id="275"/>
            <p14:sldId id="276"/>
            <p14:sldId id="277"/>
            <p14:sldId id="278"/>
            <p14:sldId id="279"/>
          </p14:sldIdLst>
        </p14:section>
        <p14:section name="5 · 백엔드 · DB" id="{27c9b426-95ac-7433-1bca-0f5a70f41d03}">
          <p14:sldIdLst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6 · OCR · 바코드" id="{346c56f0-eb88-d2b5-201b-82cef0d8bd92}">
          <p14:sldIdLst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7 · 한계" id="{53a3e9e3-f132-e554-bf0d-894ddfbb01f3}">
          <p14:sldIdLst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6"/>
                </a:solidFill>
              </a:rPr>
              <a:t>S-CARGO 허브 AMR · 기술 설명서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1"/>
          <p:cNvSpPr txBox="1"/>
          <p:nvPr/>
        </p:nvSpPr>
        <p:spPr>
          <a:xfrm>
            <a:off x="54864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S-CARGO 2차 · 허브 AMR 파트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허브 AMR 기술 설명서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어떤 기술을 · 어떻게 썼고 · 무엇이 문제였나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파트마다 면접 예상 질문과 한 줄 답 포함 · 2026.10.15 기준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목차 — 7개 파트</a:t>
            </a:r>
            <a:endParaRPr lang="en-US" sz="2000" dirty="0"/>
          </a:p>
        </p:txBody>
      </p:sp>
      <p:sp>
        <p:nvSpPr>
          <p:cNvPr id="3" name="card_2"/>
          <p:cNvSpPr/>
          <p:nvPr/>
        </p:nvSpPr>
        <p:spPr>
          <a:xfrm>
            <a:off x="457200" y="1005840"/>
            <a:ext cx="1938528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4" name="dot_3"/>
          <p:cNvSpPr/>
          <p:nvPr/>
        </p:nvSpPr>
        <p:spPr>
          <a:xfrm>
            <a:off x="640080" y="11887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xt_4"/>
          <p:cNvSpPr txBox="1"/>
          <p:nvPr/>
        </p:nvSpPr>
        <p:spPr>
          <a:xfrm>
            <a:off x="64008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xt_5"/>
          <p:cNvSpPr txBox="1"/>
          <p:nvPr/>
        </p:nvSpPr>
        <p:spPr>
          <a:xfrm>
            <a:off x="64008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3D 디지털 트윈</a:t>
            </a:r>
            <a:endParaRPr lang="en-US" sz="1300" dirty="0"/>
          </a:p>
        </p:txBody>
      </p:sp>
      <p:sp>
        <p:nvSpPr>
          <p:cNvPr id="7" name="txt_6"/>
          <p:cNvSpPr txBox="1"/>
          <p:nvPr/>
        </p:nvSpPr>
        <p:spPr>
          <a:xfrm>
            <a:off x="64008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Three.js로 허브를 어떻게 그렸나</a:t>
            </a:r>
            <a:endParaRPr lang="en-US" sz="950" dirty="0"/>
          </a:p>
        </p:txBody>
      </p:sp>
      <p:sp>
        <p:nvSpPr>
          <p:cNvPr id="8" name="card_7"/>
          <p:cNvSpPr/>
          <p:nvPr/>
        </p:nvSpPr>
        <p:spPr>
          <a:xfrm>
            <a:off x="2532888" y="1005840"/>
            <a:ext cx="1938528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9" name="dot_8"/>
          <p:cNvSpPr/>
          <p:nvPr/>
        </p:nvSpPr>
        <p:spPr>
          <a:xfrm>
            <a:off x="2715768" y="11887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xt_9"/>
          <p:cNvSpPr txBox="1"/>
          <p:nvPr/>
        </p:nvSpPr>
        <p:spPr>
          <a:xfrm>
            <a:off x="2715768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xt_10"/>
          <p:cNvSpPr txBox="1"/>
          <p:nvPr/>
        </p:nvSpPr>
        <p:spPr>
          <a:xfrm>
            <a:off x="2715768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AMR 경로 · 충돌</a:t>
            </a:r>
            <a:endParaRPr lang="en-US" sz="1300" dirty="0"/>
          </a:p>
        </p:txBody>
      </p:sp>
      <p:sp>
        <p:nvSpPr>
          <p:cNvPr id="12" name="txt_11"/>
          <p:cNvSpPr txBox="1"/>
          <p:nvPr/>
        </p:nvSpPr>
        <p:spPr>
          <a:xfrm>
            <a:off x="2715768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길 찾기, 작업 배정, 부딪힘 방지</a:t>
            </a:r>
            <a:endParaRPr lang="en-US" sz="950" dirty="0"/>
          </a:p>
        </p:txBody>
      </p:sp>
      <p:sp>
        <p:nvSpPr>
          <p:cNvPr id="13" name="card_12"/>
          <p:cNvSpPr/>
          <p:nvPr/>
        </p:nvSpPr>
        <p:spPr>
          <a:xfrm>
            <a:off x="4608576" y="1005840"/>
            <a:ext cx="1938528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4" name="dot_13"/>
          <p:cNvSpPr/>
          <p:nvPr/>
        </p:nvSpPr>
        <p:spPr>
          <a:xfrm>
            <a:off x="4791456" y="11887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xt_14"/>
          <p:cNvSpPr txBox="1"/>
          <p:nvPr/>
        </p:nvSpPr>
        <p:spPr>
          <a:xfrm>
            <a:off x="4791456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xt_15"/>
          <p:cNvSpPr txBox="1"/>
          <p:nvPr/>
        </p:nvSpPr>
        <p:spPr>
          <a:xfrm>
            <a:off x="4791456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예지보전 · 자동 운영</a:t>
            </a:r>
            <a:endParaRPr lang="en-US" sz="1300" dirty="0"/>
          </a:p>
        </p:txBody>
      </p:sp>
      <p:sp>
        <p:nvSpPr>
          <p:cNvPr id="17" name="txt_16"/>
          <p:cNvSpPr txBox="1"/>
          <p:nvPr/>
        </p:nvSpPr>
        <p:spPr>
          <a:xfrm>
            <a:off x="4791456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고장 예측, 자동 정비 · 충전</a:t>
            </a:r>
            <a:endParaRPr lang="en-US" sz="950" dirty="0"/>
          </a:p>
        </p:txBody>
      </p:sp>
      <p:sp>
        <p:nvSpPr>
          <p:cNvPr id="18" name="card_17"/>
          <p:cNvSpPr/>
          <p:nvPr/>
        </p:nvSpPr>
        <p:spPr>
          <a:xfrm>
            <a:off x="6684264" y="1005840"/>
            <a:ext cx="1938528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9" name="dot_18"/>
          <p:cNvSpPr/>
          <p:nvPr/>
        </p:nvSpPr>
        <p:spPr>
          <a:xfrm>
            <a:off x="6867144" y="118872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xt_19"/>
          <p:cNvSpPr txBox="1"/>
          <p:nvPr/>
        </p:nvSpPr>
        <p:spPr>
          <a:xfrm>
            <a:off x="6867144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xt_20"/>
          <p:cNvSpPr txBox="1"/>
          <p:nvPr/>
        </p:nvSpPr>
        <p:spPr>
          <a:xfrm>
            <a:off x="6867144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앱 연결</a:t>
            </a:r>
            <a:endParaRPr lang="en-US" sz="1300" dirty="0"/>
          </a:p>
        </p:txBody>
      </p:sp>
      <p:sp>
        <p:nvSpPr>
          <p:cNvPr id="22" name="txt_21"/>
          <p:cNvSpPr txBox="1"/>
          <p:nvPr/>
        </p:nvSpPr>
        <p:spPr>
          <a:xfrm>
            <a:off x="6867144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WiFi 실패 → 케이블 → WiFi 복구</a:t>
            </a:r>
            <a:endParaRPr lang="en-US" sz="950" dirty="0"/>
          </a:p>
        </p:txBody>
      </p:sp>
      <p:sp>
        <p:nvSpPr>
          <p:cNvPr id="23" name="card_22"/>
          <p:cNvSpPr/>
          <p:nvPr/>
        </p:nvSpPr>
        <p:spPr>
          <a:xfrm>
            <a:off x="457200" y="2788920"/>
            <a:ext cx="1938528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4" name="dot_23"/>
          <p:cNvSpPr/>
          <p:nvPr/>
        </p:nvSpPr>
        <p:spPr>
          <a:xfrm>
            <a:off x="640080" y="2971800"/>
            <a:ext cx="384048" cy="38404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xt_24"/>
          <p:cNvSpPr txBox="1"/>
          <p:nvPr/>
        </p:nvSpPr>
        <p:spPr>
          <a:xfrm>
            <a:off x="64008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xt_25"/>
          <p:cNvSpPr txBox="1"/>
          <p:nvPr/>
        </p:nvSpPr>
        <p:spPr>
          <a:xfrm>
            <a:off x="64008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백엔드 · DB 연동</a:t>
            </a:r>
            <a:endParaRPr lang="en-US" sz="1300" dirty="0"/>
          </a:p>
        </p:txBody>
      </p:sp>
      <p:sp>
        <p:nvSpPr>
          <p:cNvPr id="27" name="txt_26"/>
          <p:cNvSpPr txBox="1"/>
          <p:nvPr/>
        </p:nvSpPr>
        <p:spPr>
          <a:xfrm>
            <a:off x="64008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앱 · 웹 · DB 실시간 동기화</a:t>
            </a:r>
            <a:endParaRPr lang="en-US" sz="950" dirty="0"/>
          </a:p>
        </p:txBody>
      </p:sp>
      <p:sp>
        <p:nvSpPr>
          <p:cNvPr id="28" name="card_27"/>
          <p:cNvSpPr/>
          <p:nvPr/>
        </p:nvSpPr>
        <p:spPr>
          <a:xfrm>
            <a:off x="2532888" y="2788920"/>
            <a:ext cx="1938528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9" name="dot_28"/>
          <p:cNvSpPr/>
          <p:nvPr/>
        </p:nvSpPr>
        <p:spPr>
          <a:xfrm>
            <a:off x="2715768" y="29718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xt_29"/>
          <p:cNvSpPr txBox="1"/>
          <p:nvPr/>
        </p:nvSpPr>
        <p:spPr>
          <a:xfrm>
            <a:off x="2715768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6</a:t>
            </a:r>
            <a:endParaRPr lang="en-US" sz="1000" dirty="0"/>
          </a:p>
        </p:txBody>
      </p:sp>
      <p:sp>
        <p:nvSpPr>
          <p:cNvPr id="31" name="txt_30"/>
          <p:cNvSpPr txBox="1"/>
          <p:nvPr/>
        </p:nvSpPr>
        <p:spPr>
          <a:xfrm>
            <a:off x="2715768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입출차 OCR · 바코드</a:t>
            </a:r>
            <a:endParaRPr lang="en-US" sz="1300" dirty="0"/>
          </a:p>
        </p:txBody>
      </p:sp>
      <p:sp>
        <p:nvSpPr>
          <p:cNvPr id="32" name="txt_31"/>
          <p:cNvSpPr txBox="1"/>
          <p:nvPr/>
        </p:nvSpPr>
        <p:spPr>
          <a:xfrm>
            <a:off x="2715768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1차 OCR 재사용, DB 차종 판정</a:t>
            </a:r>
            <a:endParaRPr lang="en-US" sz="950" dirty="0"/>
          </a:p>
        </p:txBody>
      </p:sp>
      <p:sp>
        <p:nvSpPr>
          <p:cNvPr id="33" name="card_32"/>
          <p:cNvSpPr/>
          <p:nvPr/>
        </p:nvSpPr>
        <p:spPr>
          <a:xfrm>
            <a:off x="4608576" y="2788920"/>
            <a:ext cx="1938528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34" name="dot_33"/>
          <p:cNvSpPr/>
          <p:nvPr/>
        </p:nvSpPr>
        <p:spPr>
          <a:xfrm>
            <a:off x="4791456" y="2971800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5" name="txt_34"/>
          <p:cNvSpPr txBox="1"/>
          <p:nvPr/>
        </p:nvSpPr>
        <p:spPr>
          <a:xfrm>
            <a:off x="4791456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7</a:t>
            </a:r>
            <a:endParaRPr lang="en-US" sz="1000" dirty="0"/>
          </a:p>
        </p:txBody>
      </p:sp>
      <p:sp>
        <p:nvSpPr>
          <p:cNvPr id="36" name="txt_35"/>
          <p:cNvSpPr txBox="1"/>
          <p:nvPr/>
        </p:nvSpPr>
        <p:spPr>
          <a:xfrm>
            <a:off x="4791456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한계와 개선 계획</a:t>
            </a:r>
            <a:endParaRPr lang="en-US" sz="1300" dirty="0"/>
          </a:p>
        </p:txBody>
      </p:sp>
      <p:sp>
        <p:nvSpPr>
          <p:cNvPr id="37" name="txt_36"/>
          <p:cNvSpPr txBox="1"/>
          <p:nvPr/>
        </p:nvSpPr>
        <p:spPr>
          <a:xfrm>
            <a:off x="4791456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솔직하게 말할 약점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37"/>
          <p:cNvSpPr txBox="1"/>
          <p:nvPr/>
        </p:nvSpPr>
        <p:spPr>
          <a:xfrm>
            <a:off x="5486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5"/>
                </a:solidFill>
              </a:rPr>
              <a:t>PART 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3D 디지털 트윈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Three.js r160으로 허브 창고 · AMR · 지게차 · 트럭을 코드로 직접 만들었다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구조: '계산'과 '그리기'를 파일로 나눴다</a:t>
            </a:r>
            <a:endParaRPr lang="en-US" sz="2000" dirty="0"/>
          </a:p>
        </p:txBody>
      </p:sp>
      <p:sp>
        <p:nvSpPr>
          <p:cNvPr id="3" name="card_38"/>
          <p:cNvSpPr/>
          <p:nvPr/>
        </p:nvSpPr>
        <p:spPr>
          <a:xfrm>
            <a:off x="457200" y="96012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txt_39"/>
          <p:cNvSpPr txBox="1"/>
          <p:nvPr/>
        </p:nvSpPr>
        <p:spPr>
          <a:xfrm>
            <a:off x="640080" y="10789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amrSim.js</a:t>
            </a:r>
            <a:endParaRPr lang="en-US" sz="1300" dirty="0"/>
          </a:p>
        </p:txBody>
      </p:sp>
      <p:sp>
        <p:nvSpPr>
          <p:cNvPr id="5" name="txt_40"/>
          <p:cNvSpPr txBox="1"/>
          <p:nvPr/>
        </p:nvSpPr>
        <p:spPr>
          <a:xfrm>
            <a:off x="640080" y="1389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시뮬레이션 (계산만)</a:t>
            </a:r>
            <a:endParaRPr lang="en-US" sz="1100" dirty="0"/>
          </a:p>
        </p:txBody>
      </p:sp>
      <p:sp>
        <p:nvSpPr>
          <p:cNvPr id="6" name="txt_41"/>
          <p:cNvSpPr txBox="1"/>
          <p:nvPr/>
        </p:nvSpPr>
        <p:spPr>
          <a:xfrm>
            <a:off x="640080" y="17373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평면도 좌표 1000×640px 위에서 로봇 위치 · 작업 · 센서 · 시나리오 계산. 화면 코드 없음</a:t>
            </a:r>
            <a:endParaRPr lang="en-US" sz="950" dirty="0"/>
          </a:p>
        </p:txBody>
      </p:sp>
      <p:sp>
        <p:nvSpPr>
          <p:cNvPr id="7" name="card_42"/>
          <p:cNvSpPr/>
          <p:nvPr/>
        </p:nvSpPr>
        <p:spPr>
          <a:xfrm>
            <a:off x="3246120" y="96012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txt_43"/>
          <p:cNvSpPr txBox="1"/>
          <p:nvPr/>
        </p:nvSpPr>
        <p:spPr>
          <a:xfrm>
            <a:off x="3429000" y="10789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amrScene3d.js</a:t>
            </a:r>
            <a:endParaRPr lang="en-US" sz="1300" dirty="0"/>
          </a:p>
        </p:txBody>
      </p:sp>
      <p:sp>
        <p:nvSpPr>
          <p:cNvPr id="9" name="txt_44"/>
          <p:cNvSpPr txBox="1"/>
          <p:nvPr/>
        </p:nvSpPr>
        <p:spPr>
          <a:xfrm>
            <a:off x="3429000" y="1389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3D 렌더링 (그리기만)</a:t>
            </a:r>
            <a:endParaRPr lang="en-US" sz="1100" dirty="0"/>
          </a:p>
        </p:txBody>
      </p:sp>
      <p:sp>
        <p:nvSpPr>
          <p:cNvPr id="10" name="txt_45"/>
          <p:cNvSpPr txBox="1"/>
          <p:nvPr/>
        </p:nvSpPr>
        <p:spPr>
          <a:xfrm>
            <a:off x="3429000" y="17373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Sim 상태를 읽어 3D로 그림. 1px = 0.05m → 창고 50m × 32m</a:t>
            </a:r>
            <a:endParaRPr lang="en-US" sz="950" dirty="0"/>
          </a:p>
        </p:txBody>
      </p:sp>
      <p:sp>
        <p:nvSpPr>
          <p:cNvPr id="11" name="card_46"/>
          <p:cNvSpPr/>
          <p:nvPr/>
        </p:nvSpPr>
        <p:spPr>
          <a:xfrm>
            <a:off x="6035040" y="96012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2" name="txt_47"/>
          <p:cNvSpPr txBox="1"/>
          <p:nvPr/>
        </p:nvSpPr>
        <p:spPr>
          <a:xfrm>
            <a:off x="6217920" y="10789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amrApi.js</a:t>
            </a:r>
            <a:endParaRPr lang="en-US" sz="1300" dirty="0"/>
          </a:p>
        </p:txBody>
      </p:sp>
      <p:sp>
        <p:nvSpPr>
          <p:cNvPr id="13" name="txt_48"/>
          <p:cNvSpPr txBox="1"/>
          <p:nvPr/>
        </p:nvSpPr>
        <p:spPr>
          <a:xfrm>
            <a:off x="6217920" y="1389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서버 통신</a:t>
            </a:r>
            <a:endParaRPr lang="en-US" sz="1100" dirty="0"/>
          </a:p>
        </p:txBody>
      </p:sp>
      <p:sp>
        <p:nvSpPr>
          <p:cNvPr id="14" name="txt_49"/>
          <p:cNvSpPr txBox="1"/>
          <p:nvPr/>
        </p:nvSpPr>
        <p:spPr>
          <a:xfrm>
            <a:off x="6217920" y="17373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센서 전송 · 상태 조회 · 기준 저장. 3초 타임아웃</a:t>
            </a:r>
            <a:endParaRPr lang="en-US" sz="950" dirty="0"/>
          </a:p>
        </p:txBody>
      </p:sp>
      <p:sp>
        <p:nvSpPr>
          <p:cNvPr id="15" name="card_50"/>
          <p:cNvSpPr/>
          <p:nvPr/>
        </p:nvSpPr>
        <p:spPr>
          <a:xfrm>
            <a:off x="457200" y="3200400"/>
            <a:ext cx="8229600" cy="1325880"/>
          </a:xfrm>
          <a:prstGeom prst="roundRect">
            <a:avLst>
              <a:gd name="adj" fmla="val 551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xt_51"/>
          <p:cNvSpPr txBox="1"/>
          <p:nvPr/>
        </p:nvSpPr>
        <p:spPr>
          <a:xfrm>
            <a:off x="731520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왜 나눴나</a:t>
            </a:r>
            <a:endParaRPr lang="en-US" sz="1100" dirty="0"/>
          </a:p>
        </p:txBody>
      </p:sp>
      <p:sp>
        <p:nvSpPr>
          <p:cNvPr id="17" name="txt_52"/>
          <p:cNvSpPr txBox="1"/>
          <p:nvPr/>
        </p:nvSpPr>
        <p:spPr>
          <a:xfrm>
            <a:off x="731520" y="3611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같은 3개 파일을 웹(Vue)과 앱(Capacitor)이 그대로 같이 쓴다 → 한 번 고치면 둘 다 바뀜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계산 코드는 브라우저 없이 Node에서 테스트 가능 (정비 대상이 03→02→01→04로 바뀌는지 검증)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나중에 진짜 로봇 데이터가 오면 Sim만 갈아끼우고 3D는 그대로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Three.js에서 쓴 기능과 이유</a:t>
            </a:r>
            <a:endParaRPr lang="en-US" sz="2000" dirty="0"/>
          </a:p>
        </p:txBody>
      </p:sp>
      <p:graphicFrame>
        <p:nvGraphicFramePr>
          <p:cNvPr id="6" name="table_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514600"/>
                <a:gridCol w="36118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기능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어디에 썼나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이유 · 한 줄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WebGLRenderer + 그림자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PCFSoftShadowMap, ACES 톤매핑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현실적인 명암. 픽셀 비율 최대 2로 제한해 폰 발열 방지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RoomEnvironment + PMREM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금속 · 플라스틱 반사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HDR 이미지 파일 없이 코드로 반사 환경 생성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InstancedMesh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랙 기둥 · 빔 · 조명 · 라벨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같은 모양 수백 개를 한 번에 그림 → 그리기 호출 수 감소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CanvasTexture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바닥 표시 · 스티커 · 번호판 · 간판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이미지 파일 없이 글자 · 그림을 코드로 그려 텍스처로 사용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RoundedBoxGeometry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AMR · 박스 · 트럭 모서리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각진 상자보다 실물에 가깝게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CSS2DRenderer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로봇 번호 · 말풍선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HTML로 그려서 글자가 선명하고 클릭 가능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EffectComposer + UnrealBloom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AMR 주변 빛나는 링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상태(정상 · 주의 · 정비)를 색 빛으로 강조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Perspective / Orthographic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3D 보기 / 2D 평면 모드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2D는 원근 없는 카메라로 평면도처럼 보기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OrbitControls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회전 · 확대 · 이동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마우스 · 터치 둘 다 지원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화면 기능: 2D · 라이트 모드 · 따라가기 카메라</a:t>
            </a:r>
            <a:endParaRPr lang="en-US" sz="2000" dirty="0"/>
          </a:p>
        </p:txBody>
      </p:sp>
      <p:pic>
        <p:nvPicPr>
          <p:cNvPr id="3" name="follow_img" descr="AMR 따라가기 카메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3931920" cy="2211705"/>
          </a:xfrm>
          <a:prstGeom prst="rect">
            <a:avLst/>
          </a:prstGeom>
        </p:spPr>
      </p:pic>
      <p:sp>
        <p:nvSpPr>
          <p:cNvPr id="4" name="txt_54"/>
          <p:cNvSpPr txBox="1"/>
          <p:nvPr/>
        </p:nvSpPr>
        <p:spPr>
          <a:xfrm>
            <a:off x="457200" y="3217545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선택한 AMR 따라가기 카메라</a:t>
            </a:r>
            <a:endParaRPr lang="en-US" sz="950" dirty="0"/>
          </a:p>
        </p:txBody>
      </p:sp>
      <p:sp>
        <p:nvSpPr>
          <p:cNvPr id="5" name="card_55"/>
          <p:cNvSpPr/>
          <p:nvPr/>
        </p:nvSpPr>
        <p:spPr>
          <a:xfrm>
            <a:off x="4663440" y="96012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6" name="bar_56"/>
          <p:cNvSpPr/>
          <p:nvPr/>
        </p:nvSpPr>
        <p:spPr>
          <a:xfrm>
            <a:off x="4663440" y="1097280"/>
            <a:ext cx="64008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xt_57"/>
          <p:cNvSpPr txBox="1"/>
          <p:nvPr/>
        </p:nvSpPr>
        <p:spPr>
          <a:xfrm>
            <a:off x="48920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2D 모드</a:t>
            </a:r>
            <a:endParaRPr lang="en-US" sz="1200" dirty="0"/>
          </a:p>
        </p:txBody>
      </p:sp>
      <p:sp>
        <p:nvSpPr>
          <p:cNvPr id="8" name="txt_58"/>
          <p:cNvSpPr txBox="1"/>
          <p:nvPr/>
        </p:nvSpPr>
        <p:spPr>
          <a:xfrm>
            <a:off x="4892040" y="134416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OrthographicCamera로 바꾸고 전용 컨트롤 사용. 위에서 본 평면도</a:t>
            </a:r>
            <a:endParaRPr lang="en-US" sz="950" dirty="0"/>
          </a:p>
        </p:txBody>
      </p:sp>
      <p:sp>
        <p:nvSpPr>
          <p:cNvPr id="9" name="card_59"/>
          <p:cNvSpPr/>
          <p:nvPr/>
        </p:nvSpPr>
        <p:spPr>
          <a:xfrm>
            <a:off x="4663440" y="1856232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0" name="bar_60"/>
          <p:cNvSpPr/>
          <p:nvPr/>
        </p:nvSpPr>
        <p:spPr>
          <a:xfrm>
            <a:off x="4663440" y="1993392"/>
            <a:ext cx="64008" cy="5029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xt_61"/>
          <p:cNvSpPr txBox="1"/>
          <p:nvPr/>
        </p:nvSpPr>
        <p:spPr>
          <a:xfrm>
            <a:off x="4892040" y="1947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라이트 · 다크</a:t>
            </a:r>
            <a:endParaRPr lang="en-US" sz="1200" dirty="0"/>
          </a:p>
        </p:txBody>
      </p:sp>
      <p:sp>
        <p:nvSpPr>
          <p:cNvPr id="12" name="txt_62"/>
          <p:cNvSpPr txBox="1"/>
          <p:nvPr/>
        </p:nvSpPr>
        <p:spPr>
          <a:xfrm>
            <a:off x="4892040" y="224028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배경 · 안개 · 바닥 재질 색을 테마 값으로 교체 (setTheme)</a:t>
            </a:r>
            <a:endParaRPr lang="en-US" sz="950" dirty="0"/>
          </a:p>
        </p:txBody>
      </p:sp>
      <p:sp>
        <p:nvSpPr>
          <p:cNvPr id="13" name="card_63"/>
          <p:cNvSpPr/>
          <p:nvPr/>
        </p:nvSpPr>
        <p:spPr>
          <a:xfrm>
            <a:off x="4663440" y="2752344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4" name="bar_64"/>
          <p:cNvSpPr/>
          <p:nvPr/>
        </p:nvSpPr>
        <p:spPr>
          <a:xfrm>
            <a:off x="4663440" y="2889504"/>
            <a:ext cx="64008" cy="502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xt_65"/>
          <p:cNvSpPr txBox="1"/>
          <p:nvPr/>
        </p:nvSpPr>
        <p:spPr>
          <a:xfrm>
            <a:off x="4892040" y="2843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따라가기</a:t>
            </a:r>
            <a:endParaRPr lang="en-US" sz="1200" dirty="0"/>
          </a:p>
        </p:txBody>
      </p:sp>
      <p:sp>
        <p:nvSpPr>
          <p:cNvPr id="16" name="txt_66"/>
          <p:cNvSpPr txBox="1"/>
          <p:nvPr/>
        </p:nvSpPr>
        <p:spPr>
          <a:xfrm>
            <a:off x="4892040" y="313639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정비 대상 AMR을 카메라가 부드럽게 추적, 말풍선에 남은 수명 표시</a:t>
            </a:r>
            <a:endParaRPr lang="en-US" sz="950" dirty="0"/>
          </a:p>
        </p:txBody>
      </p:sp>
      <p:sp>
        <p:nvSpPr>
          <p:cNvPr id="17" name="card_67"/>
          <p:cNvSpPr/>
          <p:nvPr/>
        </p:nvSpPr>
        <p:spPr>
          <a:xfrm>
            <a:off x="4663440" y="3648456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8" name="bar_68"/>
          <p:cNvSpPr/>
          <p:nvPr/>
        </p:nvSpPr>
        <p:spPr>
          <a:xfrm>
            <a:off x="4663440" y="3785616"/>
            <a:ext cx="64008" cy="5029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xt_69"/>
          <p:cNvSpPr txBox="1"/>
          <p:nvPr/>
        </p:nvSpPr>
        <p:spPr>
          <a:xfrm>
            <a:off x="4892040" y="3739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품질 조절</a:t>
            </a:r>
            <a:endParaRPr lang="en-US" sz="1200" dirty="0"/>
          </a:p>
        </p:txBody>
      </p:sp>
      <p:sp>
        <p:nvSpPr>
          <p:cNvPr id="20" name="txt_70"/>
          <p:cNvSpPr txBox="1"/>
          <p:nvPr/>
        </p:nvSpPr>
        <p:spPr>
          <a:xfrm>
            <a:off x="4892040" y="403250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저사양이면 그림자 · Bloom 끄기 (setQuality)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3D 파트의 문제점과 해결</a:t>
            </a:r>
            <a:endParaRPr lang="en-US" sz="2000" dirty="0"/>
          </a:p>
        </p:txBody>
      </p:sp>
      <p:graphicFrame>
        <p:nvGraphicFramePr>
          <p:cNvPr id="8" name="table_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문제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원인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해결 / 현재 상태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모델이 상자 느낌 (실사감 부족)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외부 3D 모델 없이 도형으로만 조립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무료 GLB(CC0) 모델로 교체 검토 중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폰에서 발열 · 프레임 저하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그림자 · Bloom · 고해상도 렌더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픽셀 비율 2 제한, 품질 옵션으로 효과 끄기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화면이 느리면 서버 전송도 밀림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프레임마다 누적 시간으로 전송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전송은 setInterval 2초로 분리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웹 진입 시 'sim 초기화 전 접근' 오류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3D 생성 중 Sim 이벤트가 먼저 호출됨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simRef 가드로 준비된 뒤에만 접근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트럭 번호판이 고정 글자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코드에 번호 목록을 넣어 둠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허브 입구 OCR 결과로 바꿀 예정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면접 예상 질문 — 3D</a:t>
            </a:r>
            <a:endParaRPr lang="en-US" sz="2000" dirty="0"/>
          </a:p>
        </p:txBody>
      </p:sp>
      <p:sp>
        <p:nvSpPr>
          <p:cNvPr id="3" name="card_72"/>
          <p:cNvSpPr/>
          <p:nvPr/>
        </p:nvSpPr>
        <p:spPr>
          <a:xfrm>
            <a:off x="457200" y="91440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4" name="dot_73"/>
          <p:cNvSpPr/>
          <p:nvPr/>
        </p:nvSpPr>
        <p:spPr>
          <a:xfrm>
            <a:off x="621792" y="103327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xt_74"/>
          <p:cNvSpPr txBox="1"/>
          <p:nvPr/>
        </p:nvSpPr>
        <p:spPr>
          <a:xfrm>
            <a:off x="621792" y="1033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</a:t>
            </a:r>
            <a:endParaRPr lang="en-US" sz="1000" dirty="0"/>
          </a:p>
        </p:txBody>
      </p:sp>
      <p:sp>
        <p:nvSpPr>
          <p:cNvPr id="6" name="txt_75"/>
          <p:cNvSpPr txBox="1"/>
          <p:nvPr/>
        </p:nvSpPr>
        <p:spPr>
          <a:xfrm>
            <a:off x="1005840" y="98755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왜 Unity가 아니라 Three.js?</a:t>
            </a:r>
            <a:endParaRPr lang="en-US" sz="1100" dirty="0"/>
          </a:p>
        </p:txBody>
      </p:sp>
      <p:sp>
        <p:nvSpPr>
          <p:cNvPr id="7" name="txt_76"/>
          <p:cNvSpPr txBox="1"/>
          <p:nvPr/>
        </p:nvSpPr>
        <p:spPr>
          <a:xfrm>
            <a:off x="1005840" y="1280160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답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웹 관리자 화면 안에 바로 띄우고, 같은 코드를 앱에서도 써야 해서</a:t>
            </a:r>
            <a:endParaRPr lang="en-US" sz="950" dirty="0"/>
          </a:p>
        </p:txBody>
      </p:sp>
      <p:sp>
        <p:nvSpPr>
          <p:cNvPr id="8" name="txt_77"/>
          <p:cNvSpPr txBox="1"/>
          <p:nvPr/>
        </p:nvSpPr>
        <p:spPr>
          <a:xfrm>
            <a:off x="1005840" y="1499616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꼬리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그럼 성능은? → InstancedMesh · 품질 옵션으로 폰에서도 돌아가게 맞춤</a:t>
            </a:r>
            <a:endParaRPr lang="en-US" sz="900" dirty="0"/>
          </a:p>
        </p:txBody>
      </p:sp>
      <p:sp>
        <p:nvSpPr>
          <p:cNvPr id="9" name="card_78"/>
          <p:cNvSpPr/>
          <p:nvPr/>
        </p:nvSpPr>
        <p:spPr>
          <a:xfrm>
            <a:off x="457200" y="187452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0" name="dot_79"/>
          <p:cNvSpPr/>
          <p:nvPr/>
        </p:nvSpPr>
        <p:spPr>
          <a:xfrm>
            <a:off x="621792" y="199339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xt_80"/>
          <p:cNvSpPr txBox="1"/>
          <p:nvPr/>
        </p:nvSpPr>
        <p:spPr>
          <a:xfrm>
            <a:off x="621792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</a:t>
            </a:r>
            <a:endParaRPr lang="en-US" sz="1000" dirty="0"/>
          </a:p>
        </p:txBody>
      </p:sp>
      <p:sp>
        <p:nvSpPr>
          <p:cNvPr id="12" name="txt_81"/>
          <p:cNvSpPr txBox="1"/>
          <p:nvPr/>
        </p:nvSpPr>
        <p:spPr>
          <a:xfrm>
            <a:off x="1005840" y="19476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3D 모델은 어디서 구했나?</a:t>
            </a:r>
            <a:endParaRPr lang="en-US" sz="1100" dirty="0"/>
          </a:p>
        </p:txBody>
      </p:sp>
      <p:sp>
        <p:nvSpPr>
          <p:cNvPr id="13" name="txt_82"/>
          <p:cNvSpPr txBox="1"/>
          <p:nvPr/>
        </p:nvSpPr>
        <p:spPr>
          <a:xfrm>
            <a:off x="1005840" y="2240280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답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외부 모델 없이 Three.js 도형과 CanvasTexture로 코드로 직접 만들었다</a:t>
            </a:r>
            <a:endParaRPr lang="en-US" sz="950" dirty="0"/>
          </a:p>
        </p:txBody>
      </p:sp>
      <p:sp>
        <p:nvSpPr>
          <p:cNvPr id="14" name="txt_83"/>
          <p:cNvSpPr txBox="1"/>
          <p:nvPr/>
        </p:nvSpPr>
        <p:spPr>
          <a:xfrm>
            <a:off x="1005840" y="2459736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꼬리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왜? → 라이선스 · 용량 문제 없이 바로 수정 가능. 대신 실사감은 부족</a:t>
            </a:r>
            <a:endParaRPr lang="en-US" sz="900" dirty="0"/>
          </a:p>
        </p:txBody>
      </p:sp>
      <p:sp>
        <p:nvSpPr>
          <p:cNvPr id="15" name="card_84"/>
          <p:cNvSpPr/>
          <p:nvPr/>
        </p:nvSpPr>
        <p:spPr>
          <a:xfrm>
            <a:off x="457200" y="283464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6" name="dot_85"/>
          <p:cNvSpPr/>
          <p:nvPr/>
        </p:nvSpPr>
        <p:spPr>
          <a:xfrm>
            <a:off x="621792" y="295351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xt_86"/>
          <p:cNvSpPr txBox="1"/>
          <p:nvPr/>
        </p:nvSpPr>
        <p:spPr>
          <a:xfrm>
            <a:off x="621792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</a:t>
            </a:r>
            <a:endParaRPr lang="en-US" sz="1000" dirty="0"/>
          </a:p>
        </p:txBody>
      </p:sp>
      <p:sp>
        <p:nvSpPr>
          <p:cNvPr id="18" name="txt_87"/>
          <p:cNvSpPr txBox="1"/>
          <p:nvPr/>
        </p:nvSpPr>
        <p:spPr>
          <a:xfrm>
            <a:off x="1005840" y="290779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InstancedMesh가 뭐고 왜 썼나?</a:t>
            </a:r>
            <a:endParaRPr lang="en-US" sz="1100" dirty="0"/>
          </a:p>
        </p:txBody>
      </p:sp>
      <p:sp>
        <p:nvSpPr>
          <p:cNvPr id="19" name="txt_88"/>
          <p:cNvSpPr txBox="1"/>
          <p:nvPr/>
        </p:nvSpPr>
        <p:spPr>
          <a:xfrm>
            <a:off x="1005840" y="3200400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답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같은 모양을 여러 개 그릴 때 한 번의 호출로 그리는 기능</a:t>
            </a:r>
            <a:endParaRPr lang="en-US" sz="950" dirty="0"/>
          </a:p>
        </p:txBody>
      </p:sp>
      <p:sp>
        <p:nvSpPr>
          <p:cNvPr id="20" name="txt_89"/>
          <p:cNvSpPr txBox="1"/>
          <p:nvPr/>
        </p:nvSpPr>
        <p:spPr>
          <a:xfrm>
            <a:off x="1005840" y="3419856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꼬리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얼마나 많나? → 랙 기둥 · 빔 · 라벨 수백 개라 개별 Mesh면 느려짐</a:t>
            </a:r>
            <a:endParaRPr lang="en-US" sz="900" dirty="0"/>
          </a:p>
        </p:txBody>
      </p:sp>
      <p:sp>
        <p:nvSpPr>
          <p:cNvPr id="21" name="card_90"/>
          <p:cNvSpPr/>
          <p:nvPr/>
        </p:nvSpPr>
        <p:spPr>
          <a:xfrm>
            <a:off x="457200" y="379476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2" name="dot_91"/>
          <p:cNvSpPr/>
          <p:nvPr/>
        </p:nvSpPr>
        <p:spPr>
          <a:xfrm>
            <a:off x="621792" y="391363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xt_92"/>
          <p:cNvSpPr txBox="1"/>
          <p:nvPr/>
        </p:nvSpPr>
        <p:spPr>
          <a:xfrm>
            <a:off x="621792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</a:t>
            </a:r>
            <a:endParaRPr lang="en-US" sz="1000" dirty="0"/>
          </a:p>
        </p:txBody>
      </p:sp>
      <p:sp>
        <p:nvSpPr>
          <p:cNvPr id="24" name="txt_93"/>
          <p:cNvSpPr txBox="1"/>
          <p:nvPr/>
        </p:nvSpPr>
        <p:spPr>
          <a:xfrm>
            <a:off x="1005840" y="386791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계산과 그리기를 왜 나눴나?</a:t>
            </a:r>
            <a:endParaRPr lang="en-US" sz="1100" dirty="0"/>
          </a:p>
        </p:txBody>
      </p:sp>
      <p:sp>
        <p:nvSpPr>
          <p:cNvPr id="25" name="txt_94"/>
          <p:cNvSpPr txBox="1"/>
          <p:nvPr/>
        </p:nvSpPr>
        <p:spPr>
          <a:xfrm>
            <a:off x="1005840" y="4160520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답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웹 · 앱이 같은 코드를 쓰고, 계산만 따로 테스트하려고</a:t>
            </a:r>
            <a:endParaRPr lang="en-US" sz="950" dirty="0"/>
          </a:p>
        </p:txBody>
      </p:sp>
      <p:sp>
        <p:nvSpPr>
          <p:cNvPr id="26" name="txt_95"/>
          <p:cNvSpPr txBox="1"/>
          <p:nvPr/>
        </p:nvSpPr>
        <p:spPr>
          <a:xfrm>
            <a:off x="1005840" y="4379976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꼬리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나중에 실제 로봇이면? → Sim 대신 실제 위치 데이터를 넣으면 됨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96"/>
          <p:cNvSpPr txBox="1"/>
          <p:nvPr/>
        </p:nvSpPr>
        <p:spPr>
          <a:xfrm>
            <a:off x="5486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5"/>
                </a:solidFill>
              </a:rPr>
              <a:t>PART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AMR 경로 · 충돌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정해진 통로와 간선만 다니게 하고, 앞차 감지 · 우측 통행 · 칸 예약으로 충돌을 막았다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경로: 통로 → 간선 → 통로, 정해진 길만 다닌다</a:t>
            </a:r>
            <a:endParaRPr lang="en-US" sz="2000" dirty="0"/>
          </a:p>
        </p:txBody>
      </p:sp>
      <p:sp>
        <p:nvSpPr>
          <p:cNvPr id="3" name="rect_97"/>
          <p:cNvSpPr/>
          <p:nvPr/>
        </p:nvSpPr>
        <p:spPr>
          <a:xfrm>
            <a:off x="457200" y="960120"/>
            <a:ext cx="4206240" cy="2691994"/>
          </a:xfrm>
          <a:prstGeom prst="rect">
            <a:avLst/>
          </a:prstGeom>
          <a:solidFill>
            <a:schemeClr val="bg1"/>
          </a:solidFill>
          <a:ln w="12700">
            <a:solidFill>
              <a:srgbClr val="C3CED8"/>
            </a:solidFill>
            <a:prstDash val="solid"/>
          </a:ln>
        </p:spPr>
      </p:sp>
      <p:sp>
        <p:nvSpPr>
          <p:cNvPr id="4" name="rect_98"/>
          <p:cNvSpPr/>
          <p:nvPr/>
        </p:nvSpPr>
        <p:spPr>
          <a:xfrm>
            <a:off x="1466698" y="1271382"/>
            <a:ext cx="1850746" cy="361737"/>
          </a:xfrm>
          <a:prstGeom prst="rect">
            <a:avLst/>
          </a:prstGeom>
          <a:solidFill>
            <a:srgbClr val="D6E9F8"/>
          </a:solidFill>
          <a:ln w="6350">
            <a:solidFill>
              <a:srgbClr val="C3CED8"/>
            </a:solidFill>
            <a:prstDash val="solid"/>
          </a:ln>
        </p:spPr>
      </p:sp>
      <p:sp>
        <p:nvSpPr>
          <p:cNvPr id="5" name="rect_99"/>
          <p:cNvSpPr/>
          <p:nvPr/>
        </p:nvSpPr>
        <p:spPr>
          <a:xfrm>
            <a:off x="1466698" y="1767718"/>
            <a:ext cx="1850746" cy="361737"/>
          </a:xfrm>
          <a:prstGeom prst="rect">
            <a:avLst/>
          </a:prstGeom>
          <a:solidFill>
            <a:srgbClr val="E3E9EF"/>
          </a:solidFill>
          <a:ln w="6350">
            <a:solidFill>
              <a:srgbClr val="C3CED8"/>
            </a:solidFill>
            <a:prstDash val="solid"/>
          </a:ln>
        </p:spPr>
      </p:sp>
      <p:sp>
        <p:nvSpPr>
          <p:cNvPr id="6" name="rect_100"/>
          <p:cNvSpPr/>
          <p:nvPr/>
        </p:nvSpPr>
        <p:spPr>
          <a:xfrm>
            <a:off x="1466698" y="2272467"/>
            <a:ext cx="1850746" cy="361737"/>
          </a:xfrm>
          <a:prstGeom prst="rect">
            <a:avLst/>
          </a:prstGeom>
          <a:solidFill>
            <a:srgbClr val="E3E9EF"/>
          </a:solidFill>
          <a:ln w="6350">
            <a:solidFill>
              <a:srgbClr val="C3CED8"/>
            </a:solidFill>
            <a:prstDash val="solid"/>
          </a:ln>
        </p:spPr>
      </p:sp>
      <p:sp>
        <p:nvSpPr>
          <p:cNvPr id="7" name="rect_101"/>
          <p:cNvSpPr/>
          <p:nvPr/>
        </p:nvSpPr>
        <p:spPr>
          <a:xfrm>
            <a:off x="1466698" y="2777216"/>
            <a:ext cx="1850746" cy="361737"/>
          </a:xfrm>
          <a:prstGeom prst="rect">
            <a:avLst/>
          </a:prstGeom>
          <a:solidFill>
            <a:srgbClr val="E3E9EF"/>
          </a:solidFill>
          <a:ln w="6350">
            <a:solidFill>
              <a:srgbClr val="C3CED8"/>
            </a:solidFill>
            <a:prstDash val="solid"/>
          </a:ln>
        </p:spPr>
      </p:sp>
      <p:sp>
        <p:nvSpPr>
          <p:cNvPr id="8" name="line_102"/>
          <p:cNvSpPr/>
          <p:nvPr/>
        </p:nvSpPr>
        <p:spPr>
          <a:xfrm>
            <a:off x="1235354" y="1220907"/>
            <a:ext cx="2250338" cy="0"/>
          </a:xfrm>
          <a:prstGeom prst="line">
            <a:avLst/>
          </a:prstGeom>
          <a:noFill/>
          <a:ln w="12700">
            <a:solidFill>
              <a:srgbClr val="9AA8B6"/>
            </a:solidFill>
            <a:prstDash val="solid"/>
          </a:ln>
        </p:spPr>
      </p:sp>
      <p:sp>
        <p:nvSpPr>
          <p:cNvPr id="9" name="line_103"/>
          <p:cNvSpPr/>
          <p:nvPr/>
        </p:nvSpPr>
        <p:spPr>
          <a:xfrm>
            <a:off x="1235354" y="1696212"/>
            <a:ext cx="2250338" cy="0"/>
          </a:xfrm>
          <a:prstGeom prst="line">
            <a:avLst/>
          </a:prstGeom>
          <a:noFill/>
          <a:ln w="12700">
            <a:solidFill>
              <a:srgbClr val="9AA8B6"/>
            </a:solidFill>
            <a:prstDash val="solid"/>
          </a:ln>
        </p:spPr>
      </p:sp>
      <p:sp>
        <p:nvSpPr>
          <p:cNvPr id="10" name="line_104"/>
          <p:cNvSpPr/>
          <p:nvPr/>
        </p:nvSpPr>
        <p:spPr>
          <a:xfrm>
            <a:off x="1235354" y="2200961"/>
            <a:ext cx="2250338" cy="0"/>
          </a:xfrm>
          <a:prstGeom prst="line">
            <a:avLst/>
          </a:prstGeom>
          <a:noFill/>
          <a:ln w="12700">
            <a:solidFill>
              <a:srgbClr val="9AA8B6"/>
            </a:solidFill>
            <a:prstDash val="solid"/>
          </a:ln>
        </p:spPr>
      </p:sp>
      <p:sp>
        <p:nvSpPr>
          <p:cNvPr id="11" name="line_105"/>
          <p:cNvSpPr/>
          <p:nvPr/>
        </p:nvSpPr>
        <p:spPr>
          <a:xfrm>
            <a:off x="1235354" y="2705710"/>
            <a:ext cx="2250338" cy="0"/>
          </a:xfrm>
          <a:prstGeom prst="line">
            <a:avLst/>
          </a:prstGeom>
          <a:noFill/>
          <a:ln w="12700">
            <a:solidFill>
              <a:srgbClr val="9AA8B6"/>
            </a:solidFill>
            <a:prstDash val="solid"/>
          </a:ln>
        </p:spPr>
      </p:sp>
      <p:sp>
        <p:nvSpPr>
          <p:cNvPr id="12" name="line_106"/>
          <p:cNvSpPr/>
          <p:nvPr/>
        </p:nvSpPr>
        <p:spPr>
          <a:xfrm>
            <a:off x="1235354" y="3231490"/>
            <a:ext cx="2250338" cy="0"/>
          </a:xfrm>
          <a:prstGeom prst="line">
            <a:avLst/>
          </a:prstGeom>
          <a:noFill/>
          <a:ln w="12700">
            <a:solidFill>
              <a:srgbClr val="9AA8B6"/>
            </a:solidFill>
            <a:prstDash val="solid"/>
          </a:ln>
        </p:spPr>
      </p:sp>
      <p:sp>
        <p:nvSpPr>
          <p:cNvPr id="13" name="line_107"/>
          <p:cNvSpPr/>
          <p:nvPr/>
        </p:nvSpPr>
        <p:spPr>
          <a:xfrm>
            <a:off x="1235354" y="1128370"/>
            <a:ext cx="0" cy="2187245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4" name="line_108"/>
          <p:cNvSpPr/>
          <p:nvPr/>
        </p:nvSpPr>
        <p:spPr>
          <a:xfrm>
            <a:off x="3485693" y="1128370"/>
            <a:ext cx="0" cy="2187245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5" name="rect_109"/>
          <p:cNvSpPr/>
          <p:nvPr/>
        </p:nvSpPr>
        <p:spPr>
          <a:xfrm>
            <a:off x="709574" y="1401775"/>
            <a:ext cx="252374" cy="2103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rect_110"/>
          <p:cNvSpPr/>
          <p:nvPr/>
        </p:nvSpPr>
        <p:spPr>
          <a:xfrm>
            <a:off x="4158691" y="1401775"/>
            <a:ext cx="252374" cy="21031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rect_111"/>
          <p:cNvSpPr/>
          <p:nvPr/>
        </p:nvSpPr>
        <p:spPr>
          <a:xfrm>
            <a:off x="709574" y="2116836"/>
            <a:ext cx="252374" cy="2103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rect_112"/>
          <p:cNvSpPr/>
          <p:nvPr/>
        </p:nvSpPr>
        <p:spPr>
          <a:xfrm>
            <a:off x="4158691" y="2116836"/>
            <a:ext cx="252374" cy="21031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rect_113"/>
          <p:cNvSpPr/>
          <p:nvPr/>
        </p:nvSpPr>
        <p:spPr>
          <a:xfrm>
            <a:off x="709574" y="2831897"/>
            <a:ext cx="252374" cy="2103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rect_114"/>
          <p:cNvSpPr/>
          <p:nvPr/>
        </p:nvSpPr>
        <p:spPr>
          <a:xfrm>
            <a:off x="4158691" y="2831897"/>
            <a:ext cx="252374" cy="21031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rect_115"/>
          <p:cNvSpPr/>
          <p:nvPr/>
        </p:nvSpPr>
        <p:spPr>
          <a:xfrm>
            <a:off x="1466698" y="3420770"/>
            <a:ext cx="1892808" cy="126187"/>
          </a:xfrm>
          <a:prstGeom prst="rect">
            <a:avLst/>
          </a:prstGeom>
          <a:solidFill>
            <a:srgbClr val="FBE3C4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2" name="line_116"/>
          <p:cNvSpPr/>
          <p:nvPr/>
        </p:nvSpPr>
        <p:spPr>
          <a:xfrm>
            <a:off x="940918" y="2221992"/>
            <a:ext cx="294437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23" name="line_117"/>
          <p:cNvSpPr/>
          <p:nvPr/>
        </p:nvSpPr>
        <p:spPr>
          <a:xfrm>
            <a:off x="1235354" y="2221992"/>
            <a:ext cx="0" cy="483718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24" name="line_118"/>
          <p:cNvSpPr/>
          <p:nvPr/>
        </p:nvSpPr>
        <p:spPr>
          <a:xfrm>
            <a:off x="1235354" y="2705710"/>
            <a:ext cx="529986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5" name="txt_119"/>
          <p:cNvSpPr txBox="1"/>
          <p:nvPr/>
        </p:nvSpPr>
        <p:spPr>
          <a:xfrm>
            <a:off x="625450" y="34838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입고</a:t>
            </a:r>
            <a:endParaRPr lang="en-US" sz="800" dirty="0"/>
          </a:p>
        </p:txBody>
      </p:sp>
      <p:sp>
        <p:nvSpPr>
          <p:cNvPr id="26" name="txt_120"/>
          <p:cNvSpPr txBox="1"/>
          <p:nvPr/>
        </p:nvSpPr>
        <p:spPr>
          <a:xfrm>
            <a:off x="4074566" y="34838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4"/>
                </a:solidFill>
              </a:rPr>
              <a:t>출고</a:t>
            </a:r>
            <a:endParaRPr lang="en-US" sz="800" dirty="0"/>
          </a:p>
        </p:txBody>
      </p:sp>
      <p:sp>
        <p:nvSpPr>
          <p:cNvPr id="27" name="txt_121"/>
          <p:cNvSpPr txBox="1"/>
          <p:nvPr/>
        </p:nvSpPr>
        <p:spPr>
          <a:xfrm>
            <a:off x="1803197" y="3429183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chemeClr val="accent2"/>
                </a:solidFill>
              </a:rPr>
              <a:t>충전 · 정비</a:t>
            </a:r>
            <a:endParaRPr lang="en-US" sz="700" dirty="0"/>
          </a:p>
        </p:txBody>
      </p:sp>
      <p:sp>
        <p:nvSpPr>
          <p:cNvPr id="28" name="txt_122"/>
          <p:cNvSpPr txBox="1"/>
          <p:nvPr/>
        </p:nvSpPr>
        <p:spPr>
          <a:xfrm>
            <a:off x="457200" y="372526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주황 = 간선 2개 · 회색 = 통로 5개 · 빨강 = 입고 D2 → 랙 칸 예시</a:t>
            </a:r>
            <a:endParaRPr lang="en-US" sz="850" dirty="0"/>
          </a:p>
        </p:txBody>
      </p:sp>
      <p:sp>
        <p:nvSpPr>
          <p:cNvPr id="29" name="dot_123"/>
          <p:cNvSpPr/>
          <p:nvPr/>
        </p:nvSpPr>
        <p:spPr>
          <a:xfrm>
            <a:off x="4892040" y="103327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xt_124"/>
          <p:cNvSpPr txBox="1"/>
          <p:nvPr/>
        </p:nvSpPr>
        <p:spPr>
          <a:xfrm>
            <a:off x="4892040" y="1033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31" name="txt_125"/>
          <p:cNvSpPr txBox="1"/>
          <p:nvPr/>
        </p:nvSpPr>
        <p:spPr>
          <a:xfrm>
            <a:off x="5303520" y="978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통로로 나간다</a:t>
            </a:r>
            <a:endParaRPr lang="en-US" sz="1150" dirty="0"/>
          </a:p>
        </p:txBody>
      </p:sp>
      <p:sp>
        <p:nvSpPr>
          <p:cNvPr id="32" name="txt_126"/>
          <p:cNvSpPr txBox="1"/>
          <p:nvPr/>
        </p:nvSpPr>
        <p:spPr>
          <a:xfrm>
            <a:off x="5303520" y="1252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출발점에서 자기 통로(가로줄)로 진입</a:t>
            </a:r>
            <a:endParaRPr lang="en-US" sz="950" dirty="0"/>
          </a:p>
        </p:txBody>
      </p:sp>
      <p:sp>
        <p:nvSpPr>
          <p:cNvPr id="33" name="dot_127"/>
          <p:cNvSpPr/>
          <p:nvPr/>
        </p:nvSpPr>
        <p:spPr>
          <a:xfrm>
            <a:off x="4892040" y="1728216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xt_128"/>
          <p:cNvSpPr txBox="1"/>
          <p:nvPr/>
        </p:nvSpPr>
        <p:spPr>
          <a:xfrm>
            <a:off x="4892040" y="1728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35" name="txt_129"/>
          <p:cNvSpPr txBox="1"/>
          <p:nvPr/>
        </p:nvSpPr>
        <p:spPr>
          <a:xfrm>
            <a:off x="5303520" y="1673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간선 고르기</a:t>
            </a:r>
            <a:endParaRPr lang="en-US" sz="1150" dirty="0"/>
          </a:p>
        </p:txBody>
      </p:sp>
      <p:sp>
        <p:nvSpPr>
          <p:cNvPr id="36" name="txt_130"/>
          <p:cNvSpPr txBox="1"/>
          <p:nvPr/>
        </p:nvSpPr>
        <p:spPr>
          <a:xfrm>
            <a:off x="5303520" y="19476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입고 작업은 왼쪽 간선, 출고는 오른쪽, 그 외는 가까운 쪽</a:t>
            </a:r>
            <a:endParaRPr lang="en-US" sz="950" dirty="0"/>
          </a:p>
        </p:txBody>
      </p:sp>
      <p:sp>
        <p:nvSpPr>
          <p:cNvPr id="37" name="dot_131"/>
          <p:cNvSpPr/>
          <p:nvPr/>
        </p:nvSpPr>
        <p:spPr>
          <a:xfrm>
            <a:off x="4892040" y="242316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xt_132"/>
          <p:cNvSpPr txBox="1"/>
          <p:nvPr/>
        </p:nvSpPr>
        <p:spPr>
          <a:xfrm>
            <a:off x="489204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39" name="txt_133"/>
          <p:cNvSpPr txBox="1"/>
          <p:nvPr/>
        </p:nvSpPr>
        <p:spPr>
          <a:xfrm>
            <a:off x="5303520" y="2368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목적 통로로</a:t>
            </a:r>
            <a:endParaRPr lang="en-US" sz="1150" dirty="0"/>
          </a:p>
        </p:txBody>
      </p:sp>
      <p:sp>
        <p:nvSpPr>
          <p:cNvPr id="40" name="txt_134"/>
          <p:cNvSpPr txBox="1"/>
          <p:nvPr/>
        </p:nvSpPr>
        <p:spPr>
          <a:xfrm>
            <a:off x="5303520" y="26426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간선을 타고 목적지 통로까지 세로 이동</a:t>
            </a:r>
            <a:endParaRPr lang="en-US" sz="950" dirty="0"/>
          </a:p>
        </p:txBody>
      </p:sp>
      <p:sp>
        <p:nvSpPr>
          <p:cNvPr id="41" name="dot_135"/>
          <p:cNvSpPr/>
          <p:nvPr/>
        </p:nvSpPr>
        <p:spPr>
          <a:xfrm>
            <a:off x="4892040" y="3118104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txt_136"/>
          <p:cNvSpPr txBox="1"/>
          <p:nvPr/>
        </p:nvSpPr>
        <p:spPr>
          <a:xfrm>
            <a:off x="4892040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43" name="txt_137"/>
          <p:cNvSpPr txBox="1"/>
          <p:nvPr/>
        </p:nvSpPr>
        <p:spPr>
          <a:xfrm>
            <a:off x="530352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도착</a:t>
            </a:r>
            <a:endParaRPr lang="en-US" sz="1150" dirty="0"/>
          </a:p>
        </p:txBody>
      </p:sp>
      <p:sp>
        <p:nvSpPr>
          <p:cNvPr id="44" name="txt_138"/>
          <p:cNvSpPr txBox="1"/>
          <p:nvPr/>
        </p:nvSpPr>
        <p:spPr>
          <a:xfrm>
            <a:off x="5303520" y="3337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통로를 따라 목적 칸 앞까지 이동 후 적재 · 하역</a:t>
            </a:r>
            <a:endParaRPr lang="en-US" sz="950" dirty="0"/>
          </a:p>
        </p:txBody>
      </p:sp>
      <p:sp>
        <p:nvSpPr>
          <p:cNvPr id="45" name="txt_139"/>
          <p:cNvSpPr txBox="1"/>
          <p:nvPr/>
        </p:nvSpPr>
        <p:spPr>
          <a:xfrm>
            <a:off x="4892040" y="37947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A* 같은 길찾기 알고리즘 대신 '격자형 규칙 경로'. 창고 통로가 바둑판이라 규칙만으로 최단에 가깝다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작업 배정: 두 로봇이 같은 칸 · 같은 화물을 잡지 않게 '예약'</a:t>
            </a:r>
            <a:endParaRPr lang="en-US" sz="2000" dirty="0"/>
          </a:p>
        </p:txBody>
      </p:sp>
      <p:graphicFrame>
        <p:nvGraphicFramePr>
          <p:cNvPr id="12" name="table_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566160"/>
                <a:gridCol w="2834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단계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하는 일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충돌 방지 포인트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입고 배정 (tryIn)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도착한 트럭 화물의 목적 권역 → 그 권역 빈 칸 중 가까운 곳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화물에 예약 표시, 칸 상태 0→2 (입고 예약)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출고 배정 (tryOut)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택배차가 기다리는 권역의 보관 화물 선택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칸 상태 1→3 (출고 예약), 택배차 적재 자리 res+1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입고/출고 선택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번갈아 배정, 창고 70% 이상 차면 출고 우선, 25% 미만이면 입고 우선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창고가 넘치거나 비지 않게 균형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가까운 칸 고르기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가까운 4칸 중 무작위 1칸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모든 로봇이 같은 칸으로 몰리는 것 방지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적재 완료 (doDrop)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칸 상태 2→1, 예약 해제, 누적 운반량 + 무게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DB에 이동 기록 이벤트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xt_141"/>
          <p:cNvSpPr txBox="1"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칸 상태: 0 빈칸 · 1 보관 중 · 2 입고 예약 · 3 출고 예약 · -1 사용 안 함 (냉장 창고 한쪽 면)</a:t>
            </a:r>
            <a:endParaRPr lang="en-US" sz="950" dirty="0"/>
          </a:p>
        </p:txBody>
      </p:sp>
      <p:sp>
        <p:nvSpPr>
          <p:cNvPr id="5" name="txt_142"/>
          <p:cNvSpPr txBox="1"/>
          <p:nvPr/>
        </p:nvSpPr>
        <p:spPr>
          <a:xfrm>
            <a:off x="457200" y="4096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→ 다른 로봇은 예약된 칸을 후보에서 제외하므로 '같은 칸 두 대 출동'이 생기지 않는다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이동 중 충돌 방지: 4가지 규칙</a:t>
            </a:r>
            <a:endParaRPr lang="en-US" sz="2000" dirty="0"/>
          </a:p>
        </p:txBody>
      </p:sp>
      <p:sp>
        <p:nvSpPr>
          <p:cNvPr id="3" name="card_143"/>
          <p:cNvSpPr/>
          <p:nvPr/>
        </p:nvSpPr>
        <p:spPr>
          <a:xfrm>
            <a:off x="457200" y="960120"/>
            <a:ext cx="404622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txt_144"/>
          <p:cNvSpPr txBox="1"/>
          <p:nvPr/>
        </p:nvSpPr>
        <p:spPr>
          <a:xfrm>
            <a:off x="640080" y="10698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앞차 감지</a:t>
            </a:r>
            <a:endParaRPr lang="en-US" sz="1300" dirty="0"/>
          </a:p>
        </p:txBody>
      </p:sp>
      <p:sp>
        <p:nvSpPr>
          <p:cNvPr id="5" name="txt_145"/>
          <p:cNvSpPr txBox="1"/>
          <p:nvPr/>
        </p:nvSpPr>
        <p:spPr>
          <a:xfrm>
            <a:off x="640080" y="14173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진행 방향 앞 1.7m(지게차 2.2m), 옆 0.45m 안에 로봇이 있으면 멈춤</a:t>
            </a:r>
            <a:endParaRPr lang="en-US" sz="950" dirty="0"/>
          </a:p>
        </p:txBody>
      </p:sp>
      <p:sp>
        <p:nvSpPr>
          <p:cNvPr id="6" name="txt_146"/>
          <p:cNvSpPr txBox="1"/>
          <p:nvPr/>
        </p:nvSpPr>
        <p:spPr>
          <a:xfrm>
            <a:off x="640080" y="185623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앞차가 서 있거나 같은 방향이면 정지 → 간격 유지</a:t>
            </a:r>
            <a:endParaRPr lang="en-US" sz="950" dirty="0"/>
          </a:p>
        </p:txBody>
      </p:sp>
      <p:sp>
        <p:nvSpPr>
          <p:cNvPr id="7" name="card_147"/>
          <p:cNvSpPr/>
          <p:nvPr/>
        </p:nvSpPr>
        <p:spPr>
          <a:xfrm>
            <a:off x="4640580" y="960120"/>
            <a:ext cx="404622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8" name="txt_148"/>
          <p:cNvSpPr txBox="1"/>
          <p:nvPr/>
        </p:nvSpPr>
        <p:spPr>
          <a:xfrm>
            <a:off x="4823460" y="10698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우측 통행</a:t>
            </a:r>
            <a:endParaRPr lang="en-US" sz="1300" dirty="0"/>
          </a:p>
        </p:txBody>
      </p:sp>
      <p:sp>
        <p:nvSpPr>
          <p:cNvPr id="9" name="txt_149"/>
          <p:cNvSpPr txBox="1"/>
          <p:nvPr/>
        </p:nvSpPr>
        <p:spPr>
          <a:xfrm>
            <a:off x="4823460" y="14173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이동 방향 오른쪽 차선으로 0.7m 비켜 주행</a:t>
            </a:r>
            <a:endParaRPr lang="en-US" sz="950" dirty="0"/>
          </a:p>
        </p:txBody>
      </p:sp>
      <p:sp>
        <p:nvSpPr>
          <p:cNvPr id="10" name="txt_150"/>
          <p:cNvSpPr txBox="1"/>
          <p:nvPr/>
        </p:nvSpPr>
        <p:spPr>
          <a:xfrm>
            <a:off x="4823460" y="185623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마주 오는 로봇과 서로 비켜 지나감</a:t>
            </a:r>
            <a:endParaRPr lang="en-US" sz="950" dirty="0"/>
          </a:p>
        </p:txBody>
      </p:sp>
      <p:sp>
        <p:nvSpPr>
          <p:cNvPr id="11" name="card_151"/>
          <p:cNvSpPr/>
          <p:nvPr/>
        </p:nvSpPr>
        <p:spPr>
          <a:xfrm>
            <a:off x="457200" y="2423160"/>
            <a:ext cx="404622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2" name="txt_152"/>
          <p:cNvSpPr txBox="1"/>
          <p:nvPr/>
        </p:nvSpPr>
        <p:spPr>
          <a:xfrm>
            <a:off x="640080" y="2532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지게차 작업 구역</a:t>
            </a:r>
            <a:endParaRPr lang="en-US" sz="1300" dirty="0"/>
          </a:p>
        </p:txBody>
      </p:sp>
      <p:sp>
        <p:nvSpPr>
          <p:cNvPr id="13" name="txt_153"/>
          <p:cNvSpPr txBox="1"/>
          <p:nvPr/>
        </p:nvSpPr>
        <p:spPr>
          <a:xfrm>
            <a:off x="640080" y="28803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랙 앞에서 작업 중인 지게차와 같은 차선이면 대기</a:t>
            </a:r>
            <a:endParaRPr lang="en-US" sz="950" dirty="0"/>
          </a:p>
        </p:txBody>
      </p:sp>
      <p:sp>
        <p:nvSpPr>
          <p:cNvPr id="14" name="txt_154"/>
          <p:cNvSpPr txBox="1"/>
          <p:nvPr/>
        </p:nvSpPr>
        <p:spPr>
          <a:xfrm>
            <a:off x="640080" y="33192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반대 차선이면 비켜서 통과</a:t>
            </a:r>
            <a:endParaRPr lang="en-US" sz="950" dirty="0"/>
          </a:p>
        </p:txBody>
      </p:sp>
      <p:sp>
        <p:nvSpPr>
          <p:cNvPr id="15" name="card_155"/>
          <p:cNvSpPr/>
          <p:nvPr/>
        </p:nvSpPr>
        <p:spPr>
          <a:xfrm>
            <a:off x="4640580" y="2423160"/>
            <a:ext cx="404622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6" name="txt_156"/>
          <p:cNvSpPr txBox="1"/>
          <p:nvPr/>
        </p:nvSpPr>
        <p:spPr>
          <a:xfrm>
            <a:off x="4823460" y="2532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교착 풀기</a:t>
            </a:r>
            <a:endParaRPr lang="en-US" sz="1300" dirty="0"/>
          </a:p>
        </p:txBody>
      </p:sp>
      <p:sp>
        <p:nvSpPr>
          <p:cNvPr id="17" name="txt_157"/>
          <p:cNvSpPr txBox="1"/>
          <p:nvPr/>
        </p:nvSpPr>
        <p:spPr>
          <a:xfrm>
            <a:off x="4823460" y="28803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2초 이상 서로 막혀 있으면 감지를 잠시 무시</a:t>
            </a:r>
            <a:endParaRPr lang="en-US" sz="950" dirty="0"/>
          </a:p>
        </p:txBody>
      </p:sp>
      <p:sp>
        <p:nvSpPr>
          <p:cNvPr id="18" name="txt_158"/>
          <p:cNvSpPr txBox="1"/>
          <p:nvPr/>
        </p:nvSpPr>
        <p:spPr>
          <a:xfrm>
            <a:off x="4823460" y="33192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마주 보고 영원히 멈추는 상황(데드락) 방지</a:t>
            </a:r>
            <a:endParaRPr lang="en-US" sz="950" dirty="0"/>
          </a:p>
        </p:txBody>
      </p:sp>
      <p:sp>
        <p:nvSpPr>
          <p:cNvPr id="19" name="txt_159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속도: 가속 · 감속, 코너 앞 감속, 파손주의 · 중량물 화물이면 더 느리게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교차로 예약: 통로 × 간선 10곳은 한 번에 한 대만</a:t>
            </a:r>
            <a:endParaRPr lang="en-US" sz="2000" dirty="0"/>
          </a:p>
        </p:txBody>
      </p:sp>
      <p:pic>
        <p:nvPicPr>
          <p:cNvPr id="3" name="inter_img" descr="교차로 대기 3D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4465674" cy="2743200"/>
          </a:xfrm>
          <a:prstGeom prst="rect">
            <a:avLst/>
          </a:prstGeom>
        </p:spPr>
      </p:pic>
      <p:sp>
        <p:nvSpPr>
          <p:cNvPr id="4" name="dot_160"/>
          <p:cNvSpPr/>
          <p:nvPr/>
        </p:nvSpPr>
        <p:spPr>
          <a:xfrm>
            <a:off x="5074920" y="96012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xt_161"/>
          <p:cNvSpPr txBox="1"/>
          <p:nvPr/>
        </p:nvSpPr>
        <p:spPr>
          <a:xfrm>
            <a:off x="5074920" y="960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xt_162"/>
          <p:cNvSpPr txBox="1"/>
          <p:nvPr/>
        </p:nvSpPr>
        <p:spPr>
          <a:xfrm>
            <a:off x="548640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예약 요청</a:t>
            </a:r>
            <a:endParaRPr lang="en-US" sz="1150" dirty="0"/>
          </a:p>
        </p:txBody>
      </p:sp>
      <p:sp>
        <p:nvSpPr>
          <p:cNvPr id="7" name="txt_163"/>
          <p:cNvSpPr txBox="1"/>
          <p:nvPr/>
        </p:nvSpPr>
        <p:spPr>
          <a:xfrm>
            <a:off x="5486400" y="11887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경로 앞 2.2m 안에 교차로가 있으면 예약. 비어 있으면 통과</a:t>
            </a:r>
            <a:endParaRPr lang="en-US" sz="900" dirty="0"/>
          </a:p>
        </p:txBody>
      </p:sp>
      <p:sp>
        <p:nvSpPr>
          <p:cNvPr id="8" name="dot_164"/>
          <p:cNvSpPr/>
          <p:nvPr/>
        </p:nvSpPr>
        <p:spPr>
          <a:xfrm>
            <a:off x="5074920" y="1655064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xt_165"/>
          <p:cNvSpPr txBox="1"/>
          <p:nvPr/>
        </p:nvSpPr>
        <p:spPr>
          <a:xfrm>
            <a:off x="5074920" y="1655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xt_166"/>
          <p:cNvSpPr txBox="1"/>
          <p:nvPr/>
        </p:nvSpPr>
        <p:spPr>
          <a:xfrm>
            <a:off x="5486400" y="16093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감속 · 대기</a:t>
            </a:r>
            <a:endParaRPr lang="en-US" sz="1150" dirty="0"/>
          </a:p>
        </p:txBody>
      </p:sp>
      <p:sp>
        <p:nvSpPr>
          <p:cNvPr id="11" name="txt_167"/>
          <p:cNvSpPr txBox="1"/>
          <p:nvPr/>
        </p:nvSpPr>
        <p:spPr>
          <a:xfrm>
            <a:off x="5486400" y="18836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다른 로봇이 쓰는 중이면 남은 거리로 제동 속도를 계산해 칸 앞에 정확히 정지</a:t>
            </a:r>
            <a:endParaRPr lang="en-US" sz="900" dirty="0"/>
          </a:p>
        </p:txBody>
      </p:sp>
      <p:sp>
        <p:nvSpPr>
          <p:cNvPr id="12" name="dot_168"/>
          <p:cNvSpPr/>
          <p:nvPr/>
        </p:nvSpPr>
        <p:spPr>
          <a:xfrm>
            <a:off x="5074920" y="2350008"/>
            <a:ext cx="292608" cy="29260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xt_169"/>
          <p:cNvSpPr txBox="1"/>
          <p:nvPr/>
        </p:nvSpPr>
        <p:spPr>
          <a:xfrm>
            <a:off x="5074920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xt_170"/>
          <p:cNvSpPr txBox="1"/>
          <p:nvPr/>
        </p:nvSpPr>
        <p:spPr>
          <a:xfrm>
            <a:off x="5486400" y="2304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해제</a:t>
            </a:r>
            <a:endParaRPr lang="en-US" sz="1150" dirty="0"/>
          </a:p>
        </p:txBody>
      </p:sp>
      <p:sp>
        <p:nvSpPr>
          <p:cNvPr id="15" name="txt_171"/>
          <p:cNvSpPr txBox="1"/>
          <p:nvPr/>
        </p:nvSpPr>
        <p:spPr>
          <a:xfrm>
            <a:off x="5486400" y="25786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교차로를 1m 벗어나면 자동 해제 → 다음 로봇 진입</a:t>
            </a:r>
            <a:endParaRPr lang="en-US" sz="900" dirty="0"/>
          </a:p>
        </p:txBody>
      </p:sp>
      <p:sp>
        <p:nvSpPr>
          <p:cNvPr id="16" name="dot_172"/>
          <p:cNvSpPr/>
          <p:nvPr/>
        </p:nvSpPr>
        <p:spPr>
          <a:xfrm>
            <a:off x="5074920" y="3044952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xt_173"/>
          <p:cNvSpPr txBox="1"/>
          <p:nvPr/>
        </p:nvSpPr>
        <p:spPr>
          <a:xfrm>
            <a:off x="507492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xt_174"/>
          <p:cNvSpPr txBox="1"/>
          <p:nvPr/>
        </p:nvSpPr>
        <p:spPr>
          <a:xfrm>
            <a:off x="5486400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교착 방지</a:t>
            </a:r>
            <a:endParaRPr lang="en-US" sz="1150" dirty="0"/>
          </a:p>
        </p:txBody>
      </p:sp>
      <p:sp>
        <p:nvSpPr>
          <p:cNvPr id="19" name="txt_175"/>
          <p:cNvSpPr txBox="1"/>
          <p:nvPr/>
        </p:nvSpPr>
        <p:spPr>
          <a:xfrm>
            <a:off x="5486400" y="32735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3.5초 넘게 막혔는데 상대도 멈춰 있으면 양보받아 통과</a:t>
            </a:r>
            <a:endParaRPr lang="en-US" sz="900" dirty="0"/>
          </a:p>
        </p:txBody>
      </p:sp>
      <p:graphicFrame>
        <p:nvGraphicFramePr>
          <p:cNvPr id="14" name="table_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4904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2926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시뮬 600초 검증</a:t>
                      </a:r>
                      <a:endParaRPr lang="en-US" sz="9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이전</a:t>
                      </a:r>
                      <a:endParaRPr lang="en-US" sz="9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교차로 예약 후</a:t>
                      </a:r>
                      <a:endParaRPr lang="en-US" sz="9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교차로 안에 2대 이상 겹친 프레임</a:t>
                      </a:r>
                      <a:endParaRPr lang="en-US" sz="9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2"/>
                          </a:solidFill>
                        </a:rPr>
                        <a:t>41 (300초)</a:t>
                      </a:r>
                      <a:endParaRPr lang="en-US" sz="9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처리량</a:t>
                      </a:r>
                      <a:endParaRPr lang="en-US" sz="9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2"/>
                          </a:solidFill>
                        </a:rPr>
                        <a:t>66건 / 300초</a:t>
                      </a:r>
                      <a:endParaRPr lang="en-US" sz="9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2"/>
                          </a:solidFill>
                        </a:rPr>
                        <a:t>125건 / 600초 (같은 속도 유지)</a:t>
                      </a:r>
                      <a:endParaRPr lang="en-US" sz="9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경로 · 충돌의 한계 (솔직하게)</a:t>
            </a:r>
            <a:endParaRPr lang="en-US" sz="2000" dirty="0"/>
          </a:p>
        </p:txBody>
      </p:sp>
      <p:graphicFrame>
        <p:nvGraphicFramePr>
          <p:cNvPr id="15" name="table_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880360"/>
                <a:gridCol w="2880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한계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왜 생기나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실제라면 이렇게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(해결) 교차로 겹침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교차로 예약으로 해결 · 600초 시뮬에서 겹침 0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통로 한가운데 마주침은 앞차 감지에 의존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교차로가 아닌 구간은 예약 대상이 아님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구간(엣지) 단위 예약, 일방통행 통로 지정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전체 교통을 보는 관제 없음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각 로봇이 자기 앞만 봄 (분산 규칙)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중앙 교통 관리 서버, 경로 시간 예약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속도가 실제보다 빠름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시연용 최고 약 4m/s (1px=0.05m 기준)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실제 물류 AMR은 보통 1~2m/s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경로가 고정 규칙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바둑판 통로 전용. 막힌 길 우회 없음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A* 같은 길찾기로 막힌 통로 피해 가기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면접 예상 질문 — 경로 · 충돌</a:t>
            </a:r>
            <a:endParaRPr lang="en-US" sz="2000" dirty="0"/>
          </a:p>
        </p:txBody>
      </p:sp>
      <p:sp>
        <p:nvSpPr>
          <p:cNvPr id="3" name="card_178"/>
          <p:cNvSpPr/>
          <p:nvPr/>
        </p:nvSpPr>
        <p:spPr>
          <a:xfrm>
            <a:off x="457200" y="91440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4" name="dot_179"/>
          <p:cNvSpPr/>
          <p:nvPr/>
        </p:nvSpPr>
        <p:spPr>
          <a:xfrm>
            <a:off x="621792" y="103327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xt_180"/>
          <p:cNvSpPr txBox="1"/>
          <p:nvPr/>
        </p:nvSpPr>
        <p:spPr>
          <a:xfrm>
            <a:off x="621792" y="1033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</a:t>
            </a:r>
            <a:endParaRPr lang="en-US" sz="1000" dirty="0"/>
          </a:p>
        </p:txBody>
      </p:sp>
      <p:sp>
        <p:nvSpPr>
          <p:cNvPr id="6" name="txt_181"/>
          <p:cNvSpPr txBox="1"/>
          <p:nvPr/>
        </p:nvSpPr>
        <p:spPr>
          <a:xfrm>
            <a:off x="1005840" y="98755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경로는 어떻게 계산했나?</a:t>
            </a:r>
            <a:endParaRPr lang="en-US" sz="1100" dirty="0"/>
          </a:p>
        </p:txBody>
      </p:sp>
      <p:sp>
        <p:nvSpPr>
          <p:cNvPr id="7" name="txt_182"/>
          <p:cNvSpPr txBox="1"/>
          <p:nvPr/>
        </p:nvSpPr>
        <p:spPr>
          <a:xfrm>
            <a:off x="1005840" y="1280160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답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바둑판 통로라서 '통로 → 간선 → 통로' 규칙으로 꺾이는 점들을 만든다</a:t>
            </a:r>
            <a:endParaRPr lang="en-US" sz="950" dirty="0"/>
          </a:p>
        </p:txBody>
      </p:sp>
      <p:sp>
        <p:nvSpPr>
          <p:cNvPr id="8" name="txt_183"/>
          <p:cNvSpPr txBox="1"/>
          <p:nvPr/>
        </p:nvSpPr>
        <p:spPr>
          <a:xfrm>
            <a:off x="1005840" y="1499616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꼬리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A*를 안 쓴 이유? → 통로가 고정이라 규칙이 더 단순하고 빠름. 우회가 필요하면 A*</a:t>
            </a:r>
            <a:endParaRPr lang="en-US" sz="900" dirty="0"/>
          </a:p>
        </p:txBody>
      </p:sp>
      <p:sp>
        <p:nvSpPr>
          <p:cNvPr id="9" name="card_184"/>
          <p:cNvSpPr/>
          <p:nvPr/>
        </p:nvSpPr>
        <p:spPr>
          <a:xfrm>
            <a:off x="457200" y="187452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0" name="dot_185"/>
          <p:cNvSpPr/>
          <p:nvPr/>
        </p:nvSpPr>
        <p:spPr>
          <a:xfrm>
            <a:off x="621792" y="199339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xt_186"/>
          <p:cNvSpPr txBox="1"/>
          <p:nvPr/>
        </p:nvSpPr>
        <p:spPr>
          <a:xfrm>
            <a:off x="621792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</a:t>
            </a:r>
            <a:endParaRPr lang="en-US" sz="1000" dirty="0"/>
          </a:p>
        </p:txBody>
      </p:sp>
      <p:sp>
        <p:nvSpPr>
          <p:cNvPr id="12" name="txt_187"/>
          <p:cNvSpPr txBox="1"/>
          <p:nvPr/>
        </p:nvSpPr>
        <p:spPr>
          <a:xfrm>
            <a:off x="1005840" y="19476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두 로봇이 같은 칸에 가면?</a:t>
            </a:r>
            <a:endParaRPr lang="en-US" sz="1100" dirty="0"/>
          </a:p>
        </p:txBody>
      </p:sp>
      <p:sp>
        <p:nvSpPr>
          <p:cNvPr id="13" name="txt_188"/>
          <p:cNvSpPr txBox="1"/>
          <p:nvPr/>
        </p:nvSpPr>
        <p:spPr>
          <a:xfrm>
            <a:off x="1005840" y="2240280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답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배정할 때 칸을 '예약' 상태로 바꿔서 다른 로봇 후보에서 빠진다</a:t>
            </a:r>
            <a:endParaRPr lang="en-US" sz="950" dirty="0"/>
          </a:p>
        </p:txBody>
      </p:sp>
      <p:sp>
        <p:nvSpPr>
          <p:cNvPr id="14" name="txt_189"/>
          <p:cNvSpPr txBox="1"/>
          <p:nvPr/>
        </p:nvSpPr>
        <p:spPr>
          <a:xfrm>
            <a:off x="1005840" y="2459736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꼬리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예약 해제는? → 적재 완료 때 보관 상태로 바뀜</a:t>
            </a:r>
            <a:endParaRPr lang="en-US" sz="900" dirty="0"/>
          </a:p>
        </p:txBody>
      </p:sp>
      <p:sp>
        <p:nvSpPr>
          <p:cNvPr id="15" name="card_190"/>
          <p:cNvSpPr/>
          <p:nvPr/>
        </p:nvSpPr>
        <p:spPr>
          <a:xfrm>
            <a:off x="457200" y="283464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6" name="dot_191"/>
          <p:cNvSpPr/>
          <p:nvPr/>
        </p:nvSpPr>
        <p:spPr>
          <a:xfrm>
            <a:off x="621792" y="295351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xt_192"/>
          <p:cNvSpPr txBox="1"/>
          <p:nvPr/>
        </p:nvSpPr>
        <p:spPr>
          <a:xfrm>
            <a:off x="621792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</a:t>
            </a:r>
            <a:endParaRPr lang="en-US" sz="1000" dirty="0"/>
          </a:p>
        </p:txBody>
      </p:sp>
      <p:sp>
        <p:nvSpPr>
          <p:cNvPr id="18" name="txt_193"/>
          <p:cNvSpPr txBox="1"/>
          <p:nvPr/>
        </p:nvSpPr>
        <p:spPr>
          <a:xfrm>
            <a:off x="1005840" y="290779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로봇끼리 안 부딪히나?</a:t>
            </a:r>
            <a:endParaRPr lang="en-US" sz="1100" dirty="0"/>
          </a:p>
        </p:txBody>
      </p:sp>
      <p:sp>
        <p:nvSpPr>
          <p:cNvPr id="19" name="txt_194"/>
          <p:cNvSpPr txBox="1"/>
          <p:nvPr/>
        </p:nvSpPr>
        <p:spPr>
          <a:xfrm>
            <a:off x="1005840" y="3200400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답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교차로는 예약으로 한 대씩, 통로에선 앞차 감지 + 우측 통행</a:t>
            </a:r>
            <a:endParaRPr lang="en-US" sz="950" dirty="0"/>
          </a:p>
        </p:txBody>
      </p:sp>
      <p:sp>
        <p:nvSpPr>
          <p:cNvPr id="20" name="txt_195"/>
          <p:cNvSpPr txBox="1"/>
          <p:nvPr/>
        </p:nvSpPr>
        <p:spPr>
          <a:xfrm>
            <a:off x="1005840" y="3419856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꼬리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서로 막히면? → 3.5초 뒤 양보 규칙. 600초 시뮬에서 교차로 겹침 0</a:t>
            </a:r>
            <a:endParaRPr lang="en-US" sz="900" dirty="0"/>
          </a:p>
        </p:txBody>
      </p:sp>
      <p:sp>
        <p:nvSpPr>
          <p:cNvPr id="21" name="card_196"/>
          <p:cNvSpPr/>
          <p:nvPr/>
        </p:nvSpPr>
        <p:spPr>
          <a:xfrm>
            <a:off x="457200" y="379476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2" name="dot_197"/>
          <p:cNvSpPr/>
          <p:nvPr/>
        </p:nvSpPr>
        <p:spPr>
          <a:xfrm>
            <a:off x="621792" y="391363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xt_198"/>
          <p:cNvSpPr txBox="1"/>
          <p:nvPr/>
        </p:nvSpPr>
        <p:spPr>
          <a:xfrm>
            <a:off x="621792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</a:t>
            </a:r>
            <a:endParaRPr lang="en-US" sz="1000" dirty="0"/>
          </a:p>
        </p:txBody>
      </p:sp>
      <p:sp>
        <p:nvSpPr>
          <p:cNvPr id="24" name="txt_199"/>
          <p:cNvSpPr txBox="1"/>
          <p:nvPr/>
        </p:nvSpPr>
        <p:spPr>
          <a:xfrm>
            <a:off x="1005840" y="386791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실제 로봇에 그대로 쓸 수 있나?</a:t>
            </a:r>
            <a:endParaRPr lang="en-US" sz="1100" dirty="0"/>
          </a:p>
        </p:txBody>
      </p:sp>
      <p:sp>
        <p:nvSpPr>
          <p:cNvPr id="25" name="txt_200"/>
          <p:cNvSpPr txBox="1"/>
          <p:nvPr/>
        </p:nvSpPr>
        <p:spPr>
          <a:xfrm>
            <a:off x="1005840" y="4160520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답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아니다. 시연용 시뮬레이션이고 교통 관리 · 센서 기반 회피가 더 필요</a:t>
            </a:r>
            <a:endParaRPr lang="en-US" sz="950" dirty="0"/>
          </a:p>
        </p:txBody>
      </p:sp>
      <p:sp>
        <p:nvSpPr>
          <p:cNvPr id="26" name="txt_201"/>
          <p:cNvSpPr txBox="1"/>
          <p:nvPr/>
        </p:nvSpPr>
        <p:spPr>
          <a:xfrm>
            <a:off x="1005840" y="4379976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꼬리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그럼 의미는? → 관제 화면 · 데이터 흐름 · 정비 운영 로직 검증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202"/>
          <p:cNvSpPr txBox="1"/>
          <p:nvPr/>
        </p:nvSpPr>
        <p:spPr>
          <a:xfrm>
            <a:off x="5486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5"/>
                </a:solidFill>
              </a:rPr>
              <a:t>PART 3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예지보전 · 자동 운영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진동이 오르면 남은 수명을 계산하고, 관리자가 정한 기준 이하에서 자동으로 정비 · 충전한다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고장 예측 흐름: 5단계 시나리오</a:t>
            </a:r>
            <a:endParaRPr lang="en-US" sz="2000" dirty="0"/>
          </a:p>
        </p:txBody>
      </p:sp>
      <p:sp>
        <p:nvSpPr>
          <p:cNvPr id="3" name="line_203"/>
          <p:cNvSpPr/>
          <p:nvPr/>
        </p:nvSpPr>
        <p:spPr>
          <a:xfrm>
            <a:off x="731520" y="1298448"/>
            <a:ext cx="7680960" cy="0"/>
          </a:xfrm>
          <a:prstGeom prst="line">
            <a:avLst/>
          </a:prstGeom>
          <a:noFill/>
          <a:ln w="25400">
            <a:solidFill>
              <a:srgbClr val="C3CED8"/>
            </a:solidFill>
            <a:prstDash val="solid"/>
          </a:ln>
        </p:spPr>
      </p:sp>
      <p:sp>
        <p:nvSpPr>
          <p:cNvPr id="4" name="dot_204"/>
          <p:cNvSpPr/>
          <p:nvPr/>
        </p:nvSpPr>
        <p:spPr>
          <a:xfrm>
            <a:off x="566928" y="114300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xt_205"/>
          <p:cNvSpPr txBox="1"/>
          <p:nvPr/>
        </p:nvSpPr>
        <p:spPr>
          <a:xfrm>
            <a:off x="566928" y="1143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xt_206"/>
          <p:cNvSpPr txBox="1"/>
          <p:nvPr/>
        </p:nvSpPr>
        <p:spPr>
          <a:xfrm>
            <a:off x="457200" y="1600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정상 운영</a:t>
            </a:r>
            <a:endParaRPr lang="en-US" sz="1200" dirty="0"/>
          </a:p>
        </p:txBody>
      </p:sp>
      <p:sp>
        <p:nvSpPr>
          <p:cNvPr id="7" name="txt_207"/>
          <p:cNvSpPr txBox="1"/>
          <p:nvPr/>
        </p:nvSpPr>
        <p:spPr>
          <a:xfrm>
            <a:off x="457200" y="19019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진동 1.2~2.0 mm/s</a:t>
            </a:r>
            <a:endParaRPr lang="en-US" sz="950" dirty="0"/>
          </a:p>
        </p:txBody>
      </p:sp>
      <p:sp>
        <p:nvSpPr>
          <p:cNvPr id="8" name="dot_208"/>
          <p:cNvSpPr/>
          <p:nvPr/>
        </p:nvSpPr>
        <p:spPr>
          <a:xfrm>
            <a:off x="2231136" y="11430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xt_209"/>
          <p:cNvSpPr txBox="1"/>
          <p:nvPr/>
        </p:nvSpPr>
        <p:spPr>
          <a:xfrm>
            <a:off x="2231136" y="1143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xt_210"/>
          <p:cNvSpPr txBox="1"/>
          <p:nvPr/>
        </p:nvSpPr>
        <p:spPr>
          <a:xfrm>
            <a:off x="2121408" y="1600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이상 감지</a:t>
            </a:r>
            <a:endParaRPr lang="en-US" sz="1200" dirty="0"/>
          </a:p>
        </p:txBody>
      </p:sp>
      <p:sp>
        <p:nvSpPr>
          <p:cNvPr id="11" name="txt_211"/>
          <p:cNvSpPr txBox="1"/>
          <p:nvPr/>
        </p:nvSpPr>
        <p:spPr>
          <a:xfrm>
            <a:off x="2121408" y="19019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누적 운반량 최다 AMR 진동 상승</a:t>
            </a:r>
            <a:endParaRPr lang="en-US" sz="950" dirty="0"/>
          </a:p>
        </p:txBody>
      </p:sp>
      <p:sp>
        <p:nvSpPr>
          <p:cNvPr id="12" name="dot_212"/>
          <p:cNvSpPr/>
          <p:nvPr/>
        </p:nvSpPr>
        <p:spPr>
          <a:xfrm>
            <a:off x="3895344" y="114300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xt_213"/>
          <p:cNvSpPr txBox="1"/>
          <p:nvPr/>
        </p:nvSpPr>
        <p:spPr>
          <a:xfrm>
            <a:off x="3895344" y="1143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xt_214"/>
          <p:cNvSpPr txBox="1"/>
          <p:nvPr/>
        </p:nvSpPr>
        <p:spPr>
          <a:xfrm>
            <a:off x="3785616" y="1600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고장 예측</a:t>
            </a:r>
            <a:endParaRPr lang="en-US" sz="1200" dirty="0"/>
          </a:p>
        </p:txBody>
      </p:sp>
      <p:sp>
        <p:nvSpPr>
          <p:cNvPr id="15" name="txt_215"/>
          <p:cNvSpPr txBox="1"/>
          <p:nvPr/>
        </p:nvSpPr>
        <p:spPr>
          <a:xfrm>
            <a:off x="3785616" y="19019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남은 수명 ≤ 정비 기준 → 자동 예약</a:t>
            </a:r>
            <a:endParaRPr lang="en-US" sz="950" dirty="0"/>
          </a:p>
        </p:txBody>
      </p:sp>
      <p:sp>
        <p:nvSpPr>
          <p:cNvPr id="16" name="dot_216"/>
          <p:cNvSpPr/>
          <p:nvPr/>
        </p:nvSpPr>
        <p:spPr>
          <a:xfrm>
            <a:off x="5559552" y="114300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xt_217"/>
          <p:cNvSpPr txBox="1"/>
          <p:nvPr/>
        </p:nvSpPr>
        <p:spPr>
          <a:xfrm>
            <a:off x="5559552" y="1143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xt_218"/>
          <p:cNvSpPr txBox="1"/>
          <p:nvPr/>
        </p:nvSpPr>
        <p:spPr>
          <a:xfrm>
            <a:off x="5449824" y="1600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교대 · 정비</a:t>
            </a:r>
            <a:endParaRPr lang="en-US" sz="1200" dirty="0"/>
          </a:p>
        </p:txBody>
      </p:sp>
      <p:sp>
        <p:nvSpPr>
          <p:cNvPr id="19" name="txt_219"/>
          <p:cNvSpPr txBox="1"/>
          <p:nvPr/>
        </p:nvSpPr>
        <p:spPr>
          <a:xfrm>
            <a:off x="5449824" y="19019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하던 일 마치고 정비소, AMR-05 투입</a:t>
            </a:r>
            <a:endParaRPr lang="en-US" sz="950" dirty="0"/>
          </a:p>
        </p:txBody>
      </p:sp>
      <p:sp>
        <p:nvSpPr>
          <p:cNvPr id="20" name="dot_220"/>
          <p:cNvSpPr/>
          <p:nvPr/>
        </p:nvSpPr>
        <p:spPr>
          <a:xfrm>
            <a:off x="7223760" y="1143000"/>
            <a:ext cx="310896" cy="31089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xt_221"/>
          <p:cNvSpPr txBox="1"/>
          <p:nvPr/>
        </p:nvSpPr>
        <p:spPr>
          <a:xfrm>
            <a:off x="7223760" y="1143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xt_222"/>
          <p:cNvSpPr txBox="1"/>
          <p:nvPr/>
        </p:nvSpPr>
        <p:spPr>
          <a:xfrm>
            <a:off x="7114032" y="1600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정상 복귀</a:t>
            </a:r>
            <a:endParaRPr lang="en-US" sz="1200" dirty="0"/>
          </a:p>
        </p:txBody>
      </p:sp>
      <p:sp>
        <p:nvSpPr>
          <p:cNvPr id="23" name="txt_223"/>
          <p:cNvSpPr txBox="1"/>
          <p:nvPr/>
        </p:nvSpPr>
        <p:spPr>
          <a:xfrm>
            <a:off x="7114032" y="19019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진동 정상, 누적 운반량 초기화</a:t>
            </a:r>
            <a:endParaRPr lang="en-US" sz="950" dirty="0"/>
          </a:p>
        </p:txBody>
      </p:sp>
      <p:graphicFrame>
        <p:nvGraphicFramePr>
          <p:cNvPr id="18" name="table_2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계산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방법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진동 · 온도 · 건강점수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기본값 + 이동 · 적재 무게 영향 + 노이즈 + 마모량(deg)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진동 추세(기울기)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최근 20개 진동값을 최소제곱 직선으로 맞춘 기울기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남은 수명(시간)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현재 마모량이 고장 기준(진동 7.1 mm/s)까지 남은 정도를 시간으로 환산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자동 정비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남은 수명 ≤ 정비 기준(6~60시간, 기본 24) → 정비 예약 + 예비기 투입 + DB 기록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충전과 관리자 기준</a:t>
            </a:r>
            <a:endParaRPr lang="en-US" sz="2000" dirty="0"/>
          </a:p>
        </p:txBody>
      </p:sp>
      <p:graphicFrame>
        <p:nvGraphicFramePr>
          <p:cNvPr id="19" name="table_2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48056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동작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범위 · 기본값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배터리 소모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이동 중 감소, 화물을 실으면 더 빨리 (최저 3%)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충전 판단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작업이 끝났을 때 배터리 ≤ 충전 기준이면 충전소로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10~80%, 기본 30%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충전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충전소에서 초당 1.6%씩, 90%가 되면 작업 복귀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목표 90%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정비 기준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남은 수명이 이 시간 이하면 자동 정비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6~60시간, 기본 24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기준 변경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웹 카드 · 앱 카드 ± 버튼 → DB 저장 → 반대쪽에 2초 안에 반영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변경자 기록 (앱 · 관리자 / 웹 · 관제)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ard_226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xt_227"/>
          <p:cNvSpPr txBox="1"/>
          <p:nvPr/>
        </p:nvSpPr>
        <p:spPr>
          <a:xfrm>
            <a:off x="731520" y="3794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설계 판단  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처음엔 관리자 '정비 승인' 버튼이었지만, 놓치면 그대로 고장이라 '기준만 정하고 실행은 자동'으로 바꿨다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면접 예상 질문 — 예지보전</a:t>
            </a:r>
            <a:endParaRPr lang="en-US" sz="2000" dirty="0"/>
          </a:p>
        </p:txBody>
      </p:sp>
      <p:sp>
        <p:nvSpPr>
          <p:cNvPr id="3" name="card_228"/>
          <p:cNvSpPr/>
          <p:nvPr/>
        </p:nvSpPr>
        <p:spPr>
          <a:xfrm>
            <a:off x="457200" y="91440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4" name="dot_229"/>
          <p:cNvSpPr/>
          <p:nvPr/>
        </p:nvSpPr>
        <p:spPr>
          <a:xfrm>
            <a:off x="621792" y="103327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xt_230"/>
          <p:cNvSpPr txBox="1"/>
          <p:nvPr/>
        </p:nvSpPr>
        <p:spPr>
          <a:xfrm>
            <a:off x="621792" y="1033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</a:t>
            </a:r>
            <a:endParaRPr lang="en-US" sz="1000" dirty="0"/>
          </a:p>
        </p:txBody>
      </p:sp>
      <p:sp>
        <p:nvSpPr>
          <p:cNvPr id="6" name="txt_231"/>
          <p:cNvSpPr txBox="1"/>
          <p:nvPr/>
        </p:nvSpPr>
        <p:spPr>
          <a:xfrm>
            <a:off x="1005840" y="98755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AI 예측이라는데 모델은 뭔가?</a:t>
            </a:r>
            <a:endParaRPr lang="en-US" sz="1100" dirty="0"/>
          </a:p>
        </p:txBody>
      </p:sp>
      <p:sp>
        <p:nvSpPr>
          <p:cNvPr id="7" name="txt_232"/>
          <p:cNvSpPr txBox="1"/>
          <p:nvPr/>
        </p:nvSpPr>
        <p:spPr>
          <a:xfrm>
            <a:off x="1005840" y="1280160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답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지금은 학습 모델이 아니라 진동 추세 기반 규칙 계산이다</a:t>
            </a:r>
            <a:endParaRPr lang="en-US" sz="950" dirty="0"/>
          </a:p>
        </p:txBody>
      </p:sp>
      <p:sp>
        <p:nvSpPr>
          <p:cNvPr id="8" name="txt_233"/>
          <p:cNvSpPr txBox="1"/>
          <p:nvPr/>
        </p:nvSpPr>
        <p:spPr>
          <a:xfrm>
            <a:off x="1005840" y="1499616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꼬리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그럼 AI는? → 실제 센서 데이터가 쌓이면 회귀 · 이상탐지 모델로 바꿀 구조</a:t>
            </a:r>
            <a:endParaRPr lang="en-US" sz="900" dirty="0"/>
          </a:p>
        </p:txBody>
      </p:sp>
      <p:sp>
        <p:nvSpPr>
          <p:cNvPr id="9" name="card_234"/>
          <p:cNvSpPr/>
          <p:nvPr/>
        </p:nvSpPr>
        <p:spPr>
          <a:xfrm>
            <a:off x="457200" y="187452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0" name="dot_235"/>
          <p:cNvSpPr/>
          <p:nvPr/>
        </p:nvSpPr>
        <p:spPr>
          <a:xfrm>
            <a:off x="621792" y="199339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xt_236"/>
          <p:cNvSpPr txBox="1"/>
          <p:nvPr/>
        </p:nvSpPr>
        <p:spPr>
          <a:xfrm>
            <a:off x="621792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</a:t>
            </a:r>
            <a:endParaRPr lang="en-US" sz="1000" dirty="0"/>
          </a:p>
        </p:txBody>
      </p:sp>
      <p:sp>
        <p:nvSpPr>
          <p:cNvPr id="12" name="txt_237"/>
          <p:cNvSpPr txBox="1"/>
          <p:nvPr/>
        </p:nvSpPr>
        <p:spPr>
          <a:xfrm>
            <a:off x="1005840" y="19476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센서 데이터는 진짜인가?</a:t>
            </a:r>
            <a:endParaRPr lang="en-US" sz="1100" dirty="0"/>
          </a:p>
        </p:txBody>
      </p:sp>
      <p:sp>
        <p:nvSpPr>
          <p:cNvPr id="13" name="txt_238"/>
          <p:cNvSpPr txBox="1"/>
          <p:nvPr/>
        </p:nvSpPr>
        <p:spPr>
          <a:xfrm>
            <a:off x="1005840" y="2240280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답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아니다. 시뮬레이터가 이동 · 무게 · 마모를 반영해 만든 값</a:t>
            </a:r>
            <a:endParaRPr lang="en-US" sz="950" dirty="0"/>
          </a:p>
        </p:txBody>
      </p:sp>
      <p:sp>
        <p:nvSpPr>
          <p:cNvPr id="14" name="txt_239"/>
          <p:cNvSpPr txBox="1"/>
          <p:nvPr/>
        </p:nvSpPr>
        <p:spPr>
          <a:xfrm>
            <a:off x="1005840" y="2459736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꼬리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왜 그렇게? → 실물 로봇이 없어서 운영 흐름과 화면 검증이 목적</a:t>
            </a:r>
            <a:endParaRPr lang="en-US" sz="900" dirty="0"/>
          </a:p>
        </p:txBody>
      </p:sp>
      <p:sp>
        <p:nvSpPr>
          <p:cNvPr id="15" name="card_240"/>
          <p:cNvSpPr/>
          <p:nvPr/>
        </p:nvSpPr>
        <p:spPr>
          <a:xfrm>
            <a:off x="457200" y="283464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6" name="dot_241"/>
          <p:cNvSpPr/>
          <p:nvPr/>
        </p:nvSpPr>
        <p:spPr>
          <a:xfrm>
            <a:off x="621792" y="295351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xt_242"/>
          <p:cNvSpPr txBox="1"/>
          <p:nvPr/>
        </p:nvSpPr>
        <p:spPr>
          <a:xfrm>
            <a:off x="621792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</a:t>
            </a:r>
            <a:endParaRPr lang="en-US" sz="1000" dirty="0"/>
          </a:p>
        </p:txBody>
      </p:sp>
      <p:sp>
        <p:nvSpPr>
          <p:cNvPr id="18" name="txt_243"/>
          <p:cNvSpPr txBox="1"/>
          <p:nvPr/>
        </p:nvSpPr>
        <p:spPr>
          <a:xfrm>
            <a:off x="1005840" y="290779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왜 승인 버튼을 없앴나?</a:t>
            </a:r>
            <a:endParaRPr lang="en-US" sz="1100" dirty="0"/>
          </a:p>
        </p:txBody>
      </p:sp>
      <p:sp>
        <p:nvSpPr>
          <p:cNvPr id="19" name="txt_244"/>
          <p:cNvSpPr txBox="1"/>
          <p:nvPr/>
        </p:nvSpPr>
        <p:spPr>
          <a:xfrm>
            <a:off x="1005840" y="3200400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답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사람이 놓치면 고장. 관리자는 기준만 정하고 실행은 자동이 안전</a:t>
            </a:r>
            <a:endParaRPr lang="en-US" sz="950" dirty="0"/>
          </a:p>
        </p:txBody>
      </p:sp>
      <p:sp>
        <p:nvSpPr>
          <p:cNvPr id="20" name="txt_245"/>
          <p:cNvSpPr txBox="1"/>
          <p:nvPr/>
        </p:nvSpPr>
        <p:spPr>
          <a:xfrm>
            <a:off x="1005840" y="3419856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꼬리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관리자 역할은? → 정비 · 충전 기준 조정, 기록 확인</a:t>
            </a:r>
            <a:endParaRPr lang="en-US" sz="900" dirty="0"/>
          </a:p>
        </p:txBody>
      </p:sp>
      <p:sp>
        <p:nvSpPr>
          <p:cNvPr id="21" name="card_246"/>
          <p:cNvSpPr/>
          <p:nvPr/>
        </p:nvSpPr>
        <p:spPr>
          <a:xfrm>
            <a:off x="457200" y="379476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2" name="dot_247"/>
          <p:cNvSpPr/>
          <p:nvPr/>
        </p:nvSpPr>
        <p:spPr>
          <a:xfrm>
            <a:off x="621792" y="391363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xt_248"/>
          <p:cNvSpPr txBox="1"/>
          <p:nvPr/>
        </p:nvSpPr>
        <p:spPr>
          <a:xfrm>
            <a:off x="621792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</a:t>
            </a:r>
            <a:endParaRPr lang="en-US" sz="1000" dirty="0"/>
          </a:p>
        </p:txBody>
      </p:sp>
      <p:sp>
        <p:nvSpPr>
          <p:cNvPr id="24" name="txt_249"/>
          <p:cNvSpPr txBox="1"/>
          <p:nvPr/>
        </p:nvSpPr>
        <p:spPr>
          <a:xfrm>
            <a:off x="1005840" y="386791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정비 중 작업은 멈추나?</a:t>
            </a:r>
            <a:endParaRPr lang="en-US" sz="1100" dirty="0"/>
          </a:p>
        </p:txBody>
      </p:sp>
      <p:sp>
        <p:nvSpPr>
          <p:cNvPr id="25" name="txt_250"/>
          <p:cNvSpPr txBox="1"/>
          <p:nvPr/>
        </p:nvSpPr>
        <p:spPr>
          <a:xfrm>
            <a:off x="1005840" y="4160520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답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예비 AMR-05가 바로 이어받아 출고가 멈추지 않는다</a:t>
            </a:r>
            <a:endParaRPr lang="en-US" sz="950" dirty="0"/>
          </a:p>
        </p:txBody>
      </p:sp>
      <p:sp>
        <p:nvSpPr>
          <p:cNvPr id="26" name="txt_251"/>
          <p:cNvSpPr txBox="1"/>
          <p:nvPr/>
        </p:nvSpPr>
        <p:spPr>
          <a:xfrm>
            <a:off x="1005840" y="4379976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꼬리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예비기는 언제 복귀? → 정비 완료 후 대기 위치로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252"/>
          <p:cNvSpPr txBox="1"/>
          <p:nvPr/>
        </p:nvSpPr>
        <p:spPr>
          <a:xfrm>
            <a:off x="5486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5"/>
                </a:solidFill>
              </a:rPr>
              <a:t>PART 4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앱 연결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WiFi · 핫스팟 실패 → USB 케이블로 우회 → 원인을 찾아 WiFi로 복구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3단계로 해결했다</a:t>
            </a:r>
            <a:endParaRPr lang="en-US" sz="2000" dirty="0"/>
          </a:p>
        </p:txBody>
      </p:sp>
      <p:sp>
        <p:nvSpPr>
          <p:cNvPr id="3" name="card_253"/>
          <p:cNvSpPr/>
          <p:nvPr/>
        </p:nvSpPr>
        <p:spPr>
          <a:xfrm>
            <a:off x="457200" y="960120"/>
            <a:ext cx="260604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" name="txt_254"/>
          <p:cNvSpPr txBox="1"/>
          <p:nvPr/>
        </p:nvSpPr>
        <p:spPr>
          <a:xfrm>
            <a:off x="640080" y="1078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1차</a:t>
            </a:r>
            <a:endParaRPr lang="en-US" sz="1100" dirty="0"/>
          </a:p>
        </p:txBody>
      </p:sp>
      <p:sp>
        <p:nvSpPr>
          <p:cNvPr id="5" name="txt_255"/>
          <p:cNvSpPr txBox="1"/>
          <p:nvPr/>
        </p:nvSpPr>
        <p:spPr>
          <a:xfrm>
            <a:off x="1554480" y="10789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실패</a:t>
            </a:r>
            <a:endParaRPr lang="en-US" sz="1000" dirty="0"/>
          </a:p>
        </p:txBody>
      </p:sp>
      <p:sp>
        <p:nvSpPr>
          <p:cNvPr id="6" name="txt_256"/>
          <p:cNvSpPr txBox="1"/>
          <p:nvPr/>
        </p:nvSpPr>
        <p:spPr>
          <a:xfrm>
            <a:off x="640080" y="13898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WiFi · 핫스팟</a:t>
            </a:r>
            <a:endParaRPr lang="en-US" sz="1500" dirty="0"/>
          </a:p>
        </p:txBody>
      </p:sp>
      <p:sp>
        <p:nvSpPr>
          <p:cNvPr id="7" name="txt_257"/>
          <p:cNvSpPr txBox="1"/>
          <p:nvPr/>
        </p:nvSpPr>
        <p:spPr>
          <a:xfrm>
            <a:off x="640080" y="18288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앱에 노트북 IP 192.168.10.32:8080 입력 → '서버 연결 안 됨'. 핫스팟도 동일</a:t>
            </a:r>
            <a:endParaRPr lang="en-US" sz="950" dirty="0"/>
          </a:p>
        </p:txBody>
      </p:sp>
      <p:sp>
        <p:nvSpPr>
          <p:cNvPr id="8" name="txt_258"/>
          <p:cNvSpPr txBox="1"/>
          <p:nvPr/>
        </p:nvSpPr>
        <p:spPr>
          <a:xfrm>
            <a:off x="3063240" y="1828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card_259"/>
          <p:cNvSpPr/>
          <p:nvPr/>
        </p:nvSpPr>
        <p:spPr>
          <a:xfrm>
            <a:off x="3246120" y="960120"/>
            <a:ext cx="260604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0" name="txt_260"/>
          <p:cNvSpPr txBox="1"/>
          <p:nvPr/>
        </p:nvSpPr>
        <p:spPr>
          <a:xfrm>
            <a:off x="3429000" y="1078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2차</a:t>
            </a:r>
            <a:endParaRPr lang="en-US" sz="1100" dirty="0"/>
          </a:p>
        </p:txBody>
      </p:sp>
      <p:sp>
        <p:nvSpPr>
          <p:cNvPr id="11" name="txt_261"/>
          <p:cNvSpPr txBox="1"/>
          <p:nvPr/>
        </p:nvSpPr>
        <p:spPr>
          <a:xfrm>
            <a:off x="4343400" y="10789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성공 (임시)</a:t>
            </a:r>
            <a:endParaRPr lang="en-US" sz="1000" dirty="0"/>
          </a:p>
        </p:txBody>
      </p:sp>
      <p:sp>
        <p:nvSpPr>
          <p:cNvPr id="12" name="txt_262"/>
          <p:cNvSpPr txBox="1"/>
          <p:nvPr/>
        </p:nvSpPr>
        <p:spPr>
          <a:xfrm>
            <a:off x="3429000" y="13898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USB 케이블</a:t>
            </a:r>
            <a:endParaRPr lang="en-US" sz="1500" dirty="0"/>
          </a:p>
        </p:txBody>
      </p:sp>
      <p:sp>
        <p:nvSpPr>
          <p:cNvPr id="13" name="txt_263"/>
          <p:cNvSpPr txBox="1"/>
          <p:nvPr/>
        </p:nvSpPr>
        <p:spPr>
          <a:xfrm>
            <a:off x="3429000" y="18288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adb reverse로 폰의 127.0.0.1:8080을 USB로 노트북 8080에 연결</a:t>
            </a:r>
            <a:endParaRPr lang="en-US" sz="950" dirty="0"/>
          </a:p>
        </p:txBody>
      </p:sp>
      <p:sp>
        <p:nvSpPr>
          <p:cNvPr id="14" name="txt_264"/>
          <p:cNvSpPr txBox="1"/>
          <p:nvPr/>
        </p:nvSpPr>
        <p:spPr>
          <a:xfrm>
            <a:off x="5852160" y="1828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card_265"/>
          <p:cNvSpPr/>
          <p:nvPr/>
        </p:nvSpPr>
        <p:spPr>
          <a:xfrm>
            <a:off x="6035040" y="960120"/>
            <a:ext cx="260604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6" name="txt_266"/>
          <p:cNvSpPr txBox="1"/>
          <p:nvPr/>
        </p:nvSpPr>
        <p:spPr>
          <a:xfrm>
            <a:off x="6217920" y="1078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3차</a:t>
            </a:r>
            <a:endParaRPr lang="en-US" sz="1100" dirty="0"/>
          </a:p>
        </p:txBody>
      </p:sp>
      <p:sp>
        <p:nvSpPr>
          <p:cNvPr id="17" name="txt_267"/>
          <p:cNvSpPr txBox="1"/>
          <p:nvPr/>
        </p:nvSpPr>
        <p:spPr>
          <a:xfrm>
            <a:off x="7132320" y="10789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성공 (10.15)</a:t>
            </a:r>
            <a:endParaRPr lang="en-US" sz="1000" dirty="0"/>
          </a:p>
        </p:txBody>
      </p:sp>
      <p:sp>
        <p:nvSpPr>
          <p:cNvPr id="18" name="txt_268"/>
          <p:cNvSpPr txBox="1"/>
          <p:nvPr/>
        </p:nvSpPr>
        <p:spPr>
          <a:xfrm>
            <a:off x="6217920" y="13898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WiFi 복구</a:t>
            </a:r>
            <a:endParaRPr lang="en-US" sz="1500" dirty="0"/>
          </a:p>
        </p:txBody>
      </p:sp>
      <p:sp>
        <p:nvSpPr>
          <p:cNvPr id="19" name="txt_269"/>
          <p:cNvSpPr txBox="1"/>
          <p:nvPr/>
        </p:nvSpPr>
        <p:spPr>
          <a:xfrm>
            <a:off x="6217920" y="18288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CapacitorHttp로 통신을 폰 기본 기능으로 바꿈 → WiFi 연결 · 기준 반영 확인</a:t>
            </a:r>
            <a:endParaRPr lang="en-US" sz="950" dirty="0"/>
          </a:p>
        </p:txBody>
      </p:sp>
      <p:sp>
        <p:nvSpPr>
          <p:cNvPr id="20" name="card_270"/>
          <p:cNvSpPr/>
          <p:nvPr/>
        </p:nvSpPr>
        <p:spPr>
          <a:xfrm>
            <a:off x="457200" y="3429000"/>
            <a:ext cx="8229600" cy="109728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xt_271"/>
          <p:cNvSpPr txBox="1"/>
          <p:nvPr/>
        </p:nvSpPr>
        <p:spPr>
          <a:xfrm>
            <a:off x="731520" y="3538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결정적 단서</a:t>
            </a:r>
            <a:endParaRPr lang="en-US" sz="1100" dirty="0"/>
          </a:p>
        </p:txBody>
      </p:sp>
      <p:sp>
        <p:nvSpPr>
          <p:cNvPr id="22" name="txt_272"/>
          <p:cNvSpPr txBox="1"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같은 폰의 크롬에서 http://192.168.10.32:8080/api/amr/health 는 true가 떴다.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→ 네트워크 · 방화벽 · 서버는 정상이고, '앱 안의 브라우저(WebView)'만 막고 있다는 뜻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원인: 크롬은 되는데 앱은 안 되는 이유</a:t>
            </a:r>
            <a:endParaRPr lang="en-US" sz="2000" dirty="0"/>
          </a:p>
        </p:txBody>
      </p:sp>
      <p:sp>
        <p:nvSpPr>
          <p:cNvPr id="3" name="card_273"/>
          <p:cNvSpPr/>
          <p:nvPr/>
        </p:nvSpPr>
        <p:spPr>
          <a:xfrm>
            <a:off x="457200" y="96012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4" name="txt_274"/>
          <p:cNvSpPr txBox="1"/>
          <p:nvPr/>
        </p:nvSpPr>
        <p:spPr>
          <a:xfrm>
            <a:off x="640080" y="96012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폰 크롬</a:t>
            </a:r>
            <a:endParaRPr lang="en-US" sz="1200" dirty="0"/>
          </a:p>
        </p:txBody>
      </p:sp>
      <p:sp>
        <p:nvSpPr>
          <p:cNvPr id="5" name="txt_275"/>
          <p:cNvSpPr txBox="1"/>
          <p:nvPr/>
        </p:nvSpPr>
        <p:spPr>
          <a:xfrm>
            <a:off x="2560320" y="96012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주소창에 직접 입력한 요청</a:t>
            </a:r>
            <a:endParaRPr lang="en-US" sz="950" dirty="0"/>
          </a:p>
        </p:txBody>
      </p:sp>
      <p:sp>
        <p:nvSpPr>
          <p:cNvPr id="6" name="txt_276"/>
          <p:cNvSpPr txBox="1"/>
          <p:nvPr/>
        </p:nvSpPr>
        <p:spPr>
          <a:xfrm>
            <a:off x="5760720" y="960120"/>
            <a:ext cx="2788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보안 검사 대상 아님 → 통과</a:t>
            </a:r>
            <a:endParaRPr lang="en-US" sz="950" dirty="0"/>
          </a:p>
        </p:txBody>
      </p:sp>
      <p:sp>
        <p:nvSpPr>
          <p:cNvPr id="7" name="card_277"/>
          <p:cNvSpPr/>
          <p:nvPr/>
        </p:nvSpPr>
        <p:spPr>
          <a:xfrm>
            <a:off x="457200" y="192024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8" name="txt_278"/>
          <p:cNvSpPr txBox="1"/>
          <p:nvPr/>
        </p:nvSpPr>
        <p:spPr>
          <a:xfrm>
            <a:off x="640080" y="192024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앱 (WebView)</a:t>
            </a:r>
            <a:endParaRPr lang="en-US" sz="1200" dirty="0"/>
          </a:p>
        </p:txBody>
      </p:sp>
      <p:sp>
        <p:nvSpPr>
          <p:cNvPr id="9" name="txt_279"/>
          <p:cNvSpPr txBox="1"/>
          <p:nvPr/>
        </p:nvSpPr>
        <p:spPr>
          <a:xfrm>
            <a:off x="2560320" y="192024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앱 화면(http://localhost)에서 다른 주소로 보내는 요청</a:t>
            </a:r>
            <a:endParaRPr lang="en-US" sz="950" dirty="0"/>
          </a:p>
        </p:txBody>
      </p:sp>
      <p:sp>
        <p:nvSpPr>
          <p:cNvPr id="10" name="txt_280"/>
          <p:cNvSpPr txBox="1"/>
          <p:nvPr/>
        </p:nvSpPr>
        <p:spPr>
          <a:xfrm>
            <a:off x="5760720" y="1920240"/>
            <a:ext cx="2788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3"/>
                </a:solidFill>
              </a:rPr>
              <a:t>다른 출처 + 사설망 요청 → 보안 정책에 걸려 차단</a:t>
            </a:r>
            <a:endParaRPr lang="en-US" sz="950" dirty="0"/>
          </a:p>
        </p:txBody>
      </p:sp>
      <p:sp>
        <p:nvSpPr>
          <p:cNvPr id="11" name="card_281"/>
          <p:cNvSpPr/>
          <p:nvPr/>
        </p:nvSpPr>
        <p:spPr>
          <a:xfrm>
            <a:off x="457200" y="288036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2" name="txt_282"/>
          <p:cNvSpPr txBox="1"/>
          <p:nvPr/>
        </p:nvSpPr>
        <p:spPr>
          <a:xfrm>
            <a:off x="640080" y="288036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앱 + CapacitorHttp</a:t>
            </a:r>
            <a:endParaRPr lang="en-US" sz="1200" dirty="0"/>
          </a:p>
        </p:txBody>
      </p:sp>
      <p:sp>
        <p:nvSpPr>
          <p:cNvPr id="13" name="txt_283"/>
          <p:cNvSpPr txBox="1"/>
          <p:nvPr/>
        </p:nvSpPr>
        <p:spPr>
          <a:xfrm>
            <a:off x="2560320" y="288036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자바스크립트 요청을 안드로이드 기본 HTTP로 대신 보냄</a:t>
            </a:r>
            <a:endParaRPr lang="en-US" sz="950" dirty="0"/>
          </a:p>
        </p:txBody>
      </p:sp>
      <p:sp>
        <p:nvSpPr>
          <p:cNvPr id="14" name="txt_284"/>
          <p:cNvSpPr txBox="1"/>
          <p:nvPr/>
        </p:nvSpPr>
        <p:spPr>
          <a:xfrm>
            <a:off x="5760720" y="2880360"/>
            <a:ext cx="2788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브라우저 보안 검사를 거치지 않음 → 통과</a:t>
            </a:r>
            <a:endParaRPr lang="en-US" sz="950" dirty="0"/>
          </a:p>
        </p:txBody>
      </p:sp>
      <p:sp>
        <p:nvSpPr>
          <p:cNvPr id="15" name="txt_285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WebView가 막는 대표 정책: 혼합 콘텐츠(https 화면 → http 요청) · CORS(다른 출처) · 사설망 접근 제한. 핫스팟도 같은 사설 IP라서 똑같이 실패했다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바꾼 설정 목록</a:t>
            </a:r>
            <a:endParaRPr lang="en-US" sz="2000" dirty="0"/>
          </a:p>
        </p:txBody>
      </p:sp>
      <p:graphicFrame>
        <p:nvGraphicFramePr>
          <p:cNvPr id="24" name="table_2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520440"/>
                <a:gridCol w="27432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파일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설정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역할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capacitor.config.json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server.androidScheme: "http", cleartext: true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앱 화면을 http로 → 혼합 콘텐츠 차단 회피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capacitor.config.json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plugins.CapacitorHttp.enabled: true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fetch를 안드로이드 기본 HTTP로 → WiFi 해결의 핵심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AndroidManifest.xml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android:usesCleartextTraffic="true"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암호화 안 된 http 통신 허용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SecurityConfig.java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CORS에 http://localhost, capacitor://localhost 추가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서버가 앱 출처의 요청 허용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SecurityConfig.java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/api/amr/** permitAll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로그인 없이 관제 API 접근 (시연용)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Windows 방화벽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인바운드 'SCargo 8080' 규칙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다른 기기에서 8080 접속 허용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USB 방식 (임시)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adb reverse tcp:8080 tcp:8080, 앱 주소 127.0.0.1:8080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localhost는 Capacitor가 가로채서 127.0.0.1 사용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면접 예상 질문 — 앱 연결</a:t>
            </a:r>
            <a:endParaRPr lang="en-US" sz="2000" dirty="0"/>
          </a:p>
        </p:txBody>
      </p:sp>
      <p:sp>
        <p:nvSpPr>
          <p:cNvPr id="3" name="card_287"/>
          <p:cNvSpPr/>
          <p:nvPr/>
        </p:nvSpPr>
        <p:spPr>
          <a:xfrm>
            <a:off x="457200" y="91440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4" name="dot_288"/>
          <p:cNvSpPr/>
          <p:nvPr/>
        </p:nvSpPr>
        <p:spPr>
          <a:xfrm>
            <a:off x="621792" y="103327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xt_289"/>
          <p:cNvSpPr txBox="1"/>
          <p:nvPr/>
        </p:nvSpPr>
        <p:spPr>
          <a:xfrm>
            <a:off x="621792" y="1033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</a:t>
            </a:r>
            <a:endParaRPr lang="en-US" sz="1000" dirty="0"/>
          </a:p>
        </p:txBody>
      </p:sp>
      <p:sp>
        <p:nvSpPr>
          <p:cNvPr id="6" name="txt_290"/>
          <p:cNvSpPr txBox="1"/>
          <p:nvPr/>
        </p:nvSpPr>
        <p:spPr>
          <a:xfrm>
            <a:off x="1005840" y="98755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왜 크롬은 되는데 앱은 안 됐나?</a:t>
            </a:r>
            <a:endParaRPr lang="en-US" sz="1100" dirty="0"/>
          </a:p>
        </p:txBody>
      </p:sp>
      <p:sp>
        <p:nvSpPr>
          <p:cNvPr id="7" name="txt_291"/>
          <p:cNvSpPr txBox="1"/>
          <p:nvPr/>
        </p:nvSpPr>
        <p:spPr>
          <a:xfrm>
            <a:off x="1005840" y="1280160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답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앱 WebView가 다른 출처 · 사설망 요청을 보안 정책으로 막았다</a:t>
            </a:r>
            <a:endParaRPr lang="en-US" sz="950" dirty="0"/>
          </a:p>
        </p:txBody>
      </p:sp>
      <p:sp>
        <p:nvSpPr>
          <p:cNvPr id="8" name="txt_292"/>
          <p:cNvSpPr txBox="1"/>
          <p:nvPr/>
        </p:nvSpPr>
        <p:spPr>
          <a:xfrm>
            <a:off x="1005840" y="1499616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꼬리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어떻게 확인? → 같은 폰 크롬에서 health가 true라 네트워크 문제가 아님</a:t>
            </a:r>
            <a:endParaRPr lang="en-US" sz="900" dirty="0"/>
          </a:p>
        </p:txBody>
      </p:sp>
      <p:sp>
        <p:nvSpPr>
          <p:cNvPr id="9" name="card_293"/>
          <p:cNvSpPr/>
          <p:nvPr/>
        </p:nvSpPr>
        <p:spPr>
          <a:xfrm>
            <a:off x="457200" y="187452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0" name="dot_294"/>
          <p:cNvSpPr/>
          <p:nvPr/>
        </p:nvSpPr>
        <p:spPr>
          <a:xfrm>
            <a:off x="621792" y="199339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xt_295"/>
          <p:cNvSpPr txBox="1"/>
          <p:nvPr/>
        </p:nvSpPr>
        <p:spPr>
          <a:xfrm>
            <a:off x="621792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</a:t>
            </a:r>
            <a:endParaRPr lang="en-US" sz="1000" dirty="0"/>
          </a:p>
        </p:txBody>
      </p:sp>
      <p:sp>
        <p:nvSpPr>
          <p:cNvPr id="12" name="txt_296"/>
          <p:cNvSpPr txBox="1"/>
          <p:nvPr/>
        </p:nvSpPr>
        <p:spPr>
          <a:xfrm>
            <a:off x="1005840" y="19476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CapacitorHttp는 뭔가?</a:t>
            </a:r>
            <a:endParaRPr lang="en-US" sz="1100" dirty="0"/>
          </a:p>
        </p:txBody>
      </p:sp>
      <p:sp>
        <p:nvSpPr>
          <p:cNvPr id="13" name="txt_297"/>
          <p:cNvSpPr txBox="1"/>
          <p:nvPr/>
        </p:nvSpPr>
        <p:spPr>
          <a:xfrm>
            <a:off x="1005840" y="2240280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답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자바스크립트 요청을 안드로이드 기본 HTTP로 대신 보내는 Capacitor 기능</a:t>
            </a:r>
            <a:endParaRPr lang="en-US" sz="950" dirty="0"/>
          </a:p>
        </p:txBody>
      </p:sp>
      <p:sp>
        <p:nvSpPr>
          <p:cNvPr id="14" name="txt_298"/>
          <p:cNvSpPr txBox="1"/>
          <p:nvPr/>
        </p:nvSpPr>
        <p:spPr>
          <a:xfrm>
            <a:off x="1005840" y="2459736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꼬리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부작용? → 브라우저 보안을 우회하므로 서버 쪽 인증 · 검증이 더 중요</a:t>
            </a:r>
            <a:endParaRPr lang="en-US" sz="900" dirty="0"/>
          </a:p>
        </p:txBody>
      </p:sp>
      <p:sp>
        <p:nvSpPr>
          <p:cNvPr id="15" name="card_299"/>
          <p:cNvSpPr/>
          <p:nvPr/>
        </p:nvSpPr>
        <p:spPr>
          <a:xfrm>
            <a:off x="457200" y="283464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6" name="dot_300"/>
          <p:cNvSpPr/>
          <p:nvPr/>
        </p:nvSpPr>
        <p:spPr>
          <a:xfrm>
            <a:off x="621792" y="295351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xt_301"/>
          <p:cNvSpPr txBox="1"/>
          <p:nvPr/>
        </p:nvSpPr>
        <p:spPr>
          <a:xfrm>
            <a:off x="621792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</a:t>
            </a:r>
            <a:endParaRPr lang="en-US" sz="1000" dirty="0"/>
          </a:p>
        </p:txBody>
      </p:sp>
      <p:sp>
        <p:nvSpPr>
          <p:cNvPr id="18" name="txt_302"/>
          <p:cNvSpPr txBox="1"/>
          <p:nvPr/>
        </p:nvSpPr>
        <p:spPr>
          <a:xfrm>
            <a:off x="1005840" y="290779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adb reverse는 뭔가?</a:t>
            </a:r>
            <a:endParaRPr lang="en-US" sz="1100" dirty="0"/>
          </a:p>
        </p:txBody>
      </p:sp>
      <p:sp>
        <p:nvSpPr>
          <p:cNvPr id="19" name="txt_303"/>
          <p:cNvSpPr txBox="1"/>
          <p:nvPr/>
        </p:nvSpPr>
        <p:spPr>
          <a:xfrm>
            <a:off x="1005840" y="3200400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답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폰의 포트를 USB로 노트북 포트에 연결하는 개발용 터널</a:t>
            </a:r>
            <a:endParaRPr lang="en-US" sz="950" dirty="0"/>
          </a:p>
        </p:txBody>
      </p:sp>
      <p:sp>
        <p:nvSpPr>
          <p:cNvPr id="20" name="txt_304"/>
          <p:cNvSpPr txBox="1"/>
          <p:nvPr/>
        </p:nvSpPr>
        <p:spPr>
          <a:xfrm>
            <a:off x="1005840" y="3419856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꼬리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왜 127.0.0.1? → Capacitor가 localhost를 앱 자체 주소로 쓰기 때문</a:t>
            </a:r>
            <a:endParaRPr lang="en-US" sz="900" dirty="0"/>
          </a:p>
        </p:txBody>
      </p:sp>
      <p:sp>
        <p:nvSpPr>
          <p:cNvPr id="21" name="card_305"/>
          <p:cNvSpPr/>
          <p:nvPr/>
        </p:nvSpPr>
        <p:spPr>
          <a:xfrm>
            <a:off x="457200" y="379476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2" name="dot_306"/>
          <p:cNvSpPr/>
          <p:nvPr/>
        </p:nvSpPr>
        <p:spPr>
          <a:xfrm>
            <a:off x="621792" y="391363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xt_307"/>
          <p:cNvSpPr txBox="1"/>
          <p:nvPr/>
        </p:nvSpPr>
        <p:spPr>
          <a:xfrm>
            <a:off x="621792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</a:t>
            </a:r>
            <a:endParaRPr lang="en-US" sz="1000" dirty="0"/>
          </a:p>
        </p:txBody>
      </p:sp>
      <p:sp>
        <p:nvSpPr>
          <p:cNvPr id="24" name="txt_308"/>
          <p:cNvSpPr txBox="1"/>
          <p:nvPr/>
        </p:nvSpPr>
        <p:spPr>
          <a:xfrm>
            <a:off x="1005840" y="386791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실서비스라면?</a:t>
            </a:r>
            <a:endParaRPr lang="en-US" sz="1100" dirty="0"/>
          </a:p>
        </p:txBody>
      </p:sp>
      <p:sp>
        <p:nvSpPr>
          <p:cNvPr id="25" name="txt_309"/>
          <p:cNvSpPr txBox="1"/>
          <p:nvPr/>
        </p:nvSpPr>
        <p:spPr>
          <a:xfrm>
            <a:off x="1005840" y="4160520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답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https 도메인 + 정식 인증서 + 로그인 토큰으로 서버를 연다</a:t>
            </a:r>
            <a:endParaRPr lang="en-US" sz="950" dirty="0"/>
          </a:p>
        </p:txBody>
      </p:sp>
      <p:sp>
        <p:nvSpPr>
          <p:cNvPr id="26" name="txt_310"/>
          <p:cNvSpPr txBox="1"/>
          <p:nvPr/>
        </p:nvSpPr>
        <p:spPr>
          <a:xfrm>
            <a:off x="1005840" y="4379976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꼬리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지금 permitAll은? → 시연용. 운영이면 관리자 인증 필수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311"/>
          <p:cNvSpPr txBox="1"/>
          <p:nvPr/>
        </p:nvSpPr>
        <p:spPr>
          <a:xfrm>
            <a:off x="5486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5"/>
                </a:solidFill>
              </a:rPr>
              <a:t>PART 5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백엔드 · DB 연동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웹이 데이터를 만들고, 앱과 웹이 같은 DB를 2초마다 본다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실시간 동기화: 누가 쓰고 누가 읽나</a:t>
            </a:r>
            <a:endParaRPr lang="en-US" sz="2000" dirty="0"/>
          </a:p>
        </p:txBody>
      </p:sp>
      <p:graphicFrame>
        <p:nvGraphicFramePr>
          <p:cNvPr id="27" name="table_3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3291840"/>
                <a:gridCol w="25603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주체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주기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하는 일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API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웹 (생산자)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2초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로봇 6대 센서 · 위치 · 상태 전송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POST /telemetry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웹 (생산자)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이벤트 때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고장 예측 · 정비 승인 · 시작 · 완료 · 충전 기록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POST /predictions, /maintenance/{id}/…, /events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웹 · 앱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2초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로봇 · 정비 · 이벤트 · 기준 한 번에 조회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GET /state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웹 · 앱 (관리자)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변경 때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정비 · 충전 기준 저장 + 변경자 기록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PUT /settings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앱 (구독자)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2초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서버 값을 따라감 (정비 대상 · 마모 · 센서값 덮어쓰기)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sim.follow · setCfg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xt_313"/>
          <p:cNvSpPr txBox="1"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웹이 꺼져 있으면 데이터 생산이 멈춘다 → 시연 때는 웹 화면을 항상 켜 둔다</a:t>
            </a:r>
            <a:endParaRPr lang="en-US" sz="1000" dirty="0"/>
          </a:p>
        </p:txBody>
      </p:sp>
      <p:sp>
        <p:nvSpPr>
          <p:cNvPr id="5" name="txt_314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웹소켓 대신 폴링: 2초 단위로 충분하고, 구현 · 디버깅 · 폰 재연결 처리가 단순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데이터가 꼬이지 않게 넣은 장치</a:t>
            </a:r>
            <a:endParaRPr lang="en-US" sz="2000" dirty="0"/>
          </a:p>
        </p:txBody>
      </p:sp>
      <p:graphicFrame>
        <p:nvGraphicFramePr>
          <p:cNvPr id="28" name="table_3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297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문제 상황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장치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앱에서 바꾼 값이 다음 폴링 응답에 덮여 되돌아감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로컬 변경 후 3초 동안 서버 값 무시 + 400ms 디바운스로 저장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± 버튼 연타 → 요청 폭주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400ms 디바운스로 마지막 값만 저장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2초마다 같은 로봇 예측이 중복 저장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로봇별 열린 예측이 있으면 새로 만들지 않음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끝나지 않은 오래된 정비가 계속 화면에 남음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30분 지난 미완료 정비는 상태 조회에서 제외 · 취소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허브 데이터가 없을 때 오류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허브(HUB-ICH-01) 없으면 503으로 명확히 응답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STS 컴파일에서 파라미터 이름 누락 → 500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@PathVariable("id"), @RequestParam(name=…) 명시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KPI 통계: 저장만 하던 데이터를 운영 지표로</a:t>
            </a:r>
            <a:endParaRPr lang="en-US" sz="2000" dirty="0"/>
          </a:p>
        </p:txBody>
      </p:sp>
      <p:graphicFrame>
        <p:nvGraphicFramePr>
          <p:cNvPr id="29" name="table_3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560320"/>
                <a:gridCol w="3566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지표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어디서 계산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방법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오늘 처리량 · 어제 대비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amr_task_logs (운반 1건 = 1행)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자정(한국 시간) 이후 완료 건수 / 어제 같은 시각까지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시간대별 처리량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amr_task_logs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최근 10시간을 1시간 단위로 묶음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평균 운반 시간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amr_task_logs.duration_sec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집어 든 시각 ~ 내려놓은 시각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교차로 평균 대기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amr_task_logs.inter_wait_sec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운반 중 교차로 앞에서 기다린 시간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로봇 가동률 (1시간)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amr_telemetry 상태 기록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2초 기록 중 작업 상태(픽업 · 운반 · 적재 · 하역 …) 비율 · JPQL group by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입출차 · 차단 · OCR 신뢰도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hub_vehicle_logs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오늘 기록 집계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xt_317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GET /api/amr/kpi 하나로 웹 KPI 카드(10초) · 앱 통계 탭이 같이 쓴다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앱 화면 정리: 관리자가 한눈에</a:t>
            </a:r>
            <a:endParaRPr lang="en-US" sz="2000" dirty="0"/>
          </a:p>
        </p:txBody>
      </p:sp>
      <p:pic>
        <p:nvPicPr>
          <p:cNvPr id="3" name="app_new" descr="정리된 앱 화면 4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6976634" cy="3703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면접 예상 질문 — 백엔드 · DB</a:t>
            </a:r>
            <a:endParaRPr lang="en-US" sz="2000" dirty="0"/>
          </a:p>
        </p:txBody>
      </p:sp>
      <p:sp>
        <p:nvSpPr>
          <p:cNvPr id="3" name="card_318"/>
          <p:cNvSpPr/>
          <p:nvPr/>
        </p:nvSpPr>
        <p:spPr>
          <a:xfrm>
            <a:off x="457200" y="91440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4" name="dot_319"/>
          <p:cNvSpPr/>
          <p:nvPr/>
        </p:nvSpPr>
        <p:spPr>
          <a:xfrm>
            <a:off x="621792" y="103327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xt_320"/>
          <p:cNvSpPr txBox="1"/>
          <p:nvPr/>
        </p:nvSpPr>
        <p:spPr>
          <a:xfrm>
            <a:off x="621792" y="1033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</a:t>
            </a:r>
            <a:endParaRPr lang="en-US" sz="1000" dirty="0"/>
          </a:p>
        </p:txBody>
      </p:sp>
      <p:sp>
        <p:nvSpPr>
          <p:cNvPr id="6" name="txt_321"/>
          <p:cNvSpPr txBox="1"/>
          <p:nvPr/>
        </p:nvSpPr>
        <p:spPr>
          <a:xfrm>
            <a:off x="1005840" y="98755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왜 웹소켓이 아니라 폴링?</a:t>
            </a:r>
            <a:endParaRPr lang="en-US" sz="1100" dirty="0"/>
          </a:p>
        </p:txBody>
      </p:sp>
      <p:sp>
        <p:nvSpPr>
          <p:cNvPr id="7" name="txt_322"/>
          <p:cNvSpPr txBox="1"/>
          <p:nvPr/>
        </p:nvSpPr>
        <p:spPr>
          <a:xfrm>
            <a:off x="1005840" y="1280160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답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2초 갱신이면 충분하고, 폰 연결 끊김 · 재연결 처리가 단순해서</a:t>
            </a:r>
            <a:endParaRPr lang="en-US" sz="950" dirty="0"/>
          </a:p>
        </p:txBody>
      </p:sp>
      <p:sp>
        <p:nvSpPr>
          <p:cNvPr id="8" name="txt_323"/>
          <p:cNvSpPr txBox="1"/>
          <p:nvPr/>
        </p:nvSpPr>
        <p:spPr>
          <a:xfrm>
            <a:off x="1005840" y="1499616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꼬리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단점? → 변화 없어도 요청. 로봇 수가 많아지면 웹소켓 · SSE로</a:t>
            </a:r>
            <a:endParaRPr lang="en-US" sz="900" dirty="0"/>
          </a:p>
        </p:txBody>
      </p:sp>
      <p:sp>
        <p:nvSpPr>
          <p:cNvPr id="9" name="card_324"/>
          <p:cNvSpPr/>
          <p:nvPr/>
        </p:nvSpPr>
        <p:spPr>
          <a:xfrm>
            <a:off x="457200" y="187452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0" name="dot_325"/>
          <p:cNvSpPr/>
          <p:nvPr/>
        </p:nvSpPr>
        <p:spPr>
          <a:xfrm>
            <a:off x="621792" y="199339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xt_326"/>
          <p:cNvSpPr txBox="1"/>
          <p:nvPr/>
        </p:nvSpPr>
        <p:spPr>
          <a:xfrm>
            <a:off x="621792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</a:t>
            </a:r>
            <a:endParaRPr lang="en-US" sz="1000" dirty="0"/>
          </a:p>
        </p:txBody>
      </p:sp>
      <p:sp>
        <p:nvSpPr>
          <p:cNvPr id="12" name="txt_327"/>
          <p:cNvSpPr txBox="1"/>
          <p:nvPr/>
        </p:nvSpPr>
        <p:spPr>
          <a:xfrm>
            <a:off x="1005840" y="19476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앱 · 웹 동시 수정은 어떻게?</a:t>
            </a:r>
            <a:endParaRPr lang="en-US" sz="1100" dirty="0"/>
          </a:p>
        </p:txBody>
      </p:sp>
      <p:sp>
        <p:nvSpPr>
          <p:cNvPr id="13" name="txt_328"/>
          <p:cNvSpPr txBox="1"/>
          <p:nvPr/>
        </p:nvSpPr>
        <p:spPr>
          <a:xfrm>
            <a:off x="1005840" y="2240280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답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나중에 저장한 값이 이김. 변경자를 기록하고 로컬 변경 3초 보호</a:t>
            </a:r>
            <a:endParaRPr lang="en-US" sz="950" dirty="0"/>
          </a:p>
        </p:txBody>
      </p:sp>
      <p:sp>
        <p:nvSpPr>
          <p:cNvPr id="14" name="txt_329"/>
          <p:cNvSpPr txBox="1"/>
          <p:nvPr/>
        </p:nvSpPr>
        <p:spPr>
          <a:xfrm>
            <a:off x="1005840" y="2459736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꼬리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더 제대로라면? → 버전 번호로 충돌 감지(낙관적 락)</a:t>
            </a:r>
            <a:endParaRPr lang="en-US" sz="900" dirty="0"/>
          </a:p>
        </p:txBody>
      </p:sp>
      <p:sp>
        <p:nvSpPr>
          <p:cNvPr id="15" name="card_330"/>
          <p:cNvSpPr/>
          <p:nvPr/>
        </p:nvSpPr>
        <p:spPr>
          <a:xfrm>
            <a:off x="457200" y="283464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6" name="dot_331"/>
          <p:cNvSpPr/>
          <p:nvPr/>
        </p:nvSpPr>
        <p:spPr>
          <a:xfrm>
            <a:off x="621792" y="295351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xt_332"/>
          <p:cNvSpPr txBox="1"/>
          <p:nvPr/>
        </p:nvSpPr>
        <p:spPr>
          <a:xfrm>
            <a:off x="621792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</a:t>
            </a:r>
            <a:endParaRPr lang="en-US" sz="1000" dirty="0"/>
          </a:p>
        </p:txBody>
      </p:sp>
      <p:sp>
        <p:nvSpPr>
          <p:cNvPr id="18" name="txt_333"/>
          <p:cNvSpPr txBox="1"/>
          <p:nvPr/>
        </p:nvSpPr>
        <p:spPr>
          <a:xfrm>
            <a:off x="1005840" y="290779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센서 데이터가 계속 쌓이면?</a:t>
            </a:r>
            <a:endParaRPr lang="en-US" sz="1100" dirty="0"/>
          </a:p>
        </p:txBody>
      </p:sp>
      <p:sp>
        <p:nvSpPr>
          <p:cNvPr id="19" name="txt_334"/>
          <p:cNvSpPr txBox="1"/>
          <p:nvPr/>
        </p:nvSpPr>
        <p:spPr>
          <a:xfrm>
            <a:off x="1005840" y="3200400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답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지금은 그대로 쌓임. 2초 × 6대라 하루 약 26만 건</a:t>
            </a:r>
            <a:endParaRPr lang="en-US" sz="950" dirty="0"/>
          </a:p>
        </p:txBody>
      </p:sp>
      <p:sp>
        <p:nvSpPr>
          <p:cNvPr id="20" name="txt_335"/>
          <p:cNvSpPr txBox="1"/>
          <p:nvPr/>
        </p:nvSpPr>
        <p:spPr>
          <a:xfrm>
            <a:off x="1005840" y="3419856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꼬리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대책? → 보관 기간 정리, 분 단위 요약 테이블, 시계열 DB</a:t>
            </a:r>
            <a:endParaRPr lang="en-US" sz="900" dirty="0"/>
          </a:p>
        </p:txBody>
      </p:sp>
      <p:sp>
        <p:nvSpPr>
          <p:cNvPr id="21" name="card_336"/>
          <p:cNvSpPr/>
          <p:nvPr/>
        </p:nvSpPr>
        <p:spPr>
          <a:xfrm>
            <a:off x="457200" y="379476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2" name="dot_337"/>
          <p:cNvSpPr/>
          <p:nvPr/>
        </p:nvSpPr>
        <p:spPr>
          <a:xfrm>
            <a:off x="621792" y="391363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xt_338"/>
          <p:cNvSpPr txBox="1"/>
          <p:nvPr/>
        </p:nvSpPr>
        <p:spPr>
          <a:xfrm>
            <a:off x="621792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</a:t>
            </a:r>
            <a:endParaRPr lang="en-US" sz="1000" dirty="0"/>
          </a:p>
        </p:txBody>
      </p:sp>
      <p:sp>
        <p:nvSpPr>
          <p:cNvPr id="24" name="txt_339"/>
          <p:cNvSpPr txBox="1"/>
          <p:nvPr/>
        </p:nvSpPr>
        <p:spPr>
          <a:xfrm>
            <a:off x="1005840" y="386791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테이블 설계 기준은?</a:t>
            </a:r>
            <a:endParaRPr lang="en-US" sz="1100" dirty="0"/>
          </a:p>
        </p:txBody>
      </p:sp>
      <p:sp>
        <p:nvSpPr>
          <p:cNvPr id="25" name="txt_340"/>
          <p:cNvSpPr txBox="1"/>
          <p:nvPr/>
        </p:nvSpPr>
        <p:spPr>
          <a:xfrm>
            <a:off x="1005840" y="4160520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답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로봇 · 센서 · 예측 · 정비 · 이벤트 · 기준을 역할별로 분리</a:t>
            </a:r>
            <a:endParaRPr lang="en-US" sz="950" dirty="0"/>
          </a:p>
        </p:txBody>
      </p:sp>
      <p:sp>
        <p:nvSpPr>
          <p:cNvPr id="26" name="txt_341"/>
          <p:cNvSpPr txBox="1"/>
          <p:nvPr/>
        </p:nvSpPr>
        <p:spPr>
          <a:xfrm>
            <a:off x="1005840" y="4379976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꼬리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정비와 예측 연결? → 정비에 prediction_id로 어떤 예측 때문인지 남김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342"/>
          <p:cNvSpPr txBox="1"/>
          <p:nvPr/>
        </p:nvSpPr>
        <p:spPr>
          <a:xfrm>
            <a:off x="5486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5"/>
                </a:solidFill>
              </a:rPr>
              <a:t>PART 6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입출차 OCR · 바코드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1차 때 만든 번호판 OCR(YOLO + CRNN)을 허브 입구 · 출구에 재사용하고, 상자는 EAN-13 바코드로 추적한다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구상: 입차 OCR → 바코드 보관 → 출차 OCR</a:t>
            </a:r>
            <a:endParaRPr lang="en-US" sz="2000" dirty="0"/>
          </a:p>
        </p:txBody>
      </p:sp>
      <p:pic>
        <p:nvPicPr>
          <p:cNvPr id="3" name="ocr_board" descr="OCR 바코드 연동 구상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2238" y="896112"/>
            <a:ext cx="6079524" cy="3749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흐름과 역할 분담: 판정은 OCR이 아니라 DB가 한다</a:t>
            </a:r>
            <a:endParaRPr lang="en-US" sz="2000" dirty="0"/>
          </a:p>
        </p:txBody>
      </p:sp>
      <p:graphicFrame>
        <p:nvGraphicFramePr>
          <p:cNvPr id="34" name="table_3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4389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단계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누가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하는 일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① 트럭이 게이트 도착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웹 3D (현장 역할)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트럭이 게이트 앞에서 멈춤 → POST /api/amr/vehicles/scan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② 번호판 인식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gate_api.py /hub/scan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허브_수신함 사진을 1차와 같은 YOLO + CRNN으로 인식 (1차 사진 · gate_logs는 안 건드림)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③ 차종 판정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Spring + hub_vehicles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등록 화물차 → 입고 도크 · 등록 택배차 → 출고 도크 · 미등록 · 판독 불가 → 차단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④ 기록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hub_vehicle_logs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번호 · 신뢰도 · 판정 · 도크 · 출차 시 실린 상자 바코드 목록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⑤ 3D 반영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웹 · 앱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트럭 앞뒤 번호판 글자 교체, 말풍선, 차단 차량은 회차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⑥ 바코드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AMR 스캔 게이트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상자 운송장 EAN-13 (바코드 폴더와 같은 번호 체계 880261014 + 100~500번대)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xt_344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OCR 서버가 꺼져 있어도 3D는 멈추지 않는다: 25초 안에 응답이 없으면 '예시 번호'로 통과하고 화면에 'OCR 서버 응답 없음' 표시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3D 화면: 출구 게이트와 번호판 말풍선</a:t>
            </a:r>
            <a:endParaRPr lang="en-US" sz="2000" dirty="0"/>
          </a:p>
        </p:txBody>
      </p:sp>
      <p:pic>
        <p:nvPicPr>
          <p:cNvPr id="3" name="ocr_3d" descr="출구 OCR 게이트 3D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96112"/>
            <a:ext cx="6103088" cy="3749040"/>
          </a:xfrm>
          <a:prstGeom prst="rect">
            <a:avLst/>
          </a:prstGeom>
        </p:spPr>
      </p:pic>
      <p:sp>
        <p:nvSpPr>
          <p:cNvPr id="4" name="card_345"/>
          <p:cNvSpPr/>
          <p:nvPr/>
        </p:nvSpPr>
        <p:spPr>
          <a:xfrm>
            <a:off x="6788888" y="960120"/>
            <a:ext cx="1897912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txt_346"/>
          <p:cNvSpPr txBox="1"/>
          <p:nvPr/>
        </p:nvSpPr>
        <p:spPr>
          <a:xfrm>
            <a:off x="6926048" y="1051560"/>
            <a:ext cx="171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입차 OCR ✓</a:t>
            </a:r>
            <a:endParaRPr lang="en-US" sz="1150" dirty="0"/>
          </a:p>
        </p:txBody>
      </p:sp>
      <p:sp>
        <p:nvSpPr>
          <p:cNvPr id="6" name="txt_347"/>
          <p:cNvSpPr txBox="1"/>
          <p:nvPr/>
        </p:nvSpPr>
        <p:spPr>
          <a:xfrm>
            <a:off x="6926048" y="1371600"/>
            <a:ext cx="171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등록 차량 · 도크 배정</a:t>
            </a:r>
            <a:endParaRPr lang="en-US" sz="900" dirty="0"/>
          </a:p>
        </p:txBody>
      </p:sp>
      <p:sp>
        <p:nvSpPr>
          <p:cNvPr id="7" name="card_348"/>
          <p:cNvSpPr/>
          <p:nvPr/>
        </p:nvSpPr>
        <p:spPr>
          <a:xfrm>
            <a:off x="6788888" y="1856232"/>
            <a:ext cx="1897912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8" name="txt_349"/>
          <p:cNvSpPr txBox="1"/>
          <p:nvPr/>
        </p:nvSpPr>
        <p:spPr>
          <a:xfrm>
            <a:off x="6926048" y="1947672"/>
            <a:ext cx="171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인식 중…</a:t>
            </a:r>
            <a:endParaRPr lang="en-US" sz="1150" dirty="0"/>
          </a:p>
        </p:txBody>
      </p:sp>
      <p:sp>
        <p:nvSpPr>
          <p:cNvPr id="9" name="txt_350"/>
          <p:cNvSpPr txBox="1"/>
          <p:nvPr/>
        </p:nvSpPr>
        <p:spPr>
          <a:xfrm>
            <a:off x="6926048" y="2267712"/>
            <a:ext cx="171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게이트 앞 대기</a:t>
            </a:r>
            <a:endParaRPr lang="en-US" sz="900" dirty="0"/>
          </a:p>
        </p:txBody>
      </p:sp>
      <p:sp>
        <p:nvSpPr>
          <p:cNvPr id="10" name="card_351"/>
          <p:cNvSpPr/>
          <p:nvPr/>
        </p:nvSpPr>
        <p:spPr>
          <a:xfrm>
            <a:off x="6788888" y="2752344"/>
            <a:ext cx="1897912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1" name="txt_352"/>
          <p:cNvSpPr txBox="1"/>
          <p:nvPr/>
        </p:nvSpPr>
        <p:spPr>
          <a:xfrm>
            <a:off x="6926048" y="2843784"/>
            <a:ext cx="171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3"/>
                </a:solidFill>
              </a:rPr>
              <a:t>진입 차단</a:t>
            </a:r>
            <a:endParaRPr lang="en-US" sz="1150" dirty="0"/>
          </a:p>
        </p:txBody>
      </p:sp>
      <p:sp>
        <p:nvSpPr>
          <p:cNvPr id="12" name="txt_353"/>
          <p:cNvSpPr txBox="1"/>
          <p:nvPr/>
        </p:nvSpPr>
        <p:spPr>
          <a:xfrm>
            <a:off x="6926048" y="3163824"/>
            <a:ext cx="171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미등록 · 판독 불가 → 회차</a:t>
            </a:r>
            <a:endParaRPr lang="en-US" sz="900" dirty="0"/>
          </a:p>
        </p:txBody>
      </p:sp>
      <p:sp>
        <p:nvSpPr>
          <p:cNvPr id="13" name="card_354"/>
          <p:cNvSpPr/>
          <p:nvPr/>
        </p:nvSpPr>
        <p:spPr>
          <a:xfrm>
            <a:off x="6788888" y="3648456"/>
            <a:ext cx="1897912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4" name="txt_355"/>
          <p:cNvSpPr txBox="1"/>
          <p:nvPr/>
        </p:nvSpPr>
        <p:spPr>
          <a:xfrm>
            <a:off x="6926048" y="3739896"/>
            <a:ext cx="171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4"/>
                </a:solidFill>
              </a:rPr>
              <a:t>출차 OCR ✓</a:t>
            </a:r>
            <a:endParaRPr lang="en-US" sz="1150" dirty="0"/>
          </a:p>
        </p:txBody>
      </p:sp>
      <p:sp>
        <p:nvSpPr>
          <p:cNvPr id="15" name="txt_356"/>
          <p:cNvSpPr txBox="1"/>
          <p:nvPr/>
        </p:nvSpPr>
        <p:spPr>
          <a:xfrm>
            <a:off x="6926048" y="4059936"/>
            <a:ext cx="171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실린 상자 수 · 행선지 기록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만들면서 정한 것 · 남은 문제</a:t>
            </a:r>
            <a:endParaRPr lang="en-US" sz="2000" dirty="0"/>
          </a:p>
        </p:txBody>
      </p:sp>
      <p:graphicFrame>
        <p:nvGraphicFramePr>
          <p:cNvPr id="36" name="table_3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023360"/>
                <a:gridCol w="2651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결정 / 이유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남은 문제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1차 /scan 재사용?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새 /hub/scan 추가. 1차는 사진 이동 · gate_logs · 과적 검사까지 묶여 있어 허브가 쓰면 데이터가 섞임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차종 판정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영상 분류 대신 번호판 → DB 조회. 학습 없이 정확하고 등록 관리 가능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새 차는 hub_vehicles에 등록 필요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사진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허브_수신함/화물차 8장 · 택배차 4장 (1차 테스트 사진)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택배차 '배' 번호판 사진이 1장뿐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인식 오류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오인식 = 미등록 → 차단 (안전한 쪽으로 실패)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판독 불가 시 수동 확인 절차 없음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바코드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EAN-13은 상품 코드. 운송장 번호(SC-…)는 따로 유지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실제 바코드 스캐너 · 상품 DB 연동 없음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면접 예상 질문 — OCR · 바코드</a:t>
            </a:r>
            <a:endParaRPr lang="en-US" sz="2000" dirty="0"/>
          </a:p>
        </p:txBody>
      </p:sp>
      <p:sp>
        <p:nvSpPr>
          <p:cNvPr id="3" name="card_358"/>
          <p:cNvSpPr/>
          <p:nvPr/>
        </p:nvSpPr>
        <p:spPr>
          <a:xfrm>
            <a:off x="457200" y="91440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4" name="dot_359"/>
          <p:cNvSpPr/>
          <p:nvPr/>
        </p:nvSpPr>
        <p:spPr>
          <a:xfrm>
            <a:off x="621792" y="103327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xt_360"/>
          <p:cNvSpPr txBox="1"/>
          <p:nvPr/>
        </p:nvSpPr>
        <p:spPr>
          <a:xfrm>
            <a:off x="621792" y="1033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</a:t>
            </a:r>
            <a:endParaRPr lang="en-US" sz="1000" dirty="0"/>
          </a:p>
        </p:txBody>
      </p:sp>
      <p:sp>
        <p:nvSpPr>
          <p:cNvPr id="6" name="txt_361"/>
          <p:cNvSpPr txBox="1"/>
          <p:nvPr/>
        </p:nvSpPr>
        <p:spPr>
          <a:xfrm>
            <a:off x="1005840" y="98755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화물차 · 택배차는 어떻게 구분하나?</a:t>
            </a:r>
            <a:endParaRPr lang="en-US" sz="1100" dirty="0"/>
          </a:p>
        </p:txBody>
      </p:sp>
      <p:sp>
        <p:nvSpPr>
          <p:cNvPr id="7" name="txt_362"/>
          <p:cNvSpPr txBox="1"/>
          <p:nvPr/>
        </p:nvSpPr>
        <p:spPr>
          <a:xfrm>
            <a:off x="1005840" y="1280160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답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OCR로 번호를 읽고, 차종은 DB 등록 정보로 판정한다</a:t>
            </a:r>
            <a:endParaRPr lang="en-US" sz="950" dirty="0"/>
          </a:p>
        </p:txBody>
      </p:sp>
      <p:sp>
        <p:nvSpPr>
          <p:cNvPr id="8" name="txt_363"/>
          <p:cNvSpPr txBox="1"/>
          <p:nvPr/>
        </p:nvSpPr>
        <p:spPr>
          <a:xfrm>
            <a:off x="1005840" y="1499616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꼬리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왜 영상 분류 안 했나? → 학습 데이터 없이도 정확하고, 등록 관리가 운영상 맞음</a:t>
            </a:r>
            <a:endParaRPr lang="en-US" sz="900" dirty="0"/>
          </a:p>
        </p:txBody>
      </p:sp>
      <p:sp>
        <p:nvSpPr>
          <p:cNvPr id="9" name="card_364"/>
          <p:cNvSpPr/>
          <p:nvPr/>
        </p:nvSpPr>
        <p:spPr>
          <a:xfrm>
            <a:off x="457200" y="187452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0" name="dot_365"/>
          <p:cNvSpPr/>
          <p:nvPr/>
        </p:nvSpPr>
        <p:spPr>
          <a:xfrm>
            <a:off x="621792" y="199339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xt_366"/>
          <p:cNvSpPr txBox="1"/>
          <p:nvPr/>
        </p:nvSpPr>
        <p:spPr>
          <a:xfrm>
            <a:off x="621792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</a:t>
            </a:r>
            <a:endParaRPr lang="en-US" sz="1000" dirty="0"/>
          </a:p>
        </p:txBody>
      </p:sp>
      <p:sp>
        <p:nvSpPr>
          <p:cNvPr id="12" name="txt_367"/>
          <p:cNvSpPr txBox="1"/>
          <p:nvPr/>
        </p:nvSpPr>
        <p:spPr>
          <a:xfrm>
            <a:off x="1005840" y="19476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1차 OCR을 왜 그대로 안 썼나?</a:t>
            </a:r>
            <a:endParaRPr lang="en-US" sz="1100" dirty="0"/>
          </a:p>
        </p:txBody>
      </p:sp>
      <p:sp>
        <p:nvSpPr>
          <p:cNvPr id="13" name="txt_368"/>
          <p:cNvSpPr txBox="1"/>
          <p:nvPr/>
        </p:nvSpPr>
        <p:spPr>
          <a:xfrm>
            <a:off x="1005840" y="2240280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답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1차 /scan은 사진 이동 · 게이트 로그 · 과적 검사가 묶여 있어서</a:t>
            </a:r>
            <a:endParaRPr lang="en-US" sz="950" dirty="0"/>
          </a:p>
        </p:txBody>
      </p:sp>
      <p:sp>
        <p:nvSpPr>
          <p:cNvPr id="14" name="txt_369"/>
          <p:cNvSpPr txBox="1"/>
          <p:nvPr/>
        </p:nvSpPr>
        <p:spPr>
          <a:xfrm>
            <a:off x="1005840" y="2459736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꼬리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그럼 모델은? → 같은 recognize_one(YOLO + CRNN)을 공유</a:t>
            </a:r>
            <a:endParaRPr lang="en-US" sz="900" dirty="0"/>
          </a:p>
        </p:txBody>
      </p:sp>
      <p:sp>
        <p:nvSpPr>
          <p:cNvPr id="15" name="card_370"/>
          <p:cNvSpPr/>
          <p:nvPr/>
        </p:nvSpPr>
        <p:spPr>
          <a:xfrm>
            <a:off x="457200" y="283464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6" name="dot_371"/>
          <p:cNvSpPr/>
          <p:nvPr/>
        </p:nvSpPr>
        <p:spPr>
          <a:xfrm>
            <a:off x="621792" y="295351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xt_372"/>
          <p:cNvSpPr txBox="1"/>
          <p:nvPr/>
        </p:nvSpPr>
        <p:spPr>
          <a:xfrm>
            <a:off x="621792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</a:t>
            </a:r>
            <a:endParaRPr lang="en-US" sz="1000" dirty="0"/>
          </a:p>
        </p:txBody>
      </p:sp>
      <p:sp>
        <p:nvSpPr>
          <p:cNvPr id="18" name="txt_373"/>
          <p:cNvSpPr txBox="1"/>
          <p:nvPr/>
        </p:nvSpPr>
        <p:spPr>
          <a:xfrm>
            <a:off x="1005840" y="290779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OCR이 틀리면?</a:t>
            </a:r>
            <a:endParaRPr lang="en-US" sz="1100" dirty="0"/>
          </a:p>
        </p:txBody>
      </p:sp>
      <p:sp>
        <p:nvSpPr>
          <p:cNvPr id="19" name="txt_374"/>
          <p:cNvSpPr txBox="1"/>
          <p:nvPr/>
        </p:nvSpPr>
        <p:spPr>
          <a:xfrm>
            <a:off x="1005840" y="3200400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답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미등록으로 판정돼 차단된다. 안전한 쪽으로 실패</a:t>
            </a:r>
            <a:endParaRPr lang="en-US" sz="950" dirty="0"/>
          </a:p>
        </p:txBody>
      </p:sp>
      <p:sp>
        <p:nvSpPr>
          <p:cNvPr id="20" name="txt_375"/>
          <p:cNvSpPr txBox="1"/>
          <p:nvPr/>
        </p:nvSpPr>
        <p:spPr>
          <a:xfrm>
            <a:off x="1005840" y="3419856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꼬리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개선? → 신뢰도 낮으면 관리자 확인 단계 추가</a:t>
            </a:r>
            <a:endParaRPr lang="en-US" sz="900" dirty="0"/>
          </a:p>
        </p:txBody>
      </p:sp>
      <p:sp>
        <p:nvSpPr>
          <p:cNvPr id="21" name="card_376"/>
          <p:cNvSpPr/>
          <p:nvPr/>
        </p:nvSpPr>
        <p:spPr>
          <a:xfrm>
            <a:off x="457200" y="3794760"/>
            <a:ext cx="822960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2" name="dot_377"/>
          <p:cNvSpPr/>
          <p:nvPr/>
        </p:nvSpPr>
        <p:spPr>
          <a:xfrm>
            <a:off x="621792" y="391363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xt_378"/>
          <p:cNvSpPr txBox="1"/>
          <p:nvPr/>
        </p:nvSpPr>
        <p:spPr>
          <a:xfrm>
            <a:off x="621792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</a:t>
            </a:r>
            <a:endParaRPr lang="en-US" sz="1000" dirty="0"/>
          </a:p>
        </p:txBody>
      </p:sp>
      <p:sp>
        <p:nvSpPr>
          <p:cNvPr id="24" name="txt_379"/>
          <p:cNvSpPr txBox="1"/>
          <p:nvPr/>
        </p:nvSpPr>
        <p:spPr>
          <a:xfrm>
            <a:off x="1005840" y="386791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바코드 번호 체계는?</a:t>
            </a:r>
            <a:endParaRPr lang="en-US" sz="1100" dirty="0"/>
          </a:p>
        </p:txBody>
      </p:sp>
      <p:sp>
        <p:nvSpPr>
          <p:cNvPr id="25" name="txt_380"/>
          <p:cNvSpPr txBox="1"/>
          <p:nvPr/>
        </p:nvSpPr>
        <p:spPr>
          <a:xfrm>
            <a:off x="1005840" y="4160520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답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EAN-13: 880(한국) + 업체 + 상품 + 검증숫자</a:t>
            </a:r>
            <a:endParaRPr lang="en-US" sz="950" dirty="0"/>
          </a:p>
        </p:txBody>
      </p:sp>
      <p:sp>
        <p:nvSpPr>
          <p:cNvPr id="26" name="txt_381"/>
          <p:cNvSpPr txBox="1"/>
          <p:nvPr/>
        </p:nvSpPr>
        <p:spPr>
          <a:xfrm>
            <a:off x="1005840" y="4379976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꼬리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검증숫자 계산? → 홀수 자리 ×1, 짝수 자리 ×3 합으로 계산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전체 한계와 개선 계획 — 먼저 말하면 약점이 아니라 이해도</a:t>
            </a:r>
            <a:endParaRPr lang="en-US" sz="2000" dirty="0"/>
          </a:p>
        </p:txBody>
      </p:sp>
      <p:graphicFrame>
        <p:nvGraphicFramePr>
          <p:cNvPr id="38" name="table_3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91840"/>
                <a:gridCol w="3566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파트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지금 한계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개선 계획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3D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도형 조립이라 실사감 부족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무료 모델은 품질이 낮아 보류 → 코드로 디테일 보강 (창문 · 미러 · 센서 · 재질)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경로 · 충돌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교차로 외 구간 마주침은 앞차 감지 의존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구간 단위 예약, A* 우회 경로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예지보전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학습 모델이 아닌 규칙 계산, 센서도 시뮬레이션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실측 데이터 수집 후 회귀 · 이상탐지 모델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앱 연결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http · 로그인 없음 (시연용)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https + 관리자 인증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백엔드 · DB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폴링, 센서 데이터 무한 누적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웹소켓/SSE, 보관 기간 정리 · 요약 테이블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연동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웹이 꺼지면 데이터 생산 중단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생산자를 서버 스케줄러나 실제 장비로 분리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xt_383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다음 작업: 노트북 실기기로 입출차 OCR 확인 → 시연 영상 녹화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한 줄로 말하면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허브 AMR을 3D로 보여주고, 진동 추세로 고장을 미리 잡아 관리자가 정한 기준대로 자동 정비 · 충전하며,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웹 · 앱 · DB가 2초 단위로 같은 상태를 공유하는 시뮬레이션 기반 관제 시스템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ARGO AMR">
  <a:themeElements>
    <a:clrScheme name="SCARGO AMR">
      <a:dk1>
        <a:srgbClr val="0B1520"/>
      </a:dk1>
      <a:lt1>
        <a:srgbClr val="FFFFFF"/>
      </a:lt1>
      <a:dk2>
        <a:srgbClr val="3A4A5C"/>
      </a:dk2>
      <a:lt2>
        <a:srgbClr val="EEF3F7"/>
      </a:lt2>
      <a:accent1>
        <a:srgbClr val="0FA996"/>
      </a:accent1>
      <a:accent2>
        <a:srgbClr val="E8962A"/>
      </a:accent2>
      <a:accent3>
        <a:srgbClr val="E5484D"/>
      </a:accent3>
      <a:accent4>
        <a:srgbClr val="2FB36B"/>
      </a:accent4>
      <a:accent5>
        <a:srgbClr val="3FE0CC"/>
      </a:accent5>
      <a:accent6>
        <a:srgbClr val="8A99A8"/>
      </a:accent6>
      <a:hlink>
        <a:srgbClr val="0FA996"/>
      </a:hlink>
      <a:folHlink>
        <a:srgbClr val="3A4A5C"/>
      </a:folHlink>
    </a:clrScheme>
    <a:fontScheme name="SCARGO AMR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허브 AMR 기술 설명서</dc:title>
  <dc:subject>PptxGenJS Presentation</dc:subject>
  <dc:creator>PptxGenJS</dc:creator>
  <cp:lastModifiedBy>PptxGenJS</cp:lastModifiedBy>
  <cp:revision>1</cp:revision>
  <dcterms:created xsi:type="dcterms:W3CDTF">2026-10-15T13:04:04Z</dcterms:created>
  <dcterms:modified xsi:type="dcterms:W3CDTF">2026-10-15T13:04:04Z</dcterms:modified>
</cp:coreProperties>
</file>